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7556500" cy="10693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21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7DDA-AFA7-D239-1B44-5E8FF82880B6}"/>
              </a:ext>
            </a:extLst>
          </p:cNvPr>
          <p:cNvSpPr>
            <a:spLocks noGrp="1"/>
          </p:cNvSpPr>
          <p:nvPr>
            <p:ph type="ctrTitle"/>
          </p:nvPr>
        </p:nvSpPr>
        <p:spPr>
          <a:xfrm>
            <a:off x="944564" y="1750055"/>
            <a:ext cx="5667375" cy="3722887"/>
          </a:xfrm>
        </p:spPr>
        <p:txBody>
          <a:bodyPr anchor="b"/>
          <a:lstStyle>
            <a:lvl1pPr algn="ctr">
              <a:defRPr sz="3719"/>
            </a:lvl1pPr>
          </a:lstStyle>
          <a:p>
            <a:r>
              <a:rPr lang="en-US"/>
              <a:t>Click to edit Master title style</a:t>
            </a:r>
          </a:p>
        </p:txBody>
      </p:sp>
      <p:sp>
        <p:nvSpPr>
          <p:cNvPr id="3" name="Subtitle 2">
            <a:extLst>
              <a:ext uri="{FF2B5EF4-FFF2-40B4-BE49-F238E27FC236}">
                <a16:creationId xmlns:a16="http://schemas.microsoft.com/office/drawing/2014/main" id="{AD846167-E202-0744-19AA-9E78ABA7238B}"/>
              </a:ext>
            </a:extLst>
          </p:cNvPr>
          <p:cNvSpPr>
            <a:spLocks noGrp="1"/>
          </p:cNvSpPr>
          <p:nvPr>
            <p:ph type="subTitle" idx="1"/>
          </p:nvPr>
        </p:nvSpPr>
        <p:spPr>
          <a:xfrm>
            <a:off x="944564" y="5616511"/>
            <a:ext cx="5667375" cy="2581762"/>
          </a:xfrm>
        </p:spPr>
        <p:txBody>
          <a:bodyPr/>
          <a:lstStyle>
            <a:lvl1pPr marL="0" indent="0" algn="ctr">
              <a:buNone/>
              <a:defRPr sz="1488"/>
            </a:lvl1pPr>
            <a:lvl2pPr marL="283373" indent="0" algn="ctr">
              <a:buNone/>
              <a:defRPr sz="1240"/>
            </a:lvl2pPr>
            <a:lvl3pPr marL="566745" indent="0" algn="ctr">
              <a:buNone/>
              <a:defRPr sz="1116"/>
            </a:lvl3pPr>
            <a:lvl4pPr marL="850118" indent="0" algn="ctr">
              <a:buNone/>
              <a:defRPr sz="992"/>
            </a:lvl4pPr>
            <a:lvl5pPr marL="1133490" indent="0" algn="ctr">
              <a:buNone/>
              <a:defRPr sz="992"/>
            </a:lvl5pPr>
            <a:lvl6pPr marL="1416863" indent="0" algn="ctr">
              <a:buNone/>
              <a:defRPr sz="992"/>
            </a:lvl6pPr>
            <a:lvl7pPr marL="1700235" indent="0" algn="ctr">
              <a:buNone/>
              <a:defRPr sz="992"/>
            </a:lvl7pPr>
            <a:lvl8pPr marL="1983608" indent="0" algn="ctr">
              <a:buNone/>
              <a:defRPr sz="992"/>
            </a:lvl8pPr>
            <a:lvl9pPr marL="2266980" indent="0" algn="ctr">
              <a:buNone/>
              <a:defRPr sz="992"/>
            </a:lvl9pPr>
          </a:lstStyle>
          <a:p>
            <a:r>
              <a:rPr lang="en-US"/>
              <a:t>Click to edit Master subtitle style</a:t>
            </a:r>
          </a:p>
        </p:txBody>
      </p:sp>
      <p:sp>
        <p:nvSpPr>
          <p:cNvPr id="4" name="Date Placeholder 3">
            <a:extLst>
              <a:ext uri="{FF2B5EF4-FFF2-40B4-BE49-F238E27FC236}">
                <a16:creationId xmlns:a16="http://schemas.microsoft.com/office/drawing/2014/main" id="{815B9222-2E48-72B1-0CB8-838D2BDF2DDB}"/>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5" name="Footer Placeholder 4">
            <a:extLst>
              <a:ext uri="{FF2B5EF4-FFF2-40B4-BE49-F238E27FC236}">
                <a16:creationId xmlns:a16="http://schemas.microsoft.com/office/drawing/2014/main" id="{1BE68291-222B-2A4E-249D-E2A5E3107C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697BF6-706E-4592-17C3-FCFB639795E7}"/>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406083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F27A7-50AA-A50B-F56A-34B13F069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202A29-8C0B-A0FC-5E45-02C6B016B2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C32212-4E48-5C2F-D1F6-D5EF78483D29}"/>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5" name="Footer Placeholder 4">
            <a:extLst>
              <a:ext uri="{FF2B5EF4-FFF2-40B4-BE49-F238E27FC236}">
                <a16:creationId xmlns:a16="http://schemas.microsoft.com/office/drawing/2014/main" id="{A7CB0C3F-0AD8-010B-D830-EB7083FBAC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0166F-C7DA-9CE2-4748-D383E67F474F}"/>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252888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E6AB9-C767-83F3-9A8D-67E5071C08EE}"/>
              </a:ext>
            </a:extLst>
          </p:cNvPr>
          <p:cNvSpPr>
            <a:spLocks noGrp="1"/>
          </p:cNvSpPr>
          <p:nvPr>
            <p:ph type="title"/>
          </p:nvPr>
        </p:nvSpPr>
        <p:spPr>
          <a:xfrm>
            <a:off x="515575" y="2665927"/>
            <a:ext cx="6517481" cy="4448157"/>
          </a:xfrm>
        </p:spPr>
        <p:txBody>
          <a:bodyPr anchor="b"/>
          <a:lstStyle>
            <a:lvl1pPr>
              <a:defRPr sz="3719"/>
            </a:lvl1pPr>
          </a:lstStyle>
          <a:p>
            <a:r>
              <a:rPr lang="en-US"/>
              <a:t>Click to edit Master title style</a:t>
            </a:r>
          </a:p>
        </p:txBody>
      </p:sp>
      <p:sp>
        <p:nvSpPr>
          <p:cNvPr id="3" name="Text Placeholder 2">
            <a:extLst>
              <a:ext uri="{FF2B5EF4-FFF2-40B4-BE49-F238E27FC236}">
                <a16:creationId xmlns:a16="http://schemas.microsoft.com/office/drawing/2014/main" id="{C798AA67-B86D-928A-6816-D62845AE3C72}"/>
              </a:ext>
            </a:extLst>
          </p:cNvPr>
          <p:cNvSpPr>
            <a:spLocks noGrp="1"/>
          </p:cNvSpPr>
          <p:nvPr>
            <p:ph type="body" idx="1"/>
          </p:nvPr>
        </p:nvSpPr>
        <p:spPr>
          <a:xfrm>
            <a:off x="515575" y="7156165"/>
            <a:ext cx="6517481" cy="2339180"/>
          </a:xfrm>
        </p:spPr>
        <p:txBody>
          <a:bodyPr/>
          <a:lstStyle>
            <a:lvl1pPr marL="0" indent="0">
              <a:buNone/>
              <a:defRPr sz="1488">
                <a:solidFill>
                  <a:schemeClr val="tx1">
                    <a:tint val="82000"/>
                  </a:schemeClr>
                </a:solidFill>
              </a:defRPr>
            </a:lvl1pPr>
            <a:lvl2pPr marL="283373" indent="0">
              <a:buNone/>
              <a:defRPr sz="1240">
                <a:solidFill>
                  <a:schemeClr val="tx1">
                    <a:tint val="82000"/>
                  </a:schemeClr>
                </a:solidFill>
              </a:defRPr>
            </a:lvl2pPr>
            <a:lvl3pPr marL="566745" indent="0">
              <a:buNone/>
              <a:defRPr sz="1116">
                <a:solidFill>
                  <a:schemeClr val="tx1">
                    <a:tint val="82000"/>
                  </a:schemeClr>
                </a:solidFill>
              </a:defRPr>
            </a:lvl3pPr>
            <a:lvl4pPr marL="850118" indent="0">
              <a:buNone/>
              <a:defRPr sz="992">
                <a:solidFill>
                  <a:schemeClr val="tx1">
                    <a:tint val="82000"/>
                  </a:schemeClr>
                </a:solidFill>
              </a:defRPr>
            </a:lvl4pPr>
            <a:lvl5pPr marL="1133490" indent="0">
              <a:buNone/>
              <a:defRPr sz="992">
                <a:solidFill>
                  <a:schemeClr val="tx1">
                    <a:tint val="82000"/>
                  </a:schemeClr>
                </a:solidFill>
              </a:defRPr>
            </a:lvl5pPr>
            <a:lvl6pPr marL="1416863" indent="0">
              <a:buNone/>
              <a:defRPr sz="992">
                <a:solidFill>
                  <a:schemeClr val="tx1">
                    <a:tint val="82000"/>
                  </a:schemeClr>
                </a:solidFill>
              </a:defRPr>
            </a:lvl6pPr>
            <a:lvl7pPr marL="1700235" indent="0">
              <a:buNone/>
              <a:defRPr sz="992">
                <a:solidFill>
                  <a:schemeClr val="tx1">
                    <a:tint val="82000"/>
                  </a:schemeClr>
                </a:solidFill>
              </a:defRPr>
            </a:lvl7pPr>
            <a:lvl8pPr marL="1983608" indent="0">
              <a:buNone/>
              <a:defRPr sz="992">
                <a:solidFill>
                  <a:schemeClr val="tx1">
                    <a:tint val="82000"/>
                  </a:schemeClr>
                </a:solidFill>
              </a:defRPr>
            </a:lvl8pPr>
            <a:lvl9pPr marL="2266980" indent="0">
              <a:buNone/>
              <a:defRPr sz="992">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4021F-E319-159E-3D23-FE09F8F45279}"/>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5" name="Footer Placeholder 4">
            <a:extLst>
              <a:ext uri="{FF2B5EF4-FFF2-40B4-BE49-F238E27FC236}">
                <a16:creationId xmlns:a16="http://schemas.microsoft.com/office/drawing/2014/main" id="{9040716F-02E4-8879-D78F-3962C3C4CF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A67589-12B2-D9D0-4260-2FD890C30A0A}"/>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3906158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CBD98-AB52-1A73-7367-C573572313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6916D4-BE57-3A02-8C81-4A4C4AA3D59D}"/>
              </a:ext>
            </a:extLst>
          </p:cNvPr>
          <p:cNvSpPr>
            <a:spLocks noGrp="1"/>
          </p:cNvSpPr>
          <p:nvPr>
            <p:ph sz="half" idx="1"/>
          </p:nvPr>
        </p:nvSpPr>
        <p:spPr>
          <a:xfrm>
            <a:off x="519510"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AAA618-9498-2696-9AB3-98ACBAE87BBB}"/>
              </a:ext>
            </a:extLst>
          </p:cNvPr>
          <p:cNvSpPr>
            <a:spLocks noGrp="1"/>
          </p:cNvSpPr>
          <p:nvPr>
            <p:ph sz="half" idx="2"/>
          </p:nvPr>
        </p:nvSpPr>
        <p:spPr>
          <a:xfrm>
            <a:off x="3825479"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CBF96E-65BF-766B-EFA9-9008F83A0B0A}"/>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6" name="Footer Placeholder 5">
            <a:extLst>
              <a:ext uri="{FF2B5EF4-FFF2-40B4-BE49-F238E27FC236}">
                <a16:creationId xmlns:a16="http://schemas.microsoft.com/office/drawing/2014/main" id="{FEF0B55C-61AE-81E6-8D3A-1E7A56DE8E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7A4217-D95A-68C7-90CA-CF1F11E1C188}"/>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1444297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402C2-6CB8-C77E-4553-0E5635A4BDD3}"/>
              </a:ext>
            </a:extLst>
          </p:cNvPr>
          <p:cNvSpPr>
            <a:spLocks noGrp="1"/>
          </p:cNvSpPr>
          <p:nvPr>
            <p:ph type="title"/>
          </p:nvPr>
        </p:nvSpPr>
        <p:spPr>
          <a:xfrm>
            <a:off x="520495" y="569327"/>
            <a:ext cx="6517481" cy="2066896"/>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6540B6-5F3C-9248-4172-CE853AC87EE0}"/>
              </a:ext>
            </a:extLst>
          </p:cNvPr>
          <p:cNvSpPr>
            <a:spLocks noGrp="1"/>
          </p:cNvSpPr>
          <p:nvPr>
            <p:ph type="body" idx="1"/>
          </p:nvPr>
        </p:nvSpPr>
        <p:spPr>
          <a:xfrm>
            <a:off x="520495" y="2621369"/>
            <a:ext cx="3196753"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4" name="Content Placeholder 3">
            <a:extLst>
              <a:ext uri="{FF2B5EF4-FFF2-40B4-BE49-F238E27FC236}">
                <a16:creationId xmlns:a16="http://schemas.microsoft.com/office/drawing/2014/main" id="{8CD05F05-3168-5F27-23A0-CF4B6D05DC1D}"/>
              </a:ext>
            </a:extLst>
          </p:cNvPr>
          <p:cNvSpPr>
            <a:spLocks noGrp="1"/>
          </p:cNvSpPr>
          <p:nvPr>
            <p:ph sz="half" idx="2"/>
          </p:nvPr>
        </p:nvSpPr>
        <p:spPr>
          <a:xfrm>
            <a:off x="520495" y="3906061"/>
            <a:ext cx="31967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CB760A-C547-8052-CEE7-12F29CF626CE}"/>
              </a:ext>
            </a:extLst>
          </p:cNvPr>
          <p:cNvSpPr>
            <a:spLocks noGrp="1"/>
          </p:cNvSpPr>
          <p:nvPr>
            <p:ph type="body" sz="quarter" idx="3"/>
          </p:nvPr>
        </p:nvSpPr>
        <p:spPr>
          <a:xfrm>
            <a:off x="3825479" y="2621369"/>
            <a:ext cx="3212497"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6" name="Content Placeholder 5">
            <a:extLst>
              <a:ext uri="{FF2B5EF4-FFF2-40B4-BE49-F238E27FC236}">
                <a16:creationId xmlns:a16="http://schemas.microsoft.com/office/drawing/2014/main" id="{EBBBFDD1-D127-E07B-1B6B-4EE4923FD103}"/>
              </a:ext>
            </a:extLst>
          </p:cNvPr>
          <p:cNvSpPr>
            <a:spLocks noGrp="1"/>
          </p:cNvSpPr>
          <p:nvPr>
            <p:ph sz="quarter" idx="4"/>
          </p:nvPr>
        </p:nvSpPr>
        <p:spPr>
          <a:xfrm>
            <a:off x="3825479" y="3906061"/>
            <a:ext cx="3212497"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BDA96B-2CDD-E519-EBD8-ED17FC1842DA}"/>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8" name="Footer Placeholder 7">
            <a:extLst>
              <a:ext uri="{FF2B5EF4-FFF2-40B4-BE49-F238E27FC236}">
                <a16:creationId xmlns:a16="http://schemas.microsoft.com/office/drawing/2014/main" id="{B2D96CE7-759B-8F86-59ED-210A2AAB62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42DE32-1009-C8F4-4783-0E32A1BEEA29}"/>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128688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8369A-9586-153A-C7A0-48350C9D99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6E7296-779B-1A23-3BBA-303479F6FAAE}"/>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4" name="Footer Placeholder 3">
            <a:extLst>
              <a:ext uri="{FF2B5EF4-FFF2-40B4-BE49-F238E27FC236}">
                <a16:creationId xmlns:a16="http://schemas.microsoft.com/office/drawing/2014/main" id="{8D468328-938A-4E86-F428-3810E78AA3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AA8D26-E1E3-A0BE-B4F5-369221F0A865}"/>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3864651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34BA00-FAB8-F09F-BAD9-EA16D7A85C67}"/>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3" name="Footer Placeholder 2">
            <a:extLst>
              <a:ext uri="{FF2B5EF4-FFF2-40B4-BE49-F238E27FC236}">
                <a16:creationId xmlns:a16="http://schemas.microsoft.com/office/drawing/2014/main" id="{3F525B41-A021-AF06-4F26-634FF96A34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2C18E2-3302-C54F-51A5-4BC75CA2B413}"/>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1844545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50442-937A-A45B-0B9A-1046087B7132}"/>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Content Placeholder 2">
            <a:extLst>
              <a:ext uri="{FF2B5EF4-FFF2-40B4-BE49-F238E27FC236}">
                <a16:creationId xmlns:a16="http://schemas.microsoft.com/office/drawing/2014/main" id="{81505CD8-37C7-FE85-7CB4-DA964C242887}"/>
              </a:ext>
            </a:extLst>
          </p:cNvPr>
          <p:cNvSpPr>
            <a:spLocks noGrp="1"/>
          </p:cNvSpPr>
          <p:nvPr>
            <p:ph idx="1"/>
          </p:nvPr>
        </p:nvSpPr>
        <p:spPr>
          <a:xfrm>
            <a:off x="3212497" y="1539654"/>
            <a:ext cx="3825478" cy="7599245"/>
          </a:xfrm>
        </p:spPr>
        <p:txBody>
          <a:bodyPr/>
          <a:lstStyle>
            <a:lvl1pPr>
              <a:defRPr sz="1983"/>
            </a:lvl1pPr>
            <a:lvl2pPr>
              <a:defRPr sz="1735"/>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366ECC-3F21-D74A-D519-B5A4DD313062}"/>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2EA3BE25-5495-2FB6-C699-1A2E4D31BE24}"/>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6" name="Footer Placeholder 5">
            <a:extLst>
              <a:ext uri="{FF2B5EF4-FFF2-40B4-BE49-F238E27FC236}">
                <a16:creationId xmlns:a16="http://schemas.microsoft.com/office/drawing/2014/main" id="{251AFA54-2666-8D5C-90D2-A872C57C1A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8E884F-B24E-DF87-2327-4612D207A0D2}"/>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1661072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34927-C57E-964C-025F-0275E8F415D9}"/>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Picture Placeholder 2">
            <a:extLst>
              <a:ext uri="{FF2B5EF4-FFF2-40B4-BE49-F238E27FC236}">
                <a16:creationId xmlns:a16="http://schemas.microsoft.com/office/drawing/2014/main" id="{F0D67B71-FC8D-E466-1471-7DDA10708E58}"/>
              </a:ext>
            </a:extLst>
          </p:cNvPr>
          <p:cNvSpPr>
            <a:spLocks noGrp="1"/>
          </p:cNvSpPr>
          <p:nvPr>
            <p:ph type="pic" idx="1"/>
          </p:nvPr>
        </p:nvSpPr>
        <p:spPr>
          <a:xfrm>
            <a:off x="3212497" y="1539654"/>
            <a:ext cx="3825478" cy="7599245"/>
          </a:xfrm>
        </p:spPr>
        <p:txBody>
          <a:bodyPr/>
          <a:lstStyle>
            <a:lvl1pPr marL="0" indent="0">
              <a:buNone/>
              <a:defRPr sz="1983"/>
            </a:lvl1pPr>
            <a:lvl2pPr marL="283373" indent="0">
              <a:buNone/>
              <a:defRPr sz="1735"/>
            </a:lvl2pPr>
            <a:lvl3pPr marL="566745" indent="0">
              <a:buNone/>
              <a:defRPr sz="1488"/>
            </a:lvl3pPr>
            <a:lvl4pPr marL="850118" indent="0">
              <a:buNone/>
              <a:defRPr sz="1240"/>
            </a:lvl4pPr>
            <a:lvl5pPr marL="1133490" indent="0">
              <a:buNone/>
              <a:defRPr sz="1240"/>
            </a:lvl5pPr>
            <a:lvl6pPr marL="1416863" indent="0">
              <a:buNone/>
              <a:defRPr sz="1240"/>
            </a:lvl6pPr>
            <a:lvl7pPr marL="1700235" indent="0">
              <a:buNone/>
              <a:defRPr sz="1240"/>
            </a:lvl7pPr>
            <a:lvl8pPr marL="1983608" indent="0">
              <a:buNone/>
              <a:defRPr sz="1240"/>
            </a:lvl8pPr>
            <a:lvl9pPr marL="2266980" indent="0">
              <a:buNone/>
              <a:defRPr sz="1240"/>
            </a:lvl9pPr>
          </a:lstStyle>
          <a:p>
            <a:endParaRPr lang="en-US"/>
          </a:p>
        </p:txBody>
      </p:sp>
      <p:sp>
        <p:nvSpPr>
          <p:cNvPr id="4" name="Text Placeholder 3">
            <a:extLst>
              <a:ext uri="{FF2B5EF4-FFF2-40B4-BE49-F238E27FC236}">
                <a16:creationId xmlns:a16="http://schemas.microsoft.com/office/drawing/2014/main" id="{8DDEBF36-1A85-14D4-BE8A-9CC2BB523756}"/>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1F533B6B-9839-F581-D90C-03CFFD79165A}"/>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6" name="Footer Placeholder 5">
            <a:extLst>
              <a:ext uri="{FF2B5EF4-FFF2-40B4-BE49-F238E27FC236}">
                <a16:creationId xmlns:a16="http://schemas.microsoft.com/office/drawing/2014/main" id="{CC76C05C-F68E-0E17-A57B-AFB3174302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B51295-1C79-3B4F-5485-478771A286A2}"/>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943273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0DCB-0CAC-3E48-85DD-A0C2A815AE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0CB0ED-905E-0FE4-5DB6-4CF0002477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10B231-22DB-1DB8-9A63-9CCB593AC254}"/>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5" name="Footer Placeholder 4">
            <a:extLst>
              <a:ext uri="{FF2B5EF4-FFF2-40B4-BE49-F238E27FC236}">
                <a16:creationId xmlns:a16="http://schemas.microsoft.com/office/drawing/2014/main" id="{D5517BE4-5122-8CE5-D629-1B8A795AA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FDEE69-3C5C-7718-EB27-8EC0C2F86F9A}"/>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1062648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1DA29C-44BC-007D-7E23-A76540B9A4B5}"/>
              </a:ext>
            </a:extLst>
          </p:cNvPr>
          <p:cNvSpPr>
            <a:spLocks noGrp="1"/>
          </p:cNvSpPr>
          <p:nvPr>
            <p:ph type="title" orient="vert"/>
          </p:nvPr>
        </p:nvSpPr>
        <p:spPr>
          <a:xfrm>
            <a:off x="5407620" y="569325"/>
            <a:ext cx="1629370" cy="906216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3EC844-0B4A-87F2-7178-AD88FFEBBF09}"/>
              </a:ext>
            </a:extLst>
          </p:cNvPr>
          <p:cNvSpPr>
            <a:spLocks noGrp="1"/>
          </p:cNvSpPr>
          <p:nvPr>
            <p:ph type="body" orient="vert" idx="1"/>
          </p:nvPr>
        </p:nvSpPr>
        <p:spPr>
          <a:xfrm>
            <a:off x="519510" y="569325"/>
            <a:ext cx="4793655"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AC52C6-6D7B-8381-D4C4-257AB5F26228}"/>
              </a:ext>
            </a:extLst>
          </p:cNvPr>
          <p:cNvSpPr>
            <a:spLocks noGrp="1"/>
          </p:cNvSpPr>
          <p:nvPr>
            <p:ph type="dt" sz="half" idx="10"/>
          </p:nvPr>
        </p:nvSpPr>
        <p:spPr/>
        <p:txBody>
          <a:bodyPr/>
          <a:lstStyle/>
          <a:p>
            <a:fld id="{130DF622-6113-4AB8-94CD-EF291E0695AC}" type="datetimeFigureOut">
              <a:rPr lang="en-US" smtClean="0"/>
              <a:t>10/19/2026</a:t>
            </a:fld>
            <a:endParaRPr lang="en-US"/>
          </a:p>
        </p:txBody>
      </p:sp>
      <p:sp>
        <p:nvSpPr>
          <p:cNvPr id="5" name="Footer Placeholder 4">
            <a:extLst>
              <a:ext uri="{FF2B5EF4-FFF2-40B4-BE49-F238E27FC236}">
                <a16:creationId xmlns:a16="http://schemas.microsoft.com/office/drawing/2014/main" id="{028EED81-391A-7BD2-E9CA-060586052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3CB4D-6A25-9F8A-BCF9-35D23F395592}"/>
              </a:ext>
            </a:extLst>
          </p:cNvPr>
          <p:cNvSpPr>
            <a:spLocks noGrp="1"/>
          </p:cNvSpPr>
          <p:nvPr>
            <p:ph type="sldNum" sz="quarter" idx="12"/>
          </p:nvPr>
        </p:nvSpPr>
        <p:spPr/>
        <p:txBody>
          <a:bodyPr/>
          <a:lstStyle/>
          <a:p>
            <a:fld id="{89F55FFA-8360-4277-90EA-C17DC0B65CCD}" type="slidenum">
              <a:rPr lang="en-US" smtClean="0"/>
              <a:t>‹#›</a:t>
            </a:fld>
            <a:endParaRPr lang="en-US"/>
          </a:p>
        </p:txBody>
      </p:sp>
    </p:spTree>
    <p:extLst>
      <p:ext uri="{BB962C8B-B14F-4D97-AF65-F5344CB8AC3E}">
        <p14:creationId xmlns:p14="http://schemas.microsoft.com/office/powerpoint/2010/main" val="3531380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EF752D-A2CF-B64B-AE84-431A99C47D3E}"/>
              </a:ext>
            </a:extLst>
          </p:cNvPr>
          <p:cNvSpPr>
            <a:spLocks noGrp="1"/>
          </p:cNvSpPr>
          <p:nvPr>
            <p:ph type="title"/>
          </p:nvPr>
        </p:nvSpPr>
        <p:spPr>
          <a:xfrm>
            <a:off x="519511" y="569327"/>
            <a:ext cx="6517481" cy="206689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563D81-DB8F-9C0A-A9EA-C089B48B98F0}"/>
              </a:ext>
            </a:extLst>
          </p:cNvPr>
          <p:cNvSpPr>
            <a:spLocks noGrp="1"/>
          </p:cNvSpPr>
          <p:nvPr>
            <p:ph type="body" idx="1"/>
          </p:nvPr>
        </p:nvSpPr>
        <p:spPr>
          <a:xfrm>
            <a:off x="519511" y="2846623"/>
            <a:ext cx="6517481"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D57CF8-3673-32B1-D76E-740BFFAEEC95}"/>
              </a:ext>
            </a:extLst>
          </p:cNvPr>
          <p:cNvSpPr>
            <a:spLocks noGrp="1"/>
          </p:cNvSpPr>
          <p:nvPr>
            <p:ph type="dt" sz="half" idx="2"/>
          </p:nvPr>
        </p:nvSpPr>
        <p:spPr>
          <a:xfrm>
            <a:off x="519510" y="9911200"/>
            <a:ext cx="1700213" cy="569325"/>
          </a:xfrm>
          <a:prstGeom prst="rect">
            <a:avLst/>
          </a:prstGeom>
        </p:spPr>
        <p:txBody>
          <a:bodyPr vert="horz" lIns="91440" tIns="45720" rIns="91440" bIns="45720" rtlCol="0" anchor="ctr"/>
          <a:lstStyle>
            <a:lvl1pPr algn="l">
              <a:defRPr sz="744">
                <a:solidFill>
                  <a:schemeClr val="tx1">
                    <a:tint val="82000"/>
                  </a:schemeClr>
                </a:solidFill>
              </a:defRPr>
            </a:lvl1pPr>
          </a:lstStyle>
          <a:p>
            <a:fld id="{130DF622-6113-4AB8-94CD-EF291E0695AC}" type="datetimeFigureOut">
              <a:rPr lang="en-US" smtClean="0"/>
              <a:t>10/19/2026</a:t>
            </a:fld>
            <a:endParaRPr lang="en-US"/>
          </a:p>
        </p:txBody>
      </p:sp>
      <p:sp>
        <p:nvSpPr>
          <p:cNvPr id="5" name="Footer Placeholder 4">
            <a:extLst>
              <a:ext uri="{FF2B5EF4-FFF2-40B4-BE49-F238E27FC236}">
                <a16:creationId xmlns:a16="http://schemas.microsoft.com/office/drawing/2014/main" id="{900F1DBF-6A2B-7857-9A20-418A40ADD58A}"/>
              </a:ext>
            </a:extLst>
          </p:cNvPr>
          <p:cNvSpPr>
            <a:spLocks noGrp="1"/>
          </p:cNvSpPr>
          <p:nvPr>
            <p:ph type="ftr" sz="quarter" idx="3"/>
          </p:nvPr>
        </p:nvSpPr>
        <p:spPr>
          <a:xfrm>
            <a:off x="2503092" y="9911200"/>
            <a:ext cx="2550319" cy="569325"/>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828135B-0829-084B-3C34-FCDB05B57437}"/>
              </a:ext>
            </a:extLst>
          </p:cNvPr>
          <p:cNvSpPr>
            <a:spLocks noGrp="1"/>
          </p:cNvSpPr>
          <p:nvPr>
            <p:ph type="sldNum" sz="quarter" idx="4"/>
          </p:nvPr>
        </p:nvSpPr>
        <p:spPr>
          <a:xfrm>
            <a:off x="5336779" y="9911200"/>
            <a:ext cx="1700213" cy="569325"/>
          </a:xfrm>
          <a:prstGeom prst="rect">
            <a:avLst/>
          </a:prstGeom>
        </p:spPr>
        <p:txBody>
          <a:bodyPr vert="horz" lIns="91440" tIns="45720" rIns="91440" bIns="45720" rtlCol="0" anchor="ctr"/>
          <a:lstStyle>
            <a:lvl1pPr algn="r">
              <a:defRPr sz="744">
                <a:solidFill>
                  <a:schemeClr val="tx1">
                    <a:tint val="82000"/>
                  </a:schemeClr>
                </a:solidFill>
              </a:defRPr>
            </a:lvl1pPr>
          </a:lstStyle>
          <a:p>
            <a:fld id="{89F55FFA-8360-4277-90EA-C17DC0B65CCD}" type="slidenum">
              <a:rPr lang="en-US" smtClean="0"/>
              <a:t>‹#›</a:t>
            </a:fld>
            <a:endParaRPr lang="en-US"/>
          </a:p>
        </p:txBody>
      </p:sp>
    </p:spTree>
    <p:extLst>
      <p:ext uri="{BB962C8B-B14F-4D97-AF65-F5344CB8AC3E}">
        <p14:creationId xmlns:p14="http://schemas.microsoft.com/office/powerpoint/2010/main" val="2113468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66745"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6745" rtl="0" eaLnBrk="1" latinLnBrk="0" hangingPunct="1">
        <a:defRPr sz="1116" kern="1200">
          <a:solidFill>
            <a:schemeClr val="tx1"/>
          </a:solidFill>
          <a:latin typeface="+mn-lt"/>
          <a:ea typeface="+mn-ea"/>
          <a:cs typeface="+mn-cs"/>
        </a:defRPr>
      </a:lvl1pPr>
      <a:lvl2pPr marL="283373" algn="l" defTabSz="566745" rtl="0" eaLnBrk="1" latinLnBrk="0" hangingPunct="1">
        <a:defRPr sz="1116" kern="1200">
          <a:solidFill>
            <a:schemeClr val="tx1"/>
          </a:solidFill>
          <a:latin typeface="+mn-lt"/>
          <a:ea typeface="+mn-ea"/>
          <a:cs typeface="+mn-cs"/>
        </a:defRPr>
      </a:lvl2pPr>
      <a:lvl3pPr marL="566745" algn="l" defTabSz="566745" rtl="0" eaLnBrk="1" latinLnBrk="0" hangingPunct="1">
        <a:defRPr sz="1116" kern="1200">
          <a:solidFill>
            <a:schemeClr val="tx1"/>
          </a:solidFill>
          <a:latin typeface="+mn-lt"/>
          <a:ea typeface="+mn-ea"/>
          <a:cs typeface="+mn-cs"/>
        </a:defRPr>
      </a:lvl3pPr>
      <a:lvl4pPr marL="850118" algn="l" defTabSz="566745" rtl="0" eaLnBrk="1" latinLnBrk="0" hangingPunct="1">
        <a:defRPr sz="1116" kern="1200">
          <a:solidFill>
            <a:schemeClr val="tx1"/>
          </a:solidFill>
          <a:latin typeface="+mn-lt"/>
          <a:ea typeface="+mn-ea"/>
          <a:cs typeface="+mn-cs"/>
        </a:defRPr>
      </a:lvl4pPr>
      <a:lvl5pPr marL="1133490" algn="l" defTabSz="566745" rtl="0" eaLnBrk="1" latinLnBrk="0" hangingPunct="1">
        <a:defRPr sz="1116" kern="1200">
          <a:solidFill>
            <a:schemeClr val="tx1"/>
          </a:solidFill>
          <a:latin typeface="+mn-lt"/>
          <a:ea typeface="+mn-ea"/>
          <a:cs typeface="+mn-cs"/>
        </a:defRPr>
      </a:lvl5pPr>
      <a:lvl6pPr marL="1416863" algn="l" defTabSz="566745" rtl="0" eaLnBrk="1" latinLnBrk="0" hangingPunct="1">
        <a:defRPr sz="1116" kern="1200">
          <a:solidFill>
            <a:schemeClr val="tx1"/>
          </a:solidFill>
          <a:latin typeface="+mn-lt"/>
          <a:ea typeface="+mn-ea"/>
          <a:cs typeface="+mn-cs"/>
        </a:defRPr>
      </a:lvl6pPr>
      <a:lvl7pPr marL="1700235" algn="l" defTabSz="566745" rtl="0" eaLnBrk="1" latinLnBrk="0" hangingPunct="1">
        <a:defRPr sz="1116" kern="1200">
          <a:solidFill>
            <a:schemeClr val="tx1"/>
          </a:solidFill>
          <a:latin typeface="+mn-lt"/>
          <a:ea typeface="+mn-ea"/>
          <a:cs typeface="+mn-cs"/>
        </a:defRPr>
      </a:lvl7pPr>
      <a:lvl8pPr marL="1983608" algn="l" defTabSz="566745" rtl="0" eaLnBrk="1" latinLnBrk="0" hangingPunct="1">
        <a:defRPr sz="1116" kern="1200">
          <a:solidFill>
            <a:schemeClr val="tx1"/>
          </a:solidFill>
          <a:latin typeface="+mn-lt"/>
          <a:ea typeface="+mn-ea"/>
          <a:cs typeface="+mn-cs"/>
        </a:defRPr>
      </a:lvl8pPr>
      <a:lvl9pPr marL="2266980" algn="l" defTabSz="566745" rtl="0" eaLnBrk="1" latinLnBrk="0"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22FA72-0E68-C842-A339-9AFCDEAD75F1}"/>
              </a:ext>
            </a:extLst>
          </p:cNvPr>
          <p:cNvSpPr/>
          <p:nvPr/>
        </p:nvSpPr>
        <p:spPr>
          <a:xfrm>
            <a:off x="0" y="0"/>
            <a:ext cx="152400" cy="10693400"/>
          </a:xfrm>
          <a:prstGeom prst="rect">
            <a:avLst/>
          </a:prstGeom>
          <a:solidFill>
            <a:srgbClr val="2879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77041B9-627E-83A9-384B-B9502E0305DE}"/>
              </a:ext>
            </a:extLst>
          </p:cNvPr>
          <p:cNvSpPr txBox="1"/>
          <p:nvPr/>
        </p:nvSpPr>
        <p:spPr>
          <a:xfrm>
            <a:off x="609600" y="482600"/>
            <a:ext cx="4826000" cy="338554"/>
          </a:xfrm>
          <a:prstGeom prst="rect">
            <a:avLst/>
          </a:prstGeom>
          <a:noFill/>
        </p:spPr>
        <p:txBody>
          <a:bodyPr vert="horz" wrap="square" lIns="0" tIns="0" rIns="0" bIns="0" rtlCol="0">
            <a:spAutoFit/>
          </a:bodyPr>
          <a:lstStyle/>
          <a:p>
            <a:r>
              <a:rPr lang="en-US" sz="2200" b="1">
                <a:solidFill>
                  <a:srgbClr val="173B38"/>
                </a:solidFill>
                <a:latin typeface="Aptos" panose="020B0004020202020204" pitchFamily="34" charset="0"/>
              </a:rPr>
              <a:t>MAATRICARE</a:t>
            </a:r>
          </a:p>
        </p:txBody>
      </p:sp>
      <p:sp>
        <p:nvSpPr>
          <p:cNvPr id="4" name="TextBox 3">
            <a:extLst>
              <a:ext uri="{FF2B5EF4-FFF2-40B4-BE49-F238E27FC236}">
                <a16:creationId xmlns:a16="http://schemas.microsoft.com/office/drawing/2014/main" id="{0E5D282F-7AE3-FB97-F741-51FAEA486DA4}"/>
              </a:ext>
            </a:extLst>
          </p:cNvPr>
          <p:cNvSpPr txBox="1"/>
          <p:nvPr/>
        </p:nvSpPr>
        <p:spPr>
          <a:xfrm>
            <a:off x="609600" y="889000"/>
            <a:ext cx="5969000" cy="215444"/>
          </a:xfrm>
          <a:prstGeom prst="rect">
            <a:avLst/>
          </a:prstGeom>
          <a:noFill/>
        </p:spPr>
        <p:txBody>
          <a:bodyPr vert="horz" wrap="square" lIns="0" tIns="0" rIns="0" bIns="0" rtlCol="0">
            <a:spAutoFit/>
          </a:bodyPr>
          <a:lstStyle/>
          <a:p>
            <a:r>
              <a:rPr lang="en-US" sz="1400" b="1">
                <a:solidFill>
                  <a:srgbClr val="203A3A"/>
                </a:solidFill>
                <a:latin typeface="Aptos" panose="020B0004020202020204" pitchFamily="34" charset="0"/>
              </a:rPr>
              <a:t>Pregnancy Support and Care-Coordination Application</a:t>
            </a:r>
          </a:p>
        </p:txBody>
      </p:sp>
      <p:sp>
        <p:nvSpPr>
          <p:cNvPr id="5" name="Rectangle: Rounded Corners 4">
            <a:extLst>
              <a:ext uri="{FF2B5EF4-FFF2-40B4-BE49-F238E27FC236}">
                <a16:creationId xmlns:a16="http://schemas.microsoft.com/office/drawing/2014/main" id="{8603E434-1DAE-A2DF-9A0B-3C86A46249B9}"/>
              </a:ext>
            </a:extLst>
          </p:cNvPr>
          <p:cNvSpPr/>
          <p:nvPr/>
        </p:nvSpPr>
        <p:spPr>
          <a:xfrm>
            <a:off x="5638800" y="495300"/>
            <a:ext cx="1320800" cy="711200"/>
          </a:xfrm>
          <a:prstGeom prst="roundRect">
            <a:avLst/>
          </a:prstGeom>
          <a:solidFill>
            <a:srgbClr val="F2F7F4"/>
          </a:solidFill>
          <a:ln>
            <a:solidFill>
              <a:srgbClr val="B9CE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BA8E7A-563F-2CC6-8979-DB67D359A06A}"/>
              </a:ext>
            </a:extLst>
          </p:cNvPr>
          <p:cNvSpPr txBox="1"/>
          <p:nvPr/>
        </p:nvSpPr>
        <p:spPr>
          <a:xfrm>
            <a:off x="5753100" y="635000"/>
            <a:ext cx="1092200" cy="246221"/>
          </a:xfrm>
          <a:prstGeom prst="rect">
            <a:avLst/>
          </a:prstGeom>
          <a:noFill/>
        </p:spPr>
        <p:txBody>
          <a:bodyPr vert="horz" wrap="square" lIns="0" tIns="0" rIns="0" bIns="0" rtlCol="0">
            <a:spAutoFit/>
          </a:bodyPr>
          <a:lstStyle/>
          <a:p>
            <a:r>
              <a:rPr lang="en-US" sz="800" b="1">
                <a:solidFill>
                  <a:srgbClr val="526965"/>
                </a:solidFill>
                <a:latin typeface="Aptos" panose="020B0004020202020204" pitchFamily="34" charset="0"/>
              </a:rPr>
              <a:t>COLLEGE LOGO</a:t>
            </a:r>
          </a:p>
          <a:p>
            <a:r>
              <a:rPr lang="en-US" sz="800" b="1">
                <a:solidFill>
                  <a:srgbClr val="526965"/>
                </a:solidFill>
                <a:latin typeface="Aptos" panose="020B0004020202020204" pitchFamily="34" charset="0"/>
              </a:rPr>
              <a:t>PLACEHOLDER</a:t>
            </a:r>
          </a:p>
        </p:txBody>
      </p:sp>
      <p:sp>
        <p:nvSpPr>
          <p:cNvPr id="7" name="TextBox 6">
            <a:extLst>
              <a:ext uri="{FF2B5EF4-FFF2-40B4-BE49-F238E27FC236}">
                <a16:creationId xmlns:a16="http://schemas.microsoft.com/office/drawing/2014/main" id="{A3BBA18B-6B54-F1C4-884D-2A64C1F1A76E}"/>
              </a:ext>
            </a:extLst>
          </p:cNvPr>
          <p:cNvSpPr txBox="1"/>
          <p:nvPr/>
        </p:nvSpPr>
        <p:spPr>
          <a:xfrm>
            <a:off x="609600" y="1485900"/>
            <a:ext cx="6350000" cy="276999"/>
          </a:xfrm>
          <a:prstGeom prst="rect">
            <a:avLst/>
          </a:prstGeom>
          <a:noFill/>
        </p:spPr>
        <p:txBody>
          <a:bodyPr vert="horz" wrap="square" lIns="0" tIns="0" rIns="0" bIns="0" rtlCol="0">
            <a:spAutoFit/>
          </a:bodyPr>
          <a:lstStyle/>
          <a:p>
            <a:r>
              <a:rPr lang="en-US" sz="900">
                <a:solidFill>
                  <a:srgbClr val="526965"/>
                </a:solidFill>
                <a:latin typeface="Aptos" panose="020B0004020202020204" pitchFamily="34" charset="0"/>
              </a:rPr>
              <a:t>Student: Deepak Kumar  |  Register No.: 9224116032</a:t>
            </a:r>
          </a:p>
          <a:p>
            <a:r>
              <a:rPr lang="en-US" sz="900">
                <a:solidFill>
                  <a:srgbClr val="526965"/>
                </a:solidFill>
                <a:latin typeface="Aptos" panose="020B0004020202020204" pitchFamily="34" charset="0"/>
              </a:rPr>
              <a:t>Department: Computer Applications  |  Guide: [FILL]</a:t>
            </a:r>
          </a:p>
        </p:txBody>
      </p:sp>
      <p:sp>
        <p:nvSpPr>
          <p:cNvPr id="8" name="TextBox 7">
            <a:extLst>
              <a:ext uri="{FF2B5EF4-FFF2-40B4-BE49-F238E27FC236}">
                <a16:creationId xmlns:a16="http://schemas.microsoft.com/office/drawing/2014/main" id="{31FE6D34-EC6E-F754-32C2-479E8C87BB82}"/>
              </a:ext>
            </a:extLst>
          </p:cNvPr>
          <p:cNvSpPr txBox="1"/>
          <p:nvPr/>
        </p:nvSpPr>
        <p:spPr>
          <a:xfrm>
            <a:off x="609600" y="2070100"/>
            <a:ext cx="6350000" cy="138499"/>
          </a:xfrm>
          <a:prstGeom prst="rect">
            <a:avLst/>
          </a:prstGeom>
          <a:noFill/>
        </p:spPr>
        <p:txBody>
          <a:bodyPr vert="horz" wrap="square" lIns="0" tIns="0" rIns="0" bIns="0" rtlCol="0">
            <a:spAutoFit/>
          </a:bodyPr>
          <a:lstStyle/>
          <a:p>
            <a:r>
              <a:rPr lang="en-US" sz="900">
                <a:solidFill>
                  <a:srgbClr val="526965"/>
                </a:solidFill>
                <a:latin typeface="Aptos" panose="020B0004020202020204" pitchFamily="34" charset="0"/>
              </a:rPr>
              <a:t>Semester: [FILL]  |  Batch: [FILL]  |  KARE / CDOE</a:t>
            </a:r>
          </a:p>
        </p:txBody>
      </p:sp>
      <p:sp>
        <p:nvSpPr>
          <p:cNvPr id="9" name="Rectangle 8">
            <a:extLst>
              <a:ext uri="{FF2B5EF4-FFF2-40B4-BE49-F238E27FC236}">
                <a16:creationId xmlns:a16="http://schemas.microsoft.com/office/drawing/2014/main" id="{6ACF0254-DDE1-50F8-9CF1-878F4AA330EA}"/>
              </a:ext>
            </a:extLst>
          </p:cNvPr>
          <p:cNvSpPr/>
          <p:nvPr/>
        </p:nvSpPr>
        <p:spPr>
          <a:xfrm>
            <a:off x="609600" y="2501900"/>
            <a:ext cx="6350000" cy="12700"/>
          </a:xfrm>
          <a:prstGeom prst="rect">
            <a:avLst/>
          </a:prstGeom>
          <a:solidFill>
            <a:srgbClr val="D7E3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43D39E0-292A-31CD-81BE-77E2917DACBA}"/>
              </a:ext>
            </a:extLst>
          </p:cNvPr>
          <p:cNvSpPr txBox="1"/>
          <p:nvPr/>
        </p:nvSpPr>
        <p:spPr>
          <a:xfrm>
            <a:off x="609600" y="2717800"/>
            <a:ext cx="6350000" cy="215444"/>
          </a:xfrm>
          <a:prstGeom prst="rect">
            <a:avLst/>
          </a:prstGeom>
          <a:noFill/>
        </p:spPr>
        <p:txBody>
          <a:bodyPr vert="horz" wrap="square" lIns="0" tIns="0" rIns="0" bIns="0" rtlCol="0">
            <a:spAutoFit/>
          </a:bodyPr>
          <a:lstStyle/>
          <a:p>
            <a:r>
              <a:rPr lang="en-US" sz="1400" b="1">
                <a:solidFill>
                  <a:srgbClr val="28796F"/>
                </a:solidFill>
                <a:latin typeface="Aptos" panose="020B0004020202020204" pitchFamily="34" charset="0"/>
              </a:rPr>
              <a:t>ABSTRACT</a:t>
            </a:r>
          </a:p>
        </p:txBody>
      </p:sp>
      <p:sp>
        <p:nvSpPr>
          <p:cNvPr id="11" name="TextBox 10">
            <a:extLst>
              <a:ext uri="{FF2B5EF4-FFF2-40B4-BE49-F238E27FC236}">
                <a16:creationId xmlns:a16="http://schemas.microsoft.com/office/drawing/2014/main" id="{504B2268-5319-C026-D1C2-CA90C2E05C53}"/>
              </a:ext>
            </a:extLst>
          </p:cNvPr>
          <p:cNvSpPr txBox="1"/>
          <p:nvPr/>
        </p:nvSpPr>
        <p:spPr>
          <a:xfrm>
            <a:off x="609600" y="3149600"/>
            <a:ext cx="6350000" cy="2982355"/>
          </a:xfrm>
          <a:prstGeom prst="rect">
            <a:avLst/>
          </a:prstGeom>
          <a:noFill/>
        </p:spPr>
        <p:txBody>
          <a:bodyPr vert="horz" wrap="square" lIns="0" tIns="0" rIns="0" bIns="0" rtlCol="0">
            <a:spAutoFit/>
          </a:bodyPr>
          <a:lstStyle/>
          <a:p>
            <a:r>
              <a:rPr lang="en-US" sz="1020">
                <a:solidFill>
                  <a:srgbClr val="203A3A"/>
                </a:solidFill>
                <a:latin typeface="Aptos" panose="020B0004020202020204" pitchFamily="34" charset="0"/>
              </a:rPr>
              <a:t>Pregnancy involves appointments, personal records, daily routines, and ongoing conversations with healthcare professionals. When details are scattered across calendars, notes, and memory, users may find it difficult to keep track of care-related activities or prepare questions for a visit. MaatriCare is a web-based pregnancy support and care-coordination application designed to bring these organizational activities together in one authenticated workspace.</a:t>
            </a:r>
          </a:p>
          <a:p>
            <a:endParaRPr lang="en-US" sz="1020">
              <a:solidFill>
                <a:srgbClr val="203A3A"/>
              </a:solidFill>
              <a:latin typeface="Aptos" panose="020B0004020202020204" pitchFamily="34" charset="0"/>
            </a:endParaRPr>
          </a:p>
          <a:p>
            <a:r>
              <a:rPr lang="en-US" sz="1020">
                <a:solidFill>
                  <a:srgbClr val="203A3A"/>
                </a:solidFill>
                <a:latin typeface="Aptos" panose="020B0004020202020204" pitchFamily="34" charset="0"/>
              </a:rPr>
              <a:t>The application provides pregnancy profile and progress information, appointment management, visit-question preparation, daily care tracking, a private symptom journal, pregnancy milestones, educational guides and resources, healthcare summaries, emergency contacts, and reminder preferences. Users can select recorded information for a report and control whether a report is shared through a time-limited link. The interface supports recording and reviewing information; it does not diagnose medical conditions, recommend treatment, or replace professional or emergency care.</a:t>
            </a:r>
          </a:p>
          <a:p>
            <a:endParaRPr lang="en-US" sz="1020">
              <a:solidFill>
                <a:srgbClr val="203A3A"/>
              </a:solidFill>
              <a:latin typeface="Aptos" panose="020B0004020202020204" pitchFamily="34" charset="0"/>
            </a:endParaRPr>
          </a:p>
          <a:p>
            <a:r>
              <a:rPr lang="en-US" sz="1020">
                <a:solidFill>
                  <a:srgbClr val="203A3A"/>
                </a:solidFill>
                <a:latin typeface="Aptos" panose="020B0004020202020204" pitchFamily="34" charset="0"/>
              </a:rPr>
              <a:t>MaatriCare is implemented as a React and TypeScript frontend using Vite, with a Java Spring Boot REST backend. The backend uses Spring Security and JWT authentication, request validation, Spring Data JPA, and relational database support. MySQL is used for local development; PostgreSQL is configured for the production-oriented profile. Flyway migrations define the schema, while focused H2-backed tests verify selected backend behavior. User-owned records include pregnancy profiles, appointments, tasks, wellbeing records, symptoms, milestones, visit questions and answers, report shares, emergency contacts, and scheduled push reminders.</a:t>
            </a:r>
          </a:p>
        </p:txBody>
      </p:sp>
      <p:sp>
        <p:nvSpPr>
          <p:cNvPr id="12" name="TextBox 11">
            <a:extLst>
              <a:ext uri="{FF2B5EF4-FFF2-40B4-BE49-F238E27FC236}">
                <a16:creationId xmlns:a16="http://schemas.microsoft.com/office/drawing/2014/main" id="{D776A606-D67D-1D1D-7C90-7632620989A8}"/>
              </a:ext>
            </a:extLst>
          </p:cNvPr>
          <p:cNvSpPr txBox="1"/>
          <p:nvPr/>
        </p:nvSpPr>
        <p:spPr>
          <a:xfrm>
            <a:off x="609600" y="9334500"/>
            <a:ext cx="6350000" cy="276999"/>
          </a:xfrm>
          <a:prstGeom prst="rect">
            <a:avLst/>
          </a:prstGeom>
          <a:noFill/>
        </p:spPr>
        <p:txBody>
          <a:bodyPr vert="horz" wrap="square" lIns="0" tIns="0" rIns="0" bIns="0" rtlCol="0">
            <a:spAutoFit/>
          </a:bodyPr>
          <a:lstStyle/>
          <a:p>
            <a:r>
              <a:rPr lang="en-US" sz="900" b="1">
                <a:solidFill>
                  <a:srgbClr val="28796F"/>
                </a:solidFill>
                <a:latin typeface="Aptos" panose="020B0004020202020204" pitchFamily="34" charset="0"/>
              </a:rPr>
              <a:t>Keywords: pregnancy support; care coordination; appointment management; private journal; Web Push; React; Spring Boot</a:t>
            </a:r>
          </a:p>
        </p:txBody>
      </p:sp>
      <p:sp>
        <p:nvSpPr>
          <p:cNvPr id="13" name="Rectangle 12">
            <a:extLst>
              <a:ext uri="{FF2B5EF4-FFF2-40B4-BE49-F238E27FC236}">
                <a16:creationId xmlns:a16="http://schemas.microsoft.com/office/drawing/2014/main" id="{5870D36E-8EDA-36A2-0D59-3598178E1594}"/>
              </a:ext>
            </a:extLst>
          </p:cNvPr>
          <p:cNvSpPr/>
          <p:nvPr/>
        </p:nvSpPr>
        <p:spPr>
          <a:xfrm>
            <a:off x="609600" y="10033000"/>
            <a:ext cx="6350000" cy="12700"/>
          </a:xfrm>
          <a:prstGeom prst="rect">
            <a:avLst/>
          </a:prstGeom>
          <a:solidFill>
            <a:srgbClr val="D7E3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8866241-6B51-6E5C-621E-3DD18712901B}"/>
              </a:ext>
            </a:extLst>
          </p:cNvPr>
          <p:cNvSpPr txBox="1"/>
          <p:nvPr/>
        </p:nvSpPr>
        <p:spPr>
          <a:xfrm>
            <a:off x="609600" y="10172700"/>
            <a:ext cx="5080000" cy="123111"/>
          </a:xfrm>
          <a:prstGeom prst="rect">
            <a:avLst/>
          </a:prstGeom>
          <a:noFill/>
        </p:spPr>
        <p:txBody>
          <a:bodyPr vert="horz" wrap="square" lIns="0" tIns="0" rIns="0" bIns="0" rtlCol="0">
            <a:spAutoFit/>
          </a:bodyPr>
          <a:lstStyle/>
          <a:p>
            <a:r>
              <a:rPr lang="en-US" sz="800">
                <a:solidFill>
                  <a:srgbClr val="526965"/>
                </a:solidFill>
                <a:latin typeface="Aptos" panose="020B0004020202020204" pitchFamily="34" charset="0"/>
              </a:rPr>
              <a:t>Review 2 Abstract | MaatriCare</a:t>
            </a:r>
          </a:p>
        </p:txBody>
      </p:sp>
      <p:sp>
        <p:nvSpPr>
          <p:cNvPr id="15" name="TextBox 14">
            <a:extLst>
              <a:ext uri="{FF2B5EF4-FFF2-40B4-BE49-F238E27FC236}">
                <a16:creationId xmlns:a16="http://schemas.microsoft.com/office/drawing/2014/main" id="{C7EB9EBA-B0FD-3702-2CA1-65E906A471FB}"/>
              </a:ext>
            </a:extLst>
          </p:cNvPr>
          <p:cNvSpPr txBox="1"/>
          <p:nvPr/>
        </p:nvSpPr>
        <p:spPr>
          <a:xfrm>
            <a:off x="6477000" y="10172700"/>
            <a:ext cx="482600" cy="123111"/>
          </a:xfrm>
          <a:prstGeom prst="rect">
            <a:avLst/>
          </a:prstGeom>
          <a:noFill/>
        </p:spPr>
        <p:txBody>
          <a:bodyPr vert="horz" wrap="square" lIns="0" tIns="0" rIns="0" bIns="0" rtlCol="0">
            <a:spAutoFit/>
          </a:bodyPr>
          <a:lstStyle/>
          <a:p>
            <a:r>
              <a:rPr lang="en-US" sz="800" b="1">
                <a:solidFill>
                  <a:srgbClr val="28796F"/>
                </a:solidFill>
                <a:latin typeface="Aptos" panose="020B0004020202020204" pitchFamily="34" charset="0"/>
              </a:rPr>
              <a:t>1 / 2</a:t>
            </a:r>
          </a:p>
        </p:txBody>
      </p:sp>
    </p:spTree>
    <p:extLst>
      <p:ext uri="{BB962C8B-B14F-4D97-AF65-F5344CB8AC3E}">
        <p14:creationId xmlns:p14="http://schemas.microsoft.com/office/powerpoint/2010/main" val="2529691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9FB7BD-D519-5678-9D16-F64AFC54DD21}"/>
              </a:ext>
            </a:extLst>
          </p:cNvPr>
          <p:cNvSpPr/>
          <p:nvPr/>
        </p:nvSpPr>
        <p:spPr>
          <a:xfrm>
            <a:off x="0" y="0"/>
            <a:ext cx="152400" cy="10693400"/>
          </a:xfrm>
          <a:prstGeom prst="rect">
            <a:avLst/>
          </a:prstGeom>
          <a:solidFill>
            <a:srgbClr val="2879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92DB017-2935-9243-D3CC-BEECA2876E21}"/>
              </a:ext>
            </a:extLst>
          </p:cNvPr>
          <p:cNvSpPr txBox="1"/>
          <p:nvPr/>
        </p:nvSpPr>
        <p:spPr>
          <a:xfrm>
            <a:off x="609600" y="533400"/>
            <a:ext cx="6350000" cy="276999"/>
          </a:xfrm>
          <a:prstGeom prst="rect">
            <a:avLst/>
          </a:prstGeom>
          <a:noFill/>
        </p:spPr>
        <p:txBody>
          <a:bodyPr vert="horz" wrap="square" lIns="0" tIns="0" rIns="0" bIns="0" rtlCol="0">
            <a:spAutoFit/>
          </a:bodyPr>
          <a:lstStyle/>
          <a:p>
            <a:r>
              <a:rPr lang="en-US" b="1">
                <a:solidFill>
                  <a:srgbClr val="173B38"/>
                </a:solidFill>
                <a:latin typeface="Aptos" panose="020B0004020202020204" pitchFamily="34" charset="0"/>
              </a:rPr>
              <a:t>PROJECT SUMMARY</a:t>
            </a:r>
          </a:p>
        </p:txBody>
      </p:sp>
      <p:sp>
        <p:nvSpPr>
          <p:cNvPr id="4" name="TextBox 3">
            <a:extLst>
              <a:ext uri="{FF2B5EF4-FFF2-40B4-BE49-F238E27FC236}">
                <a16:creationId xmlns:a16="http://schemas.microsoft.com/office/drawing/2014/main" id="{08755E87-92C7-AD99-C5A8-7A504773CC37}"/>
              </a:ext>
            </a:extLst>
          </p:cNvPr>
          <p:cNvSpPr txBox="1"/>
          <p:nvPr/>
        </p:nvSpPr>
        <p:spPr>
          <a:xfrm>
            <a:off x="609600" y="1066800"/>
            <a:ext cx="6350000" cy="184666"/>
          </a:xfrm>
          <a:prstGeom prst="rect">
            <a:avLst/>
          </a:prstGeom>
          <a:noFill/>
        </p:spPr>
        <p:txBody>
          <a:bodyPr vert="horz" wrap="square" lIns="0" tIns="0" rIns="0" bIns="0" rtlCol="0">
            <a:spAutoFit/>
          </a:bodyPr>
          <a:lstStyle/>
          <a:p>
            <a:r>
              <a:rPr lang="en-US" sz="1200" b="1">
                <a:solidFill>
                  <a:srgbClr val="28796F"/>
                </a:solidFill>
                <a:latin typeface="Aptos" panose="020B0004020202020204" pitchFamily="34" charset="0"/>
              </a:rPr>
              <a:t>Problem addressed</a:t>
            </a:r>
          </a:p>
        </p:txBody>
      </p:sp>
      <p:sp>
        <p:nvSpPr>
          <p:cNvPr id="5" name="TextBox 4">
            <a:extLst>
              <a:ext uri="{FF2B5EF4-FFF2-40B4-BE49-F238E27FC236}">
                <a16:creationId xmlns:a16="http://schemas.microsoft.com/office/drawing/2014/main" id="{593A90A0-69D9-EF32-FD51-FA5F00A1A2C5}"/>
              </a:ext>
            </a:extLst>
          </p:cNvPr>
          <p:cNvSpPr txBox="1"/>
          <p:nvPr/>
        </p:nvSpPr>
        <p:spPr>
          <a:xfrm>
            <a:off x="609600" y="1422400"/>
            <a:ext cx="6350000" cy="484748"/>
          </a:xfrm>
          <a:prstGeom prst="rect">
            <a:avLst/>
          </a:prstGeom>
          <a:noFill/>
        </p:spPr>
        <p:txBody>
          <a:bodyPr vert="horz" wrap="square" lIns="0" tIns="0" rIns="0" bIns="0" rtlCol="0">
            <a:spAutoFit/>
          </a:bodyPr>
          <a:lstStyle/>
          <a:p>
            <a:r>
              <a:rPr lang="en-US" sz="1050">
                <a:solidFill>
                  <a:srgbClr val="203A3A"/>
                </a:solidFill>
                <a:latin typeface="Aptos" panose="020B0004020202020204" pitchFamily="34" charset="0"/>
              </a:rPr>
              <a:t>Pregnancy-related tasks and information can be difficult to manage across separate tools. MaatriCare offers a single place for users to maintain their own records and prepare for discussions with their healthcare professionals.</a:t>
            </a:r>
          </a:p>
        </p:txBody>
      </p:sp>
      <p:sp>
        <p:nvSpPr>
          <p:cNvPr id="6" name="TextBox 5">
            <a:extLst>
              <a:ext uri="{FF2B5EF4-FFF2-40B4-BE49-F238E27FC236}">
                <a16:creationId xmlns:a16="http://schemas.microsoft.com/office/drawing/2014/main" id="{C4A24645-23C5-DC3C-7161-BE3FB81B0084}"/>
              </a:ext>
            </a:extLst>
          </p:cNvPr>
          <p:cNvSpPr txBox="1"/>
          <p:nvPr/>
        </p:nvSpPr>
        <p:spPr>
          <a:xfrm>
            <a:off x="609600" y="2374900"/>
            <a:ext cx="6350000" cy="184666"/>
          </a:xfrm>
          <a:prstGeom prst="rect">
            <a:avLst/>
          </a:prstGeom>
          <a:noFill/>
        </p:spPr>
        <p:txBody>
          <a:bodyPr vert="horz" wrap="square" lIns="0" tIns="0" rIns="0" bIns="0" rtlCol="0">
            <a:spAutoFit/>
          </a:bodyPr>
          <a:lstStyle/>
          <a:p>
            <a:r>
              <a:rPr lang="en-US" sz="1200" b="1">
                <a:solidFill>
                  <a:srgbClr val="28796F"/>
                </a:solidFill>
                <a:latin typeface="Aptos" panose="020B0004020202020204" pitchFamily="34" charset="0"/>
              </a:rPr>
              <a:t>Objectives</a:t>
            </a:r>
          </a:p>
        </p:txBody>
      </p:sp>
      <p:sp>
        <p:nvSpPr>
          <p:cNvPr id="7" name="TextBox 6">
            <a:extLst>
              <a:ext uri="{FF2B5EF4-FFF2-40B4-BE49-F238E27FC236}">
                <a16:creationId xmlns:a16="http://schemas.microsoft.com/office/drawing/2014/main" id="{55E925B0-08EF-E64F-6E60-82416098D8BC}"/>
              </a:ext>
            </a:extLst>
          </p:cNvPr>
          <p:cNvSpPr txBox="1"/>
          <p:nvPr/>
        </p:nvSpPr>
        <p:spPr>
          <a:xfrm>
            <a:off x="711200" y="2743200"/>
            <a:ext cx="6223000" cy="615553"/>
          </a:xfrm>
          <a:prstGeom prst="rect">
            <a:avLst/>
          </a:prstGeom>
          <a:noFill/>
        </p:spPr>
        <p:txBody>
          <a:bodyPr vert="horz" wrap="square" lIns="0" tIns="0" rIns="0" bIns="0" rtlCol="0">
            <a:spAutoFit/>
          </a:bodyPr>
          <a:lstStyle/>
          <a:p>
            <a:r>
              <a:rPr lang="en-US" sz="1000">
                <a:solidFill>
                  <a:srgbClr val="203A3A"/>
                </a:solidFill>
                <a:latin typeface="Aptos" panose="020B0004020202020204" pitchFamily="34" charset="0"/>
              </a:rPr>
              <a:t>1. Organize pregnancy profile, appointments, daily care tasks, wellbeing records, and milestones.</a:t>
            </a:r>
          </a:p>
          <a:p>
            <a:r>
              <a:rPr lang="en-US" sz="1000">
                <a:solidFill>
                  <a:srgbClr val="203A3A"/>
                </a:solidFill>
                <a:latin typeface="Aptos" panose="020B0004020202020204" pitchFamily="34" charset="0"/>
              </a:rPr>
              <a:t>2. Support private symptom journaling and user-controlled sharing of selected summaries.</a:t>
            </a:r>
          </a:p>
          <a:p>
            <a:r>
              <a:rPr lang="en-US" sz="1000">
                <a:solidFill>
                  <a:srgbClr val="203A3A"/>
                </a:solidFill>
                <a:latin typeface="Aptos" panose="020B0004020202020204" pitchFamily="34" charset="0"/>
              </a:rPr>
              <a:t>3. Provide general educational resources and tools for preparing healthcare questions.</a:t>
            </a:r>
          </a:p>
          <a:p>
            <a:r>
              <a:rPr lang="en-US" sz="1000">
                <a:solidFill>
                  <a:srgbClr val="203A3A"/>
                </a:solidFill>
                <a:latin typeface="Aptos" panose="020B0004020202020204" pitchFamily="34" charset="0"/>
              </a:rPr>
              <a:t>4. Offer configurable reminders, including opt-in scheduled browser push with timezone-aware delivery.</a:t>
            </a:r>
          </a:p>
        </p:txBody>
      </p:sp>
      <p:sp>
        <p:nvSpPr>
          <p:cNvPr id="8" name="TextBox 7">
            <a:extLst>
              <a:ext uri="{FF2B5EF4-FFF2-40B4-BE49-F238E27FC236}">
                <a16:creationId xmlns:a16="http://schemas.microsoft.com/office/drawing/2014/main" id="{DB9D75DB-8DC4-F58D-933B-4C34D81BC5B0}"/>
              </a:ext>
            </a:extLst>
          </p:cNvPr>
          <p:cNvSpPr txBox="1"/>
          <p:nvPr/>
        </p:nvSpPr>
        <p:spPr>
          <a:xfrm>
            <a:off x="609600" y="4229100"/>
            <a:ext cx="6350000" cy="184666"/>
          </a:xfrm>
          <a:prstGeom prst="rect">
            <a:avLst/>
          </a:prstGeom>
          <a:noFill/>
        </p:spPr>
        <p:txBody>
          <a:bodyPr vert="horz" wrap="square" lIns="0" tIns="0" rIns="0" bIns="0" rtlCol="0">
            <a:spAutoFit/>
          </a:bodyPr>
          <a:lstStyle/>
          <a:p>
            <a:r>
              <a:rPr lang="en-US" sz="1200" b="1">
                <a:solidFill>
                  <a:srgbClr val="28796F"/>
                </a:solidFill>
                <a:latin typeface="Aptos" panose="020B0004020202020204" pitchFamily="34" charset="0"/>
              </a:rPr>
              <a:t>Method and system design</a:t>
            </a:r>
          </a:p>
        </p:txBody>
      </p:sp>
      <p:sp>
        <p:nvSpPr>
          <p:cNvPr id="9" name="TextBox 8">
            <a:extLst>
              <a:ext uri="{FF2B5EF4-FFF2-40B4-BE49-F238E27FC236}">
                <a16:creationId xmlns:a16="http://schemas.microsoft.com/office/drawing/2014/main" id="{DE960748-654E-C4C5-6F39-1AF78CCD2DD6}"/>
              </a:ext>
            </a:extLst>
          </p:cNvPr>
          <p:cNvSpPr txBox="1"/>
          <p:nvPr/>
        </p:nvSpPr>
        <p:spPr>
          <a:xfrm>
            <a:off x="609600" y="4584700"/>
            <a:ext cx="6350000" cy="769441"/>
          </a:xfrm>
          <a:prstGeom prst="rect">
            <a:avLst/>
          </a:prstGeom>
          <a:noFill/>
        </p:spPr>
        <p:txBody>
          <a:bodyPr vert="horz" wrap="square" lIns="0" tIns="0" rIns="0" bIns="0" rtlCol="0">
            <a:spAutoFit/>
          </a:bodyPr>
          <a:lstStyle/>
          <a:p>
            <a:r>
              <a:rPr lang="en-US" sz="1000">
                <a:solidFill>
                  <a:srgbClr val="203A3A"/>
                </a:solidFill>
                <a:latin typeface="Aptos" panose="020B0004020202020204" pitchFamily="34" charset="0"/>
              </a:rPr>
              <a:t>The frontend communicates with authenticated REST endpoints. The backend validates requests, checks user ownership, persists records through JPA repositories, and exposes profile, tracking, education, report, and reminder services. Scheduled Web Push uses a service worker and browser subscription keys; device credentials are stored separately from the user authentication token. Reminder payloads use generic text, and notification snoozes use expiring, one-time capabilities. Reminder scheduling defaults to Asia/Kolkata (Delhi time).</a:t>
            </a:r>
          </a:p>
        </p:txBody>
      </p:sp>
      <p:sp>
        <p:nvSpPr>
          <p:cNvPr id="10" name="TextBox 9">
            <a:extLst>
              <a:ext uri="{FF2B5EF4-FFF2-40B4-BE49-F238E27FC236}">
                <a16:creationId xmlns:a16="http://schemas.microsoft.com/office/drawing/2014/main" id="{0CCE9E57-7F13-96E0-7017-B033081F9869}"/>
              </a:ext>
            </a:extLst>
          </p:cNvPr>
          <p:cNvSpPr txBox="1"/>
          <p:nvPr/>
        </p:nvSpPr>
        <p:spPr>
          <a:xfrm>
            <a:off x="609600" y="6413500"/>
            <a:ext cx="6350000" cy="184666"/>
          </a:xfrm>
          <a:prstGeom prst="rect">
            <a:avLst/>
          </a:prstGeom>
          <a:noFill/>
        </p:spPr>
        <p:txBody>
          <a:bodyPr vert="horz" wrap="square" lIns="0" tIns="0" rIns="0" bIns="0" rtlCol="0">
            <a:spAutoFit/>
          </a:bodyPr>
          <a:lstStyle/>
          <a:p>
            <a:r>
              <a:rPr lang="en-US" sz="1200" b="1">
                <a:solidFill>
                  <a:srgbClr val="28796F"/>
                </a:solidFill>
                <a:latin typeface="Aptos" panose="020B0004020202020204" pitchFamily="34" charset="0"/>
              </a:rPr>
              <a:t>Current status and limitations</a:t>
            </a:r>
          </a:p>
        </p:txBody>
      </p:sp>
      <p:sp>
        <p:nvSpPr>
          <p:cNvPr id="11" name="TextBox 10">
            <a:extLst>
              <a:ext uri="{FF2B5EF4-FFF2-40B4-BE49-F238E27FC236}">
                <a16:creationId xmlns:a16="http://schemas.microsoft.com/office/drawing/2014/main" id="{30620C1E-0279-ABBA-6008-2FA696F0213E}"/>
              </a:ext>
            </a:extLst>
          </p:cNvPr>
          <p:cNvSpPr txBox="1"/>
          <p:nvPr/>
        </p:nvSpPr>
        <p:spPr>
          <a:xfrm>
            <a:off x="609600" y="6769100"/>
            <a:ext cx="6350000" cy="769441"/>
          </a:xfrm>
          <a:prstGeom prst="rect">
            <a:avLst/>
          </a:prstGeom>
          <a:noFill/>
        </p:spPr>
        <p:txBody>
          <a:bodyPr vert="horz" wrap="square" lIns="0" tIns="0" rIns="0" bIns="0" rtlCol="0">
            <a:spAutoFit/>
          </a:bodyPr>
          <a:lstStyle/>
          <a:p>
            <a:r>
              <a:rPr lang="en-US" sz="1000">
                <a:solidFill>
                  <a:srgbClr val="203A3A"/>
                </a:solidFill>
                <a:latin typeface="Aptos" panose="020B0004020202020204" pitchFamily="34" charset="0"/>
              </a:rPr>
              <a:t>The application modules described are implemented in the project workspace. Focused tests cover timezone defaults and validation, reminder schedules and category preferences, deduplication, one-time snooze actions, and retention. The frontend production build passes. Live push delivery has not yet been demonstrated because deployment VAPID keys and HTTPS configuration are not supplied. This project is an organizational and educational aid, not a clinical diagnostic or treatment system.</a:t>
            </a:r>
          </a:p>
        </p:txBody>
      </p:sp>
      <p:sp>
        <p:nvSpPr>
          <p:cNvPr id="12" name="TextBox 11">
            <a:extLst>
              <a:ext uri="{FF2B5EF4-FFF2-40B4-BE49-F238E27FC236}">
                <a16:creationId xmlns:a16="http://schemas.microsoft.com/office/drawing/2014/main" id="{9B2D14EE-DAAB-CF0C-CB4A-924DE0DD1702}"/>
              </a:ext>
            </a:extLst>
          </p:cNvPr>
          <p:cNvSpPr txBox="1"/>
          <p:nvPr/>
        </p:nvSpPr>
        <p:spPr>
          <a:xfrm>
            <a:off x="609600" y="8407400"/>
            <a:ext cx="6350000" cy="184666"/>
          </a:xfrm>
          <a:prstGeom prst="rect">
            <a:avLst/>
          </a:prstGeom>
          <a:noFill/>
        </p:spPr>
        <p:txBody>
          <a:bodyPr vert="horz" wrap="square" lIns="0" tIns="0" rIns="0" bIns="0" rtlCol="0">
            <a:spAutoFit/>
          </a:bodyPr>
          <a:lstStyle/>
          <a:p>
            <a:r>
              <a:rPr lang="en-US" sz="1200" b="1">
                <a:solidFill>
                  <a:srgbClr val="28796F"/>
                </a:solidFill>
                <a:latin typeface="Aptos" panose="020B0004020202020204" pitchFamily="34" charset="0"/>
              </a:rPr>
              <a:t>Future work</a:t>
            </a:r>
          </a:p>
        </p:txBody>
      </p:sp>
      <p:sp>
        <p:nvSpPr>
          <p:cNvPr id="13" name="TextBox 12">
            <a:extLst>
              <a:ext uri="{FF2B5EF4-FFF2-40B4-BE49-F238E27FC236}">
                <a16:creationId xmlns:a16="http://schemas.microsoft.com/office/drawing/2014/main" id="{E6524DC3-AEA9-A3C9-FF42-4C2E83AA0CAF}"/>
              </a:ext>
            </a:extLst>
          </p:cNvPr>
          <p:cNvSpPr txBox="1"/>
          <p:nvPr/>
        </p:nvSpPr>
        <p:spPr>
          <a:xfrm>
            <a:off x="609600" y="8763000"/>
            <a:ext cx="6350000" cy="461665"/>
          </a:xfrm>
          <a:prstGeom prst="rect">
            <a:avLst/>
          </a:prstGeom>
          <a:noFill/>
        </p:spPr>
        <p:txBody>
          <a:bodyPr vert="horz" wrap="square" lIns="0" tIns="0" rIns="0" bIns="0" rtlCol="0">
            <a:spAutoFit/>
          </a:bodyPr>
          <a:lstStyle/>
          <a:p>
            <a:r>
              <a:rPr lang="en-US" sz="1000">
                <a:solidFill>
                  <a:srgbClr val="203A3A"/>
                </a:solidFill>
                <a:latin typeface="Aptos" panose="020B0004020202020204" pitchFamily="34" charset="0"/>
              </a:rPr>
              <a:t>Configure production VAPID keys and public HTTPS; validate live delivery on a real device; expand database and frontend testing; complete accessibility and privacy reviews; and prepare the final project report using the official institutional template.</a:t>
            </a:r>
          </a:p>
        </p:txBody>
      </p:sp>
      <p:sp>
        <p:nvSpPr>
          <p:cNvPr id="14" name="Rectangle 13">
            <a:extLst>
              <a:ext uri="{FF2B5EF4-FFF2-40B4-BE49-F238E27FC236}">
                <a16:creationId xmlns:a16="http://schemas.microsoft.com/office/drawing/2014/main" id="{2D161CAC-763C-3A0B-E1D1-7B99008E369A}"/>
              </a:ext>
            </a:extLst>
          </p:cNvPr>
          <p:cNvSpPr/>
          <p:nvPr/>
        </p:nvSpPr>
        <p:spPr>
          <a:xfrm>
            <a:off x="609600" y="10033000"/>
            <a:ext cx="6350000" cy="12700"/>
          </a:xfrm>
          <a:prstGeom prst="rect">
            <a:avLst/>
          </a:prstGeom>
          <a:solidFill>
            <a:srgbClr val="D7E3D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2E0409F-25BE-6B34-D987-FB4BF51AE60F}"/>
              </a:ext>
            </a:extLst>
          </p:cNvPr>
          <p:cNvSpPr txBox="1"/>
          <p:nvPr/>
        </p:nvSpPr>
        <p:spPr>
          <a:xfrm>
            <a:off x="609600" y="10172700"/>
            <a:ext cx="5080000" cy="123111"/>
          </a:xfrm>
          <a:prstGeom prst="rect">
            <a:avLst/>
          </a:prstGeom>
          <a:noFill/>
        </p:spPr>
        <p:txBody>
          <a:bodyPr vert="horz" wrap="square" lIns="0" tIns="0" rIns="0" bIns="0" rtlCol="0">
            <a:spAutoFit/>
          </a:bodyPr>
          <a:lstStyle/>
          <a:p>
            <a:r>
              <a:rPr lang="en-US" sz="800">
                <a:solidFill>
                  <a:srgbClr val="526965"/>
                </a:solidFill>
                <a:latin typeface="Aptos" panose="020B0004020202020204" pitchFamily="34" charset="0"/>
              </a:rPr>
              <a:t>Review 2 Abstract | MaatriCare</a:t>
            </a:r>
          </a:p>
        </p:txBody>
      </p:sp>
      <p:sp>
        <p:nvSpPr>
          <p:cNvPr id="16" name="TextBox 15">
            <a:extLst>
              <a:ext uri="{FF2B5EF4-FFF2-40B4-BE49-F238E27FC236}">
                <a16:creationId xmlns:a16="http://schemas.microsoft.com/office/drawing/2014/main" id="{CC7BA4A1-266F-D6B7-BF2E-ADD7F411747D}"/>
              </a:ext>
            </a:extLst>
          </p:cNvPr>
          <p:cNvSpPr txBox="1"/>
          <p:nvPr/>
        </p:nvSpPr>
        <p:spPr>
          <a:xfrm>
            <a:off x="6477000" y="10172700"/>
            <a:ext cx="482600" cy="123111"/>
          </a:xfrm>
          <a:prstGeom prst="rect">
            <a:avLst/>
          </a:prstGeom>
          <a:noFill/>
        </p:spPr>
        <p:txBody>
          <a:bodyPr vert="horz" wrap="square" lIns="0" tIns="0" rIns="0" bIns="0" rtlCol="0">
            <a:spAutoFit/>
          </a:bodyPr>
          <a:lstStyle/>
          <a:p>
            <a:r>
              <a:rPr lang="en-US" sz="800" b="1">
                <a:solidFill>
                  <a:srgbClr val="28796F"/>
                </a:solidFill>
                <a:latin typeface="Aptos" panose="020B0004020202020204" pitchFamily="34" charset="0"/>
              </a:rPr>
              <a:t>2 / 2</a:t>
            </a:r>
          </a:p>
        </p:txBody>
      </p:sp>
    </p:spTree>
    <p:extLst>
      <p:ext uri="{BB962C8B-B14F-4D97-AF65-F5344CB8AC3E}">
        <p14:creationId xmlns:p14="http://schemas.microsoft.com/office/powerpoint/2010/main" val="170901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650</Words>
  <Application>Microsoft Office PowerPoint</Application>
  <PresentationFormat>Custom</PresentationFormat>
  <Paragraphs>32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Deepak</dc:creator>
  <cp:lastModifiedBy>Kumar, Deepak</cp:lastModifiedBy>
  <cp:revision>1</cp:revision>
  <dcterms:created xsi:type="dcterms:W3CDTF">2026-10-18T18:48:55Z</dcterms:created>
  <dcterms:modified xsi:type="dcterms:W3CDTF">2026-10-18T18:48:55Z</dcterms:modified>
</cp:coreProperties>
</file>