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7556500" cy="10693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21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973DD-E7C1-7317-D6AD-768BD2DA85A3}"/>
              </a:ext>
            </a:extLst>
          </p:cNvPr>
          <p:cNvSpPr>
            <a:spLocks noGrp="1"/>
          </p:cNvSpPr>
          <p:nvPr>
            <p:ph type="ctrTitle"/>
          </p:nvPr>
        </p:nvSpPr>
        <p:spPr>
          <a:xfrm>
            <a:off x="944564" y="1750055"/>
            <a:ext cx="5667375" cy="3722887"/>
          </a:xfrm>
        </p:spPr>
        <p:txBody>
          <a:bodyPr anchor="b"/>
          <a:lstStyle>
            <a:lvl1pPr algn="ctr">
              <a:defRPr sz="3719"/>
            </a:lvl1pPr>
          </a:lstStyle>
          <a:p>
            <a:r>
              <a:rPr lang="en-US"/>
              <a:t>Click to edit Master title style</a:t>
            </a:r>
          </a:p>
        </p:txBody>
      </p:sp>
      <p:sp>
        <p:nvSpPr>
          <p:cNvPr id="3" name="Subtitle 2">
            <a:extLst>
              <a:ext uri="{FF2B5EF4-FFF2-40B4-BE49-F238E27FC236}">
                <a16:creationId xmlns:a16="http://schemas.microsoft.com/office/drawing/2014/main" id="{1E461D80-45F2-AF4B-DD2C-996C9F60ADE8}"/>
              </a:ext>
            </a:extLst>
          </p:cNvPr>
          <p:cNvSpPr>
            <a:spLocks noGrp="1"/>
          </p:cNvSpPr>
          <p:nvPr>
            <p:ph type="subTitle" idx="1"/>
          </p:nvPr>
        </p:nvSpPr>
        <p:spPr>
          <a:xfrm>
            <a:off x="944564" y="5616511"/>
            <a:ext cx="5667375" cy="2581762"/>
          </a:xfrm>
        </p:spPr>
        <p:txBody>
          <a:bodyPr/>
          <a:lstStyle>
            <a:lvl1pPr marL="0" indent="0" algn="ctr">
              <a:buNone/>
              <a:defRPr sz="1488"/>
            </a:lvl1pPr>
            <a:lvl2pPr marL="283373" indent="0" algn="ctr">
              <a:buNone/>
              <a:defRPr sz="1240"/>
            </a:lvl2pPr>
            <a:lvl3pPr marL="566745" indent="0" algn="ctr">
              <a:buNone/>
              <a:defRPr sz="1116"/>
            </a:lvl3pPr>
            <a:lvl4pPr marL="850118" indent="0" algn="ctr">
              <a:buNone/>
              <a:defRPr sz="992"/>
            </a:lvl4pPr>
            <a:lvl5pPr marL="1133490" indent="0" algn="ctr">
              <a:buNone/>
              <a:defRPr sz="992"/>
            </a:lvl5pPr>
            <a:lvl6pPr marL="1416863" indent="0" algn="ctr">
              <a:buNone/>
              <a:defRPr sz="992"/>
            </a:lvl6pPr>
            <a:lvl7pPr marL="1700235" indent="0" algn="ctr">
              <a:buNone/>
              <a:defRPr sz="992"/>
            </a:lvl7pPr>
            <a:lvl8pPr marL="1983608" indent="0" algn="ctr">
              <a:buNone/>
              <a:defRPr sz="992"/>
            </a:lvl8pPr>
            <a:lvl9pPr marL="2266980" indent="0" algn="ctr">
              <a:buNone/>
              <a:defRPr sz="992"/>
            </a:lvl9pPr>
          </a:lstStyle>
          <a:p>
            <a:r>
              <a:rPr lang="en-US"/>
              <a:t>Click to edit Master subtitle style</a:t>
            </a:r>
          </a:p>
        </p:txBody>
      </p:sp>
      <p:sp>
        <p:nvSpPr>
          <p:cNvPr id="4" name="Date Placeholder 3">
            <a:extLst>
              <a:ext uri="{FF2B5EF4-FFF2-40B4-BE49-F238E27FC236}">
                <a16:creationId xmlns:a16="http://schemas.microsoft.com/office/drawing/2014/main" id="{846A9D5B-ABEB-2AD8-4B0F-B56EACCAC79B}"/>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5" name="Footer Placeholder 4">
            <a:extLst>
              <a:ext uri="{FF2B5EF4-FFF2-40B4-BE49-F238E27FC236}">
                <a16:creationId xmlns:a16="http://schemas.microsoft.com/office/drawing/2014/main" id="{459D644F-317E-64EC-69ED-79AD20486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5D05D-9849-1747-7031-A27C0980781C}"/>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3252302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AFBAC-7861-A072-A449-91B903AB8A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B8FA19-B842-5FBE-FAE8-1E71378843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35AFB1-925D-0BD7-6BA1-45E287427D0B}"/>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5" name="Footer Placeholder 4">
            <a:extLst>
              <a:ext uri="{FF2B5EF4-FFF2-40B4-BE49-F238E27FC236}">
                <a16:creationId xmlns:a16="http://schemas.microsoft.com/office/drawing/2014/main" id="{E3CB85C4-B396-36CE-8042-46684A5035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D6B97B-CD08-BB42-9F41-544A807A06C4}"/>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4066624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68F9E-6443-AD0D-B069-159696D9B2E2}"/>
              </a:ext>
            </a:extLst>
          </p:cNvPr>
          <p:cNvSpPr>
            <a:spLocks noGrp="1"/>
          </p:cNvSpPr>
          <p:nvPr>
            <p:ph type="title"/>
          </p:nvPr>
        </p:nvSpPr>
        <p:spPr>
          <a:xfrm>
            <a:off x="515575" y="2665927"/>
            <a:ext cx="6517481" cy="4448157"/>
          </a:xfrm>
        </p:spPr>
        <p:txBody>
          <a:bodyPr anchor="b"/>
          <a:lstStyle>
            <a:lvl1pPr>
              <a:defRPr sz="3719"/>
            </a:lvl1pPr>
          </a:lstStyle>
          <a:p>
            <a:r>
              <a:rPr lang="en-US"/>
              <a:t>Click to edit Master title style</a:t>
            </a:r>
          </a:p>
        </p:txBody>
      </p:sp>
      <p:sp>
        <p:nvSpPr>
          <p:cNvPr id="3" name="Text Placeholder 2">
            <a:extLst>
              <a:ext uri="{FF2B5EF4-FFF2-40B4-BE49-F238E27FC236}">
                <a16:creationId xmlns:a16="http://schemas.microsoft.com/office/drawing/2014/main" id="{1637037A-52BE-0406-1A65-133C4B0494AA}"/>
              </a:ext>
            </a:extLst>
          </p:cNvPr>
          <p:cNvSpPr>
            <a:spLocks noGrp="1"/>
          </p:cNvSpPr>
          <p:nvPr>
            <p:ph type="body" idx="1"/>
          </p:nvPr>
        </p:nvSpPr>
        <p:spPr>
          <a:xfrm>
            <a:off x="515575" y="7156165"/>
            <a:ext cx="6517481" cy="2339180"/>
          </a:xfrm>
        </p:spPr>
        <p:txBody>
          <a:bodyPr/>
          <a:lstStyle>
            <a:lvl1pPr marL="0" indent="0">
              <a:buNone/>
              <a:defRPr sz="1488">
                <a:solidFill>
                  <a:schemeClr val="tx1">
                    <a:tint val="82000"/>
                  </a:schemeClr>
                </a:solidFill>
              </a:defRPr>
            </a:lvl1pPr>
            <a:lvl2pPr marL="283373" indent="0">
              <a:buNone/>
              <a:defRPr sz="1240">
                <a:solidFill>
                  <a:schemeClr val="tx1">
                    <a:tint val="82000"/>
                  </a:schemeClr>
                </a:solidFill>
              </a:defRPr>
            </a:lvl2pPr>
            <a:lvl3pPr marL="566745" indent="0">
              <a:buNone/>
              <a:defRPr sz="1116">
                <a:solidFill>
                  <a:schemeClr val="tx1">
                    <a:tint val="82000"/>
                  </a:schemeClr>
                </a:solidFill>
              </a:defRPr>
            </a:lvl3pPr>
            <a:lvl4pPr marL="850118" indent="0">
              <a:buNone/>
              <a:defRPr sz="992">
                <a:solidFill>
                  <a:schemeClr val="tx1">
                    <a:tint val="82000"/>
                  </a:schemeClr>
                </a:solidFill>
              </a:defRPr>
            </a:lvl4pPr>
            <a:lvl5pPr marL="1133490" indent="0">
              <a:buNone/>
              <a:defRPr sz="992">
                <a:solidFill>
                  <a:schemeClr val="tx1">
                    <a:tint val="82000"/>
                  </a:schemeClr>
                </a:solidFill>
              </a:defRPr>
            </a:lvl5pPr>
            <a:lvl6pPr marL="1416863" indent="0">
              <a:buNone/>
              <a:defRPr sz="992">
                <a:solidFill>
                  <a:schemeClr val="tx1">
                    <a:tint val="82000"/>
                  </a:schemeClr>
                </a:solidFill>
              </a:defRPr>
            </a:lvl6pPr>
            <a:lvl7pPr marL="1700235" indent="0">
              <a:buNone/>
              <a:defRPr sz="992">
                <a:solidFill>
                  <a:schemeClr val="tx1">
                    <a:tint val="82000"/>
                  </a:schemeClr>
                </a:solidFill>
              </a:defRPr>
            </a:lvl7pPr>
            <a:lvl8pPr marL="1983608" indent="0">
              <a:buNone/>
              <a:defRPr sz="992">
                <a:solidFill>
                  <a:schemeClr val="tx1">
                    <a:tint val="82000"/>
                  </a:schemeClr>
                </a:solidFill>
              </a:defRPr>
            </a:lvl8pPr>
            <a:lvl9pPr marL="2266980" indent="0">
              <a:buNone/>
              <a:defRPr sz="992">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98026C-8EE8-D5EB-A619-89441B693F7D}"/>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5" name="Footer Placeholder 4">
            <a:extLst>
              <a:ext uri="{FF2B5EF4-FFF2-40B4-BE49-F238E27FC236}">
                <a16:creationId xmlns:a16="http://schemas.microsoft.com/office/drawing/2014/main" id="{180D94CB-CACB-16B4-4564-BD770109C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A7479F-C5F5-2A27-8921-F349EC6C0D00}"/>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3645602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88A7-4EFF-3970-9A84-2B1A1F6FE5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8C3799-E3DC-8EEE-6469-ECE4C627E8EF}"/>
              </a:ext>
            </a:extLst>
          </p:cNvPr>
          <p:cNvSpPr>
            <a:spLocks noGrp="1"/>
          </p:cNvSpPr>
          <p:nvPr>
            <p:ph sz="half" idx="1"/>
          </p:nvPr>
        </p:nvSpPr>
        <p:spPr>
          <a:xfrm>
            <a:off x="519510"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E60921-8B5D-CA51-DFD0-2385ADC3A18E}"/>
              </a:ext>
            </a:extLst>
          </p:cNvPr>
          <p:cNvSpPr>
            <a:spLocks noGrp="1"/>
          </p:cNvSpPr>
          <p:nvPr>
            <p:ph sz="half" idx="2"/>
          </p:nvPr>
        </p:nvSpPr>
        <p:spPr>
          <a:xfrm>
            <a:off x="3825479"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9E3589-598D-7564-4977-819136C9B38F}"/>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6" name="Footer Placeholder 5">
            <a:extLst>
              <a:ext uri="{FF2B5EF4-FFF2-40B4-BE49-F238E27FC236}">
                <a16:creationId xmlns:a16="http://schemas.microsoft.com/office/drawing/2014/main" id="{A0739282-BA37-96EE-DACE-CB1BE13C5D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9EB64A-FFD6-8F92-9354-6C2BFFADA8D3}"/>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3294698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3EB0-A569-1C52-337C-8715C74C4DAB}"/>
              </a:ext>
            </a:extLst>
          </p:cNvPr>
          <p:cNvSpPr>
            <a:spLocks noGrp="1"/>
          </p:cNvSpPr>
          <p:nvPr>
            <p:ph type="title"/>
          </p:nvPr>
        </p:nvSpPr>
        <p:spPr>
          <a:xfrm>
            <a:off x="520495" y="569327"/>
            <a:ext cx="6517481" cy="2066896"/>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F5C1A1-42C8-021D-97EC-2263A053BD6F}"/>
              </a:ext>
            </a:extLst>
          </p:cNvPr>
          <p:cNvSpPr>
            <a:spLocks noGrp="1"/>
          </p:cNvSpPr>
          <p:nvPr>
            <p:ph type="body" idx="1"/>
          </p:nvPr>
        </p:nvSpPr>
        <p:spPr>
          <a:xfrm>
            <a:off x="520495" y="2621369"/>
            <a:ext cx="3196753"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4" name="Content Placeholder 3">
            <a:extLst>
              <a:ext uri="{FF2B5EF4-FFF2-40B4-BE49-F238E27FC236}">
                <a16:creationId xmlns:a16="http://schemas.microsoft.com/office/drawing/2014/main" id="{7874C813-9830-07B2-BEB1-C60268F9AB1D}"/>
              </a:ext>
            </a:extLst>
          </p:cNvPr>
          <p:cNvSpPr>
            <a:spLocks noGrp="1"/>
          </p:cNvSpPr>
          <p:nvPr>
            <p:ph sz="half" idx="2"/>
          </p:nvPr>
        </p:nvSpPr>
        <p:spPr>
          <a:xfrm>
            <a:off x="520495" y="3906061"/>
            <a:ext cx="31967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4CD79F-F3D1-8FAC-F215-DD2415CA51BE}"/>
              </a:ext>
            </a:extLst>
          </p:cNvPr>
          <p:cNvSpPr>
            <a:spLocks noGrp="1"/>
          </p:cNvSpPr>
          <p:nvPr>
            <p:ph type="body" sz="quarter" idx="3"/>
          </p:nvPr>
        </p:nvSpPr>
        <p:spPr>
          <a:xfrm>
            <a:off x="3825479" y="2621369"/>
            <a:ext cx="3212497"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6" name="Content Placeholder 5">
            <a:extLst>
              <a:ext uri="{FF2B5EF4-FFF2-40B4-BE49-F238E27FC236}">
                <a16:creationId xmlns:a16="http://schemas.microsoft.com/office/drawing/2014/main" id="{D22BDE3E-7351-EB58-9D0C-1EDFEB705568}"/>
              </a:ext>
            </a:extLst>
          </p:cNvPr>
          <p:cNvSpPr>
            <a:spLocks noGrp="1"/>
          </p:cNvSpPr>
          <p:nvPr>
            <p:ph sz="quarter" idx="4"/>
          </p:nvPr>
        </p:nvSpPr>
        <p:spPr>
          <a:xfrm>
            <a:off x="3825479" y="3906061"/>
            <a:ext cx="3212497"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ACFC93-BC31-8ABA-DAC7-F251CAA561F0}"/>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8" name="Footer Placeholder 7">
            <a:extLst>
              <a:ext uri="{FF2B5EF4-FFF2-40B4-BE49-F238E27FC236}">
                <a16:creationId xmlns:a16="http://schemas.microsoft.com/office/drawing/2014/main" id="{39582DB2-65CC-4526-222A-FAC3324C8F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673EB0-42BA-DF4A-A0B6-34398C3F16B9}"/>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467163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F4E46-06F1-9106-FF03-44D085E17F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360A4E-D607-ED63-46EC-DEBB4871CCA9}"/>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4" name="Footer Placeholder 3">
            <a:extLst>
              <a:ext uri="{FF2B5EF4-FFF2-40B4-BE49-F238E27FC236}">
                <a16:creationId xmlns:a16="http://schemas.microsoft.com/office/drawing/2014/main" id="{C7EC9E40-8343-0EC1-7E07-8D344CE78F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697809-6094-26E6-405C-348EF59FA7FB}"/>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2557639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C41A91-F299-AA6B-A098-BFB610131F89}"/>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3" name="Footer Placeholder 2">
            <a:extLst>
              <a:ext uri="{FF2B5EF4-FFF2-40B4-BE49-F238E27FC236}">
                <a16:creationId xmlns:a16="http://schemas.microsoft.com/office/drawing/2014/main" id="{9A9696E2-9DC5-408B-DDF9-F07C8F94C1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F86162-846A-83DE-A3B0-343AD97A9F84}"/>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448432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AE5E7-5397-CBA9-1A27-6DCB5D844A76}"/>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Content Placeholder 2">
            <a:extLst>
              <a:ext uri="{FF2B5EF4-FFF2-40B4-BE49-F238E27FC236}">
                <a16:creationId xmlns:a16="http://schemas.microsoft.com/office/drawing/2014/main" id="{75B01079-1AC1-8777-63DD-36F4EA9488E0}"/>
              </a:ext>
            </a:extLst>
          </p:cNvPr>
          <p:cNvSpPr>
            <a:spLocks noGrp="1"/>
          </p:cNvSpPr>
          <p:nvPr>
            <p:ph idx="1"/>
          </p:nvPr>
        </p:nvSpPr>
        <p:spPr>
          <a:xfrm>
            <a:off x="3212497" y="1539654"/>
            <a:ext cx="3825478" cy="7599245"/>
          </a:xfrm>
        </p:spPr>
        <p:txBody>
          <a:bodyPr/>
          <a:lstStyle>
            <a:lvl1pPr>
              <a:defRPr sz="1983"/>
            </a:lvl1pPr>
            <a:lvl2pPr>
              <a:defRPr sz="1735"/>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B39598-BD42-F0A1-D7E1-CA342EB00393}"/>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4A36F1C0-C5BD-D842-A488-78C4E6CB512A}"/>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6" name="Footer Placeholder 5">
            <a:extLst>
              <a:ext uri="{FF2B5EF4-FFF2-40B4-BE49-F238E27FC236}">
                <a16:creationId xmlns:a16="http://schemas.microsoft.com/office/drawing/2014/main" id="{09C5853B-752D-03C2-63A2-79C6CCE0FA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944F36-7E1B-1D83-16E9-D4B7EE4E29B4}"/>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3098837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31910-180C-43EC-F34C-1F1A1CD9423A}"/>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Picture Placeholder 2">
            <a:extLst>
              <a:ext uri="{FF2B5EF4-FFF2-40B4-BE49-F238E27FC236}">
                <a16:creationId xmlns:a16="http://schemas.microsoft.com/office/drawing/2014/main" id="{DA840AF7-43C8-6442-87DA-518FFA174FD5}"/>
              </a:ext>
            </a:extLst>
          </p:cNvPr>
          <p:cNvSpPr>
            <a:spLocks noGrp="1"/>
          </p:cNvSpPr>
          <p:nvPr>
            <p:ph type="pic" idx="1"/>
          </p:nvPr>
        </p:nvSpPr>
        <p:spPr>
          <a:xfrm>
            <a:off x="3212497" y="1539654"/>
            <a:ext cx="3825478" cy="7599245"/>
          </a:xfrm>
        </p:spPr>
        <p:txBody>
          <a:bodyPr/>
          <a:lstStyle>
            <a:lvl1pPr marL="0" indent="0">
              <a:buNone/>
              <a:defRPr sz="1983"/>
            </a:lvl1pPr>
            <a:lvl2pPr marL="283373" indent="0">
              <a:buNone/>
              <a:defRPr sz="1735"/>
            </a:lvl2pPr>
            <a:lvl3pPr marL="566745" indent="0">
              <a:buNone/>
              <a:defRPr sz="1488"/>
            </a:lvl3pPr>
            <a:lvl4pPr marL="850118" indent="0">
              <a:buNone/>
              <a:defRPr sz="1240"/>
            </a:lvl4pPr>
            <a:lvl5pPr marL="1133490" indent="0">
              <a:buNone/>
              <a:defRPr sz="1240"/>
            </a:lvl5pPr>
            <a:lvl6pPr marL="1416863" indent="0">
              <a:buNone/>
              <a:defRPr sz="1240"/>
            </a:lvl6pPr>
            <a:lvl7pPr marL="1700235" indent="0">
              <a:buNone/>
              <a:defRPr sz="1240"/>
            </a:lvl7pPr>
            <a:lvl8pPr marL="1983608" indent="0">
              <a:buNone/>
              <a:defRPr sz="1240"/>
            </a:lvl8pPr>
            <a:lvl9pPr marL="2266980" indent="0">
              <a:buNone/>
              <a:defRPr sz="1240"/>
            </a:lvl9pPr>
          </a:lstStyle>
          <a:p>
            <a:endParaRPr lang="en-US"/>
          </a:p>
        </p:txBody>
      </p:sp>
      <p:sp>
        <p:nvSpPr>
          <p:cNvPr id="4" name="Text Placeholder 3">
            <a:extLst>
              <a:ext uri="{FF2B5EF4-FFF2-40B4-BE49-F238E27FC236}">
                <a16:creationId xmlns:a16="http://schemas.microsoft.com/office/drawing/2014/main" id="{38463934-3717-7A80-BE01-185DF870E1C0}"/>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C8E0090F-44CB-2FDD-E31C-4619B56AE5D8}"/>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6" name="Footer Placeholder 5">
            <a:extLst>
              <a:ext uri="{FF2B5EF4-FFF2-40B4-BE49-F238E27FC236}">
                <a16:creationId xmlns:a16="http://schemas.microsoft.com/office/drawing/2014/main" id="{0643AFA3-B1F7-9204-8AD6-057DC28C1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B5DC73-8F9D-0E09-27D2-A2A6B29DA249}"/>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2962906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8B786-AE76-EAA6-E096-1F3582789B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A559F9-B947-68AA-7AB1-38CDC9FF24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A6C4D0-77E5-6502-13B2-D6AD16A7C482}"/>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5" name="Footer Placeholder 4">
            <a:extLst>
              <a:ext uri="{FF2B5EF4-FFF2-40B4-BE49-F238E27FC236}">
                <a16:creationId xmlns:a16="http://schemas.microsoft.com/office/drawing/2014/main" id="{BAB87477-60D7-6501-43DE-9F0F146B96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4852D-82DC-8D56-9E7E-30AC0897FAA2}"/>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2692668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336BEE-A0ED-E39F-8D7B-83FE16C8E00B}"/>
              </a:ext>
            </a:extLst>
          </p:cNvPr>
          <p:cNvSpPr>
            <a:spLocks noGrp="1"/>
          </p:cNvSpPr>
          <p:nvPr>
            <p:ph type="title" orient="vert"/>
          </p:nvPr>
        </p:nvSpPr>
        <p:spPr>
          <a:xfrm>
            <a:off x="5407620" y="569325"/>
            <a:ext cx="1629370" cy="906216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D7D3B9-B365-A3A1-9B06-09A6702838BA}"/>
              </a:ext>
            </a:extLst>
          </p:cNvPr>
          <p:cNvSpPr>
            <a:spLocks noGrp="1"/>
          </p:cNvSpPr>
          <p:nvPr>
            <p:ph type="body" orient="vert" idx="1"/>
          </p:nvPr>
        </p:nvSpPr>
        <p:spPr>
          <a:xfrm>
            <a:off x="519510" y="569325"/>
            <a:ext cx="4793655"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7EA19B-2F91-09CC-632F-AAF9DFAA8415}"/>
              </a:ext>
            </a:extLst>
          </p:cNvPr>
          <p:cNvSpPr>
            <a:spLocks noGrp="1"/>
          </p:cNvSpPr>
          <p:nvPr>
            <p:ph type="dt" sz="half" idx="10"/>
          </p:nvPr>
        </p:nvSpPr>
        <p:spPr/>
        <p:txBody>
          <a:bodyPr/>
          <a:lstStyle/>
          <a:p>
            <a:fld id="{0E0852F2-75F0-40B1-AAED-220301B78D5D}" type="datetimeFigureOut">
              <a:rPr lang="en-US" smtClean="0"/>
              <a:t>10/19/2026</a:t>
            </a:fld>
            <a:endParaRPr lang="en-US"/>
          </a:p>
        </p:txBody>
      </p:sp>
      <p:sp>
        <p:nvSpPr>
          <p:cNvPr id="5" name="Footer Placeholder 4">
            <a:extLst>
              <a:ext uri="{FF2B5EF4-FFF2-40B4-BE49-F238E27FC236}">
                <a16:creationId xmlns:a16="http://schemas.microsoft.com/office/drawing/2014/main" id="{ABE8FB7A-5BB0-4D3F-A105-376E6F561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303491-1B9A-E5C4-EC15-2A45C108971B}"/>
              </a:ext>
            </a:extLst>
          </p:cNvPr>
          <p:cNvSpPr>
            <a:spLocks noGrp="1"/>
          </p:cNvSpPr>
          <p:nvPr>
            <p:ph type="sldNum" sz="quarter" idx="12"/>
          </p:nvPr>
        </p:nvSpPr>
        <p:spPr/>
        <p:txBody>
          <a:bodyPr/>
          <a:lstStyle/>
          <a:p>
            <a:fld id="{99F96F71-F2C9-4A21-993D-7F35113051A4}" type="slidenum">
              <a:rPr lang="en-US" smtClean="0"/>
              <a:t>‹#›</a:t>
            </a:fld>
            <a:endParaRPr lang="en-US"/>
          </a:p>
        </p:txBody>
      </p:sp>
    </p:spTree>
    <p:extLst>
      <p:ext uri="{BB962C8B-B14F-4D97-AF65-F5344CB8AC3E}">
        <p14:creationId xmlns:p14="http://schemas.microsoft.com/office/powerpoint/2010/main" val="2828344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EE940A-5F77-1E49-74D6-E50E83900711}"/>
              </a:ext>
            </a:extLst>
          </p:cNvPr>
          <p:cNvSpPr>
            <a:spLocks noGrp="1"/>
          </p:cNvSpPr>
          <p:nvPr>
            <p:ph type="title"/>
          </p:nvPr>
        </p:nvSpPr>
        <p:spPr>
          <a:xfrm>
            <a:off x="519511" y="569327"/>
            <a:ext cx="6517481" cy="206689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AAB268-0B0E-6631-2DD3-1A25D4EA4CD7}"/>
              </a:ext>
            </a:extLst>
          </p:cNvPr>
          <p:cNvSpPr>
            <a:spLocks noGrp="1"/>
          </p:cNvSpPr>
          <p:nvPr>
            <p:ph type="body" idx="1"/>
          </p:nvPr>
        </p:nvSpPr>
        <p:spPr>
          <a:xfrm>
            <a:off x="519511" y="2846623"/>
            <a:ext cx="6517481"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DE7DE3-091C-325C-63DD-26EB434A254B}"/>
              </a:ext>
            </a:extLst>
          </p:cNvPr>
          <p:cNvSpPr>
            <a:spLocks noGrp="1"/>
          </p:cNvSpPr>
          <p:nvPr>
            <p:ph type="dt" sz="half" idx="2"/>
          </p:nvPr>
        </p:nvSpPr>
        <p:spPr>
          <a:xfrm>
            <a:off x="519510" y="9911200"/>
            <a:ext cx="1700213" cy="569325"/>
          </a:xfrm>
          <a:prstGeom prst="rect">
            <a:avLst/>
          </a:prstGeom>
        </p:spPr>
        <p:txBody>
          <a:bodyPr vert="horz" lIns="91440" tIns="45720" rIns="91440" bIns="45720" rtlCol="0" anchor="ctr"/>
          <a:lstStyle>
            <a:lvl1pPr algn="l">
              <a:defRPr sz="744">
                <a:solidFill>
                  <a:schemeClr val="tx1">
                    <a:tint val="82000"/>
                  </a:schemeClr>
                </a:solidFill>
              </a:defRPr>
            </a:lvl1pPr>
          </a:lstStyle>
          <a:p>
            <a:fld id="{0E0852F2-75F0-40B1-AAED-220301B78D5D}" type="datetimeFigureOut">
              <a:rPr lang="en-US" smtClean="0"/>
              <a:t>10/19/2026</a:t>
            </a:fld>
            <a:endParaRPr lang="en-US"/>
          </a:p>
        </p:txBody>
      </p:sp>
      <p:sp>
        <p:nvSpPr>
          <p:cNvPr id="5" name="Footer Placeholder 4">
            <a:extLst>
              <a:ext uri="{FF2B5EF4-FFF2-40B4-BE49-F238E27FC236}">
                <a16:creationId xmlns:a16="http://schemas.microsoft.com/office/drawing/2014/main" id="{F956498B-785A-49ED-AB70-3E832EFD2CFE}"/>
              </a:ext>
            </a:extLst>
          </p:cNvPr>
          <p:cNvSpPr>
            <a:spLocks noGrp="1"/>
          </p:cNvSpPr>
          <p:nvPr>
            <p:ph type="ftr" sz="quarter" idx="3"/>
          </p:nvPr>
        </p:nvSpPr>
        <p:spPr>
          <a:xfrm>
            <a:off x="2503092" y="9911200"/>
            <a:ext cx="2550319" cy="569325"/>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52ECF2-FEBE-3C40-B19E-14D17F5693C2}"/>
              </a:ext>
            </a:extLst>
          </p:cNvPr>
          <p:cNvSpPr>
            <a:spLocks noGrp="1"/>
          </p:cNvSpPr>
          <p:nvPr>
            <p:ph type="sldNum" sz="quarter" idx="4"/>
          </p:nvPr>
        </p:nvSpPr>
        <p:spPr>
          <a:xfrm>
            <a:off x="5336779" y="9911200"/>
            <a:ext cx="1700213" cy="569325"/>
          </a:xfrm>
          <a:prstGeom prst="rect">
            <a:avLst/>
          </a:prstGeom>
        </p:spPr>
        <p:txBody>
          <a:bodyPr vert="horz" lIns="91440" tIns="45720" rIns="91440" bIns="45720" rtlCol="0" anchor="ctr"/>
          <a:lstStyle>
            <a:lvl1pPr algn="r">
              <a:defRPr sz="744">
                <a:solidFill>
                  <a:schemeClr val="tx1">
                    <a:tint val="82000"/>
                  </a:schemeClr>
                </a:solidFill>
              </a:defRPr>
            </a:lvl1pPr>
          </a:lstStyle>
          <a:p>
            <a:fld id="{99F96F71-F2C9-4A21-993D-7F35113051A4}" type="slidenum">
              <a:rPr lang="en-US" smtClean="0"/>
              <a:t>‹#›</a:t>
            </a:fld>
            <a:endParaRPr lang="en-US"/>
          </a:p>
        </p:txBody>
      </p:sp>
    </p:spTree>
    <p:extLst>
      <p:ext uri="{BB962C8B-B14F-4D97-AF65-F5344CB8AC3E}">
        <p14:creationId xmlns:p14="http://schemas.microsoft.com/office/powerpoint/2010/main" val="1932933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66745"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6745" rtl="0" eaLnBrk="1" latinLnBrk="0" hangingPunct="1">
        <a:defRPr sz="1116" kern="1200">
          <a:solidFill>
            <a:schemeClr val="tx1"/>
          </a:solidFill>
          <a:latin typeface="+mn-lt"/>
          <a:ea typeface="+mn-ea"/>
          <a:cs typeface="+mn-cs"/>
        </a:defRPr>
      </a:lvl1pPr>
      <a:lvl2pPr marL="283373" algn="l" defTabSz="566745" rtl="0" eaLnBrk="1" latinLnBrk="0" hangingPunct="1">
        <a:defRPr sz="1116" kern="1200">
          <a:solidFill>
            <a:schemeClr val="tx1"/>
          </a:solidFill>
          <a:latin typeface="+mn-lt"/>
          <a:ea typeface="+mn-ea"/>
          <a:cs typeface="+mn-cs"/>
        </a:defRPr>
      </a:lvl2pPr>
      <a:lvl3pPr marL="566745" algn="l" defTabSz="566745" rtl="0" eaLnBrk="1" latinLnBrk="0" hangingPunct="1">
        <a:defRPr sz="1116" kern="1200">
          <a:solidFill>
            <a:schemeClr val="tx1"/>
          </a:solidFill>
          <a:latin typeface="+mn-lt"/>
          <a:ea typeface="+mn-ea"/>
          <a:cs typeface="+mn-cs"/>
        </a:defRPr>
      </a:lvl3pPr>
      <a:lvl4pPr marL="850118" algn="l" defTabSz="566745" rtl="0" eaLnBrk="1" latinLnBrk="0" hangingPunct="1">
        <a:defRPr sz="1116" kern="1200">
          <a:solidFill>
            <a:schemeClr val="tx1"/>
          </a:solidFill>
          <a:latin typeface="+mn-lt"/>
          <a:ea typeface="+mn-ea"/>
          <a:cs typeface="+mn-cs"/>
        </a:defRPr>
      </a:lvl4pPr>
      <a:lvl5pPr marL="1133490" algn="l" defTabSz="566745" rtl="0" eaLnBrk="1" latinLnBrk="0" hangingPunct="1">
        <a:defRPr sz="1116" kern="1200">
          <a:solidFill>
            <a:schemeClr val="tx1"/>
          </a:solidFill>
          <a:latin typeface="+mn-lt"/>
          <a:ea typeface="+mn-ea"/>
          <a:cs typeface="+mn-cs"/>
        </a:defRPr>
      </a:lvl5pPr>
      <a:lvl6pPr marL="1416863" algn="l" defTabSz="566745" rtl="0" eaLnBrk="1" latinLnBrk="0" hangingPunct="1">
        <a:defRPr sz="1116" kern="1200">
          <a:solidFill>
            <a:schemeClr val="tx1"/>
          </a:solidFill>
          <a:latin typeface="+mn-lt"/>
          <a:ea typeface="+mn-ea"/>
          <a:cs typeface="+mn-cs"/>
        </a:defRPr>
      </a:lvl6pPr>
      <a:lvl7pPr marL="1700235" algn="l" defTabSz="566745" rtl="0" eaLnBrk="1" latinLnBrk="0" hangingPunct="1">
        <a:defRPr sz="1116" kern="1200">
          <a:solidFill>
            <a:schemeClr val="tx1"/>
          </a:solidFill>
          <a:latin typeface="+mn-lt"/>
          <a:ea typeface="+mn-ea"/>
          <a:cs typeface="+mn-cs"/>
        </a:defRPr>
      </a:lvl7pPr>
      <a:lvl8pPr marL="1983608" algn="l" defTabSz="566745" rtl="0" eaLnBrk="1" latinLnBrk="0" hangingPunct="1">
        <a:defRPr sz="1116" kern="1200">
          <a:solidFill>
            <a:schemeClr val="tx1"/>
          </a:solidFill>
          <a:latin typeface="+mn-lt"/>
          <a:ea typeface="+mn-ea"/>
          <a:cs typeface="+mn-cs"/>
        </a:defRPr>
      </a:lvl8pPr>
      <a:lvl9pPr marL="2266980" algn="l" defTabSz="566745" rtl="0" eaLnBrk="1" latinLnBrk="0"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2062EA-E7CD-602B-664E-36CE64260608}"/>
              </a:ext>
            </a:extLst>
          </p:cNvPr>
          <p:cNvSpPr txBox="1"/>
          <p:nvPr/>
        </p:nvSpPr>
        <p:spPr>
          <a:xfrm>
            <a:off x="431800" y="279400"/>
            <a:ext cx="6692900" cy="215444"/>
          </a:xfrm>
          <a:prstGeom prst="rect">
            <a:avLst/>
          </a:prstGeom>
          <a:noFill/>
        </p:spPr>
        <p:txBody>
          <a:bodyPr vert="horz" wrap="square" lIns="0" tIns="0" rIns="0" bIns="0" rtlCol="0">
            <a:spAutoFit/>
          </a:bodyPr>
          <a:lstStyle/>
          <a:p>
            <a:pPr algn="ctr"/>
            <a:r>
              <a:rPr lang="en-US" sz="1400" b="1">
                <a:solidFill>
                  <a:srgbClr val="164F88"/>
                </a:solidFill>
                <a:latin typeface="Times New Roman" panose="02020603050405020304" pitchFamily="18" charset="0"/>
              </a:rPr>
              <a:t>KALASALINGAM ACADEMY OF RESEARCH AND EDUCATION</a:t>
            </a:r>
          </a:p>
        </p:txBody>
      </p:sp>
      <p:sp>
        <p:nvSpPr>
          <p:cNvPr id="3" name="TextBox 2">
            <a:extLst>
              <a:ext uri="{FF2B5EF4-FFF2-40B4-BE49-F238E27FC236}">
                <a16:creationId xmlns:a16="http://schemas.microsoft.com/office/drawing/2014/main" id="{3FA72A8E-E388-29A6-69FA-17E912F0CA57}"/>
              </a:ext>
            </a:extLst>
          </p:cNvPr>
          <p:cNvSpPr txBox="1"/>
          <p:nvPr/>
        </p:nvSpPr>
        <p:spPr>
          <a:xfrm>
            <a:off x="431800" y="571500"/>
            <a:ext cx="6692900" cy="153888"/>
          </a:xfrm>
          <a:prstGeom prst="rect">
            <a:avLst/>
          </a:prstGeom>
          <a:noFill/>
        </p:spPr>
        <p:txBody>
          <a:bodyPr vert="horz" wrap="square" lIns="0" tIns="0" rIns="0" bIns="0" rtlCol="0">
            <a:spAutoFit/>
          </a:bodyPr>
          <a:lstStyle/>
          <a:p>
            <a:pPr algn="ctr"/>
            <a:r>
              <a:rPr lang="en-US" sz="1000" b="1">
                <a:solidFill>
                  <a:srgbClr val="164F88"/>
                </a:solidFill>
                <a:latin typeface="Times New Roman" panose="02020603050405020304" pitchFamily="18" charset="0"/>
              </a:rPr>
              <a:t>(DEEMED TO BE UNIVERSITY)</a:t>
            </a:r>
          </a:p>
        </p:txBody>
      </p:sp>
      <p:sp>
        <p:nvSpPr>
          <p:cNvPr id="4" name="TextBox 3">
            <a:extLst>
              <a:ext uri="{FF2B5EF4-FFF2-40B4-BE49-F238E27FC236}">
                <a16:creationId xmlns:a16="http://schemas.microsoft.com/office/drawing/2014/main" id="{F513F68D-28FC-592D-682D-AC0391F01F80}"/>
              </a:ext>
            </a:extLst>
          </p:cNvPr>
          <p:cNvSpPr txBox="1"/>
          <p:nvPr/>
        </p:nvSpPr>
        <p:spPr>
          <a:xfrm>
            <a:off x="431800" y="800100"/>
            <a:ext cx="6692900" cy="169277"/>
          </a:xfrm>
          <a:prstGeom prst="rect">
            <a:avLst/>
          </a:prstGeom>
          <a:noFill/>
        </p:spPr>
        <p:txBody>
          <a:bodyPr vert="horz" wrap="square" lIns="0" tIns="0" rIns="0" bIns="0" rtlCol="0">
            <a:spAutoFit/>
          </a:bodyPr>
          <a:lstStyle/>
          <a:p>
            <a:pPr algn="ctr"/>
            <a:r>
              <a:rPr lang="en-US" sz="1100" b="1">
                <a:solidFill>
                  <a:srgbClr val="B3262D"/>
                </a:solidFill>
                <a:latin typeface="Times New Roman" panose="02020603050405020304" pitchFamily="18" charset="0"/>
              </a:rPr>
              <a:t>CENTRE FOR DISTANCE AND ONLINE EDUCATION (CDOE)</a:t>
            </a:r>
          </a:p>
        </p:txBody>
      </p:sp>
      <p:sp>
        <p:nvSpPr>
          <p:cNvPr id="5" name="TextBox 4">
            <a:extLst>
              <a:ext uri="{FF2B5EF4-FFF2-40B4-BE49-F238E27FC236}">
                <a16:creationId xmlns:a16="http://schemas.microsoft.com/office/drawing/2014/main" id="{497DE4EC-2E23-A26C-7705-1F0EB9F449D7}"/>
              </a:ext>
            </a:extLst>
          </p:cNvPr>
          <p:cNvSpPr txBox="1"/>
          <p:nvPr/>
        </p:nvSpPr>
        <p:spPr>
          <a:xfrm>
            <a:off x="457200" y="1041400"/>
            <a:ext cx="6642100" cy="123111"/>
          </a:xfrm>
          <a:prstGeom prst="rect">
            <a:avLst/>
          </a:prstGeom>
          <a:noFill/>
        </p:spPr>
        <p:txBody>
          <a:bodyPr vert="horz" wrap="square" lIns="0" tIns="0" rIns="0" bIns="0" rtlCol="0">
            <a:spAutoFit/>
          </a:bodyPr>
          <a:lstStyle/>
          <a:p>
            <a:pPr algn="ctr"/>
            <a:r>
              <a:rPr lang="en-US" sz="800">
                <a:solidFill>
                  <a:srgbClr val="666666"/>
                </a:solidFill>
                <a:latin typeface="Times New Roman" panose="02020603050405020304" pitchFamily="18" charset="0"/>
              </a:rPr>
              <a:t>[Official college logo to be inserted]</a:t>
            </a:r>
          </a:p>
        </p:txBody>
      </p:sp>
      <p:sp>
        <p:nvSpPr>
          <p:cNvPr id="6" name="TextBox 5">
            <a:extLst>
              <a:ext uri="{FF2B5EF4-FFF2-40B4-BE49-F238E27FC236}">
                <a16:creationId xmlns:a16="http://schemas.microsoft.com/office/drawing/2014/main" id="{E58A2709-18E3-B763-3DDD-072E50414393}"/>
              </a:ext>
            </a:extLst>
          </p:cNvPr>
          <p:cNvSpPr txBox="1"/>
          <p:nvPr/>
        </p:nvSpPr>
        <p:spPr>
          <a:xfrm>
            <a:off x="571500" y="1485900"/>
            <a:ext cx="6413500" cy="184666"/>
          </a:xfrm>
          <a:prstGeom prst="rect">
            <a:avLst/>
          </a:prstGeom>
          <a:noFill/>
        </p:spPr>
        <p:txBody>
          <a:bodyPr vert="horz" wrap="square" lIns="0" tIns="0" rIns="0" bIns="0" rtlCol="0">
            <a:spAutoFit/>
          </a:bodyPr>
          <a:lstStyle/>
          <a:p>
            <a:r>
              <a:rPr lang="en-US" sz="1200" b="1">
                <a:solidFill>
                  <a:srgbClr val="111111"/>
                </a:solidFill>
                <a:latin typeface="Times New Roman" panose="02020603050405020304" pitchFamily="18" charset="0"/>
              </a:rPr>
              <a:t>Name of the Learner: Deepak Kumar</a:t>
            </a:r>
          </a:p>
        </p:txBody>
      </p:sp>
      <p:sp>
        <p:nvSpPr>
          <p:cNvPr id="7" name="TextBox 6">
            <a:extLst>
              <a:ext uri="{FF2B5EF4-FFF2-40B4-BE49-F238E27FC236}">
                <a16:creationId xmlns:a16="http://schemas.microsoft.com/office/drawing/2014/main" id="{EB749CC5-00F7-EA85-0D69-40CBB2A4C204}"/>
              </a:ext>
            </a:extLst>
          </p:cNvPr>
          <p:cNvSpPr txBox="1"/>
          <p:nvPr/>
        </p:nvSpPr>
        <p:spPr>
          <a:xfrm>
            <a:off x="4318000" y="1485900"/>
            <a:ext cx="2730500" cy="184666"/>
          </a:xfrm>
          <a:prstGeom prst="rect">
            <a:avLst/>
          </a:prstGeom>
          <a:noFill/>
        </p:spPr>
        <p:txBody>
          <a:bodyPr vert="horz" wrap="square" lIns="0" tIns="0" rIns="0" bIns="0" rtlCol="0">
            <a:spAutoFit/>
          </a:bodyPr>
          <a:lstStyle/>
          <a:p>
            <a:r>
              <a:rPr lang="en-US" sz="1200" b="1">
                <a:solidFill>
                  <a:srgbClr val="111111"/>
                </a:solidFill>
                <a:latin typeface="Times New Roman" panose="02020603050405020304" pitchFamily="18" charset="0"/>
              </a:rPr>
              <a:t>Register number: 9224116032</a:t>
            </a:r>
          </a:p>
        </p:txBody>
      </p:sp>
      <p:sp>
        <p:nvSpPr>
          <p:cNvPr id="8" name="TextBox 7">
            <a:extLst>
              <a:ext uri="{FF2B5EF4-FFF2-40B4-BE49-F238E27FC236}">
                <a16:creationId xmlns:a16="http://schemas.microsoft.com/office/drawing/2014/main" id="{457D26B9-C8FA-4971-BDC7-B811C4942C29}"/>
              </a:ext>
            </a:extLst>
          </p:cNvPr>
          <p:cNvSpPr txBox="1"/>
          <p:nvPr/>
        </p:nvSpPr>
        <p:spPr>
          <a:xfrm>
            <a:off x="571500" y="1854200"/>
            <a:ext cx="6413500" cy="184666"/>
          </a:xfrm>
          <a:prstGeom prst="rect">
            <a:avLst/>
          </a:prstGeom>
          <a:noFill/>
        </p:spPr>
        <p:txBody>
          <a:bodyPr vert="horz" wrap="square" lIns="0" tIns="0" rIns="0" bIns="0" rtlCol="0">
            <a:spAutoFit/>
          </a:bodyPr>
          <a:lstStyle/>
          <a:p>
            <a:r>
              <a:rPr lang="en-US" sz="1200" b="1">
                <a:solidFill>
                  <a:srgbClr val="111111"/>
                </a:solidFill>
                <a:latin typeface="Times New Roman" panose="02020603050405020304" pitchFamily="18" charset="0"/>
              </a:rPr>
              <a:t>Name of the Programme: MCA</a:t>
            </a:r>
          </a:p>
        </p:txBody>
      </p:sp>
      <p:sp>
        <p:nvSpPr>
          <p:cNvPr id="9" name="TextBox 8">
            <a:extLst>
              <a:ext uri="{FF2B5EF4-FFF2-40B4-BE49-F238E27FC236}">
                <a16:creationId xmlns:a16="http://schemas.microsoft.com/office/drawing/2014/main" id="{A521748C-C115-FA54-E4EB-1AC2752A7B31}"/>
              </a:ext>
            </a:extLst>
          </p:cNvPr>
          <p:cNvSpPr txBox="1"/>
          <p:nvPr/>
        </p:nvSpPr>
        <p:spPr>
          <a:xfrm>
            <a:off x="4318000" y="1854200"/>
            <a:ext cx="2730500" cy="184666"/>
          </a:xfrm>
          <a:prstGeom prst="rect">
            <a:avLst/>
          </a:prstGeom>
          <a:noFill/>
        </p:spPr>
        <p:txBody>
          <a:bodyPr vert="horz" wrap="square" lIns="0" tIns="0" rIns="0" bIns="0" rtlCol="0">
            <a:spAutoFit/>
          </a:bodyPr>
          <a:lstStyle/>
          <a:p>
            <a:r>
              <a:rPr lang="en-US" sz="1200" b="1">
                <a:solidFill>
                  <a:srgbClr val="111111"/>
                </a:solidFill>
                <a:latin typeface="Times New Roman" panose="02020603050405020304" pitchFamily="18" charset="0"/>
              </a:rPr>
              <a:t>Semester: IV</a:t>
            </a:r>
          </a:p>
        </p:txBody>
      </p:sp>
      <p:sp>
        <p:nvSpPr>
          <p:cNvPr id="10" name="TextBox 9">
            <a:extLst>
              <a:ext uri="{FF2B5EF4-FFF2-40B4-BE49-F238E27FC236}">
                <a16:creationId xmlns:a16="http://schemas.microsoft.com/office/drawing/2014/main" id="{E06FF583-CAEB-4289-0DAF-2D3E1C11B5AC}"/>
              </a:ext>
            </a:extLst>
          </p:cNvPr>
          <p:cNvSpPr txBox="1"/>
          <p:nvPr/>
        </p:nvSpPr>
        <p:spPr>
          <a:xfrm>
            <a:off x="571500" y="2209800"/>
            <a:ext cx="6413500" cy="184666"/>
          </a:xfrm>
          <a:prstGeom prst="rect">
            <a:avLst/>
          </a:prstGeom>
          <a:noFill/>
        </p:spPr>
        <p:txBody>
          <a:bodyPr vert="horz" wrap="square" lIns="0" tIns="0" rIns="0" bIns="0" rtlCol="0">
            <a:spAutoFit/>
          </a:bodyPr>
          <a:lstStyle/>
          <a:p>
            <a:r>
              <a:rPr lang="en-US" sz="1200" b="1">
                <a:solidFill>
                  <a:srgbClr val="111111"/>
                </a:solidFill>
                <a:latin typeface="Times New Roman" panose="02020603050405020304" pitchFamily="18" charset="0"/>
              </a:rPr>
              <a:t>Name of the Course: Project Work</a:t>
            </a:r>
          </a:p>
        </p:txBody>
      </p:sp>
      <p:sp>
        <p:nvSpPr>
          <p:cNvPr id="11" name="TextBox 10">
            <a:extLst>
              <a:ext uri="{FF2B5EF4-FFF2-40B4-BE49-F238E27FC236}">
                <a16:creationId xmlns:a16="http://schemas.microsoft.com/office/drawing/2014/main" id="{74BA2123-35DD-BC0A-DCB6-46CD2A8269AF}"/>
              </a:ext>
            </a:extLst>
          </p:cNvPr>
          <p:cNvSpPr txBox="1"/>
          <p:nvPr/>
        </p:nvSpPr>
        <p:spPr>
          <a:xfrm>
            <a:off x="4318000" y="2209800"/>
            <a:ext cx="2730500" cy="184666"/>
          </a:xfrm>
          <a:prstGeom prst="rect">
            <a:avLst/>
          </a:prstGeom>
          <a:noFill/>
        </p:spPr>
        <p:txBody>
          <a:bodyPr vert="horz" wrap="square" lIns="0" tIns="0" rIns="0" bIns="0" rtlCol="0">
            <a:spAutoFit/>
          </a:bodyPr>
          <a:lstStyle/>
          <a:p>
            <a:r>
              <a:rPr lang="en-US" sz="1200" b="1">
                <a:solidFill>
                  <a:srgbClr val="111111"/>
                </a:solidFill>
                <a:latin typeface="Times New Roman" panose="02020603050405020304" pitchFamily="18" charset="0"/>
              </a:rPr>
              <a:t>Batch: Jan 2024</a:t>
            </a:r>
          </a:p>
        </p:txBody>
      </p:sp>
      <p:sp>
        <p:nvSpPr>
          <p:cNvPr id="12" name="TextBox 11">
            <a:extLst>
              <a:ext uri="{FF2B5EF4-FFF2-40B4-BE49-F238E27FC236}">
                <a16:creationId xmlns:a16="http://schemas.microsoft.com/office/drawing/2014/main" id="{6546FD5D-FEB2-21DF-1E02-BB51809C94DB}"/>
              </a:ext>
            </a:extLst>
          </p:cNvPr>
          <p:cNvSpPr txBox="1"/>
          <p:nvPr/>
        </p:nvSpPr>
        <p:spPr>
          <a:xfrm>
            <a:off x="571500" y="2565400"/>
            <a:ext cx="6413500" cy="184666"/>
          </a:xfrm>
          <a:prstGeom prst="rect">
            <a:avLst/>
          </a:prstGeom>
          <a:noFill/>
        </p:spPr>
        <p:txBody>
          <a:bodyPr vert="horz" wrap="square" lIns="0" tIns="0" rIns="0" bIns="0" rtlCol="0">
            <a:spAutoFit/>
          </a:bodyPr>
          <a:lstStyle/>
          <a:p>
            <a:r>
              <a:rPr lang="en-US" sz="1200" b="1">
                <a:solidFill>
                  <a:srgbClr val="111111"/>
                </a:solidFill>
                <a:latin typeface="Times New Roman" panose="02020603050405020304" pitchFamily="18" charset="0"/>
              </a:rPr>
              <a:t>Course Code: 223MCA4201</a:t>
            </a:r>
          </a:p>
        </p:txBody>
      </p:sp>
      <p:sp>
        <p:nvSpPr>
          <p:cNvPr id="13" name="TextBox 12">
            <a:extLst>
              <a:ext uri="{FF2B5EF4-FFF2-40B4-BE49-F238E27FC236}">
                <a16:creationId xmlns:a16="http://schemas.microsoft.com/office/drawing/2014/main" id="{A5C32156-ECFC-BCBD-AA01-EBE3BF4C87F3}"/>
              </a:ext>
            </a:extLst>
          </p:cNvPr>
          <p:cNvSpPr txBox="1"/>
          <p:nvPr/>
        </p:nvSpPr>
        <p:spPr>
          <a:xfrm>
            <a:off x="4318000" y="2565400"/>
            <a:ext cx="2730500" cy="184666"/>
          </a:xfrm>
          <a:prstGeom prst="rect">
            <a:avLst/>
          </a:prstGeom>
          <a:noFill/>
        </p:spPr>
        <p:txBody>
          <a:bodyPr vert="horz" wrap="square" lIns="0" tIns="0" rIns="0" bIns="0" rtlCol="0">
            <a:spAutoFit/>
          </a:bodyPr>
          <a:lstStyle/>
          <a:p>
            <a:r>
              <a:rPr lang="en-US" sz="1200" b="1">
                <a:solidFill>
                  <a:srgbClr val="111111"/>
                </a:solidFill>
                <a:latin typeface="Times New Roman" panose="02020603050405020304" pitchFamily="18" charset="0"/>
              </a:rPr>
              <a:t>Regulation: 2022</a:t>
            </a:r>
          </a:p>
        </p:txBody>
      </p:sp>
      <p:sp>
        <p:nvSpPr>
          <p:cNvPr id="14" name="TextBox 13">
            <a:extLst>
              <a:ext uri="{FF2B5EF4-FFF2-40B4-BE49-F238E27FC236}">
                <a16:creationId xmlns:a16="http://schemas.microsoft.com/office/drawing/2014/main" id="{E0E8905D-748A-6A92-EBE8-7BD6BC41527B}"/>
              </a:ext>
            </a:extLst>
          </p:cNvPr>
          <p:cNvSpPr txBox="1"/>
          <p:nvPr/>
        </p:nvSpPr>
        <p:spPr>
          <a:xfrm>
            <a:off x="571500" y="2921000"/>
            <a:ext cx="6413500" cy="184666"/>
          </a:xfrm>
          <a:prstGeom prst="rect">
            <a:avLst/>
          </a:prstGeom>
          <a:noFill/>
        </p:spPr>
        <p:txBody>
          <a:bodyPr vert="horz" wrap="square" lIns="0" tIns="0" rIns="0" bIns="0" rtlCol="0">
            <a:spAutoFit/>
          </a:bodyPr>
          <a:lstStyle/>
          <a:p>
            <a:r>
              <a:rPr lang="en-US" sz="1200" b="1">
                <a:solidFill>
                  <a:srgbClr val="111111"/>
                </a:solidFill>
                <a:latin typeface="Times New Roman" panose="02020603050405020304" pitchFamily="18" charset="0"/>
              </a:rPr>
              <a:t>Project Title: MaatriCare</a:t>
            </a:r>
          </a:p>
        </p:txBody>
      </p:sp>
      <p:sp>
        <p:nvSpPr>
          <p:cNvPr id="15" name="TextBox 14">
            <a:extLst>
              <a:ext uri="{FF2B5EF4-FFF2-40B4-BE49-F238E27FC236}">
                <a16:creationId xmlns:a16="http://schemas.microsoft.com/office/drawing/2014/main" id="{03A15DC5-953A-91AA-F320-FF1E34F5E2D9}"/>
              </a:ext>
            </a:extLst>
          </p:cNvPr>
          <p:cNvSpPr txBox="1"/>
          <p:nvPr/>
        </p:nvSpPr>
        <p:spPr>
          <a:xfrm>
            <a:off x="571500" y="3340100"/>
            <a:ext cx="6413500" cy="215444"/>
          </a:xfrm>
          <a:prstGeom prst="rect">
            <a:avLst/>
          </a:prstGeom>
          <a:noFill/>
        </p:spPr>
        <p:txBody>
          <a:bodyPr vert="horz" wrap="square" lIns="0" tIns="0" rIns="0" bIns="0" rtlCol="0">
            <a:spAutoFit/>
          </a:bodyPr>
          <a:lstStyle/>
          <a:p>
            <a:pPr algn="ctr"/>
            <a:r>
              <a:rPr lang="en-US" sz="1400" b="1">
                <a:solidFill>
                  <a:srgbClr val="111111"/>
                </a:solidFill>
                <a:latin typeface="Times New Roman" panose="02020603050405020304" pitchFamily="18" charset="0"/>
              </a:rPr>
              <a:t>Abstract</a:t>
            </a:r>
          </a:p>
        </p:txBody>
      </p:sp>
      <p:sp>
        <p:nvSpPr>
          <p:cNvPr id="16" name="TextBox 15">
            <a:extLst>
              <a:ext uri="{FF2B5EF4-FFF2-40B4-BE49-F238E27FC236}">
                <a16:creationId xmlns:a16="http://schemas.microsoft.com/office/drawing/2014/main" id="{227E5623-02E9-EC79-40BB-C32A83AC85F2}"/>
              </a:ext>
            </a:extLst>
          </p:cNvPr>
          <p:cNvSpPr txBox="1"/>
          <p:nvPr/>
        </p:nvSpPr>
        <p:spPr>
          <a:xfrm>
            <a:off x="609600" y="3759200"/>
            <a:ext cx="6350000" cy="4121769"/>
          </a:xfrm>
          <a:prstGeom prst="rect">
            <a:avLst/>
          </a:prstGeom>
          <a:noFill/>
        </p:spPr>
        <p:txBody>
          <a:bodyPr vert="horz" wrap="square" lIns="0" tIns="0" rIns="0" bIns="0" rtlCol="0">
            <a:spAutoFit/>
          </a:bodyPr>
          <a:lstStyle/>
          <a:p>
            <a:pPr algn="just">
              <a:lnSpc>
                <a:spcPct val="150000"/>
              </a:lnSpc>
            </a:pPr>
            <a:r>
              <a:rPr lang="en-US" sz="1200">
                <a:solidFill>
                  <a:srgbClr val="111111"/>
                </a:solidFill>
                <a:latin typeface="Times New Roman" panose="02020603050405020304" pitchFamily="18" charset="0"/>
              </a:rPr>
              <a:t>Pregnancy involves regular appointments, daily care, personal records, and communication with healthcare professionals. When information is scattered across separate tools, organizing tasks and preparing for visits can be difficult. MaatriCare is a pregnancy support and care-coordination application that brings these activities into one authenticated workspace.</a:t>
            </a:r>
          </a:p>
          <a:p>
            <a:pPr algn="just">
              <a:lnSpc>
                <a:spcPct val="150000"/>
              </a:lnSpc>
            </a:pPr>
            <a:endParaRPr lang="en-US" sz="1200">
              <a:solidFill>
                <a:srgbClr val="111111"/>
              </a:solidFill>
              <a:latin typeface="Times New Roman" panose="02020603050405020304" pitchFamily="18" charset="0"/>
            </a:endParaRPr>
          </a:p>
          <a:p>
            <a:pPr algn="just">
              <a:lnSpc>
                <a:spcPct val="150000"/>
              </a:lnSpc>
            </a:pPr>
            <a:r>
              <a:rPr lang="en-US" sz="1200">
                <a:solidFill>
                  <a:srgbClr val="111111"/>
                </a:solidFill>
                <a:latin typeface="Times New Roman" panose="02020603050405020304" pitchFamily="18" charset="0"/>
              </a:rPr>
              <a:t>The system supports pregnancy profiles, appointments and visit questions, daily care and wellbeing tracking, a private symptom journal, milestones, educational resources, healthcare summaries, emergency contacts, and configurable reminders. Users choose which records to include in reports and may share selected reports through revocable, time-limited links. MaatriCare organizes user-entered information; it does not diagnose, recommend treatment, or replace professional or emergency care.</a:t>
            </a:r>
          </a:p>
          <a:p>
            <a:pPr algn="just">
              <a:lnSpc>
                <a:spcPct val="150000"/>
              </a:lnSpc>
            </a:pPr>
            <a:endParaRPr lang="en-US" sz="1200">
              <a:solidFill>
                <a:srgbClr val="111111"/>
              </a:solidFill>
              <a:latin typeface="Times New Roman" panose="02020603050405020304" pitchFamily="18" charset="0"/>
            </a:endParaRPr>
          </a:p>
          <a:p>
            <a:pPr algn="just">
              <a:lnSpc>
                <a:spcPct val="150000"/>
              </a:lnSpc>
            </a:pPr>
            <a:r>
              <a:rPr lang="en-US" sz="1200">
                <a:solidFill>
                  <a:srgbClr val="111111"/>
                </a:solidFill>
                <a:latin typeface="Times New Roman" panose="02020603050405020304" pitchFamily="18" charset="0"/>
              </a:rPr>
              <a:t>The frontend uses React, TypeScript, and Vite. The backend uses Java Spring Boot REST APIs, Spring Security/JWT, validation, and JPA. MySQL is used locally and PostgreSQL is configured for production. Optional scheduled Web Push uses Asia/Kolkata time and requires VAPID keys and HTTPS for live delivery.</a:t>
            </a:r>
          </a:p>
        </p:txBody>
      </p:sp>
      <p:sp>
        <p:nvSpPr>
          <p:cNvPr id="17" name="TextBox 16">
            <a:extLst>
              <a:ext uri="{FF2B5EF4-FFF2-40B4-BE49-F238E27FC236}">
                <a16:creationId xmlns:a16="http://schemas.microsoft.com/office/drawing/2014/main" id="{0C9FA0CB-EACD-1A38-4D11-434319B0037A}"/>
              </a:ext>
            </a:extLst>
          </p:cNvPr>
          <p:cNvSpPr txBox="1"/>
          <p:nvPr/>
        </p:nvSpPr>
        <p:spPr>
          <a:xfrm>
            <a:off x="571500" y="8013700"/>
            <a:ext cx="6413500" cy="184666"/>
          </a:xfrm>
          <a:prstGeom prst="rect">
            <a:avLst/>
          </a:prstGeom>
          <a:noFill/>
        </p:spPr>
        <p:txBody>
          <a:bodyPr vert="horz" wrap="square" lIns="0" tIns="0" rIns="0" bIns="0" rtlCol="0">
            <a:spAutoFit/>
          </a:bodyPr>
          <a:lstStyle/>
          <a:p>
            <a:r>
              <a:rPr lang="en-US" sz="1200" b="1">
                <a:solidFill>
                  <a:srgbClr val="111111"/>
                </a:solidFill>
                <a:latin typeface="Times New Roman" panose="02020603050405020304" pitchFamily="18" charset="0"/>
              </a:rPr>
              <a:t>Tools &amp; Technologies Used</a:t>
            </a:r>
          </a:p>
        </p:txBody>
      </p:sp>
      <p:sp>
        <p:nvSpPr>
          <p:cNvPr id="18" name="TextBox 17">
            <a:extLst>
              <a:ext uri="{FF2B5EF4-FFF2-40B4-BE49-F238E27FC236}">
                <a16:creationId xmlns:a16="http://schemas.microsoft.com/office/drawing/2014/main" id="{3110E812-87F6-768D-BCB8-844E2FF59BC5}"/>
              </a:ext>
            </a:extLst>
          </p:cNvPr>
          <p:cNvSpPr txBox="1"/>
          <p:nvPr/>
        </p:nvSpPr>
        <p:spPr>
          <a:xfrm>
            <a:off x="698500" y="8305800"/>
            <a:ext cx="6286500" cy="985270"/>
          </a:xfrm>
          <a:prstGeom prst="rect">
            <a:avLst/>
          </a:prstGeom>
          <a:noFill/>
        </p:spPr>
        <p:txBody>
          <a:bodyPr vert="horz" wrap="square" lIns="0" tIns="0" rIns="0" bIns="0" rtlCol="0">
            <a:spAutoFit/>
          </a:bodyPr>
          <a:lstStyle/>
          <a:p>
            <a:pPr>
              <a:lnSpc>
                <a:spcPct val="150000"/>
              </a:lnSpc>
            </a:pPr>
            <a:r>
              <a:rPr lang="en-US" sz="1100">
                <a:solidFill>
                  <a:srgbClr val="111111"/>
                </a:solidFill>
                <a:latin typeface="Times New Roman" panose="02020603050405020304" pitchFamily="18" charset="0"/>
              </a:rPr>
              <a:t>Frontend: React, TypeScript, Vite</a:t>
            </a:r>
          </a:p>
          <a:p>
            <a:pPr>
              <a:lnSpc>
                <a:spcPct val="150000"/>
              </a:lnSpc>
            </a:pPr>
            <a:r>
              <a:rPr lang="en-US" sz="1100">
                <a:solidFill>
                  <a:srgbClr val="111111"/>
                </a:solidFill>
                <a:latin typeface="Times New Roman" panose="02020603050405020304" pitchFamily="18" charset="0"/>
              </a:rPr>
              <a:t>Backend: Java, Spring Boot REST API</a:t>
            </a:r>
          </a:p>
          <a:p>
            <a:pPr>
              <a:lnSpc>
                <a:spcPct val="150000"/>
              </a:lnSpc>
            </a:pPr>
            <a:r>
              <a:rPr lang="en-US" sz="1100">
                <a:solidFill>
                  <a:srgbClr val="111111"/>
                </a:solidFill>
                <a:latin typeface="Times New Roman" panose="02020603050405020304" pitchFamily="18" charset="0"/>
              </a:rPr>
              <a:t>Database: MySQL (local), PostgreSQL configuration</a:t>
            </a:r>
          </a:p>
          <a:p>
            <a:pPr>
              <a:lnSpc>
                <a:spcPct val="150000"/>
              </a:lnSpc>
            </a:pPr>
            <a:r>
              <a:rPr lang="en-US" sz="1100">
                <a:solidFill>
                  <a:srgbClr val="111111"/>
                </a:solidFill>
                <a:latin typeface="Times New Roman" panose="02020603050405020304" pitchFamily="18" charset="0"/>
              </a:rPr>
              <a:t>Security: Spring Security, JWT</a:t>
            </a:r>
          </a:p>
        </p:txBody>
      </p:sp>
      <p:sp>
        <p:nvSpPr>
          <p:cNvPr id="19" name="TextBox 18">
            <a:extLst>
              <a:ext uri="{FF2B5EF4-FFF2-40B4-BE49-F238E27FC236}">
                <a16:creationId xmlns:a16="http://schemas.microsoft.com/office/drawing/2014/main" id="{81F9ABDE-6BBC-6630-4F2D-1FA54CAFBEF0}"/>
              </a:ext>
            </a:extLst>
          </p:cNvPr>
          <p:cNvSpPr txBox="1"/>
          <p:nvPr/>
        </p:nvSpPr>
        <p:spPr>
          <a:xfrm>
            <a:off x="482600" y="9474200"/>
            <a:ext cx="6604000" cy="184666"/>
          </a:xfrm>
          <a:prstGeom prst="rect">
            <a:avLst/>
          </a:prstGeom>
          <a:noFill/>
        </p:spPr>
        <p:txBody>
          <a:bodyPr vert="horz" wrap="square" lIns="0" tIns="0" rIns="0" bIns="0" rtlCol="0">
            <a:spAutoFit/>
          </a:bodyPr>
          <a:lstStyle/>
          <a:p>
            <a:pPr algn="ctr"/>
            <a:r>
              <a:rPr lang="en-US" sz="1200" b="1">
                <a:solidFill>
                  <a:srgbClr val="111111"/>
                </a:solidFill>
                <a:latin typeface="Times New Roman" panose="02020603050405020304" pitchFamily="18" charset="0"/>
              </a:rPr>
              <a:t>Approval Committee</a:t>
            </a:r>
          </a:p>
        </p:txBody>
      </p:sp>
      <p:sp>
        <p:nvSpPr>
          <p:cNvPr id="20" name="TextBox 19">
            <a:extLst>
              <a:ext uri="{FF2B5EF4-FFF2-40B4-BE49-F238E27FC236}">
                <a16:creationId xmlns:a16="http://schemas.microsoft.com/office/drawing/2014/main" id="{452B00BB-DDA0-663A-1309-FA3B99B7D132}"/>
              </a:ext>
            </a:extLst>
          </p:cNvPr>
          <p:cNvSpPr txBox="1"/>
          <p:nvPr/>
        </p:nvSpPr>
        <p:spPr>
          <a:xfrm>
            <a:off x="444500" y="9880600"/>
            <a:ext cx="2159000" cy="153888"/>
          </a:xfrm>
          <a:prstGeom prst="rect">
            <a:avLst/>
          </a:prstGeom>
          <a:noFill/>
        </p:spPr>
        <p:txBody>
          <a:bodyPr vert="horz" wrap="square" lIns="0" tIns="0" rIns="0" bIns="0" rtlCol="0">
            <a:spAutoFit/>
          </a:bodyPr>
          <a:lstStyle/>
          <a:p>
            <a:pPr algn="ctr"/>
            <a:r>
              <a:rPr lang="en-US" sz="1000">
                <a:solidFill>
                  <a:srgbClr val="111111"/>
                </a:solidFill>
                <a:latin typeface="Times New Roman" panose="02020603050405020304" pitchFamily="18" charset="0"/>
              </a:rPr>
              <a:t>Internal Examiner</a:t>
            </a:r>
          </a:p>
        </p:txBody>
      </p:sp>
      <p:sp>
        <p:nvSpPr>
          <p:cNvPr id="21" name="TextBox 20">
            <a:extLst>
              <a:ext uri="{FF2B5EF4-FFF2-40B4-BE49-F238E27FC236}">
                <a16:creationId xmlns:a16="http://schemas.microsoft.com/office/drawing/2014/main" id="{E3936B66-EFC5-8E44-96B5-57F9DB80B942}"/>
              </a:ext>
            </a:extLst>
          </p:cNvPr>
          <p:cNvSpPr txBox="1"/>
          <p:nvPr/>
        </p:nvSpPr>
        <p:spPr>
          <a:xfrm>
            <a:off x="2692400" y="9880600"/>
            <a:ext cx="2349500" cy="153888"/>
          </a:xfrm>
          <a:prstGeom prst="rect">
            <a:avLst/>
          </a:prstGeom>
          <a:noFill/>
        </p:spPr>
        <p:txBody>
          <a:bodyPr vert="horz" wrap="square" lIns="0" tIns="0" rIns="0" bIns="0" rtlCol="0">
            <a:spAutoFit/>
          </a:bodyPr>
          <a:lstStyle/>
          <a:p>
            <a:pPr algn="ctr"/>
            <a:r>
              <a:rPr lang="en-US" sz="1000">
                <a:solidFill>
                  <a:srgbClr val="111111"/>
                </a:solidFill>
                <a:latin typeface="Times New Roman" panose="02020603050405020304" pitchFamily="18" charset="0"/>
              </a:rPr>
              <a:t>Deputy Director - CDOE</a:t>
            </a:r>
          </a:p>
        </p:txBody>
      </p:sp>
      <p:sp>
        <p:nvSpPr>
          <p:cNvPr id="22" name="TextBox 21">
            <a:extLst>
              <a:ext uri="{FF2B5EF4-FFF2-40B4-BE49-F238E27FC236}">
                <a16:creationId xmlns:a16="http://schemas.microsoft.com/office/drawing/2014/main" id="{51AFDF13-8BC0-6358-6FA1-11F99B19A430}"/>
              </a:ext>
            </a:extLst>
          </p:cNvPr>
          <p:cNvSpPr txBox="1"/>
          <p:nvPr/>
        </p:nvSpPr>
        <p:spPr>
          <a:xfrm>
            <a:off x="5105400" y="9880600"/>
            <a:ext cx="1968500" cy="153888"/>
          </a:xfrm>
          <a:prstGeom prst="rect">
            <a:avLst/>
          </a:prstGeom>
          <a:noFill/>
        </p:spPr>
        <p:txBody>
          <a:bodyPr vert="horz" wrap="square" lIns="0" tIns="0" rIns="0" bIns="0" rtlCol="0">
            <a:spAutoFit/>
          </a:bodyPr>
          <a:lstStyle/>
          <a:p>
            <a:pPr algn="ctr"/>
            <a:r>
              <a:rPr lang="en-US" sz="1000">
                <a:solidFill>
                  <a:srgbClr val="111111"/>
                </a:solidFill>
                <a:latin typeface="Times New Roman" panose="02020603050405020304" pitchFamily="18" charset="0"/>
              </a:rPr>
              <a:t>Director - CDOE</a:t>
            </a:r>
          </a:p>
        </p:txBody>
      </p:sp>
    </p:spTree>
    <p:extLst>
      <p:ext uri="{BB962C8B-B14F-4D97-AF65-F5344CB8AC3E}">
        <p14:creationId xmlns:p14="http://schemas.microsoft.com/office/powerpoint/2010/main" val="2091610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C9CA58-0DF0-9023-F5F8-B874DA7890CF}"/>
              </a:ext>
            </a:extLst>
          </p:cNvPr>
          <p:cNvSpPr txBox="1"/>
          <p:nvPr/>
        </p:nvSpPr>
        <p:spPr>
          <a:xfrm>
            <a:off x="431800" y="304800"/>
            <a:ext cx="6692900" cy="215444"/>
          </a:xfrm>
          <a:prstGeom prst="rect">
            <a:avLst/>
          </a:prstGeom>
          <a:noFill/>
        </p:spPr>
        <p:txBody>
          <a:bodyPr vert="horz" wrap="square" lIns="0" tIns="0" rIns="0" bIns="0" rtlCol="0">
            <a:spAutoFit/>
          </a:bodyPr>
          <a:lstStyle/>
          <a:p>
            <a:pPr algn="ctr"/>
            <a:r>
              <a:rPr lang="en-US" sz="1400" b="1">
                <a:solidFill>
                  <a:srgbClr val="111111"/>
                </a:solidFill>
                <a:latin typeface="Times New Roman" panose="02020603050405020304" pitchFamily="18" charset="0"/>
              </a:rPr>
              <a:t>ENTITY RELATIONSHIP DIAGRAM (ER)</a:t>
            </a:r>
          </a:p>
        </p:txBody>
      </p:sp>
      <p:sp>
        <p:nvSpPr>
          <p:cNvPr id="3" name="TextBox 2">
            <a:extLst>
              <a:ext uri="{FF2B5EF4-FFF2-40B4-BE49-F238E27FC236}">
                <a16:creationId xmlns:a16="http://schemas.microsoft.com/office/drawing/2014/main" id="{7A718907-3550-9E3F-AC5A-A014F3AED281}"/>
              </a:ext>
            </a:extLst>
          </p:cNvPr>
          <p:cNvSpPr txBox="1"/>
          <p:nvPr/>
        </p:nvSpPr>
        <p:spPr>
          <a:xfrm>
            <a:off x="431800" y="685800"/>
            <a:ext cx="6692900" cy="153888"/>
          </a:xfrm>
          <a:prstGeom prst="rect">
            <a:avLst/>
          </a:prstGeom>
          <a:noFill/>
        </p:spPr>
        <p:txBody>
          <a:bodyPr vert="horz" wrap="square" lIns="0" tIns="0" rIns="0" bIns="0" rtlCol="0">
            <a:spAutoFit/>
          </a:bodyPr>
          <a:lstStyle/>
          <a:p>
            <a:pPr algn="ctr"/>
            <a:r>
              <a:rPr lang="en-US" sz="1000">
                <a:solidFill>
                  <a:srgbClr val="444444"/>
                </a:solidFill>
                <a:latin typeface="Times New Roman" panose="02020603050405020304" pitchFamily="18" charset="0"/>
              </a:rPr>
              <a:t>MaatriCare - user-owned pregnancy support records</a:t>
            </a:r>
          </a:p>
        </p:txBody>
      </p:sp>
      <p:cxnSp>
        <p:nvCxnSpPr>
          <p:cNvPr id="4" name="Straight Arrow Connector 3">
            <a:extLst>
              <a:ext uri="{FF2B5EF4-FFF2-40B4-BE49-F238E27FC236}">
                <a16:creationId xmlns:a16="http://schemas.microsoft.com/office/drawing/2014/main" id="{8186F141-011F-3182-0D7B-946F4AC2C6CA}"/>
              </a:ext>
            </a:extLst>
          </p:cNvPr>
          <p:cNvCxnSpPr/>
          <p:nvPr/>
        </p:nvCxnSpPr>
        <p:spPr>
          <a:xfrm>
            <a:off x="3778250" y="1917700"/>
            <a:ext cx="0" cy="7023100"/>
          </a:xfrm>
          <a:prstGeom prst="straightConnector1">
            <a:avLst/>
          </a:prstGeom>
          <a:ln w="19050">
            <a:solidFill>
              <a:srgbClr val="566E68"/>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1D2B7CAD-41CD-508F-F3B5-F6DA24718645}"/>
              </a:ext>
            </a:extLst>
          </p:cNvPr>
          <p:cNvSpPr/>
          <p:nvPr/>
        </p:nvSpPr>
        <p:spPr>
          <a:xfrm>
            <a:off x="2286000" y="11176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0EECCD7-6AAC-BF84-0984-057EAAE65718}"/>
              </a:ext>
            </a:extLst>
          </p:cNvPr>
          <p:cNvSpPr/>
          <p:nvPr/>
        </p:nvSpPr>
        <p:spPr>
          <a:xfrm>
            <a:off x="2286000" y="11176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C6D85AD-C3CF-70B3-3240-133DC9FFAEF6}"/>
              </a:ext>
            </a:extLst>
          </p:cNvPr>
          <p:cNvSpPr txBox="1"/>
          <p:nvPr/>
        </p:nvSpPr>
        <p:spPr>
          <a:xfrm>
            <a:off x="2374900" y="11557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users</a:t>
            </a:r>
          </a:p>
        </p:txBody>
      </p:sp>
      <p:sp>
        <p:nvSpPr>
          <p:cNvPr id="8" name="TextBox 7">
            <a:extLst>
              <a:ext uri="{FF2B5EF4-FFF2-40B4-BE49-F238E27FC236}">
                <a16:creationId xmlns:a16="http://schemas.microsoft.com/office/drawing/2014/main" id="{DAC7FBBF-136E-19BE-1EDD-12D4F4F54860}"/>
              </a:ext>
            </a:extLst>
          </p:cNvPr>
          <p:cNvSpPr txBox="1"/>
          <p:nvPr/>
        </p:nvSpPr>
        <p:spPr>
          <a:xfrm>
            <a:off x="2374900" y="14605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id PK | email UNIQUE | timezone_id</a:t>
            </a:r>
          </a:p>
        </p:txBody>
      </p:sp>
      <p:cxnSp>
        <p:nvCxnSpPr>
          <p:cNvPr id="9" name="Straight Arrow Connector 8">
            <a:extLst>
              <a:ext uri="{FF2B5EF4-FFF2-40B4-BE49-F238E27FC236}">
                <a16:creationId xmlns:a16="http://schemas.microsoft.com/office/drawing/2014/main" id="{A63C079E-DBAD-2F48-B489-9BAA29CCD902}"/>
              </a:ext>
            </a:extLst>
          </p:cNvPr>
          <p:cNvCxnSpPr/>
          <p:nvPr/>
        </p:nvCxnSpPr>
        <p:spPr>
          <a:xfrm>
            <a:off x="3416300" y="2781300"/>
            <a:ext cx="3619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614D7F15-11C0-FA70-FC3C-F0DAF57FC65C}"/>
              </a:ext>
            </a:extLst>
          </p:cNvPr>
          <p:cNvSpPr/>
          <p:nvPr/>
        </p:nvSpPr>
        <p:spPr>
          <a:xfrm>
            <a:off x="431800" y="23876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18CC4C8-D7C3-7158-5CEE-0F93BCAF7F6A}"/>
              </a:ext>
            </a:extLst>
          </p:cNvPr>
          <p:cNvSpPr/>
          <p:nvPr/>
        </p:nvSpPr>
        <p:spPr>
          <a:xfrm>
            <a:off x="431800" y="23876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98E7A06-8F94-CFBC-1489-53F69D694950}"/>
              </a:ext>
            </a:extLst>
          </p:cNvPr>
          <p:cNvSpPr txBox="1"/>
          <p:nvPr/>
        </p:nvSpPr>
        <p:spPr>
          <a:xfrm>
            <a:off x="520700" y="24257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pregnancy_profiles</a:t>
            </a:r>
          </a:p>
        </p:txBody>
      </p:sp>
      <p:sp>
        <p:nvSpPr>
          <p:cNvPr id="13" name="TextBox 12">
            <a:extLst>
              <a:ext uri="{FF2B5EF4-FFF2-40B4-BE49-F238E27FC236}">
                <a16:creationId xmlns:a16="http://schemas.microsoft.com/office/drawing/2014/main" id="{98D717C9-17BB-D7EA-3157-E1196B9E9ABD}"/>
              </a:ext>
            </a:extLst>
          </p:cNvPr>
          <p:cNvSpPr txBox="1"/>
          <p:nvPr/>
        </p:nvSpPr>
        <p:spPr>
          <a:xfrm>
            <a:off x="520700" y="27305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user_id FK UNIQUE | due_date</a:t>
            </a:r>
          </a:p>
        </p:txBody>
      </p:sp>
      <p:sp>
        <p:nvSpPr>
          <p:cNvPr id="14" name="TextBox 13">
            <a:extLst>
              <a:ext uri="{FF2B5EF4-FFF2-40B4-BE49-F238E27FC236}">
                <a16:creationId xmlns:a16="http://schemas.microsoft.com/office/drawing/2014/main" id="{66765E1C-B0C3-6AC7-473C-2495A8D2AE8A}"/>
              </a:ext>
            </a:extLst>
          </p:cNvPr>
          <p:cNvSpPr txBox="1"/>
          <p:nvPr/>
        </p:nvSpPr>
        <p:spPr>
          <a:xfrm>
            <a:off x="3505200" y="2667000"/>
            <a:ext cx="533400" cy="107722"/>
          </a:xfrm>
          <a:prstGeom prst="rect">
            <a:avLst/>
          </a:prstGeom>
          <a:noFill/>
        </p:spPr>
        <p:txBody>
          <a:bodyPr vert="horz" wrap="square" lIns="0" tIns="0" rIns="0" bIns="0" rtlCol="0">
            <a:spAutoFit/>
          </a:bodyPr>
          <a:lstStyle/>
          <a:p>
            <a:pPr algn="ctr"/>
            <a:r>
              <a:rPr lang="en-US" sz="700">
                <a:solidFill>
                  <a:srgbClr val="444444"/>
                </a:solidFill>
                <a:latin typeface="Times New Roman" panose="02020603050405020304" pitchFamily="18" charset="0"/>
              </a:rPr>
              <a:t>1:1</a:t>
            </a:r>
          </a:p>
        </p:txBody>
      </p:sp>
      <p:cxnSp>
        <p:nvCxnSpPr>
          <p:cNvPr id="15" name="Straight Arrow Connector 14">
            <a:extLst>
              <a:ext uri="{FF2B5EF4-FFF2-40B4-BE49-F238E27FC236}">
                <a16:creationId xmlns:a16="http://schemas.microsoft.com/office/drawing/2014/main" id="{CD0C724B-9A19-685D-2648-1126B02199B0}"/>
              </a:ext>
            </a:extLst>
          </p:cNvPr>
          <p:cNvCxnSpPr/>
          <p:nvPr/>
        </p:nvCxnSpPr>
        <p:spPr>
          <a:xfrm>
            <a:off x="3778250" y="2781300"/>
            <a:ext cx="3619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AE2907D0-9186-4412-24D3-B2F376920846}"/>
              </a:ext>
            </a:extLst>
          </p:cNvPr>
          <p:cNvSpPr/>
          <p:nvPr/>
        </p:nvSpPr>
        <p:spPr>
          <a:xfrm>
            <a:off x="4140200" y="23876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8E6E166-B1C9-25F4-AC41-A643076E17FE}"/>
              </a:ext>
            </a:extLst>
          </p:cNvPr>
          <p:cNvSpPr/>
          <p:nvPr/>
        </p:nvSpPr>
        <p:spPr>
          <a:xfrm>
            <a:off x="4140200" y="23876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5CDFA92-8435-8F07-9294-5986EDF648B8}"/>
              </a:ext>
            </a:extLst>
          </p:cNvPr>
          <p:cNvSpPr txBox="1"/>
          <p:nvPr/>
        </p:nvSpPr>
        <p:spPr>
          <a:xfrm>
            <a:off x="4229100" y="24257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appointments</a:t>
            </a:r>
          </a:p>
        </p:txBody>
      </p:sp>
      <p:sp>
        <p:nvSpPr>
          <p:cNvPr id="19" name="TextBox 18">
            <a:extLst>
              <a:ext uri="{FF2B5EF4-FFF2-40B4-BE49-F238E27FC236}">
                <a16:creationId xmlns:a16="http://schemas.microsoft.com/office/drawing/2014/main" id="{A1105F1C-BC79-1997-BB71-48C54618C7F6}"/>
              </a:ext>
            </a:extLst>
          </p:cNvPr>
          <p:cNvSpPr txBox="1"/>
          <p:nvPr/>
        </p:nvSpPr>
        <p:spPr>
          <a:xfrm>
            <a:off x="4229100" y="27305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id PK | user_id FK | starts_at</a:t>
            </a:r>
          </a:p>
        </p:txBody>
      </p:sp>
      <p:sp>
        <p:nvSpPr>
          <p:cNvPr id="20" name="TextBox 19">
            <a:extLst>
              <a:ext uri="{FF2B5EF4-FFF2-40B4-BE49-F238E27FC236}">
                <a16:creationId xmlns:a16="http://schemas.microsoft.com/office/drawing/2014/main" id="{85BCC713-4B26-ACF3-A8E3-A4F529536956}"/>
              </a:ext>
            </a:extLst>
          </p:cNvPr>
          <p:cNvSpPr txBox="1"/>
          <p:nvPr/>
        </p:nvSpPr>
        <p:spPr>
          <a:xfrm>
            <a:off x="3505200" y="2667000"/>
            <a:ext cx="533400" cy="107722"/>
          </a:xfrm>
          <a:prstGeom prst="rect">
            <a:avLst/>
          </a:prstGeom>
          <a:noFill/>
        </p:spPr>
        <p:txBody>
          <a:bodyPr vert="horz" wrap="square" lIns="0" tIns="0" rIns="0" bIns="0" rtlCol="0">
            <a:spAutoFit/>
          </a:bodyPr>
          <a:lstStyle/>
          <a:p>
            <a:pPr algn="ctr"/>
            <a:r>
              <a:rPr lang="en-US" sz="700">
                <a:solidFill>
                  <a:srgbClr val="444444"/>
                </a:solidFill>
                <a:latin typeface="Times New Roman" panose="02020603050405020304" pitchFamily="18" charset="0"/>
              </a:rPr>
              <a:t>1:N</a:t>
            </a:r>
          </a:p>
        </p:txBody>
      </p:sp>
      <p:cxnSp>
        <p:nvCxnSpPr>
          <p:cNvPr id="21" name="Straight Arrow Connector 20">
            <a:extLst>
              <a:ext uri="{FF2B5EF4-FFF2-40B4-BE49-F238E27FC236}">
                <a16:creationId xmlns:a16="http://schemas.microsoft.com/office/drawing/2014/main" id="{DF0BEA4F-9207-53B7-D2D6-B3A6941014B3}"/>
              </a:ext>
            </a:extLst>
          </p:cNvPr>
          <p:cNvCxnSpPr/>
          <p:nvPr/>
        </p:nvCxnSpPr>
        <p:spPr>
          <a:xfrm>
            <a:off x="3416300" y="4076700"/>
            <a:ext cx="3619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C60F4EF8-E9A0-F3D1-D0BD-F0A3E375CF7E}"/>
              </a:ext>
            </a:extLst>
          </p:cNvPr>
          <p:cNvSpPr/>
          <p:nvPr/>
        </p:nvSpPr>
        <p:spPr>
          <a:xfrm>
            <a:off x="431800" y="36830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A74123A-89E5-57A6-CC78-9866DC747AD3}"/>
              </a:ext>
            </a:extLst>
          </p:cNvPr>
          <p:cNvSpPr/>
          <p:nvPr/>
        </p:nvSpPr>
        <p:spPr>
          <a:xfrm>
            <a:off x="431800" y="36830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941C34E-A0A5-ACF9-453F-51240199FF95}"/>
              </a:ext>
            </a:extLst>
          </p:cNvPr>
          <p:cNvSpPr txBox="1"/>
          <p:nvPr/>
        </p:nvSpPr>
        <p:spPr>
          <a:xfrm>
            <a:off x="520700" y="37211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care_tasks</a:t>
            </a:r>
          </a:p>
        </p:txBody>
      </p:sp>
      <p:sp>
        <p:nvSpPr>
          <p:cNvPr id="25" name="TextBox 24">
            <a:extLst>
              <a:ext uri="{FF2B5EF4-FFF2-40B4-BE49-F238E27FC236}">
                <a16:creationId xmlns:a16="http://schemas.microsoft.com/office/drawing/2014/main" id="{3EDB9416-5379-DFD7-8330-41F376FB5FC6}"/>
              </a:ext>
            </a:extLst>
          </p:cNvPr>
          <p:cNvSpPr txBox="1"/>
          <p:nvPr/>
        </p:nvSpPr>
        <p:spPr>
          <a:xfrm>
            <a:off x="520700" y="40259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id PK | user_id FK | task_detail_id FK</a:t>
            </a:r>
          </a:p>
        </p:txBody>
      </p:sp>
      <p:sp>
        <p:nvSpPr>
          <p:cNvPr id="26" name="TextBox 25">
            <a:extLst>
              <a:ext uri="{FF2B5EF4-FFF2-40B4-BE49-F238E27FC236}">
                <a16:creationId xmlns:a16="http://schemas.microsoft.com/office/drawing/2014/main" id="{13F71DF5-0206-FF21-05D8-657EE7FB1BCE}"/>
              </a:ext>
            </a:extLst>
          </p:cNvPr>
          <p:cNvSpPr txBox="1"/>
          <p:nvPr/>
        </p:nvSpPr>
        <p:spPr>
          <a:xfrm>
            <a:off x="3505200" y="3962400"/>
            <a:ext cx="533400" cy="107722"/>
          </a:xfrm>
          <a:prstGeom prst="rect">
            <a:avLst/>
          </a:prstGeom>
          <a:noFill/>
        </p:spPr>
        <p:txBody>
          <a:bodyPr vert="horz" wrap="square" lIns="0" tIns="0" rIns="0" bIns="0" rtlCol="0">
            <a:spAutoFit/>
          </a:bodyPr>
          <a:lstStyle/>
          <a:p>
            <a:pPr algn="ctr"/>
            <a:r>
              <a:rPr lang="en-US" sz="700">
                <a:solidFill>
                  <a:srgbClr val="444444"/>
                </a:solidFill>
                <a:latin typeface="Times New Roman" panose="02020603050405020304" pitchFamily="18" charset="0"/>
              </a:rPr>
              <a:t>1:N</a:t>
            </a:r>
          </a:p>
        </p:txBody>
      </p:sp>
      <p:cxnSp>
        <p:nvCxnSpPr>
          <p:cNvPr id="27" name="Straight Arrow Connector 26">
            <a:extLst>
              <a:ext uri="{FF2B5EF4-FFF2-40B4-BE49-F238E27FC236}">
                <a16:creationId xmlns:a16="http://schemas.microsoft.com/office/drawing/2014/main" id="{BD6EA073-980E-38AB-492A-3D214B146CFF}"/>
              </a:ext>
            </a:extLst>
          </p:cNvPr>
          <p:cNvCxnSpPr/>
          <p:nvPr/>
        </p:nvCxnSpPr>
        <p:spPr>
          <a:xfrm>
            <a:off x="3778250" y="4076700"/>
            <a:ext cx="3619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1E81591B-69E7-51B0-D80C-C04B5E0D0ABE}"/>
              </a:ext>
            </a:extLst>
          </p:cNvPr>
          <p:cNvSpPr/>
          <p:nvPr/>
        </p:nvSpPr>
        <p:spPr>
          <a:xfrm>
            <a:off x="4140200" y="36830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33C0A0A-4B81-DFDF-DEA6-13B468E0E546}"/>
              </a:ext>
            </a:extLst>
          </p:cNvPr>
          <p:cNvSpPr/>
          <p:nvPr/>
        </p:nvSpPr>
        <p:spPr>
          <a:xfrm>
            <a:off x="4140200" y="36830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883076D-CD87-FAD1-CC12-2523625160E3}"/>
              </a:ext>
            </a:extLst>
          </p:cNvPr>
          <p:cNvSpPr txBox="1"/>
          <p:nvPr/>
        </p:nvSpPr>
        <p:spPr>
          <a:xfrm>
            <a:off x="4229100" y="37211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daily_wellbeing</a:t>
            </a:r>
          </a:p>
        </p:txBody>
      </p:sp>
      <p:sp>
        <p:nvSpPr>
          <p:cNvPr id="31" name="TextBox 30">
            <a:extLst>
              <a:ext uri="{FF2B5EF4-FFF2-40B4-BE49-F238E27FC236}">
                <a16:creationId xmlns:a16="http://schemas.microsoft.com/office/drawing/2014/main" id="{B4D6EEA2-39B3-DA74-F196-47A2A3D7578E}"/>
              </a:ext>
            </a:extLst>
          </p:cNvPr>
          <p:cNvSpPr txBox="1"/>
          <p:nvPr/>
        </p:nvSpPr>
        <p:spPr>
          <a:xfrm>
            <a:off x="4229100" y="40259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user_id FK | entry_date UNIQUE</a:t>
            </a:r>
          </a:p>
        </p:txBody>
      </p:sp>
      <p:sp>
        <p:nvSpPr>
          <p:cNvPr id="32" name="TextBox 31">
            <a:extLst>
              <a:ext uri="{FF2B5EF4-FFF2-40B4-BE49-F238E27FC236}">
                <a16:creationId xmlns:a16="http://schemas.microsoft.com/office/drawing/2014/main" id="{C021844C-C575-6BF9-90A7-3181A07AB86E}"/>
              </a:ext>
            </a:extLst>
          </p:cNvPr>
          <p:cNvSpPr txBox="1"/>
          <p:nvPr/>
        </p:nvSpPr>
        <p:spPr>
          <a:xfrm>
            <a:off x="3505200" y="3962400"/>
            <a:ext cx="533400" cy="107722"/>
          </a:xfrm>
          <a:prstGeom prst="rect">
            <a:avLst/>
          </a:prstGeom>
          <a:noFill/>
        </p:spPr>
        <p:txBody>
          <a:bodyPr vert="horz" wrap="square" lIns="0" tIns="0" rIns="0" bIns="0" rtlCol="0">
            <a:spAutoFit/>
          </a:bodyPr>
          <a:lstStyle/>
          <a:p>
            <a:pPr algn="ctr"/>
            <a:r>
              <a:rPr lang="en-US" sz="700">
                <a:solidFill>
                  <a:srgbClr val="444444"/>
                </a:solidFill>
                <a:latin typeface="Times New Roman" panose="02020603050405020304" pitchFamily="18" charset="0"/>
              </a:rPr>
              <a:t>1:N</a:t>
            </a:r>
          </a:p>
        </p:txBody>
      </p:sp>
      <p:cxnSp>
        <p:nvCxnSpPr>
          <p:cNvPr id="33" name="Straight Arrow Connector 32">
            <a:extLst>
              <a:ext uri="{FF2B5EF4-FFF2-40B4-BE49-F238E27FC236}">
                <a16:creationId xmlns:a16="http://schemas.microsoft.com/office/drawing/2014/main" id="{B7481E75-BEF9-DEB5-ABFB-934D1E03EA2F}"/>
              </a:ext>
            </a:extLst>
          </p:cNvPr>
          <p:cNvCxnSpPr/>
          <p:nvPr/>
        </p:nvCxnSpPr>
        <p:spPr>
          <a:xfrm>
            <a:off x="3416300" y="5372100"/>
            <a:ext cx="3619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2F078DC0-95B9-B769-23C5-1970E0778925}"/>
              </a:ext>
            </a:extLst>
          </p:cNvPr>
          <p:cNvSpPr/>
          <p:nvPr/>
        </p:nvSpPr>
        <p:spPr>
          <a:xfrm>
            <a:off x="431800" y="49784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FD738E3-6914-2F6B-EE1E-DA8432D0B7DA}"/>
              </a:ext>
            </a:extLst>
          </p:cNvPr>
          <p:cNvSpPr/>
          <p:nvPr/>
        </p:nvSpPr>
        <p:spPr>
          <a:xfrm>
            <a:off x="431800" y="49784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A5ACFAD0-2F4F-575D-5150-1B8C87C305F5}"/>
              </a:ext>
            </a:extLst>
          </p:cNvPr>
          <p:cNvSpPr txBox="1"/>
          <p:nvPr/>
        </p:nvSpPr>
        <p:spPr>
          <a:xfrm>
            <a:off x="520700" y="50165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symptom_entries</a:t>
            </a:r>
          </a:p>
        </p:txBody>
      </p:sp>
      <p:sp>
        <p:nvSpPr>
          <p:cNvPr id="37" name="TextBox 36">
            <a:extLst>
              <a:ext uri="{FF2B5EF4-FFF2-40B4-BE49-F238E27FC236}">
                <a16:creationId xmlns:a16="http://schemas.microsoft.com/office/drawing/2014/main" id="{5D04484B-DB58-1567-BF0D-B8DFAD0492B3}"/>
              </a:ext>
            </a:extLst>
          </p:cNvPr>
          <p:cNvSpPr txBox="1"/>
          <p:nvPr/>
        </p:nvSpPr>
        <p:spPr>
          <a:xfrm>
            <a:off x="520700" y="53213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id PK | user_id FK | severity</a:t>
            </a:r>
          </a:p>
        </p:txBody>
      </p:sp>
      <p:sp>
        <p:nvSpPr>
          <p:cNvPr id="38" name="TextBox 37">
            <a:extLst>
              <a:ext uri="{FF2B5EF4-FFF2-40B4-BE49-F238E27FC236}">
                <a16:creationId xmlns:a16="http://schemas.microsoft.com/office/drawing/2014/main" id="{74770223-E8C5-E43C-7DC0-7F4C8083F5ED}"/>
              </a:ext>
            </a:extLst>
          </p:cNvPr>
          <p:cNvSpPr txBox="1"/>
          <p:nvPr/>
        </p:nvSpPr>
        <p:spPr>
          <a:xfrm>
            <a:off x="3505200" y="5257800"/>
            <a:ext cx="533400" cy="107722"/>
          </a:xfrm>
          <a:prstGeom prst="rect">
            <a:avLst/>
          </a:prstGeom>
          <a:noFill/>
        </p:spPr>
        <p:txBody>
          <a:bodyPr vert="horz" wrap="square" lIns="0" tIns="0" rIns="0" bIns="0" rtlCol="0">
            <a:spAutoFit/>
          </a:bodyPr>
          <a:lstStyle/>
          <a:p>
            <a:pPr algn="ctr"/>
            <a:r>
              <a:rPr lang="en-US" sz="700">
                <a:solidFill>
                  <a:srgbClr val="444444"/>
                </a:solidFill>
                <a:latin typeface="Times New Roman" panose="02020603050405020304" pitchFamily="18" charset="0"/>
              </a:rPr>
              <a:t>1:N</a:t>
            </a:r>
          </a:p>
        </p:txBody>
      </p:sp>
      <p:cxnSp>
        <p:nvCxnSpPr>
          <p:cNvPr id="39" name="Straight Arrow Connector 38">
            <a:extLst>
              <a:ext uri="{FF2B5EF4-FFF2-40B4-BE49-F238E27FC236}">
                <a16:creationId xmlns:a16="http://schemas.microsoft.com/office/drawing/2014/main" id="{B5A16EF3-9435-0A77-2612-B741649AAB1C}"/>
              </a:ext>
            </a:extLst>
          </p:cNvPr>
          <p:cNvCxnSpPr/>
          <p:nvPr/>
        </p:nvCxnSpPr>
        <p:spPr>
          <a:xfrm>
            <a:off x="3778250" y="5372100"/>
            <a:ext cx="3619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4A134F54-AD8D-AF3B-BD1E-46FA2AA05351}"/>
              </a:ext>
            </a:extLst>
          </p:cNvPr>
          <p:cNvSpPr/>
          <p:nvPr/>
        </p:nvSpPr>
        <p:spPr>
          <a:xfrm>
            <a:off x="4140200" y="49784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C487348-2CF3-48FF-76BE-EE6A3C424E1C}"/>
              </a:ext>
            </a:extLst>
          </p:cNvPr>
          <p:cNvSpPr/>
          <p:nvPr/>
        </p:nvSpPr>
        <p:spPr>
          <a:xfrm>
            <a:off x="4140200" y="49784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19FE6EE3-2051-C404-6058-330B87121F64}"/>
              </a:ext>
            </a:extLst>
          </p:cNvPr>
          <p:cNvSpPr txBox="1"/>
          <p:nvPr/>
        </p:nvSpPr>
        <p:spPr>
          <a:xfrm>
            <a:off x="4229100" y="50165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pregnancy_milestones</a:t>
            </a:r>
          </a:p>
        </p:txBody>
      </p:sp>
      <p:sp>
        <p:nvSpPr>
          <p:cNvPr id="43" name="TextBox 42">
            <a:extLst>
              <a:ext uri="{FF2B5EF4-FFF2-40B4-BE49-F238E27FC236}">
                <a16:creationId xmlns:a16="http://schemas.microsoft.com/office/drawing/2014/main" id="{F277C242-226F-53BE-51F4-669CFB7B61CA}"/>
              </a:ext>
            </a:extLst>
          </p:cNvPr>
          <p:cNvSpPr txBox="1"/>
          <p:nvPr/>
        </p:nvSpPr>
        <p:spPr>
          <a:xfrm>
            <a:off x="4229100" y="53213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id PK | user_id FK | week_number</a:t>
            </a:r>
          </a:p>
        </p:txBody>
      </p:sp>
      <p:sp>
        <p:nvSpPr>
          <p:cNvPr id="44" name="TextBox 43">
            <a:extLst>
              <a:ext uri="{FF2B5EF4-FFF2-40B4-BE49-F238E27FC236}">
                <a16:creationId xmlns:a16="http://schemas.microsoft.com/office/drawing/2014/main" id="{37F38F64-5AAF-8CA8-DA64-A746B1452CF4}"/>
              </a:ext>
            </a:extLst>
          </p:cNvPr>
          <p:cNvSpPr txBox="1"/>
          <p:nvPr/>
        </p:nvSpPr>
        <p:spPr>
          <a:xfrm>
            <a:off x="3505200" y="5257800"/>
            <a:ext cx="533400" cy="107722"/>
          </a:xfrm>
          <a:prstGeom prst="rect">
            <a:avLst/>
          </a:prstGeom>
          <a:noFill/>
        </p:spPr>
        <p:txBody>
          <a:bodyPr vert="horz" wrap="square" lIns="0" tIns="0" rIns="0" bIns="0" rtlCol="0">
            <a:spAutoFit/>
          </a:bodyPr>
          <a:lstStyle/>
          <a:p>
            <a:pPr algn="ctr"/>
            <a:r>
              <a:rPr lang="en-US" sz="700">
                <a:solidFill>
                  <a:srgbClr val="444444"/>
                </a:solidFill>
                <a:latin typeface="Times New Roman" panose="02020603050405020304" pitchFamily="18" charset="0"/>
              </a:rPr>
              <a:t>1:N</a:t>
            </a:r>
          </a:p>
        </p:txBody>
      </p:sp>
      <p:cxnSp>
        <p:nvCxnSpPr>
          <p:cNvPr id="45" name="Straight Arrow Connector 44">
            <a:extLst>
              <a:ext uri="{FF2B5EF4-FFF2-40B4-BE49-F238E27FC236}">
                <a16:creationId xmlns:a16="http://schemas.microsoft.com/office/drawing/2014/main" id="{2B48CF4D-FB98-D4B0-2DFA-B5FA2D0955BB}"/>
              </a:ext>
            </a:extLst>
          </p:cNvPr>
          <p:cNvCxnSpPr/>
          <p:nvPr/>
        </p:nvCxnSpPr>
        <p:spPr>
          <a:xfrm>
            <a:off x="3416300" y="6667500"/>
            <a:ext cx="3619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EBE0F8D9-6AAD-E4AF-366C-3A86EFF48534}"/>
              </a:ext>
            </a:extLst>
          </p:cNvPr>
          <p:cNvSpPr/>
          <p:nvPr/>
        </p:nvSpPr>
        <p:spPr>
          <a:xfrm>
            <a:off x="431800" y="62738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85F8E31-F799-0A11-5A9D-76B74C2FE681}"/>
              </a:ext>
            </a:extLst>
          </p:cNvPr>
          <p:cNvSpPr/>
          <p:nvPr/>
        </p:nvSpPr>
        <p:spPr>
          <a:xfrm>
            <a:off x="431800" y="62738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62F486E6-B686-52FE-1D6F-DD20B61FD2DF}"/>
              </a:ext>
            </a:extLst>
          </p:cNvPr>
          <p:cNvSpPr txBox="1"/>
          <p:nvPr/>
        </p:nvSpPr>
        <p:spPr>
          <a:xfrm>
            <a:off x="520700" y="63119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emergency_contacts</a:t>
            </a:r>
          </a:p>
        </p:txBody>
      </p:sp>
      <p:sp>
        <p:nvSpPr>
          <p:cNvPr id="49" name="TextBox 48">
            <a:extLst>
              <a:ext uri="{FF2B5EF4-FFF2-40B4-BE49-F238E27FC236}">
                <a16:creationId xmlns:a16="http://schemas.microsoft.com/office/drawing/2014/main" id="{63244C80-D1AC-454C-5E3D-E8E140C3FE32}"/>
              </a:ext>
            </a:extLst>
          </p:cNvPr>
          <p:cNvSpPr txBox="1"/>
          <p:nvPr/>
        </p:nvSpPr>
        <p:spPr>
          <a:xfrm>
            <a:off x="520700" y="66167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id PK | user_id FK | contact_type</a:t>
            </a:r>
          </a:p>
        </p:txBody>
      </p:sp>
      <p:sp>
        <p:nvSpPr>
          <p:cNvPr id="50" name="TextBox 49">
            <a:extLst>
              <a:ext uri="{FF2B5EF4-FFF2-40B4-BE49-F238E27FC236}">
                <a16:creationId xmlns:a16="http://schemas.microsoft.com/office/drawing/2014/main" id="{B16CBD81-3669-68FF-5C25-767718A90817}"/>
              </a:ext>
            </a:extLst>
          </p:cNvPr>
          <p:cNvSpPr txBox="1"/>
          <p:nvPr/>
        </p:nvSpPr>
        <p:spPr>
          <a:xfrm>
            <a:off x="3505200" y="6553200"/>
            <a:ext cx="533400" cy="107722"/>
          </a:xfrm>
          <a:prstGeom prst="rect">
            <a:avLst/>
          </a:prstGeom>
          <a:noFill/>
        </p:spPr>
        <p:txBody>
          <a:bodyPr vert="horz" wrap="square" lIns="0" tIns="0" rIns="0" bIns="0" rtlCol="0">
            <a:spAutoFit/>
          </a:bodyPr>
          <a:lstStyle/>
          <a:p>
            <a:pPr algn="ctr"/>
            <a:r>
              <a:rPr lang="en-US" sz="700">
                <a:solidFill>
                  <a:srgbClr val="444444"/>
                </a:solidFill>
                <a:latin typeface="Times New Roman" panose="02020603050405020304" pitchFamily="18" charset="0"/>
              </a:rPr>
              <a:t>1:N</a:t>
            </a:r>
          </a:p>
        </p:txBody>
      </p:sp>
      <p:cxnSp>
        <p:nvCxnSpPr>
          <p:cNvPr id="51" name="Straight Arrow Connector 50">
            <a:extLst>
              <a:ext uri="{FF2B5EF4-FFF2-40B4-BE49-F238E27FC236}">
                <a16:creationId xmlns:a16="http://schemas.microsoft.com/office/drawing/2014/main" id="{FD93208D-6C94-90F0-3E23-D5FF42CB8D24}"/>
              </a:ext>
            </a:extLst>
          </p:cNvPr>
          <p:cNvCxnSpPr/>
          <p:nvPr/>
        </p:nvCxnSpPr>
        <p:spPr>
          <a:xfrm>
            <a:off x="3778250" y="6667500"/>
            <a:ext cx="3619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52" name="Rectangle 51">
            <a:extLst>
              <a:ext uri="{FF2B5EF4-FFF2-40B4-BE49-F238E27FC236}">
                <a16:creationId xmlns:a16="http://schemas.microsoft.com/office/drawing/2014/main" id="{B4615784-8556-138D-C106-15D2F691156A}"/>
              </a:ext>
            </a:extLst>
          </p:cNvPr>
          <p:cNvSpPr/>
          <p:nvPr/>
        </p:nvSpPr>
        <p:spPr>
          <a:xfrm>
            <a:off x="4140200" y="62738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FAFF4C1-6D4E-AB9C-699C-48388F95C0B9}"/>
              </a:ext>
            </a:extLst>
          </p:cNvPr>
          <p:cNvSpPr/>
          <p:nvPr/>
        </p:nvSpPr>
        <p:spPr>
          <a:xfrm>
            <a:off x="4140200" y="62738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5E1A52D9-8965-0E87-8BE6-60E14004874F}"/>
              </a:ext>
            </a:extLst>
          </p:cNvPr>
          <p:cNvSpPr txBox="1"/>
          <p:nvPr/>
        </p:nvSpPr>
        <p:spPr>
          <a:xfrm>
            <a:off x="4229100" y="63119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report_shares</a:t>
            </a:r>
          </a:p>
        </p:txBody>
      </p:sp>
      <p:sp>
        <p:nvSpPr>
          <p:cNvPr id="55" name="TextBox 54">
            <a:extLst>
              <a:ext uri="{FF2B5EF4-FFF2-40B4-BE49-F238E27FC236}">
                <a16:creationId xmlns:a16="http://schemas.microsoft.com/office/drawing/2014/main" id="{2C1C8316-AAE2-C2D7-E56C-F2D4EEF9D9CF}"/>
              </a:ext>
            </a:extLst>
          </p:cNvPr>
          <p:cNvSpPr txBox="1"/>
          <p:nvPr/>
        </p:nvSpPr>
        <p:spPr>
          <a:xfrm>
            <a:off x="4229100" y="6616700"/>
            <a:ext cx="2794000" cy="123111"/>
          </a:xfrm>
          <a:prstGeom prst="rect">
            <a:avLst/>
          </a:prstGeom>
          <a:noFill/>
        </p:spPr>
        <p:txBody>
          <a:bodyPr vert="horz" wrap="square" lIns="0" tIns="0" rIns="0" bIns="0" rtlCol="0">
            <a:spAutoFit/>
          </a:bodyPr>
          <a:lstStyle/>
          <a:p>
            <a:r>
              <a:rPr lang="da-DK" sz="800">
                <a:solidFill>
                  <a:srgbClr val="253D39"/>
                </a:solidFill>
                <a:latin typeface="Times New Roman" panose="02020603050405020304" pitchFamily="18" charset="0"/>
              </a:rPr>
              <a:t>id PK | user_id FK | expires_at</a:t>
            </a:r>
            <a:endParaRPr lang="en-US" sz="800">
              <a:solidFill>
                <a:srgbClr val="253D39"/>
              </a:solidFill>
              <a:latin typeface="Times New Roman" panose="02020603050405020304" pitchFamily="18" charset="0"/>
            </a:endParaRPr>
          </a:p>
        </p:txBody>
      </p:sp>
      <p:sp>
        <p:nvSpPr>
          <p:cNvPr id="56" name="TextBox 55">
            <a:extLst>
              <a:ext uri="{FF2B5EF4-FFF2-40B4-BE49-F238E27FC236}">
                <a16:creationId xmlns:a16="http://schemas.microsoft.com/office/drawing/2014/main" id="{337605B8-618C-838C-A2FA-E9B2937AE450}"/>
              </a:ext>
            </a:extLst>
          </p:cNvPr>
          <p:cNvSpPr txBox="1"/>
          <p:nvPr/>
        </p:nvSpPr>
        <p:spPr>
          <a:xfrm>
            <a:off x="3505200" y="6553200"/>
            <a:ext cx="533400" cy="107722"/>
          </a:xfrm>
          <a:prstGeom prst="rect">
            <a:avLst/>
          </a:prstGeom>
          <a:noFill/>
        </p:spPr>
        <p:txBody>
          <a:bodyPr vert="horz" wrap="square" lIns="0" tIns="0" rIns="0" bIns="0" rtlCol="0">
            <a:spAutoFit/>
          </a:bodyPr>
          <a:lstStyle/>
          <a:p>
            <a:pPr algn="ctr"/>
            <a:r>
              <a:rPr lang="en-US" sz="700">
                <a:solidFill>
                  <a:srgbClr val="444444"/>
                </a:solidFill>
                <a:latin typeface="Times New Roman" panose="02020603050405020304" pitchFamily="18" charset="0"/>
              </a:rPr>
              <a:t>1:N</a:t>
            </a:r>
          </a:p>
        </p:txBody>
      </p:sp>
      <p:cxnSp>
        <p:nvCxnSpPr>
          <p:cNvPr id="57" name="Straight Arrow Connector 56">
            <a:extLst>
              <a:ext uri="{FF2B5EF4-FFF2-40B4-BE49-F238E27FC236}">
                <a16:creationId xmlns:a16="http://schemas.microsoft.com/office/drawing/2014/main" id="{8B14E0C1-1E0E-6502-157D-339BDAC35E89}"/>
              </a:ext>
            </a:extLst>
          </p:cNvPr>
          <p:cNvCxnSpPr/>
          <p:nvPr/>
        </p:nvCxnSpPr>
        <p:spPr>
          <a:xfrm>
            <a:off x="3416300" y="7962900"/>
            <a:ext cx="3619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1BE1C307-63FB-190F-0891-57A518706A7E}"/>
              </a:ext>
            </a:extLst>
          </p:cNvPr>
          <p:cNvSpPr/>
          <p:nvPr/>
        </p:nvSpPr>
        <p:spPr>
          <a:xfrm>
            <a:off x="431800" y="75692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7BBC746-9983-F625-FE4B-48419B82DAA3}"/>
              </a:ext>
            </a:extLst>
          </p:cNvPr>
          <p:cNvSpPr/>
          <p:nvPr/>
        </p:nvSpPr>
        <p:spPr>
          <a:xfrm>
            <a:off x="431800" y="75692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FD068C45-A11F-3754-BDF1-A6D50381810A}"/>
              </a:ext>
            </a:extLst>
          </p:cNvPr>
          <p:cNvSpPr txBox="1"/>
          <p:nvPr/>
        </p:nvSpPr>
        <p:spPr>
          <a:xfrm>
            <a:off x="520700" y="76073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push_subscriptions</a:t>
            </a:r>
          </a:p>
        </p:txBody>
      </p:sp>
      <p:sp>
        <p:nvSpPr>
          <p:cNvPr id="61" name="TextBox 60">
            <a:extLst>
              <a:ext uri="{FF2B5EF4-FFF2-40B4-BE49-F238E27FC236}">
                <a16:creationId xmlns:a16="http://schemas.microsoft.com/office/drawing/2014/main" id="{E0136AB8-AC1D-9EB2-4AC3-ECB9F272DE8F}"/>
              </a:ext>
            </a:extLst>
          </p:cNvPr>
          <p:cNvSpPr txBox="1"/>
          <p:nvPr/>
        </p:nvSpPr>
        <p:spPr>
          <a:xfrm>
            <a:off x="520700" y="79121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id PK | user_id FK | endpoint_hash</a:t>
            </a:r>
          </a:p>
        </p:txBody>
      </p:sp>
      <p:sp>
        <p:nvSpPr>
          <p:cNvPr id="62" name="TextBox 61">
            <a:extLst>
              <a:ext uri="{FF2B5EF4-FFF2-40B4-BE49-F238E27FC236}">
                <a16:creationId xmlns:a16="http://schemas.microsoft.com/office/drawing/2014/main" id="{43871580-8CB3-A011-BE08-4344DB91C9CE}"/>
              </a:ext>
            </a:extLst>
          </p:cNvPr>
          <p:cNvSpPr txBox="1"/>
          <p:nvPr/>
        </p:nvSpPr>
        <p:spPr>
          <a:xfrm>
            <a:off x="3505200" y="7848600"/>
            <a:ext cx="533400" cy="107722"/>
          </a:xfrm>
          <a:prstGeom prst="rect">
            <a:avLst/>
          </a:prstGeom>
          <a:noFill/>
        </p:spPr>
        <p:txBody>
          <a:bodyPr vert="horz" wrap="square" lIns="0" tIns="0" rIns="0" bIns="0" rtlCol="0">
            <a:spAutoFit/>
          </a:bodyPr>
          <a:lstStyle/>
          <a:p>
            <a:pPr algn="ctr"/>
            <a:r>
              <a:rPr lang="en-US" sz="700">
                <a:solidFill>
                  <a:srgbClr val="444444"/>
                </a:solidFill>
                <a:latin typeface="Times New Roman" panose="02020603050405020304" pitchFamily="18" charset="0"/>
              </a:rPr>
              <a:t>1:N</a:t>
            </a:r>
          </a:p>
        </p:txBody>
      </p:sp>
      <p:cxnSp>
        <p:nvCxnSpPr>
          <p:cNvPr id="63" name="Straight Arrow Connector 62">
            <a:extLst>
              <a:ext uri="{FF2B5EF4-FFF2-40B4-BE49-F238E27FC236}">
                <a16:creationId xmlns:a16="http://schemas.microsoft.com/office/drawing/2014/main" id="{97C9C8F3-7142-3AB3-F80A-0F0BE41327DD}"/>
              </a:ext>
            </a:extLst>
          </p:cNvPr>
          <p:cNvCxnSpPr/>
          <p:nvPr/>
        </p:nvCxnSpPr>
        <p:spPr>
          <a:xfrm>
            <a:off x="3778250" y="7962900"/>
            <a:ext cx="3619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B48FA127-28D8-6DE8-2AA8-042C88657F49}"/>
              </a:ext>
            </a:extLst>
          </p:cNvPr>
          <p:cNvSpPr/>
          <p:nvPr/>
        </p:nvSpPr>
        <p:spPr>
          <a:xfrm>
            <a:off x="4140200" y="75692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0BBC5273-2989-71E3-ED86-D6FB607349AD}"/>
              </a:ext>
            </a:extLst>
          </p:cNvPr>
          <p:cNvSpPr/>
          <p:nvPr/>
        </p:nvSpPr>
        <p:spPr>
          <a:xfrm>
            <a:off x="4140200" y="75692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4AD95DAE-BB4B-184F-61F6-958E23654A7B}"/>
              </a:ext>
            </a:extLst>
          </p:cNvPr>
          <p:cNvSpPr txBox="1"/>
          <p:nvPr/>
        </p:nvSpPr>
        <p:spPr>
          <a:xfrm>
            <a:off x="4229100" y="76073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push_reminders</a:t>
            </a:r>
          </a:p>
        </p:txBody>
      </p:sp>
      <p:sp>
        <p:nvSpPr>
          <p:cNvPr id="67" name="TextBox 66">
            <a:extLst>
              <a:ext uri="{FF2B5EF4-FFF2-40B4-BE49-F238E27FC236}">
                <a16:creationId xmlns:a16="http://schemas.microsoft.com/office/drawing/2014/main" id="{A47E115C-5977-C6F8-EB30-AE5F3B8B96BA}"/>
              </a:ext>
            </a:extLst>
          </p:cNvPr>
          <p:cNvSpPr txBox="1"/>
          <p:nvPr/>
        </p:nvSpPr>
        <p:spPr>
          <a:xfrm>
            <a:off x="4229100" y="79121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id PK | user_id FK | scheduled_at | status</a:t>
            </a:r>
          </a:p>
        </p:txBody>
      </p:sp>
      <p:sp>
        <p:nvSpPr>
          <p:cNvPr id="68" name="TextBox 67">
            <a:extLst>
              <a:ext uri="{FF2B5EF4-FFF2-40B4-BE49-F238E27FC236}">
                <a16:creationId xmlns:a16="http://schemas.microsoft.com/office/drawing/2014/main" id="{859907C1-72DB-A148-671D-AB8CA9B7BDEB}"/>
              </a:ext>
            </a:extLst>
          </p:cNvPr>
          <p:cNvSpPr txBox="1"/>
          <p:nvPr/>
        </p:nvSpPr>
        <p:spPr>
          <a:xfrm>
            <a:off x="3505200" y="7848600"/>
            <a:ext cx="533400" cy="107722"/>
          </a:xfrm>
          <a:prstGeom prst="rect">
            <a:avLst/>
          </a:prstGeom>
          <a:noFill/>
        </p:spPr>
        <p:txBody>
          <a:bodyPr vert="horz" wrap="square" lIns="0" tIns="0" rIns="0" bIns="0" rtlCol="0">
            <a:spAutoFit/>
          </a:bodyPr>
          <a:lstStyle/>
          <a:p>
            <a:pPr algn="ctr"/>
            <a:r>
              <a:rPr lang="en-US" sz="700">
                <a:solidFill>
                  <a:srgbClr val="444444"/>
                </a:solidFill>
                <a:latin typeface="Times New Roman" panose="02020603050405020304" pitchFamily="18" charset="0"/>
              </a:rPr>
              <a:t>1:N</a:t>
            </a:r>
          </a:p>
        </p:txBody>
      </p:sp>
      <p:sp>
        <p:nvSpPr>
          <p:cNvPr id="69" name="Rectangle 68">
            <a:extLst>
              <a:ext uri="{FF2B5EF4-FFF2-40B4-BE49-F238E27FC236}">
                <a16:creationId xmlns:a16="http://schemas.microsoft.com/office/drawing/2014/main" id="{31D56A61-7BF9-E13E-6564-D9F5354866AC}"/>
              </a:ext>
            </a:extLst>
          </p:cNvPr>
          <p:cNvSpPr/>
          <p:nvPr/>
        </p:nvSpPr>
        <p:spPr>
          <a:xfrm>
            <a:off x="431800" y="88646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06D1ED5-89A1-9E6E-B463-8958151C5168}"/>
              </a:ext>
            </a:extLst>
          </p:cNvPr>
          <p:cNvSpPr/>
          <p:nvPr/>
        </p:nvSpPr>
        <p:spPr>
          <a:xfrm>
            <a:off x="431800" y="88646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0230570E-3718-B116-7C1D-99D6664F0DDF}"/>
              </a:ext>
            </a:extLst>
          </p:cNvPr>
          <p:cNvSpPr txBox="1"/>
          <p:nvPr/>
        </p:nvSpPr>
        <p:spPr>
          <a:xfrm>
            <a:off x="520700" y="89027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appointment_questions</a:t>
            </a:r>
          </a:p>
        </p:txBody>
      </p:sp>
      <p:sp>
        <p:nvSpPr>
          <p:cNvPr id="72" name="TextBox 71">
            <a:extLst>
              <a:ext uri="{FF2B5EF4-FFF2-40B4-BE49-F238E27FC236}">
                <a16:creationId xmlns:a16="http://schemas.microsoft.com/office/drawing/2014/main" id="{9606FB4E-8514-8828-FE9A-6646FA6A6954}"/>
              </a:ext>
            </a:extLst>
          </p:cNvPr>
          <p:cNvSpPr txBox="1"/>
          <p:nvPr/>
        </p:nvSpPr>
        <p:spPr>
          <a:xfrm>
            <a:off x="520700" y="92075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id PK | appointment_id FK | answer</a:t>
            </a:r>
          </a:p>
        </p:txBody>
      </p:sp>
      <p:sp>
        <p:nvSpPr>
          <p:cNvPr id="73" name="Rectangle 72">
            <a:extLst>
              <a:ext uri="{FF2B5EF4-FFF2-40B4-BE49-F238E27FC236}">
                <a16:creationId xmlns:a16="http://schemas.microsoft.com/office/drawing/2014/main" id="{96626543-BACF-9196-C579-E08C66A44A9F}"/>
              </a:ext>
            </a:extLst>
          </p:cNvPr>
          <p:cNvSpPr/>
          <p:nvPr/>
        </p:nvSpPr>
        <p:spPr>
          <a:xfrm>
            <a:off x="4140200" y="8864600"/>
            <a:ext cx="2984500" cy="787400"/>
          </a:xfrm>
          <a:prstGeom prst="rect">
            <a:avLst/>
          </a:prstGeom>
          <a:solidFill>
            <a:srgbClr val="FFFFFF"/>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1E7B340-A773-A699-A5E0-5A24733933E4}"/>
              </a:ext>
            </a:extLst>
          </p:cNvPr>
          <p:cNvSpPr/>
          <p:nvPr/>
        </p:nvSpPr>
        <p:spPr>
          <a:xfrm>
            <a:off x="4140200" y="8864600"/>
            <a:ext cx="2984500" cy="279400"/>
          </a:xfrm>
          <a:prstGeom prst="rect">
            <a:avLst/>
          </a:prstGeom>
          <a:solidFill>
            <a:srgbClr val="DCEAE5"/>
          </a:solidFill>
          <a:ln>
            <a:solidFill>
              <a:srgbClr val="4F6F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296CB3EE-0E56-99FA-B6DC-060B242B1FB4}"/>
              </a:ext>
            </a:extLst>
          </p:cNvPr>
          <p:cNvSpPr txBox="1"/>
          <p:nvPr/>
        </p:nvSpPr>
        <p:spPr>
          <a:xfrm>
            <a:off x="4229100" y="8902700"/>
            <a:ext cx="2794000" cy="153888"/>
          </a:xfrm>
          <a:prstGeom prst="rect">
            <a:avLst/>
          </a:prstGeom>
          <a:noFill/>
        </p:spPr>
        <p:txBody>
          <a:bodyPr vert="horz" wrap="square" lIns="0" tIns="0" rIns="0" bIns="0" rtlCol="0">
            <a:spAutoFit/>
          </a:bodyPr>
          <a:lstStyle/>
          <a:p>
            <a:r>
              <a:rPr lang="en-US" sz="1000" b="1">
                <a:solidFill>
                  <a:srgbClr val="173B38"/>
                </a:solidFill>
                <a:latin typeface="Times New Roman" panose="02020603050405020304" pitchFamily="18" charset="0"/>
              </a:rPr>
              <a:t>task_details</a:t>
            </a:r>
          </a:p>
        </p:txBody>
      </p:sp>
      <p:sp>
        <p:nvSpPr>
          <p:cNvPr id="76" name="TextBox 75">
            <a:extLst>
              <a:ext uri="{FF2B5EF4-FFF2-40B4-BE49-F238E27FC236}">
                <a16:creationId xmlns:a16="http://schemas.microsoft.com/office/drawing/2014/main" id="{14DB804A-9D5B-5918-9E93-65FCE3B81729}"/>
              </a:ext>
            </a:extLst>
          </p:cNvPr>
          <p:cNvSpPr txBox="1"/>
          <p:nvPr/>
        </p:nvSpPr>
        <p:spPr>
          <a:xfrm>
            <a:off x="4229100" y="9207500"/>
            <a:ext cx="2794000" cy="123111"/>
          </a:xfrm>
          <a:prstGeom prst="rect">
            <a:avLst/>
          </a:prstGeom>
          <a:noFill/>
        </p:spPr>
        <p:txBody>
          <a:bodyPr vert="horz" wrap="square" lIns="0" tIns="0" rIns="0" bIns="0" rtlCol="0">
            <a:spAutoFit/>
          </a:bodyPr>
          <a:lstStyle/>
          <a:p>
            <a:r>
              <a:rPr lang="en-US" sz="800">
                <a:solidFill>
                  <a:srgbClr val="253D39"/>
                </a:solidFill>
                <a:latin typeface="Times New Roman" panose="02020603050405020304" pitchFamily="18" charset="0"/>
              </a:rPr>
              <a:t>id PK | title | is_shared</a:t>
            </a:r>
          </a:p>
        </p:txBody>
      </p:sp>
      <p:cxnSp>
        <p:nvCxnSpPr>
          <p:cNvPr id="77" name="Straight Arrow Connector 76">
            <a:extLst>
              <a:ext uri="{FF2B5EF4-FFF2-40B4-BE49-F238E27FC236}">
                <a16:creationId xmlns:a16="http://schemas.microsoft.com/office/drawing/2014/main" id="{BB5CAE32-9F5B-D6E8-E66B-0BEA9DC0FE83}"/>
              </a:ext>
            </a:extLst>
          </p:cNvPr>
          <p:cNvCxnSpPr/>
          <p:nvPr/>
        </p:nvCxnSpPr>
        <p:spPr>
          <a:xfrm>
            <a:off x="1905000" y="3175000"/>
            <a:ext cx="0" cy="5689600"/>
          </a:xfrm>
          <a:prstGeom prst="straightConnector1">
            <a:avLst/>
          </a:prstGeom>
          <a:ln cap="sq">
            <a:solidFill>
              <a:srgbClr val="8A9D97"/>
            </a:solidFill>
            <a:prstDash val="dot"/>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7EA191BA-247A-0EB5-8CCA-4ACA40BF791D}"/>
              </a:ext>
            </a:extLst>
          </p:cNvPr>
          <p:cNvSpPr txBox="1"/>
          <p:nvPr/>
        </p:nvSpPr>
        <p:spPr>
          <a:xfrm>
            <a:off x="482600" y="8483600"/>
            <a:ext cx="2984500" cy="107722"/>
          </a:xfrm>
          <a:prstGeom prst="rect">
            <a:avLst/>
          </a:prstGeom>
          <a:noFill/>
        </p:spPr>
        <p:txBody>
          <a:bodyPr vert="horz" wrap="square" lIns="0" tIns="0" rIns="0" bIns="0" rtlCol="0">
            <a:spAutoFit/>
          </a:bodyPr>
          <a:lstStyle/>
          <a:p>
            <a:r>
              <a:rPr lang="en-US" sz="700">
                <a:solidFill>
                  <a:srgbClr val="555555"/>
                </a:solidFill>
                <a:latin typeface="Times New Roman" panose="02020603050405020304" pitchFamily="18" charset="0"/>
              </a:rPr>
              <a:t>appointment_questions belongs to appointments</a:t>
            </a:r>
          </a:p>
        </p:txBody>
      </p:sp>
      <p:sp>
        <p:nvSpPr>
          <p:cNvPr id="79" name="TextBox 78">
            <a:extLst>
              <a:ext uri="{FF2B5EF4-FFF2-40B4-BE49-F238E27FC236}">
                <a16:creationId xmlns:a16="http://schemas.microsoft.com/office/drawing/2014/main" id="{062058A1-7D27-55A8-BFA8-A1B7F6E6CFBD}"/>
              </a:ext>
            </a:extLst>
          </p:cNvPr>
          <p:cNvSpPr txBox="1"/>
          <p:nvPr/>
        </p:nvSpPr>
        <p:spPr>
          <a:xfrm>
            <a:off x="4140200" y="8483600"/>
            <a:ext cx="2984500" cy="107722"/>
          </a:xfrm>
          <a:prstGeom prst="rect">
            <a:avLst/>
          </a:prstGeom>
          <a:noFill/>
        </p:spPr>
        <p:txBody>
          <a:bodyPr vert="horz" wrap="square" lIns="0" tIns="0" rIns="0" bIns="0" rtlCol="0">
            <a:spAutoFit/>
          </a:bodyPr>
          <a:lstStyle/>
          <a:p>
            <a:r>
              <a:rPr lang="en-US" sz="700">
                <a:solidFill>
                  <a:srgbClr val="555555"/>
                </a:solidFill>
                <a:latin typeface="Times New Roman" panose="02020603050405020304" pitchFamily="18" charset="0"/>
              </a:rPr>
              <a:t>care_tasks references task_details</a:t>
            </a:r>
          </a:p>
        </p:txBody>
      </p:sp>
    </p:spTree>
    <p:extLst>
      <p:ext uri="{BB962C8B-B14F-4D97-AF65-F5344CB8AC3E}">
        <p14:creationId xmlns:p14="http://schemas.microsoft.com/office/powerpoint/2010/main" val="5382567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526</Words>
  <Application>Microsoft Office PowerPoint</Application>
  <PresentationFormat>Custom</PresentationFormat>
  <Paragraphs>68</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Deepak</dc:creator>
  <cp:lastModifiedBy>Kumar, Deepak</cp:lastModifiedBy>
  <cp:revision>1</cp:revision>
  <dcterms:created xsi:type="dcterms:W3CDTF">2026-10-19T13:25:47Z</dcterms:created>
  <dcterms:modified xsi:type="dcterms:W3CDTF">2026-10-19T13:25:47Z</dcterms:modified>
</cp:coreProperties>
</file>