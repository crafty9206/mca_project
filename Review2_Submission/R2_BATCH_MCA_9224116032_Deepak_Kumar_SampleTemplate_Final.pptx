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368" r:id="rId2"/>
    <p:sldId id="369" r:id="rId3"/>
    <p:sldId id="382" r:id="rId4"/>
    <p:sldId id="390" r:id="rId5"/>
    <p:sldId id="400" r:id="rId6"/>
    <p:sldId id="371" r:id="rId7"/>
    <p:sldId id="385" r:id="rId8"/>
    <p:sldId id="376" r:id="rId9"/>
    <p:sldId id="395" r:id="rId10"/>
    <p:sldId id="396" r:id="rId11"/>
    <p:sldId id="404" r:id="rId12"/>
    <p:sldId id="386" r:id="rId13"/>
    <p:sldId id="391" r:id="rId14"/>
    <p:sldId id="408" r:id="rId15"/>
    <p:sldId id="392" r:id="rId16"/>
    <p:sldId id="409" r:id="rId17"/>
    <p:sldId id="411" r:id="rId18"/>
    <p:sldId id="401" r:id="rId19"/>
    <p:sldId id="412" r:id="rId20"/>
    <p:sldId id="402" r:id="rId21"/>
  </p:sldIdLst>
  <p:sldSz cx="9144000" cy="5143500" type="screen16x9"/>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rish bhagavathula" initials="h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E41"/>
    <a:srgbClr val="000099"/>
    <a:srgbClr val="012142"/>
    <a:srgbClr val="17375E"/>
    <a:srgbClr val="718587"/>
    <a:srgbClr val="C00000"/>
    <a:srgbClr val="ED1B24"/>
    <a:srgbClr val="75BE39"/>
    <a:srgbClr val="0067AC"/>
    <a:srgbClr val="0055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71" autoAdjust="0"/>
  </p:normalViewPr>
  <p:slideViewPr>
    <p:cSldViewPr>
      <p:cViewPr varScale="1">
        <p:scale>
          <a:sx n="88" d="100"/>
          <a:sy n="88" d="100"/>
        </p:scale>
        <p:origin x="568" y="60"/>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5550"/>
    </p:cViewPr>
  </p:sorterViewPr>
  <p:notesViewPr>
    <p:cSldViewPr>
      <p:cViewPr varScale="1">
        <p:scale>
          <a:sx n="53" d="100"/>
          <a:sy n="53" d="100"/>
        </p:scale>
        <p:origin x="-285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2D72081-C824-4086-8F2F-2E1515CCAD09}" type="datetimeFigureOut">
              <a:rPr lang="en-US" smtClean="0"/>
              <a:pPr/>
              <a:t>10/19/2026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24658-0728-4F51-80F4-3C91ECA2A4FC}" type="slidenum">
              <a:rPr lang="en-US" smtClean="0"/>
              <a:pPr/>
              <a:t>‹#›</a:t>
            </a:fld>
            <a:endParaRPr lang="en-US" dirty="0"/>
          </a:p>
        </p:txBody>
      </p:sp>
    </p:spTree>
    <p:extLst>
      <p:ext uri="{BB962C8B-B14F-4D97-AF65-F5344CB8AC3E}">
        <p14:creationId xmlns:p14="http://schemas.microsoft.com/office/powerpoint/2010/main" val="2171052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5D0174-27A0-4699-9B7D-1DF316D5B691}" type="datetimeFigureOut">
              <a:rPr lang="en-IN" smtClean="0"/>
              <a:pPr/>
              <a:t>19-10-2026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7294E0-43BA-4050-978A-B5F4E62A110E}" type="slidenum">
              <a:rPr lang="en-IN" smtClean="0"/>
              <a:pPr/>
              <a:t>‹#›</a:t>
            </a:fld>
            <a:endParaRPr lang="en-IN" dirty="0"/>
          </a:p>
        </p:txBody>
      </p:sp>
    </p:spTree>
    <p:extLst>
      <p:ext uri="{BB962C8B-B14F-4D97-AF65-F5344CB8AC3E}">
        <p14:creationId xmlns:p14="http://schemas.microsoft.com/office/powerpoint/2010/main" val="25325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582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pos="5376" userDrawn="1">
          <p15:clr>
            <a:srgbClr val="FBAE40"/>
          </p15:clr>
        </p15:guide>
        <p15:guide id="4" orient="horz" pos="30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0C3BC438-8BA7-2CBA-46E9-939F92AFEE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4" y="0"/>
            <a:ext cx="9143111" cy="5143500"/>
          </a:xfrm>
          <a:prstGeom prst="rect">
            <a:avLst/>
          </a:prstGeom>
        </p:spPr>
      </p:pic>
    </p:spTree>
    <p:custDataLst>
      <p:tags r:id="rId1"/>
    </p:custData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pos="5376" userDrawn="1">
          <p15:clr>
            <a:srgbClr val="FBAE40"/>
          </p15:clr>
        </p15:guide>
        <p15:guide id="4" orient="horz" pos="30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3060" userDrawn="1">
          <p15:clr>
            <a:srgbClr val="FBAE40"/>
          </p15:clr>
        </p15:guide>
        <p15:guide id="2" pos="336" userDrawn="1">
          <p15:clr>
            <a:srgbClr val="FBAE40"/>
          </p15:clr>
        </p15:guide>
        <p15:guide id="3" pos="5376" userDrawn="1">
          <p15:clr>
            <a:srgbClr val="FBAE40"/>
          </p15:clr>
        </p15:guide>
        <p15:guide id="4" orient="horz" pos="75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7390690"/>
      </p:ext>
    </p:ext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orient="horz" pos="3060" userDrawn="1">
          <p15:clr>
            <a:srgbClr val="FBAE40"/>
          </p15:clr>
        </p15:guide>
        <p15:guide id="4" pos="537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1_Title Slide">
    <p:spTree>
      <p:nvGrpSpPr>
        <p:cNvPr id="1" name="Shape 18"/>
        <p:cNvGrpSpPr/>
        <p:nvPr/>
      </p:nvGrpSpPr>
      <p:grpSpPr>
        <a:xfrm>
          <a:off x="0" y="0"/>
          <a:ext cx="0" cy="0"/>
          <a:chOff x="0" y="0"/>
          <a:chExt cx="0" cy="0"/>
        </a:xfrm>
      </p:grpSpPr>
      <p:sp>
        <p:nvSpPr>
          <p:cNvPr id="19" name="Google Shape;19;p115"/>
          <p:cNvSpPr/>
          <p:nvPr/>
        </p:nvSpPr>
        <p:spPr>
          <a:xfrm>
            <a:off x="-12320" y="2655588"/>
            <a:ext cx="9153940" cy="2145012"/>
          </a:xfrm>
          <a:prstGeom prst="rect">
            <a:avLst/>
          </a:prstGeom>
          <a:solidFill>
            <a:srgbClr val="0070C0"/>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0" name="Google Shape;20;p115"/>
          <p:cNvSpPr/>
          <p:nvPr/>
        </p:nvSpPr>
        <p:spPr>
          <a:xfrm>
            <a:off x="2382" y="4800600"/>
            <a:ext cx="9141619" cy="342900"/>
          </a:xfrm>
          <a:prstGeom prst="rect">
            <a:avLst/>
          </a:prstGeom>
          <a:solidFill>
            <a:srgbClr val="0070C0"/>
          </a:solidFill>
          <a:ln>
            <a:noFill/>
          </a:ln>
        </p:spPr>
        <p:txBody>
          <a:bodyPr spcFirstLastPara="1" wrap="square" lIns="68569" tIns="34275" rIns="68569" bIns="34275" anchor="t" anchorCtr="0">
            <a:noAutofit/>
          </a:bodyPr>
          <a:lstStyle/>
          <a:p>
            <a:pPr marL="0" marR="0" lvl="0" indent="0" algn="l" rtl="0">
              <a:spcBef>
                <a:spcPts val="0"/>
              </a:spcBef>
              <a:spcAft>
                <a:spcPts val="0"/>
              </a:spcAft>
              <a:buNone/>
            </a:pPr>
            <a:endParaRPr sz="1350">
              <a:solidFill>
                <a:schemeClr val="lt1"/>
              </a:solidFill>
              <a:latin typeface="Calibri"/>
              <a:ea typeface="Calibri"/>
              <a:cs typeface="Calibri"/>
              <a:sym typeface="Calibri"/>
            </a:endParaRPr>
          </a:p>
        </p:txBody>
      </p:sp>
      <p:sp>
        <p:nvSpPr>
          <p:cNvPr id="21" name="Google Shape;21;p115"/>
          <p:cNvSpPr txBox="1">
            <a:spLocks noGrp="1"/>
          </p:cNvSpPr>
          <p:nvPr>
            <p:ph type="ctrTitle"/>
          </p:nvPr>
        </p:nvSpPr>
        <p:spPr>
          <a:xfrm>
            <a:off x="171528" y="3225959"/>
            <a:ext cx="5424601" cy="1096982"/>
          </a:xfrm>
          <a:prstGeom prst="rect">
            <a:avLst/>
          </a:prstGeom>
          <a:noFill/>
          <a:ln>
            <a:noFill/>
          </a:ln>
        </p:spPr>
        <p:txBody>
          <a:bodyPr spcFirstLastPara="1" wrap="square" lIns="91425" tIns="45700" rIns="91425" bIns="45700" anchor="t" anchorCtr="0">
            <a:noAutofit/>
          </a:bodyPr>
          <a:lstStyle>
            <a:lvl1pPr lvl="0" algn="r">
              <a:lnSpc>
                <a:spcPct val="90000"/>
              </a:lnSpc>
              <a:spcBef>
                <a:spcPts val="0"/>
              </a:spcBef>
              <a:spcAft>
                <a:spcPts val="0"/>
              </a:spcAft>
              <a:buClr>
                <a:schemeClr val="lt1"/>
              </a:buClr>
              <a:buSzPts val="48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15"/>
          <p:cNvSpPr txBox="1">
            <a:spLocks noGrp="1"/>
          </p:cNvSpPr>
          <p:nvPr>
            <p:ph type="subTitle" idx="1"/>
          </p:nvPr>
        </p:nvSpPr>
        <p:spPr>
          <a:xfrm>
            <a:off x="6055822" y="3299469"/>
            <a:ext cx="2420663" cy="99803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900"/>
              </a:spcBef>
              <a:spcAft>
                <a:spcPts val="0"/>
              </a:spcAft>
              <a:buSzPts val="2400"/>
              <a:buNone/>
              <a:defRPr sz="1800" cap="none">
                <a:solidFill>
                  <a:srgbClr val="B0B0F3"/>
                </a:solidFill>
                <a:latin typeface="Calibri"/>
                <a:ea typeface="Calibri"/>
                <a:cs typeface="Calibri"/>
                <a:sym typeface="Calibri"/>
              </a:defRPr>
            </a:lvl1pPr>
            <a:lvl2pPr lvl="1" algn="ctr">
              <a:lnSpc>
                <a:spcPct val="100000"/>
              </a:lnSpc>
              <a:spcBef>
                <a:spcPts val="150"/>
              </a:spcBef>
              <a:spcAft>
                <a:spcPts val="0"/>
              </a:spcAft>
              <a:buClr>
                <a:srgbClr val="3F3F3F"/>
              </a:buClr>
              <a:buSzPts val="2400"/>
              <a:buNone/>
              <a:defRPr sz="1800"/>
            </a:lvl2pPr>
            <a:lvl3pPr lvl="2" algn="ctr">
              <a:lnSpc>
                <a:spcPct val="100000"/>
              </a:lnSpc>
              <a:spcBef>
                <a:spcPts val="300"/>
              </a:spcBef>
              <a:spcAft>
                <a:spcPts val="0"/>
              </a:spcAft>
              <a:buClr>
                <a:srgbClr val="3F3F3F"/>
              </a:buClr>
              <a:buSzPts val="2400"/>
              <a:buNone/>
              <a:defRPr sz="1800"/>
            </a:lvl3pPr>
            <a:lvl4pPr lvl="3" algn="ctr">
              <a:lnSpc>
                <a:spcPct val="100000"/>
              </a:lnSpc>
              <a:spcBef>
                <a:spcPts val="300"/>
              </a:spcBef>
              <a:spcAft>
                <a:spcPts val="0"/>
              </a:spcAft>
              <a:buClr>
                <a:srgbClr val="3F3F3F"/>
              </a:buClr>
              <a:buSzPts val="2000"/>
              <a:buNone/>
              <a:defRPr sz="1500"/>
            </a:lvl4pPr>
            <a:lvl5pPr lvl="4" algn="ctr">
              <a:lnSpc>
                <a:spcPct val="100000"/>
              </a:lnSpc>
              <a:spcBef>
                <a:spcPts val="300"/>
              </a:spcBef>
              <a:spcAft>
                <a:spcPts val="0"/>
              </a:spcAft>
              <a:buClr>
                <a:srgbClr val="3F3F3F"/>
              </a:buClr>
              <a:buSzPts val="2000"/>
              <a:buNone/>
              <a:defRPr sz="1500"/>
            </a:lvl5pPr>
            <a:lvl6pPr lvl="5" algn="ctr">
              <a:lnSpc>
                <a:spcPct val="90000"/>
              </a:lnSpc>
              <a:spcBef>
                <a:spcPts val="300"/>
              </a:spcBef>
              <a:spcAft>
                <a:spcPts val="0"/>
              </a:spcAft>
              <a:buSzPts val="2000"/>
              <a:buNone/>
              <a:defRPr sz="1500"/>
            </a:lvl6pPr>
            <a:lvl7pPr lvl="6" algn="ctr">
              <a:lnSpc>
                <a:spcPct val="90000"/>
              </a:lnSpc>
              <a:spcBef>
                <a:spcPts val="300"/>
              </a:spcBef>
              <a:spcAft>
                <a:spcPts val="0"/>
              </a:spcAft>
              <a:buSzPts val="2000"/>
              <a:buNone/>
              <a:defRPr sz="1500"/>
            </a:lvl7pPr>
            <a:lvl8pPr lvl="7" algn="ctr">
              <a:lnSpc>
                <a:spcPct val="90000"/>
              </a:lnSpc>
              <a:spcBef>
                <a:spcPts val="300"/>
              </a:spcBef>
              <a:spcAft>
                <a:spcPts val="0"/>
              </a:spcAft>
              <a:buSzPts val="2000"/>
              <a:buNone/>
              <a:defRPr sz="1500"/>
            </a:lvl8pPr>
            <a:lvl9pPr lvl="8" algn="ctr">
              <a:lnSpc>
                <a:spcPct val="90000"/>
              </a:lnSpc>
              <a:spcBef>
                <a:spcPts val="300"/>
              </a:spcBef>
              <a:spcAft>
                <a:spcPts val="300"/>
              </a:spcAft>
              <a:buSzPts val="2000"/>
              <a:buNone/>
              <a:defRPr sz="1500"/>
            </a:lvl9pPr>
          </a:lstStyle>
          <a:p>
            <a:endParaRPr/>
          </a:p>
        </p:txBody>
      </p:sp>
      <p:pic>
        <p:nvPicPr>
          <p:cNvPr id="23" name="Google Shape;23;p115" descr="KGC-2019"/>
          <p:cNvPicPr preferRelativeResize="0"/>
          <p:nvPr/>
        </p:nvPicPr>
        <p:blipFill rotWithShape="1">
          <a:blip r:embed="rId2">
            <a:alphaModFix/>
          </a:blip>
          <a:srcRect/>
          <a:stretch/>
        </p:blipFill>
        <p:spPr>
          <a:xfrm>
            <a:off x="1903214" y="1222240"/>
            <a:ext cx="5327633" cy="930254"/>
          </a:xfrm>
          <a:prstGeom prst="rect">
            <a:avLst/>
          </a:prstGeom>
          <a:noFill/>
          <a:ln>
            <a:noFill/>
          </a:ln>
        </p:spPr>
      </p:pic>
      <p:sp>
        <p:nvSpPr>
          <p:cNvPr id="24" name="Google Shape;24;p115"/>
          <p:cNvSpPr txBox="1"/>
          <p:nvPr/>
        </p:nvSpPr>
        <p:spPr>
          <a:xfrm>
            <a:off x="-9939" y="4902476"/>
            <a:ext cx="2305879" cy="190471"/>
          </a:xfrm>
          <a:prstGeom prst="rect">
            <a:avLst/>
          </a:prstGeom>
          <a:noFill/>
          <a:ln>
            <a:noFill/>
          </a:ln>
        </p:spPr>
        <p:txBody>
          <a:bodyPr spcFirstLastPara="1" wrap="square" lIns="68569" tIns="34275" rIns="68569" bIns="34275" anchor="t" anchorCtr="0">
            <a:spAutoFit/>
          </a:bodyPr>
          <a:lstStyle/>
          <a:p>
            <a:pPr marL="0" marR="0" lvl="0" indent="0" algn="l" rtl="0">
              <a:spcBef>
                <a:spcPts val="0"/>
              </a:spcBef>
              <a:spcAft>
                <a:spcPts val="0"/>
              </a:spcAft>
              <a:buNone/>
            </a:pPr>
            <a:r>
              <a:rPr lang="en-US" sz="788">
                <a:solidFill>
                  <a:schemeClr val="lt1"/>
                </a:solidFill>
                <a:latin typeface="Calibri"/>
                <a:ea typeface="Calibri"/>
                <a:cs typeface="Calibri"/>
                <a:sym typeface="Calibri"/>
              </a:rPr>
              <a:t>© Kalasalingam academy of research and education</a:t>
            </a:r>
            <a:endParaRPr sz="1350"/>
          </a:p>
        </p:txBody>
      </p:sp>
      <p:cxnSp>
        <p:nvCxnSpPr>
          <p:cNvPr id="25" name="Google Shape;25;p115"/>
          <p:cNvCxnSpPr/>
          <p:nvPr/>
        </p:nvCxnSpPr>
        <p:spPr>
          <a:xfrm>
            <a:off x="5774436" y="2972335"/>
            <a:ext cx="0" cy="1713581"/>
          </a:xfrm>
          <a:prstGeom prst="straightConnector1">
            <a:avLst/>
          </a:prstGeom>
          <a:noFill/>
          <a:ln w="57150" cap="flat" cmpd="sng">
            <a:solidFill>
              <a:srgbClr val="00B0F0"/>
            </a:solidFill>
            <a:prstDash val="solid"/>
            <a:round/>
            <a:headEnd type="none" w="sm" len="sm"/>
            <a:tailEnd type="none" w="sm" len="sm"/>
          </a:ln>
        </p:spPr>
      </p:cxnSp>
    </p:spTree>
    <p:extLst>
      <p:ext uri="{BB962C8B-B14F-4D97-AF65-F5344CB8AC3E}">
        <p14:creationId xmlns:p14="http://schemas.microsoft.com/office/powerpoint/2010/main" val="4241504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Graphical user interface&#10;&#10;Description automatically generated with low confidence">
            <a:extLst>
              <a:ext uri="{FF2B5EF4-FFF2-40B4-BE49-F238E27FC236}">
                <a16:creationId xmlns:a16="http://schemas.microsoft.com/office/drawing/2014/main" id="{F9E877FF-2708-28CB-27F6-6195A99B4E58}"/>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60" r:id="rId4"/>
    <p:sldLayoutId id="2147483661"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6" userDrawn="1">
          <p15:clr>
            <a:srgbClr val="F26B43"/>
          </p15:clr>
        </p15:guide>
        <p15:guide id="2" pos="336" userDrawn="1">
          <p15:clr>
            <a:srgbClr val="F26B43"/>
          </p15:clr>
        </p15:guide>
        <p15:guide id="3" pos="5376" userDrawn="1">
          <p15:clr>
            <a:srgbClr val="F26B43"/>
          </p15:clr>
        </p15:guide>
        <p15:guide id="4" orient="horz" pos="30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txBox="1">
            <a:spLocks noGrp="1"/>
          </p:cNvSpPr>
          <p:nvPr>
            <p:ph type="ctrTitle"/>
          </p:nvPr>
        </p:nvSpPr>
        <p:spPr>
          <a:xfrm>
            <a:off x="171528" y="3225959"/>
            <a:ext cx="5424601" cy="1096982"/>
          </a:xfrm>
          <a:prstGeom prst="rect">
            <a:avLst/>
          </a:prstGeom>
          <a:noFill/>
          <a:ln>
            <a:noFill/>
          </a:ln>
        </p:spPr>
        <p:txBody>
          <a:bodyPr spcFirstLastPara="1" wrap="square" lIns="68569" tIns="34275" rIns="68569" bIns="34275" anchor="t" anchorCtr="0">
            <a:noAutofit/>
          </a:bodyPr>
          <a:lstStyle/>
          <a:p>
            <a:pPr algn="ctr"/>
            <a:r>
              <a:rPr lang="en-IN" sz="2600" b="1">
                <a:latin typeface="Times New Roman" panose="02020603050405020304" pitchFamily="18" charset="0"/>
              </a:rPr>
              <a:t>Jan -2024</a:t>
            </a:r>
            <a:endParaRPr lang="en-IN" sz="2600" b="1" dirty="0">
              <a:latin typeface="Times New Roman" panose="02020603050405020304" pitchFamily="18" charset="0"/>
            </a:endParaRPr>
          </a:p>
        </p:txBody>
      </p:sp>
      <p:sp>
        <p:nvSpPr>
          <p:cNvPr id="134" name="Google Shape;134;p1"/>
          <p:cNvSpPr txBox="1">
            <a:spLocks noGrp="1"/>
          </p:cNvSpPr>
          <p:nvPr>
            <p:ph type="subTitle" idx="1"/>
          </p:nvPr>
        </p:nvSpPr>
        <p:spPr>
          <a:xfrm>
            <a:off x="5791200" y="3224542"/>
            <a:ext cx="3352800" cy="1176007"/>
          </a:xfrm>
          <a:prstGeom prst="rect">
            <a:avLst/>
          </a:prstGeom>
          <a:noFill/>
          <a:ln>
            <a:noFill/>
          </a:ln>
        </p:spPr>
        <p:txBody>
          <a:bodyPr spcFirstLastPara="1" wrap="square" lIns="68569" tIns="34275" rIns="68569" bIns="34275" anchor="t" anchorCtr="0">
            <a:noAutofit/>
          </a:bodyPr>
          <a:lstStyle/>
          <a:p>
            <a:pPr algn="ctr"/>
            <a:r>
              <a:rPr lang="en-US" sz="2400" b="1">
                <a:solidFill>
                  <a:schemeClr val="bg1"/>
                </a:solidFill>
                <a:latin typeface="Times New Roman" panose="02020603050405020304" pitchFamily="18" charset="0"/>
                <a:cs typeface="Times New Roman" panose="02020603050405020304" pitchFamily="18" charset="0"/>
              </a:rPr>
              <a:t>IV Semester</a:t>
            </a:r>
          </a:p>
          <a:p>
            <a:pPr algn="ctr"/>
            <a:r>
              <a:rPr lang="en-US" sz="2400" b="1">
                <a:solidFill>
                  <a:schemeClr val="bg1"/>
                </a:solidFill>
                <a:latin typeface="Times New Roman" panose="02020603050405020304" pitchFamily="18" charset="0"/>
                <a:cs typeface="Times New Roman" panose="02020603050405020304" pitchFamily="18" charset="0"/>
              </a:rPr>
              <a:t>MCA</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0D4B5BF-7DB1-477F-8BB5-FEB8B6ED369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05000" y="759460"/>
            <a:ext cx="5731510" cy="1431290"/>
          </a:xfrm>
          <a:prstGeom prst="rect">
            <a:avLst/>
          </a:prstGeom>
          <a:noFill/>
          <a:ln>
            <a:noFill/>
          </a:ln>
        </p:spPr>
      </p:pic>
      <p:sp>
        <p:nvSpPr>
          <p:cNvPr id="2" name="TextBox 1">
            <a:extLst>
              <a:ext uri="{FF2B5EF4-FFF2-40B4-BE49-F238E27FC236}">
                <a16:creationId xmlns:a16="http://schemas.microsoft.com/office/drawing/2014/main" id="{2DAEC255-C425-48D6-AD52-BAF53A1AC15C}"/>
              </a:ext>
            </a:extLst>
          </p:cNvPr>
          <p:cNvSpPr txBox="1"/>
          <p:nvPr/>
        </p:nvSpPr>
        <p:spPr>
          <a:xfrm>
            <a:off x="2789555" y="1930501"/>
            <a:ext cx="3962400" cy="461665"/>
          </a:xfrm>
          <a:prstGeom prst="rect">
            <a:avLst/>
          </a:prstGeom>
          <a:noFill/>
        </p:spPr>
        <p:txBody>
          <a:bodyPr wrap="square" rtlCol="0">
            <a:noAutofit/>
          </a:bodyPr>
          <a:lstStyle/>
          <a:p>
            <a:pPr algn="ctr"/>
            <a:r>
              <a:rPr lang="en-US" sz="2400" b="1">
                <a:solidFill>
                  <a:srgbClr val="000099"/>
                </a:solidFill>
                <a:latin typeface="Times New Roman" panose="02020603050405020304" pitchFamily="18" charset="0"/>
                <a:cs typeface="Times New Roman" panose="02020603050405020304" pitchFamily="18" charset="0"/>
              </a:rPr>
              <a:t>Project Work Review - 2</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AFE9BD6-2AEF-4F5D-99F0-79900C97BE19}"/>
              </a:ext>
            </a:extLst>
          </p:cNvPr>
          <p:cNvSpPr/>
          <p:nvPr/>
        </p:nvSpPr>
        <p:spPr>
          <a:xfrm>
            <a:off x="2403136" y="2276704"/>
            <a:ext cx="4337727" cy="374077"/>
          </a:xfrm>
          <a:prstGeom prst="rect">
            <a:avLst/>
          </a:prstGeom>
        </p:spPr>
        <p:txBody>
          <a:bodyPr wrap="square">
            <a:noAutofit/>
          </a:bodyPr>
          <a:lstStyle/>
          <a:p>
            <a:pPr algn="ctr">
              <a:lnSpc>
                <a:spcPct val="107000"/>
              </a:lnSpc>
              <a:spcAft>
                <a:spcPts val="800"/>
              </a:spcAft>
            </a:pPr>
            <a:r>
              <a:rPr lang="en-US" b="1">
                <a:latin typeface="Times New Roman" panose="02020603050405020304" pitchFamily="18" charset="0"/>
                <a:ea typeface="Times New Roman" panose="02020603050405020304" pitchFamily="18" charset="0"/>
                <a:cs typeface="Times New Roman" panose="02020603050405020304" pitchFamily="18" charset="0"/>
              </a:rPr>
              <a:t>Centre for Distance and Online Education</a:t>
            </a:r>
            <a:endParaRPr lang="en-IN"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7475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17A28E-1572-4B2F-AB46-2B90825978F5}"/>
              </a:ext>
            </a:extLst>
          </p:cNvPr>
          <p:cNvSpPr/>
          <p:nvPr/>
        </p:nvSpPr>
        <p:spPr>
          <a:xfrm>
            <a:off x="304800" y="514350"/>
            <a:ext cx="8763000" cy="4418967"/>
          </a:xfrm>
          <a:prstGeom prst="rect">
            <a:avLst/>
          </a:prstGeom>
        </p:spPr>
        <p:txBody>
          <a:bodyPr wrap="square">
            <a:noAutofit/>
          </a:bodyPr>
          <a:lstStyle/>
          <a:p>
            <a:pPr>
              <a:lnSpc>
                <a:spcPct val="200000"/>
              </a:lnSpc>
              <a:spcAft>
                <a:spcPts val="0"/>
              </a:spcAft>
            </a:pPr>
            <a:r>
              <a:rPr lang="en-US">
                <a:latin typeface="Times New Roman" panose="02020603050405020304" pitchFamily="18" charset="0"/>
                <a:ea typeface="Times New Roman" panose="02020603050405020304" pitchFamily="18" charset="0"/>
                <a:cs typeface="Times New Roman" panose="02020603050405020304" pitchFamily="18" charset="0"/>
              </a:rPr>
              <a:t>Name of the Learner : Deepak Kumar
Register number : 9224116032
Name of the Programme : MCA
Semester : IV
Name of the Course : Project Work
Batch : Jan 2024
Course Code : 223MCA4201
Regulation : 2022
Faculty Advisor : Mr. M. GOVINDARAJ</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06ADDB6-EC90-4C9E-B247-954741439B5B}"/>
              </a:ext>
            </a:extLst>
          </p:cNvPr>
          <p:cNvSpPr/>
          <p:nvPr/>
        </p:nvSpPr>
        <p:spPr>
          <a:xfrm>
            <a:off x="218661" y="86783"/>
            <a:ext cx="8839200" cy="579967"/>
          </a:xfrm>
          <a:prstGeom prst="rect">
            <a:avLst/>
          </a:prstGeom>
        </p:spPr>
        <p:txBody>
          <a:bodyPr wrap="square">
            <a:noAutofit/>
          </a:bodyPr>
          <a:lstStyle/>
          <a:p>
            <a:pPr>
              <a:lnSpc>
                <a:spcPct val="150000"/>
              </a:lnSpc>
              <a:spcAft>
                <a:spcPts val="0"/>
              </a:spcAft>
            </a:pPr>
            <a:r>
              <a:rPr lang="en-IN" sz="2200" b="1">
                <a:solidFill>
                  <a:srgbClr val="000099"/>
                </a:solidFill>
                <a:latin typeface="Times New Roman" panose="02020603050405020304" pitchFamily="18" charset="0"/>
                <a:ea typeface="Times New Roman" panose="02020603050405020304" pitchFamily="18" charset="0"/>
              </a:rPr>
              <a:t>Project Title : MaatriCare</a:t>
            </a:r>
            <a:endParaRPr lang="en-IN" sz="2200" b="1" dirty="0">
              <a:solidFill>
                <a:srgbClr val="000099"/>
              </a:solidFill>
              <a:latin typeface="Times New Roman" panose="02020603050405020304" pitchFamily="18" charset="0"/>
            </a:endParaRPr>
          </a:p>
        </p:txBody>
      </p:sp>
    </p:spTree>
    <p:extLst>
      <p:ext uri="{BB962C8B-B14F-4D97-AF65-F5344CB8AC3E}">
        <p14:creationId xmlns:p14="http://schemas.microsoft.com/office/powerpoint/2010/main" val="3717675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36BD41-AA31-446B-AF03-E04A9D35F390}"/>
              </a:ext>
            </a:extLst>
          </p:cNvPr>
          <p:cNvSpPr/>
          <p:nvPr/>
        </p:nvSpPr>
        <p:spPr>
          <a:xfrm>
            <a:off x="304800" y="209550"/>
            <a:ext cx="1863011" cy="461665"/>
          </a:xfrm>
          <a:prstGeom prst="rect">
            <a:avLst/>
          </a:prstGeom>
        </p:spPr>
        <p:txBody>
          <a:bodyPr wrap="square">
            <a:noAutofit/>
          </a:bodyPr>
          <a:lstStyle/>
          <a:p>
            <a:pPr algn="ctr"/>
            <a:r>
              <a:rPr lang="en-US" sz="2200" b="1">
                <a:solidFill>
                  <a:srgbClr val="000099"/>
                </a:solidFill>
                <a:latin typeface="Times New Roman" panose="02020603050405020304" pitchFamily="18" charset="0"/>
                <a:cs typeface="Times New Roman" panose="02020603050405020304" pitchFamily="18" charset="0"/>
              </a:rPr>
              <a:t>ABSTRACT</a:t>
            </a:r>
            <a:endParaRPr lang="en-IN" sz="22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1899A73-A892-4AA1-B496-D9261B159AC8}"/>
              </a:ext>
            </a:extLst>
          </p:cNvPr>
          <p:cNvSpPr/>
          <p:nvPr/>
        </p:nvSpPr>
        <p:spPr>
          <a:xfrm>
            <a:off x="304800" y="678669"/>
            <a:ext cx="8229600" cy="4480073"/>
          </a:xfrm>
          <a:prstGeom prst="rect">
            <a:avLst/>
          </a:prstGeom>
        </p:spPr>
        <p:txBody>
          <a:bodyPr wrap="square">
            <a:noAutofit/>
          </a:bodyPr>
          <a:lstStyle/>
          <a:p>
            <a:pPr>
              <a:lnSpc>
                <a:spcPct val="150000"/>
              </a:lnSpc>
            </a:pPr>
            <a:r>
              <a:rPr lang="en-US">
                <a:latin typeface="Times New Roman" panose="02020603050405020304" pitchFamily="18" charset="0"/>
                <a:cs typeface="Times New Roman" panose="02020603050405020304" pitchFamily="18" charset="0"/>
              </a:rPr>
              <a:t>MaatriCare is a pregnancy support and care-coordination web application that organizes pregnancy profiles, appointments, daily care, wellbeing records, symptom journals, milestones, learning resources, reports, and reminders in one authenticated system. Users can prepare questions for healthcare visits, create a printable visit brief, and choose which records to include in a report.</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The frontend is implemented with React, TypeScript, and Vite. The backend uses Java Spring Boot REST APIs, Spring Security with JWT authentication, request validation, and Spring Data JPA. MySQL supports local development, with PostgreSQL configured for production. Relational data includes user profiles, appointments, care tasks, wellbeing entries, symptoms, milestones, emergency contacts, report shares, push subscriptions, and scheduled reminders.</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Reminder scheduling defaults to Asia/Kolkata time. Optional Web Push uses server-side deduplication, retries, and one-hour snooze actions. Live push requires VAPID credentials and HTTPS. Focused backend tests validate timezone defaults, reminder preferences, deduplication, snooze capabilities, and retention; the frontend production build passes.</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MaatriCare is an organizational and educational aid. It does not diagnose conditions, recommend treatment, or replace a healthcare professional or emergency services.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22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CAB1EF9-DC87-4E4A-BF3E-65E325AE2895}"/>
              </a:ext>
            </a:extLst>
          </p:cNvPr>
          <p:cNvSpPr>
            <a:spLocks noChangeArrowheads="1"/>
          </p:cNvSpPr>
          <p:nvPr/>
        </p:nvSpPr>
        <p:spPr bwMode="auto">
          <a:xfrm>
            <a:off x="38100" y="1004069"/>
            <a:ext cx="9067800"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Project Overview</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MaatriCare is a private workspace for pregnancy-related organization and care coordination.</a:t>
            </a:r>
          </a:p>
          <a:p>
            <a:pPr marL="0" marR="0" lvl="0" indent="0" defTabSz="914400" rtl="0" eaLnBrk="0" fontAlgn="base" latinLnBrk="0" hangingPunct="0">
              <a:lnSpc>
                <a:spcPct val="150000"/>
              </a:lnSpc>
              <a:spcBef>
                <a:spcPct val="0"/>
              </a:spcBef>
              <a:spcAft>
                <a:spcPct val="0"/>
              </a:spcAft>
              <a:buClrTx/>
              <a:buSzTx/>
              <a:buFontTx/>
              <a:buAutoNum type="arabicPeriod"/>
              <a:tabLst/>
            </a:pPr>
            <a:endPar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Objectives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Keep pregnancy profile and progress information together.</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Track daily care and wellbeing entries.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Manage appointments, questions, and visit briefs.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Provide educational resources, summaries, and configurable reminders.</a:t>
            </a:r>
          </a:p>
          <a:p>
            <a:pPr marL="0" marR="0" lvl="0" indent="0" defTabSz="914400" rtl="0" eaLnBrk="0" fontAlgn="base" latinLnBrk="0" hangingPunct="0">
              <a:lnSpc>
                <a:spcPct val="150000"/>
              </a:lnSpc>
              <a:spcBef>
                <a:spcPct val="0"/>
              </a:spcBef>
              <a:spcAft>
                <a:spcPct val="0"/>
              </a:spcAft>
              <a:buClrTx/>
              <a:buSzTx/>
              <a:buFontTx/>
              <a:buAutoNum type="arabicPeriod"/>
              <a:tabLst/>
            </a:pPr>
            <a:endPar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Scope and Safety</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system supports user-entered records and healthcare conversations. It does not diagnose, prescribe, or provide emergency triage.</a:t>
            </a:r>
            <a:endParaRPr kumimoji="0" lang="en-US" altLang="en-US" sz="1500" i="0" u="none" strike="noStrike" cap="none" normalizeH="0" baseline="0" dirty="0">
              <a:ln>
                <a:noFill/>
              </a:ln>
              <a:solidFill>
                <a:schemeClr val="tx1"/>
              </a:solidFill>
              <a:effectLst/>
              <a:latin typeface="Times New Roman" panose="02020603050405020304" pitchFamily="18" charset="0"/>
            </a:endParaRPr>
          </a:p>
        </p:txBody>
      </p:sp>
      <p:sp>
        <p:nvSpPr>
          <p:cNvPr id="6" name="Rectangle 5">
            <a:extLst>
              <a:ext uri="{FF2B5EF4-FFF2-40B4-BE49-F238E27FC236}">
                <a16:creationId xmlns:a16="http://schemas.microsoft.com/office/drawing/2014/main" id="{606FF737-0BA0-41F4-BC58-449A66B0CED8}"/>
              </a:ext>
            </a:extLst>
          </p:cNvPr>
          <p:cNvSpPr/>
          <p:nvPr/>
        </p:nvSpPr>
        <p:spPr>
          <a:xfrm>
            <a:off x="228600" y="133350"/>
            <a:ext cx="2133600" cy="461665"/>
          </a:xfrm>
          <a:prstGeom prst="rect">
            <a:avLst/>
          </a:prstGeom>
        </p:spPr>
        <p:txBody>
          <a:bodyPr wrap="square">
            <a:noAutofit/>
          </a:bodyPr>
          <a:lstStyle/>
          <a:p>
            <a:r>
              <a:rPr lang="en-IN" sz="2200" b="1">
                <a:solidFill>
                  <a:srgbClr val="000099"/>
                </a:solidFill>
                <a:latin typeface="Times New Roman" panose="02020603050405020304" pitchFamily="18" charset="0"/>
                <a:cs typeface="Times New Roman" panose="02020603050405020304" pitchFamily="18" charset="0"/>
              </a:rPr>
              <a:t>Introduction</a:t>
            </a:r>
            <a:endParaRPr lang="en-IN" sz="2200" b="1" dirty="0">
              <a:solidFill>
                <a:srgbClr val="00009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04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6FF737-0BA0-41F4-BC58-449A66B0CED8}"/>
              </a:ext>
            </a:extLst>
          </p:cNvPr>
          <p:cNvSpPr/>
          <p:nvPr/>
        </p:nvSpPr>
        <p:spPr>
          <a:xfrm>
            <a:off x="228600" y="133350"/>
            <a:ext cx="7112000" cy="457200"/>
          </a:xfrm>
          <a:prstGeom prst="rect">
            <a:avLst/>
          </a:prstGeom>
        </p:spPr>
        <p:txBody>
          <a:bodyPr wrap="square">
            <a:noAutofit/>
          </a:bodyPr>
          <a:lstStyle/>
          <a:p>
            <a:r>
              <a:rPr lang="en-US" b="1">
                <a:solidFill>
                  <a:srgbClr val="000099"/>
                </a:solidFill>
                <a:latin typeface="Times New Roman" panose="02020603050405020304" pitchFamily="18" charset="0"/>
                <a:cs typeface="Times New Roman" panose="02020603050405020304" pitchFamily="18" charset="0"/>
              </a:rPr>
              <a:t>System Design: Architecture and DFD</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6E7BFB9-2F6E-C8A4-1B38-E0A68C0BA2EB}"/>
              </a:ext>
            </a:extLst>
          </p:cNvPr>
          <p:cNvSpPr txBox="1"/>
          <p:nvPr/>
        </p:nvSpPr>
        <p:spPr>
          <a:xfrm>
            <a:off x="254000" y="889000"/>
            <a:ext cx="15494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USER</a:t>
            </a:r>
          </a:p>
          <a:p>
            <a:r>
              <a:rPr lang="en-US" sz="1200" b="1">
                <a:solidFill>
                  <a:srgbClr val="173E79"/>
                </a:solidFill>
                <a:latin typeface="Times New Roman" panose="02020603050405020304" pitchFamily="18" charset="0"/>
              </a:rPr>
              <a:t>Profile / tracking</a:t>
            </a:r>
          </a:p>
        </p:txBody>
      </p:sp>
      <p:sp>
        <p:nvSpPr>
          <p:cNvPr id="3" name="TextBox 2">
            <a:extLst>
              <a:ext uri="{FF2B5EF4-FFF2-40B4-BE49-F238E27FC236}">
                <a16:creationId xmlns:a16="http://schemas.microsoft.com/office/drawing/2014/main" id="{D6A8B7F8-5F7F-236E-E03C-26095D1D8897}"/>
              </a:ext>
            </a:extLst>
          </p:cNvPr>
          <p:cNvSpPr txBox="1"/>
          <p:nvPr/>
        </p:nvSpPr>
        <p:spPr>
          <a:xfrm>
            <a:off x="2032000" y="889000"/>
            <a:ext cx="1905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REACT FRONTEND</a:t>
            </a:r>
          </a:p>
          <a:p>
            <a:r>
              <a:rPr lang="en-US" sz="1200" b="1">
                <a:solidFill>
                  <a:srgbClr val="173E79"/>
                </a:solidFill>
                <a:latin typeface="Times New Roman" panose="02020603050405020304" pitchFamily="18" charset="0"/>
              </a:rPr>
              <a:t>Forms / dashboard</a:t>
            </a:r>
          </a:p>
        </p:txBody>
      </p:sp>
      <p:sp>
        <p:nvSpPr>
          <p:cNvPr id="4" name="TextBox 3">
            <a:extLst>
              <a:ext uri="{FF2B5EF4-FFF2-40B4-BE49-F238E27FC236}">
                <a16:creationId xmlns:a16="http://schemas.microsoft.com/office/drawing/2014/main" id="{C4E2FEBF-F862-276A-B6C7-C113738E4B3F}"/>
              </a:ext>
            </a:extLst>
          </p:cNvPr>
          <p:cNvSpPr txBox="1"/>
          <p:nvPr/>
        </p:nvSpPr>
        <p:spPr>
          <a:xfrm>
            <a:off x="4191000" y="889000"/>
            <a:ext cx="2032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SPRING BOOT API</a:t>
            </a:r>
          </a:p>
          <a:p>
            <a:r>
              <a:rPr lang="en-US" sz="1200" b="1">
                <a:solidFill>
                  <a:srgbClr val="173E79"/>
                </a:solidFill>
                <a:latin typeface="Times New Roman" panose="02020603050405020304" pitchFamily="18" charset="0"/>
              </a:rPr>
              <a:t>JWT / validation</a:t>
            </a:r>
          </a:p>
        </p:txBody>
      </p:sp>
      <p:sp>
        <p:nvSpPr>
          <p:cNvPr id="7" name="TextBox 6">
            <a:extLst>
              <a:ext uri="{FF2B5EF4-FFF2-40B4-BE49-F238E27FC236}">
                <a16:creationId xmlns:a16="http://schemas.microsoft.com/office/drawing/2014/main" id="{DC2E4670-0DB7-2CF4-D38C-BFEE63C12B99}"/>
              </a:ext>
            </a:extLst>
          </p:cNvPr>
          <p:cNvSpPr txBox="1"/>
          <p:nvPr/>
        </p:nvSpPr>
        <p:spPr>
          <a:xfrm>
            <a:off x="6477000" y="889000"/>
            <a:ext cx="2159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RELATIONAL DATA</a:t>
            </a:r>
          </a:p>
          <a:p>
            <a:r>
              <a:rPr lang="en-US" sz="1200" b="1">
                <a:solidFill>
                  <a:srgbClr val="173E79"/>
                </a:solidFill>
                <a:latin typeface="Times New Roman" panose="02020603050405020304" pitchFamily="18" charset="0"/>
              </a:rPr>
              <a:t>MySQL / PostgreSQL</a:t>
            </a:r>
          </a:p>
        </p:txBody>
      </p:sp>
      <p:cxnSp>
        <p:nvCxnSpPr>
          <p:cNvPr id="8" name="Straight Arrow Connector 7">
            <a:extLst>
              <a:ext uri="{FF2B5EF4-FFF2-40B4-BE49-F238E27FC236}">
                <a16:creationId xmlns:a16="http://schemas.microsoft.com/office/drawing/2014/main" id="{C7D645C5-62EA-F54F-076D-14B6399E72FB}"/>
              </a:ext>
            </a:extLst>
          </p:cNvPr>
          <p:cNvCxnSpPr/>
          <p:nvPr/>
        </p:nvCxnSpPr>
        <p:spPr>
          <a:xfrm>
            <a:off x="1803400" y="1206500"/>
            <a:ext cx="2286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C29F2AF-7594-51B6-8F75-AA7F9EA2E6F5}"/>
              </a:ext>
            </a:extLst>
          </p:cNvPr>
          <p:cNvCxnSpPr/>
          <p:nvPr/>
        </p:nvCxnSpPr>
        <p:spPr>
          <a:xfrm>
            <a:off x="3937000" y="1206500"/>
            <a:ext cx="254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F661F3C-FFFC-06A0-ED05-FF1D8C163E90}"/>
              </a:ext>
            </a:extLst>
          </p:cNvPr>
          <p:cNvCxnSpPr/>
          <p:nvPr/>
        </p:nvCxnSpPr>
        <p:spPr>
          <a:xfrm>
            <a:off x="6223000" y="1206500"/>
            <a:ext cx="254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085E4ED-80C7-08F7-AFC1-AD9BCA709D69}"/>
              </a:ext>
            </a:extLst>
          </p:cNvPr>
          <p:cNvSpPr txBox="1"/>
          <p:nvPr/>
        </p:nvSpPr>
        <p:spPr>
          <a:xfrm>
            <a:off x="800100" y="2006600"/>
            <a:ext cx="3048000" cy="369332"/>
          </a:xfrm>
          <a:prstGeom prst="rect">
            <a:avLst/>
          </a:prstGeom>
          <a:noFill/>
        </p:spPr>
        <p:txBody>
          <a:bodyPr vert="horz" wrap="square" lIns="25400" tIns="12700" rIns="25400" bIns="12700" rtlCol="0">
            <a:noAutofit/>
          </a:bodyPr>
          <a:lstStyle/>
          <a:p>
            <a:r>
              <a:rPr lang="en-US" sz="1300">
                <a:solidFill>
                  <a:srgbClr val="222222"/>
                </a:solidFill>
                <a:latin typeface="Times New Roman" panose="02020603050405020304" pitchFamily="18" charset="0"/>
              </a:rPr>
              <a:t>Modules</a:t>
            </a:r>
          </a:p>
          <a:p>
            <a:r>
              <a:rPr lang="en-US" sz="1300">
                <a:solidFill>
                  <a:srgbClr val="222222"/>
                </a:solidFill>
                <a:latin typeface="Times New Roman" panose="02020603050405020304" pitchFamily="18" charset="0"/>
              </a:rPr>
              <a:t>Daily Care | Appointments</a:t>
            </a:r>
          </a:p>
          <a:p>
            <a:r>
              <a:rPr lang="en-US" sz="1300">
                <a:solidFill>
                  <a:srgbClr val="222222"/>
                </a:solidFill>
                <a:latin typeface="Times New Roman" panose="02020603050405020304" pitchFamily="18" charset="0"/>
              </a:rPr>
              <a:t>Journal | Guides | Reports</a:t>
            </a:r>
          </a:p>
        </p:txBody>
      </p:sp>
      <p:sp>
        <p:nvSpPr>
          <p:cNvPr id="12" name="TextBox 11">
            <a:extLst>
              <a:ext uri="{FF2B5EF4-FFF2-40B4-BE49-F238E27FC236}">
                <a16:creationId xmlns:a16="http://schemas.microsoft.com/office/drawing/2014/main" id="{914190F7-8117-390E-A9AB-9C0AD2E7C119}"/>
              </a:ext>
            </a:extLst>
          </p:cNvPr>
          <p:cNvSpPr txBox="1"/>
          <p:nvPr/>
        </p:nvSpPr>
        <p:spPr>
          <a:xfrm>
            <a:off x="4368800" y="2006600"/>
            <a:ext cx="3810000" cy="369332"/>
          </a:xfrm>
          <a:prstGeom prst="rect">
            <a:avLst/>
          </a:prstGeom>
          <a:noFill/>
        </p:spPr>
        <p:txBody>
          <a:bodyPr vert="horz" wrap="square" lIns="25400" tIns="12700" rIns="25400" bIns="12700" rtlCol="0">
            <a:noAutofit/>
          </a:bodyPr>
          <a:lstStyle/>
          <a:p>
            <a:r>
              <a:rPr lang="en-US" sz="1300">
                <a:solidFill>
                  <a:srgbClr val="222222"/>
                </a:solidFill>
                <a:latin typeface="Times New Roman" panose="02020603050405020304" pitchFamily="18" charset="0"/>
              </a:rPr>
              <a:t>Services</a:t>
            </a:r>
          </a:p>
          <a:p>
            <a:r>
              <a:rPr lang="en-US" sz="1300">
                <a:solidFill>
                  <a:srgbClr val="222222"/>
                </a:solidFill>
                <a:latin typeface="Times New Roman" panose="02020603050405020304" pitchFamily="18" charset="0"/>
              </a:rPr>
              <a:t>User ownership checks | JPA repositories</a:t>
            </a:r>
          </a:p>
          <a:p>
            <a:r>
              <a:rPr lang="en-US" sz="1300">
                <a:solidFill>
                  <a:srgbClr val="222222"/>
                </a:solidFill>
                <a:latin typeface="Times New Roman" panose="02020603050405020304" pitchFamily="18" charset="0"/>
              </a:rPr>
              <a:t>Scheduled reminder processor</a:t>
            </a:r>
          </a:p>
        </p:txBody>
      </p:sp>
      <p:sp>
        <p:nvSpPr>
          <p:cNvPr id="13" name="TextBox 12">
            <a:extLst>
              <a:ext uri="{FF2B5EF4-FFF2-40B4-BE49-F238E27FC236}">
                <a16:creationId xmlns:a16="http://schemas.microsoft.com/office/drawing/2014/main" id="{1965539E-B750-9EBA-26A6-2881D4CE7F71}"/>
              </a:ext>
            </a:extLst>
          </p:cNvPr>
          <p:cNvSpPr txBox="1"/>
          <p:nvPr/>
        </p:nvSpPr>
        <p:spPr>
          <a:xfrm>
            <a:off x="1460500" y="3530600"/>
            <a:ext cx="6350000" cy="369332"/>
          </a:xfrm>
          <a:prstGeom prst="rect">
            <a:avLst/>
          </a:prstGeom>
          <a:noFill/>
        </p:spPr>
        <p:txBody>
          <a:bodyPr vert="horz" wrap="square" lIns="25400" tIns="12700" rIns="25400" bIns="12700" rtlCol="0">
            <a:noAutofit/>
          </a:bodyPr>
          <a:lstStyle/>
          <a:p>
            <a:pPr algn="ctr"/>
            <a:r>
              <a:rPr lang="en-US" sz="1300" b="1">
                <a:solidFill>
                  <a:srgbClr val="173E79"/>
                </a:solidFill>
                <a:latin typeface="Times New Roman" panose="02020603050405020304" pitchFamily="18" charset="0"/>
              </a:rPr>
              <a:t>Optional outbound flow: Scheduler -&gt; encrypted Web Push -&gt; subscribed browser</a:t>
            </a:r>
          </a:p>
        </p:txBody>
      </p:sp>
      <p:sp>
        <p:nvSpPr>
          <p:cNvPr id="14" name="TextBox 13">
            <a:extLst>
              <a:ext uri="{FF2B5EF4-FFF2-40B4-BE49-F238E27FC236}">
                <a16:creationId xmlns:a16="http://schemas.microsoft.com/office/drawing/2014/main" id="{9BA70F84-8BDD-4A27-D1BD-CF0DBB2CD200}"/>
              </a:ext>
            </a:extLst>
          </p:cNvPr>
          <p:cNvSpPr txBox="1"/>
          <p:nvPr/>
        </p:nvSpPr>
        <p:spPr>
          <a:xfrm>
            <a:off x="952500" y="4318000"/>
            <a:ext cx="7493000" cy="369332"/>
          </a:xfrm>
          <a:prstGeom prst="rect">
            <a:avLst/>
          </a:prstGeom>
          <a:noFill/>
        </p:spPr>
        <p:txBody>
          <a:bodyPr vert="horz" wrap="square" lIns="25400" tIns="12700" rIns="25400" bIns="12700" rtlCol="0">
            <a:noAutofit/>
          </a:bodyPr>
          <a:lstStyle/>
          <a:p>
            <a:pPr algn="ctr"/>
            <a:r>
              <a:rPr lang="en-US" sz="1100">
                <a:solidFill>
                  <a:srgbClr val="333333"/>
                </a:solidFill>
                <a:latin typeface="Times New Roman" panose="02020603050405020304" pitchFamily="18" charset="0"/>
              </a:rPr>
              <a:t>Local push delivery requires VAPID credentials; deployed service workers require HTTPS.</a:t>
            </a:r>
          </a:p>
        </p:txBody>
      </p:sp>
    </p:spTree>
    <p:extLst>
      <p:ext uri="{BB962C8B-B14F-4D97-AF65-F5344CB8AC3E}">
        <p14:creationId xmlns:p14="http://schemas.microsoft.com/office/powerpoint/2010/main" val="388377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133350"/>
            <a:ext cx="8509000" cy="457200"/>
          </a:xfrm>
          <a:prstGeom prst="rect">
            <a:avLst/>
          </a:prstGeom>
        </p:spPr>
        <p:txBody>
          <a:bodyPr wrap="square">
            <a:noAutofit/>
          </a:bodyPr>
          <a:lstStyle/>
          <a:p>
            <a:r>
              <a:rPr lang="en-US" b="1">
                <a:solidFill>
                  <a:srgbClr val="000099"/>
                </a:solidFill>
                <a:latin typeface="Times New Roman" panose="02020603050405020304" pitchFamily="18" charset="0"/>
                <a:cs typeface="Times New Roman" panose="02020603050405020304" pitchFamily="18" charset="0"/>
              </a:rPr>
              <a:t>ER (Entity Relationship) Diagram</a:t>
            </a:r>
            <a:endParaRPr lang="en-IN" b="1" dirty="0">
              <a:solidFill>
                <a:srgbClr val="000099"/>
              </a:solidFill>
              <a:latin typeface="Times New Roman" panose="02020603050405020304" pitchFamily="18" charset="0"/>
              <a:cs typeface="Times New Roman" panose="02020603050405020304" pitchFamily="18" charset="0"/>
            </a:endParaRPr>
          </a:p>
        </p:txBody>
      </p:sp>
      <p:cxnSp>
        <p:nvCxnSpPr>
          <p:cNvPr id="3" name="Straight Arrow Connector 2">
            <a:extLst>
              <a:ext uri="{FF2B5EF4-FFF2-40B4-BE49-F238E27FC236}">
                <a16:creationId xmlns:a16="http://schemas.microsoft.com/office/drawing/2014/main" id="{4FA247F2-7B09-0626-4CF8-A25D35304894}"/>
              </a:ext>
            </a:extLst>
          </p:cNvPr>
          <p:cNvCxnSpPr/>
          <p:nvPr/>
        </p:nvCxnSpPr>
        <p:spPr>
          <a:xfrm>
            <a:off x="4572000" y="1308100"/>
            <a:ext cx="0" cy="1143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A06D477D-F199-EF1D-4708-D32A5707B888}"/>
              </a:ext>
            </a:extLst>
          </p:cNvPr>
          <p:cNvCxnSpPr/>
          <p:nvPr/>
        </p:nvCxnSpPr>
        <p:spPr>
          <a:xfrm>
            <a:off x="1651000" y="1422400"/>
            <a:ext cx="5842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9C54C94-9A65-3272-DD1C-0C491BF2D156}"/>
              </a:ext>
            </a:extLst>
          </p:cNvPr>
          <p:cNvCxnSpPr/>
          <p:nvPr/>
        </p:nvCxnSpPr>
        <p:spPr>
          <a:xfrm>
            <a:off x="1651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443FF717-4DA5-C6B4-EBB9-AD23C3FA2F76}"/>
              </a:ext>
            </a:extLst>
          </p:cNvPr>
          <p:cNvCxnSpPr/>
          <p:nvPr/>
        </p:nvCxnSpPr>
        <p:spPr>
          <a:xfrm>
            <a:off x="1651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B4A191C-CB27-2DB4-BA30-8EDB1FD84602}"/>
              </a:ext>
            </a:extLst>
          </p:cNvPr>
          <p:cNvCxnSpPr/>
          <p:nvPr/>
        </p:nvCxnSpPr>
        <p:spPr>
          <a:xfrm>
            <a:off x="1651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404248C-BFE4-D57B-CA4E-9F780C02A9A3}"/>
              </a:ext>
            </a:extLst>
          </p:cNvPr>
          <p:cNvCxnSpPr/>
          <p:nvPr/>
        </p:nvCxnSpPr>
        <p:spPr>
          <a:xfrm>
            <a:off x="1651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6985CB7-2556-CE94-1D09-E83C3AAEB614}"/>
              </a:ext>
            </a:extLst>
          </p:cNvPr>
          <p:cNvCxnSpPr/>
          <p:nvPr/>
        </p:nvCxnSpPr>
        <p:spPr>
          <a:xfrm>
            <a:off x="4572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71FAAD9-C5C6-E0E7-C90B-90C97ED3CB7D}"/>
              </a:ext>
            </a:extLst>
          </p:cNvPr>
          <p:cNvCxnSpPr/>
          <p:nvPr/>
        </p:nvCxnSpPr>
        <p:spPr>
          <a:xfrm>
            <a:off x="4572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CB8257E-309A-1AAB-31A0-A925DC97C3F8}"/>
              </a:ext>
            </a:extLst>
          </p:cNvPr>
          <p:cNvCxnSpPr/>
          <p:nvPr/>
        </p:nvCxnSpPr>
        <p:spPr>
          <a:xfrm>
            <a:off x="4572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758DA81-7378-89D0-DB06-82C41760611D}"/>
              </a:ext>
            </a:extLst>
          </p:cNvPr>
          <p:cNvCxnSpPr/>
          <p:nvPr/>
        </p:nvCxnSpPr>
        <p:spPr>
          <a:xfrm>
            <a:off x="4572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A1E167B-8C42-BA33-AD04-A5C713726307}"/>
              </a:ext>
            </a:extLst>
          </p:cNvPr>
          <p:cNvCxnSpPr/>
          <p:nvPr/>
        </p:nvCxnSpPr>
        <p:spPr>
          <a:xfrm>
            <a:off x="7493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F8C42C7-09AF-07F1-BBBF-4EFBA82D554E}"/>
              </a:ext>
            </a:extLst>
          </p:cNvPr>
          <p:cNvCxnSpPr/>
          <p:nvPr/>
        </p:nvCxnSpPr>
        <p:spPr>
          <a:xfrm>
            <a:off x="7493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8E436F5-ED52-EA6C-12F5-4EF8A849499D}"/>
              </a:ext>
            </a:extLst>
          </p:cNvPr>
          <p:cNvCxnSpPr/>
          <p:nvPr/>
        </p:nvCxnSpPr>
        <p:spPr>
          <a:xfrm>
            <a:off x="7493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B6CF01F-AA6B-E980-156B-4D04C611437B}"/>
              </a:ext>
            </a:extLst>
          </p:cNvPr>
          <p:cNvCxnSpPr/>
          <p:nvPr/>
        </p:nvCxnSpPr>
        <p:spPr>
          <a:xfrm>
            <a:off x="7493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FF93CED-70B4-56AC-A559-C55E07AC73A2}"/>
              </a:ext>
            </a:extLst>
          </p:cNvPr>
          <p:cNvSpPr/>
          <p:nvPr/>
        </p:nvSpPr>
        <p:spPr>
          <a:xfrm>
            <a:off x="3175000" y="698500"/>
            <a:ext cx="2794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D293D32-FC40-1FB7-4374-B03024F9FAB7}"/>
              </a:ext>
            </a:extLst>
          </p:cNvPr>
          <p:cNvSpPr/>
          <p:nvPr/>
        </p:nvSpPr>
        <p:spPr>
          <a:xfrm>
            <a:off x="3175000" y="698500"/>
            <a:ext cx="2794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5F6103C-39E2-A872-4D3D-5EF4A57E33FD}"/>
              </a:ext>
            </a:extLst>
          </p:cNvPr>
          <p:cNvSpPr txBox="1"/>
          <p:nvPr/>
        </p:nvSpPr>
        <p:spPr>
          <a:xfrm>
            <a:off x="3225800" y="711200"/>
            <a:ext cx="2692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users</a:t>
            </a:r>
          </a:p>
        </p:txBody>
      </p:sp>
      <p:sp>
        <p:nvSpPr>
          <p:cNvPr id="21" name="TextBox 20">
            <a:extLst>
              <a:ext uri="{FF2B5EF4-FFF2-40B4-BE49-F238E27FC236}">
                <a16:creationId xmlns:a16="http://schemas.microsoft.com/office/drawing/2014/main" id="{7B8A170B-569A-6D5D-1B40-19AFFDDCDA95}"/>
              </a:ext>
            </a:extLst>
          </p:cNvPr>
          <p:cNvSpPr txBox="1"/>
          <p:nvPr/>
        </p:nvSpPr>
        <p:spPr>
          <a:xfrm>
            <a:off x="3225800" y="939800"/>
            <a:ext cx="2692400" cy="369332"/>
          </a:xfrm>
          <a:prstGeom prst="rect">
            <a:avLst/>
          </a:prstGeom>
          <a:noFill/>
        </p:spPr>
        <p:txBody>
          <a:bodyPr vert="horz" wrap="square" lIns="25400" tIns="12700" rIns="25400" bIns="12700" rtlCol="0">
            <a:noAutofit/>
          </a:bodyPr>
          <a:lstStyle/>
          <a:p>
            <a:r>
              <a:rPr lang="fr-FR" sz="700">
                <a:solidFill>
                  <a:srgbClr val="222222"/>
                </a:solidFill>
                <a:latin typeface="Times New Roman" panose="02020603050405020304" pitchFamily="18" charset="0"/>
              </a:rPr>
              <a:t>id PK | email UNIQUE | timezone</a:t>
            </a:r>
            <a:endParaRPr lang="en-US" sz="700">
              <a:solidFill>
                <a:srgbClr val="222222"/>
              </a:solidFill>
              <a:latin typeface="Times New Roman" panose="02020603050405020304" pitchFamily="18" charset="0"/>
            </a:endParaRPr>
          </a:p>
        </p:txBody>
      </p:sp>
      <p:sp>
        <p:nvSpPr>
          <p:cNvPr id="22" name="Rectangle 21">
            <a:extLst>
              <a:ext uri="{FF2B5EF4-FFF2-40B4-BE49-F238E27FC236}">
                <a16:creationId xmlns:a16="http://schemas.microsoft.com/office/drawing/2014/main" id="{56CD1995-C270-FCEF-D63D-780C05FB1B1A}"/>
              </a:ext>
            </a:extLst>
          </p:cNvPr>
          <p:cNvSpPr/>
          <p:nvPr/>
        </p:nvSpPr>
        <p:spPr>
          <a:xfrm>
            <a:off x="317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6DFB442-AF44-C1E8-EB3C-9869DFFCDE4A}"/>
              </a:ext>
            </a:extLst>
          </p:cNvPr>
          <p:cNvSpPr/>
          <p:nvPr/>
        </p:nvSpPr>
        <p:spPr>
          <a:xfrm>
            <a:off x="317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E4F8854-FEDA-D6AB-C593-83F518ABD260}"/>
              </a:ext>
            </a:extLst>
          </p:cNvPr>
          <p:cNvSpPr txBox="1"/>
          <p:nvPr/>
        </p:nvSpPr>
        <p:spPr>
          <a:xfrm>
            <a:off x="368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pregnancy_profiles</a:t>
            </a:r>
          </a:p>
        </p:txBody>
      </p:sp>
      <p:sp>
        <p:nvSpPr>
          <p:cNvPr id="25" name="TextBox 24">
            <a:extLst>
              <a:ext uri="{FF2B5EF4-FFF2-40B4-BE49-F238E27FC236}">
                <a16:creationId xmlns:a16="http://schemas.microsoft.com/office/drawing/2014/main" id="{98911280-2C44-BDD6-540B-33AA8A1CA5DD}"/>
              </a:ext>
            </a:extLst>
          </p:cNvPr>
          <p:cNvSpPr txBox="1"/>
          <p:nvPr/>
        </p:nvSpPr>
        <p:spPr>
          <a:xfrm>
            <a:off x="368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UNIQUE</a:t>
            </a:r>
          </a:p>
        </p:txBody>
      </p:sp>
      <p:sp>
        <p:nvSpPr>
          <p:cNvPr id="26" name="Rectangle 25">
            <a:extLst>
              <a:ext uri="{FF2B5EF4-FFF2-40B4-BE49-F238E27FC236}">
                <a16:creationId xmlns:a16="http://schemas.microsoft.com/office/drawing/2014/main" id="{D105E28C-C1FC-2C5C-0805-B04782B6F110}"/>
              </a:ext>
            </a:extLst>
          </p:cNvPr>
          <p:cNvSpPr/>
          <p:nvPr/>
        </p:nvSpPr>
        <p:spPr>
          <a:xfrm>
            <a:off x="3238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EB3B247-920C-AC13-862A-8FAB0580E696}"/>
              </a:ext>
            </a:extLst>
          </p:cNvPr>
          <p:cNvSpPr/>
          <p:nvPr/>
        </p:nvSpPr>
        <p:spPr>
          <a:xfrm>
            <a:off x="3238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66980C7-2D59-65DE-322C-6B58E01853F1}"/>
              </a:ext>
            </a:extLst>
          </p:cNvPr>
          <p:cNvSpPr txBox="1"/>
          <p:nvPr/>
        </p:nvSpPr>
        <p:spPr>
          <a:xfrm>
            <a:off x="3289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appointments</a:t>
            </a:r>
          </a:p>
        </p:txBody>
      </p:sp>
      <p:sp>
        <p:nvSpPr>
          <p:cNvPr id="29" name="TextBox 28">
            <a:extLst>
              <a:ext uri="{FF2B5EF4-FFF2-40B4-BE49-F238E27FC236}">
                <a16:creationId xmlns:a16="http://schemas.microsoft.com/office/drawing/2014/main" id="{6230CAF7-40FB-AECC-A707-5008E6E983B1}"/>
              </a:ext>
            </a:extLst>
          </p:cNvPr>
          <p:cNvSpPr txBox="1"/>
          <p:nvPr/>
        </p:nvSpPr>
        <p:spPr>
          <a:xfrm>
            <a:off x="3289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starts_at</a:t>
            </a:r>
          </a:p>
        </p:txBody>
      </p:sp>
      <p:sp>
        <p:nvSpPr>
          <p:cNvPr id="30" name="Rectangle 29">
            <a:extLst>
              <a:ext uri="{FF2B5EF4-FFF2-40B4-BE49-F238E27FC236}">
                <a16:creationId xmlns:a16="http://schemas.microsoft.com/office/drawing/2014/main" id="{66B2B61C-239A-D0AD-ECEE-F71779D90EF1}"/>
              </a:ext>
            </a:extLst>
          </p:cNvPr>
          <p:cNvSpPr/>
          <p:nvPr/>
        </p:nvSpPr>
        <p:spPr>
          <a:xfrm>
            <a:off x="6159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EC72027-C273-9A37-B361-F1639B219538}"/>
              </a:ext>
            </a:extLst>
          </p:cNvPr>
          <p:cNvSpPr/>
          <p:nvPr/>
        </p:nvSpPr>
        <p:spPr>
          <a:xfrm>
            <a:off x="6159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479F07B-8056-F07A-B9DF-34ED9231EA70}"/>
              </a:ext>
            </a:extLst>
          </p:cNvPr>
          <p:cNvSpPr txBox="1"/>
          <p:nvPr/>
        </p:nvSpPr>
        <p:spPr>
          <a:xfrm>
            <a:off x="6210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care_tasks</a:t>
            </a:r>
          </a:p>
        </p:txBody>
      </p:sp>
      <p:sp>
        <p:nvSpPr>
          <p:cNvPr id="33" name="TextBox 32">
            <a:extLst>
              <a:ext uri="{FF2B5EF4-FFF2-40B4-BE49-F238E27FC236}">
                <a16:creationId xmlns:a16="http://schemas.microsoft.com/office/drawing/2014/main" id="{D1422339-B18A-3FD7-BEDC-FB7F1205E05C}"/>
              </a:ext>
            </a:extLst>
          </p:cNvPr>
          <p:cNvSpPr txBox="1"/>
          <p:nvPr/>
        </p:nvSpPr>
        <p:spPr>
          <a:xfrm>
            <a:off x="6210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task_detail_id FK</a:t>
            </a:r>
          </a:p>
        </p:txBody>
      </p:sp>
      <p:sp>
        <p:nvSpPr>
          <p:cNvPr id="34" name="Rectangle 33">
            <a:extLst>
              <a:ext uri="{FF2B5EF4-FFF2-40B4-BE49-F238E27FC236}">
                <a16:creationId xmlns:a16="http://schemas.microsoft.com/office/drawing/2014/main" id="{AEF8EA5D-B3CC-FFF1-5989-2C73E4C4B943}"/>
              </a:ext>
            </a:extLst>
          </p:cNvPr>
          <p:cNvSpPr/>
          <p:nvPr/>
        </p:nvSpPr>
        <p:spPr>
          <a:xfrm>
            <a:off x="317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ADBFFCA-CBF0-E1AA-FEB9-994ECFA1B469}"/>
              </a:ext>
            </a:extLst>
          </p:cNvPr>
          <p:cNvSpPr/>
          <p:nvPr/>
        </p:nvSpPr>
        <p:spPr>
          <a:xfrm>
            <a:off x="317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913B048C-78A1-3DB9-9B8A-74131E446E15}"/>
              </a:ext>
            </a:extLst>
          </p:cNvPr>
          <p:cNvSpPr txBox="1"/>
          <p:nvPr/>
        </p:nvSpPr>
        <p:spPr>
          <a:xfrm>
            <a:off x="368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daily_wellbeing</a:t>
            </a:r>
          </a:p>
        </p:txBody>
      </p:sp>
      <p:sp>
        <p:nvSpPr>
          <p:cNvPr id="37" name="TextBox 36">
            <a:extLst>
              <a:ext uri="{FF2B5EF4-FFF2-40B4-BE49-F238E27FC236}">
                <a16:creationId xmlns:a16="http://schemas.microsoft.com/office/drawing/2014/main" id="{8181DD4A-F78A-252E-5826-80AB5A8D62A2}"/>
              </a:ext>
            </a:extLst>
          </p:cNvPr>
          <p:cNvSpPr txBox="1"/>
          <p:nvPr/>
        </p:nvSpPr>
        <p:spPr>
          <a:xfrm>
            <a:off x="368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FK | entry_date UNIQUE</a:t>
            </a:r>
          </a:p>
        </p:txBody>
      </p:sp>
      <p:sp>
        <p:nvSpPr>
          <p:cNvPr id="38" name="Rectangle 37">
            <a:extLst>
              <a:ext uri="{FF2B5EF4-FFF2-40B4-BE49-F238E27FC236}">
                <a16:creationId xmlns:a16="http://schemas.microsoft.com/office/drawing/2014/main" id="{13BAE2DE-9E96-0BBB-0F89-F7A1860500A8}"/>
              </a:ext>
            </a:extLst>
          </p:cNvPr>
          <p:cNvSpPr/>
          <p:nvPr/>
        </p:nvSpPr>
        <p:spPr>
          <a:xfrm>
            <a:off x="3238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EB3422A-0005-E264-19F0-F8478CB233E8}"/>
              </a:ext>
            </a:extLst>
          </p:cNvPr>
          <p:cNvSpPr/>
          <p:nvPr/>
        </p:nvSpPr>
        <p:spPr>
          <a:xfrm>
            <a:off x="3238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2DE2E6D-7B4D-AC6C-DC09-77606C6E38F2}"/>
              </a:ext>
            </a:extLst>
          </p:cNvPr>
          <p:cNvSpPr txBox="1"/>
          <p:nvPr/>
        </p:nvSpPr>
        <p:spPr>
          <a:xfrm>
            <a:off x="3289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symptom_entries</a:t>
            </a:r>
          </a:p>
        </p:txBody>
      </p:sp>
      <p:sp>
        <p:nvSpPr>
          <p:cNvPr id="41" name="TextBox 40">
            <a:extLst>
              <a:ext uri="{FF2B5EF4-FFF2-40B4-BE49-F238E27FC236}">
                <a16:creationId xmlns:a16="http://schemas.microsoft.com/office/drawing/2014/main" id="{42016BA1-F722-793A-E05F-219BB9486C1B}"/>
              </a:ext>
            </a:extLst>
          </p:cNvPr>
          <p:cNvSpPr txBox="1"/>
          <p:nvPr/>
        </p:nvSpPr>
        <p:spPr>
          <a:xfrm>
            <a:off x="3289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severity</a:t>
            </a:r>
          </a:p>
        </p:txBody>
      </p:sp>
      <p:sp>
        <p:nvSpPr>
          <p:cNvPr id="42" name="Rectangle 41">
            <a:extLst>
              <a:ext uri="{FF2B5EF4-FFF2-40B4-BE49-F238E27FC236}">
                <a16:creationId xmlns:a16="http://schemas.microsoft.com/office/drawing/2014/main" id="{60217203-33BF-F0D5-3868-B2331FC0AD72}"/>
              </a:ext>
            </a:extLst>
          </p:cNvPr>
          <p:cNvSpPr/>
          <p:nvPr/>
        </p:nvSpPr>
        <p:spPr>
          <a:xfrm>
            <a:off x="6159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DAD2DEF-82C0-5BB5-D84C-BC2C4056D2A0}"/>
              </a:ext>
            </a:extLst>
          </p:cNvPr>
          <p:cNvSpPr/>
          <p:nvPr/>
        </p:nvSpPr>
        <p:spPr>
          <a:xfrm>
            <a:off x="6159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7D12A677-D6D6-586B-B7BA-85E7EC88F282}"/>
              </a:ext>
            </a:extLst>
          </p:cNvPr>
          <p:cNvSpPr txBox="1"/>
          <p:nvPr/>
        </p:nvSpPr>
        <p:spPr>
          <a:xfrm>
            <a:off x="6210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pregnancy_milestones</a:t>
            </a:r>
          </a:p>
        </p:txBody>
      </p:sp>
      <p:sp>
        <p:nvSpPr>
          <p:cNvPr id="45" name="TextBox 44">
            <a:extLst>
              <a:ext uri="{FF2B5EF4-FFF2-40B4-BE49-F238E27FC236}">
                <a16:creationId xmlns:a16="http://schemas.microsoft.com/office/drawing/2014/main" id="{072C270A-6A5D-AC97-BB61-C011C77E08EC}"/>
              </a:ext>
            </a:extLst>
          </p:cNvPr>
          <p:cNvSpPr txBox="1"/>
          <p:nvPr/>
        </p:nvSpPr>
        <p:spPr>
          <a:xfrm>
            <a:off x="6210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week_number</a:t>
            </a:r>
          </a:p>
        </p:txBody>
      </p:sp>
      <p:sp>
        <p:nvSpPr>
          <p:cNvPr id="46" name="Rectangle 45">
            <a:extLst>
              <a:ext uri="{FF2B5EF4-FFF2-40B4-BE49-F238E27FC236}">
                <a16:creationId xmlns:a16="http://schemas.microsoft.com/office/drawing/2014/main" id="{9191D4D3-2E28-07DE-0048-6B0A2D0F5216}"/>
              </a:ext>
            </a:extLst>
          </p:cNvPr>
          <p:cNvSpPr/>
          <p:nvPr/>
        </p:nvSpPr>
        <p:spPr>
          <a:xfrm>
            <a:off x="317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699FB2C2-0236-96BE-AD8B-04E7CB42E337}"/>
              </a:ext>
            </a:extLst>
          </p:cNvPr>
          <p:cNvSpPr/>
          <p:nvPr/>
        </p:nvSpPr>
        <p:spPr>
          <a:xfrm>
            <a:off x="317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325FD810-1ABE-AC95-607B-269CFED7CC41}"/>
              </a:ext>
            </a:extLst>
          </p:cNvPr>
          <p:cNvSpPr txBox="1"/>
          <p:nvPr/>
        </p:nvSpPr>
        <p:spPr>
          <a:xfrm>
            <a:off x="368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emergency_contacts</a:t>
            </a:r>
          </a:p>
        </p:txBody>
      </p:sp>
      <p:sp>
        <p:nvSpPr>
          <p:cNvPr id="49" name="TextBox 48">
            <a:extLst>
              <a:ext uri="{FF2B5EF4-FFF2-40B4-BE49-F238E27FC236}">
                <a16:creationId xmlns:a16="http://schemas.microsoft.com/office/drawing/2014/main" id="{974B3F47-155E-54BE-E8DF-C2237ADD7D21}"/>
              </a:ext>
            </a:extLst>
          </p:cNvPr>
          <p:cNvSpPr txBox="1"/>
          <p:nvPr/>
        </p:nvSpPr>
        <p:spPr>
          <a:xfrm>
            <a:off x="368300" y="33020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type</a:t>
            </a:r>
          </a:p>
        </p:txBody>
      </p:sp>
      <p:sp>
        <p:nvSpPr>
          <p:cNvPr id="50" name="Rectangle 49">
            <a:extLst>
              <a:ext uri="{FF2B5EF4-FFF2-40B4-BE49-F238E27FC236}">
                <a16:creationId xmlns:a16="http://schemas.microsoft.com/office/drawing/2014/main" id="{16691518-0606-A319-CACE-9854BF6C2101}"/>
              </a:ext>
            </a:extLst>
          </p:cNvPr>
          <p:cNvSpPr/>
          <p:nvPr/>
        </p:nvSpPr>
        <p:spPr>
          <a:xfrm>
            <a:off x="3238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AC2D05E-665F-C8A1-04B6-FF3933F6F921}"/>
              </a:ext>
            </a:extLst>
          </p:cNvPr>
          <p:cNvSpPr/>
          <p:nvPr/>
        </p:nvSpPr>
        <p:spPr>
          <a:xfrm>
            <a:off x="3238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4A3C0EE9-558E-8E68-7D83-C6D7109568D1}"/>
              </a:ext>
            </a:extLst>
          </p:cNvPr>
          <p:cNvSpPr txBox="1"/>
          <p:nvPr/>
        </p:nvSpPr>
        <p:spPr>
          <a:xfrm>
            <a:off x="3289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report_shares</a:t>
            </a:r>
          </a:p>
        </p:txBody>
      </p:sp>
      <p:sp>
        <p:nvSpPr>
          <p:cNvPr id="53" name="TextBox 52">
            <a:extLst>
              <a:ext uri="{FF2B5EF4-FFF2-40B4-BE49-F238E27FC236}">
                <a16:creationId xmlns:a16="http://schemas.microsoft.com/office/drawing/2014/main" id="{A07BFDF1-9861-3485-95EA-318769273B8A}"/>
              </a:ext>
            </a:extLst>
          </p:cNvPr>
          <p:cNvSpPr txBox="1"/>
          <p:nvPr/>
        </p:nvSpPr>
        <p:spPr>
          <a:xfrm>
            <a:off x="3289300" y="3302000"/>
            <a:ext cx="2565400" cy="369332"/>
          </a:xfrm>
          <a:prstGeom prst="rect">
            <a:avLst/>
          </a:prstGeom>
          <a:noFill/>
        </p:spPr>
        <p:txBody>
          <a:bodyPr vert="horz" wrap="square" lIns="25400" tIns="12700" rIns="25400" bIns="12700" rtlCol="0">
            <a:noAutofit/>
          </a:bodyPr>
          <a:lstStyle/>
          <a:p>
            <a:r>
              <a:rPr lang="da-DK" sz="700">
                <a:solidFill>
                  <a:srgbClr val="222222"/>
                </a:solidFill>
                <a:latin typeface="Times New Roman" panose="02020603050405020304" pitchFamily="18" charset="0"/>
              </a:rPr>
              <a:t>id PK | user_id FK | expires_at</a:t>
            </a:r>
            <a:endParaRPr lang="en-US" sz="700">
              <a:solidFill>
                <a:srgbClr val="222222"/>
              </a:solidFill>
              <a:latin typeface="Times New Roman" panose="02020603050405020304" pitchFamily="18" charset="0"/>
            </a:endParaRPr>
          </a:p>
        </p:txBody>
      </p:sp>
      <p:sp>
        <p:nvSpPr>
          <p:cNvPr id="54" name="Rectangle 53">
            <a:extLst>
              <a:ext uri="{FF2B5EF4-FFF2-40B4-BE49-F238E27FC236}">
                <a16:creationId xmlns:a16="http://schemas.microsoft.com/office/drawing/2014/main" id="{C65EA516-B494-1727-7202-FF9B99343023}"/>
              </a:ext>
            </a:extLst>
          </p:cNvPr>
          <p:cNvSpPr/>
          <p:nvPr/>
        </p:nvSpPr>
        <p:spPr>
          <a:xfrm>
            <a:off x="6159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0A5A674A-4FD3-2FE0-ECAB-2AF01D3A5DD2}"/>
              </a:ext>
            </a:extLst>
          </p:cNvPr>
          <p:cNvSpPr/>
          <p:nvPr/>
        </p:nvSpPr>
        <p:spPr>
          <a:xfrm>
            <a:off x="6159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6F7D6CFB-0835-4009-5598-D623F4D5D264}"/>
              </a:ext>
            </a:extLst>
          </p:cNvPr>
          <p:cNvSpPr txBox="1"/>
          <p:nvPr/>
        </p:nvSpPr>
        <p:spPr>
          <a:xfrm>
            <a:off x="6210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push_subscriptions</a:t>
            </a:r>
          </a:p>
        </p:txBody>
      </p:sp>
      <p:sp>
        <p:nvSpPr>
          <p:cNvPr id="57" name="TextBox 56">
            <a:extLst>
              <a:ext uri="{FF2B5EF4-FFF2-40B4-BE49-F238E27FC236}">
                <a16:creationId xmlns:a16="http://schemas.microsoft.com/office/drawing/2014/main" id="{14F3C127-DEA6-220C-62CA-19B0F374524C}"/>
              </a:ext>
            </a:extLst>
          </p:cNvPr>
          <p:cNvSpPr txBox="1"/>
          <p:nvPr/>
        </p:nvSpPr>
        <p:spPr>
          <a:xfrm>
            <a:off x="6210300" y="33020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endpoint_hash</a:t>
            </a:r>
          </a:p>
        </p:txBody>
      </p:sp>
      <p:sp>
        <p:nvSpPr>
          <p:cNvPr id="58" name="Rectangle 57">
            <a:extLst>
              <a:ext uri="{FF2B5EF4-FFF2-40B4-BE49-F238E27FC236}">
                <a16:creationId xmlns:a16="http://schemas.microsoft.com/office/drawing/2014/main" id="{ED7559DB-126D-4700-C0CB-127B615733B3}"/>
              </a:ext>
            </a:extLst>
          </p:cNvPr>
          <p:cNvSpPr/>
          <p:nvPr/>
        </p:nvSpPr>
        <p:spPr>
          <a:xfrm>
            <a:off x="317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65068E00-F06A-2959-328D-8B64B9F491B4}"/>
              </a:ext>
            </a:extLst>
          </p:cNvPr>
          <p:cNvSpPr/>
          <p:nvPr/>
        </p:nvSpPr>
        <p:spPr>
          <a:xfrm>
            <a:off x="317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DDE0A340-8FF5-338B-4EC0-E121E0118CBE}"/>
              </a:ext>
            </a:extLst>
          </p:cNvPr>
          <p:cNvSpPr txBox="1"/>
          <p:nvPr/>
        </p:nvSpPr>
        <p:spPr>
          <a:xfrm>
            <a:off x="368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push_reminders</a:t>
            </a:r>
          </a:p>
        </p:txBody>
      </p:sp>
      <p:sp>
        <p:nvSpPr>
          <p:cNvPr id="61" name="TextBox 60">
            <a:extLst>
              <a:ext uri="{FF2B5EF4-FFF2-40B4-BE49-F238E27FC236}">
                <a16:creationId xmlns:a16="http://schemas.microsoft.com/office/drawing/2014/main" id="{3ACFC9E6-8361-9AD7-DBB4-40D394F6E3C3}"/>
              </a:ext>
            </a:extLst>
          </p:cNvPr>
          <p:cNvSpPr txBox="1"/>
          <p:nvPr/>
        </p:nvSpPr>
        <p:spPr>
          <a:xfrm>
            <a:off x="368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scheduled_at</a:t>
            </a:r>
          </a:p>
        </p:txBody>
      </p:sp>
      <p:sp>
        <p:nvSpPr>
          <p:cNvPr id="62" name="Rectangle 61">
            <a:extLst>
              <a:ext uri="{FF2B5EF4-FFF2-40B4-BE49-F238E27FC236}">
                <a16:creationId xmlns:a16="http://schemas.microsoft.com/office/drawing/2014/main" id="{9825DD06-9E6A-F942-C4BB-61F12ED5704C}"/>
              </a:ext>
            </a:extLst>
          </p:cNvPr>
          <p:cNvSpPr/>
          <p:nvPr/>
        </p:nvSpPr>
        <p:spPr>
          <a:xfrm>
            <a:off x="3238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A55BC2F-34BC-9E17-FE5A-F14E6AD68581}"/>
              </a:ext>
            </a:extLst>
          </p:cNvPr>
          <p:cNvSpPr/>
          <p:nvPr/>
        </p:nvSpPr>
        <p:spPr>
          <a:xfrm>
            <a:off x="3238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75CCB327-A0CE-BE13-0F5D-9BB7C9AC55C3}"/>
              </a:ext>
            </a:extLst>
          </p:cNvPr>
          <p:cNvSpPr txBox="1"/>
          <p:nvPr/>
        </p:nvSpPr>
        <p:spPr>
          <a:xfrm>
            <a:off x="3289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appointment_questions</a:t>
            </a:r>
          </a:p>
        </p:txBody>
      </p:sp>
      <p:sp>
        <p:nvSpPr>
          <p:cNvPr id="65" name="TextBox 64">
            <a:extLst>
              <a:ext uri="{FF2B5EF4-FFF2-40B4-BE49-F238E27FC236}">
                <a16:creationId xmlns:a16="http://schemas.microsoft.com/office/drawing/2014/main" id="{A01AF59C-8716-55E9-4901-55E09AB0BBB4}"/>
              </a:ext>
            </a:extLst>
          </p:cNvPr>
          <p:cNvSpPr txBox="1"/>
          <p:nvPr/>
        </p:nvSpPr>
        <p:spPr>
          <a:xfrm>
            <a:off x="3289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appointment_id FK</a:t>
            </a:r>
          </a:p>
        </p:txBody>
      </p:sp>
      <p:sp>
        <p:nvSpPr>
          <p:cNvPr id="66" name="Rectangle 65">
            <a:extLst>
              <a:ext uri="{FF2B5EF4-FFF2-40B4-BE49-F238E27FC236}">
                <a16:creationId xmlns:a16="http://schemas.microsoft.com/office/drawing/2014/main" id="{2C6387D2-8FBC-BF30-4FD7-966637CAF755}"/>
              </a:ext>
            </a:extLst>
          </p:cNvPr>
          <p:cNvSpPr/>
          <p:nvPr/>
        </p:nvSpPr>
        <p:spPr>
          <a:xfrm>
            <a:off x="6159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A6231070-98E7-C7EE-6720-0C78ECE85EC2}"/>
              </a:ext>
            </a:extLst>
          </p:cNvPr>
          <p:cNvSpPr/>
          <p:nvPr/>
        </p:nvSpPr>
        <p:spPr>
          <a:xfrm>
            <a:off x="6159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0673CB90-12CD-A79F-89DE-D75C2CE78540}"/>
              </a:ext>
            </a:extLst>
          </p:cNvPr>
          <p:cNvSpPr txBox="1"/>
          <p:nvPr/>
        </p:nvSpPr>
        <p:spPr>
          <a:xfrm>
            <a:off x="6210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task_details</a:t>
            </a:r>
          </a:p>
        </p:txBody>
      </p:sp>
      <p:sp>
        <p:nvSpPr>
          <p:cNvPr id="69" name="TextBox 68">
            <a:extLst>
              <a:ext uri="{FF2B5EF4-FFF2-40B4-BE49-F238E27FC236}">
                <a16:creationId xmlns:a16="http://schemas.microsoft.com/office/drawing/2014/main" id="{7384BDFE-77AE-6B57-1F3E-5FFDF19A7C69}"/>
              </a:ext>
            </a:extLst>
          </p:cNvPr>
          <p:cNvSpPr txBox="1"/>
          <p:nvPr/>
        </p:nvSpPr>
        <p:spPr>
          <a:xfrm>
            <a:off x="6210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title | is_shared</a:t>
            </a:r>
          </a:p>
        </p:txBody>
      </p:sp>
      <p:sp>
        <p:nvSpPr>
          <p:cNvPr id="70" name="TextBox 69">
            <a:extLst>
              <a:ext uri="{FF2B5EF4-FFF2-40B4-BE49-F238E27FC236}">
                <a16:creationId xmlns:a16="http://schemas.microsoft.com/office/drawing/2014/main" id="{2D50E585-2FB2-F08A-4BAB-FA2AF8083454}"/>
              </a:ext>
            </a:extLst>
          </p:cNvPr>
          <p:cNvSpPr txBox="1"/>
          <p:nvPr/>
        </p:nvSpPr>
        <p:spPr>
          <a:xfrm>
            <a:off x="508000" y="4495800"/>
            <a:ext cx="8128000" cy="381000"/>
          </a:xfrm>
          <a:prstGeom prst="rect">
            <a:avLst/>
          </a:prstGeom>
          <a:noFill/>
        </p:spPr>
        <p:txBody>
          <a:bodyPr vert="horz" wrap="square" lIns="25400" tIns="12700" rIns="25400" bIns="12700" rtlCol="0">
            <a:noAutofit/>
          </a:bodyPr>
          <a:lstStyle/>
          <a:p>
            <a:pPr algn="ctr"/>
            <a:r>
              <a:rPr lang="en-US" sz="800">
                <a:solidFill>
                  <a:srgbClr val="333333"/>
                </a:solidFill>
                <a:latin typeface="Times New Roman" panose="02020603050405020304" pitchFamily="18" charset="0"/>
              </a:rPr>
              <a:t>Relationships: users 1:N to user-owned records; pregnancy_profiles 1:1. appointment_questions reference appointments; care_tasks reference task_details.</a:t>
            </a:r>
          </a:p>
        </p:txBody>
      </p:sp>
    </p:spTree>
    <p:extLst>
      <p:ext uri="{BB962C8B-B14F-4D97-AF65-F5344CB8AC3E}">
        <p14:creationId xmlns:p14="http://schemas.microsoft.com/office/powerpoint/2010/main" val="1981563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6604000" cy="457200"/>
          </a:xfrm>
          <a:prstGeom prst="rect">
            <a:avLst/>
          </a:prstGeom>
        </p:spPr>
        <p:txBody>
          <a:bodyPr wrap="square">
            <a:noAutofit/>
          </a:bodyPr>
          <a:lstStyle/>
          <a:p>
            <a:r>
              <a:rPr lang="en-US" b="1">
                <a:latin typeface="Times New Roman" panose="02020603050405020304" pitchFamily="18" charset="0"/>
              </a:rPr>
              <a:t>UML Use-Case and Class Diagrams</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5BC517B-2277-BC78-21B1-CDD6AF62FDF7}"/>
              </a:ext>
            </a:extLst>
          </p:cNvPr>
          <p:cNvSpPr txBox="1"/>
          <p:nvPr/>
        </p:nvSpPr>
        <p:spPr>
          <a:xfrm>
            <a:off x="355600" y="787400"/>
            <a:ext cx="3746500" cy="369332"/>
          </a:xfrm>
          <a:prstGeom prst="rect">
            <a:avLst/>
          </a:prstGeom>
          <a:noFill/>
        </p:spPr>
        <p:txBody>
          <a:bodyPr vert="horz" wrap="square" lIns="25400" tIns="12700" rIns="25400" bIns="12700" rtlCol="0">
            <a:noAutofit/>
          </a:bodyPr>
          <a:lstStyle/>
          <a:p>
            <a:pPr algn="ctr"/>
            <a:r>
              <a:rPr lang="en-US" sz="1100" b="1">
                <a:solidFill>
                  <a:srgbClr val="173E79"/>
                </a:solidFill>
                <a:latin typeface="Times New Roman" panose="02020603050405020304" pitchFamily="18" charset="0"/>
              </a:rPr>
              <a:t>USE CASES</a:t>
            </a:r>
          </a:p>
        </p:txBody>
      </p:sp>
      <p:sp>
        <p:nvSpPr>
          <p:cNvPr id="4" name="TextBox 3">
            <a:extLst>
              <a:ext uri="{FF2B5EF4-FFF2-40B4-BE49-F238E27FC236}">
                <a16:creationId xmlns:a16="http://schemas.microsoft.com/office/drawing/2014/main" id="{08959434-493D-5273-BD57-4B5900D86FE5}"/>
              </a:ext>
            </a:extLst>
          </p:cNvPr>
          <p:cNvSpPr txBox="1"/>
          <p:nvPr/>
        </p:nvSpPr>
        <p:spPr>
          <a:xfrm>
            <a:off x="355600" y="1168400"/>
            <a:ext cx="952500" cy="369332"/>
          </a:xfrm>
          <a:prstGeom prst="rect">
            <a:avLst/>
          </a:prstGeom>
          <a:noFill/>
        </p:spPr>
        <p:txBody>
          <a:bodyPr vert="horz" wrap="square" lIns="25400" tIns="12700" rIns="25400" bIns="12700" rtlCol="0">
            <a:noAutofit/>
          </a:bodyPr>
          <a:lstStyle/>
          <a:p>
            <a:pPr algn="ctr"/>
            <a:r>
              <a:rPr lang="en-US" sz="1000" b="1">
                <a:solidFill>
                  <a:srgbClr val="222222"/>
                </a:solidFill>
                <a:latin typeface="Times New Roman" panose="02020603050405020304" pitchFamily="18" charset="0"/>
              </a:rPr>
              <a:t>USER</a:t>
            </a:r>
          </a:p>
        </p:txBody>
      </p:sp>
      <p:sp>
        <p:nvSpPr>
          <p:cNvPr id="6" name="Oval 5">
            <a:extLst>
              <a:ext uri="{FF2B5EF4-FFF2-40B4-BE49-F238E27FC236}">
                <a16:creationId xmlns:a16="http://schemas.microsoft.com/office/drawing/2014/main" id="{E22EEE5A-39D5-A360-BEA9-E4D0198BF287}"/>
              </a:ext>
            </a:extLst>
          </p:cNvPr>
          <p:cNvSpPr/>
          <p:nvPr/>
        </p:nvSpPr>
        <p:spPr>
          <a:xfrm>
            <a:off x="1574800" y="9398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FD12355-7090-E3A0-6AF6-1179D135B38E}"/>
              </a:ext>
            </a:extLst>
          </p:cNvPr>
          <p:cNvSpPr txBox="1"/>
          <p:nvPr/>
        </p:nvSpPr>
        <p:spPr>
          <a:xfrm>
            <a:off x="1651000" y="10287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Manage profile</a:t>
            </a:r>
          </a:p>
        </p:txBody>
      </p:sp>
      <p:cxnSp>
        <p:nvCxnSpPr>
          <p:cNvPr id="8" name="Straight Arrow Connector 7">
            <a:extLst>
              <a:ext uri="{FF2B5EF4-FFF2-40B4-BE49-F238E27FC236}">
                <a16:creationId xmlns:a16="http://schemas.microsoft.com/office/drawing/2014/main" id="{0D54BBF9-86C3-B26C-9576-7B40338FFFB4}"/>
              </a:ext>
            </a:extLst>
          </p:cNvPr>
          <p:cNvCxnSpPr/>
          <p:nvPr/>
        </p:nvCxnSpPr>
        <p:spPr>
          <a:xfrm>
            <a:off x="1270000" y="11684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93504FBF-305D-BC0D-5F48-96EA45DAE5CE}"/>
              </a:ext>
            </a:extLst>
          </p:cNvPr>
          <p:cNvSpPr/>
          <p:nvPr/>
        </p:nvSpPr>
        <p:spPr>
          <a:xfrm>
            <a:off x="1574800" y="16256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E11306A-60F4-6B6B-C677-5D24C482FF07}"/>
              </a:ext>
            </a:extLst>
          </p:cNvPr>
          <p:cNvSpPr txBox="1"/>
          <p:nvPr/>
        </p:nvSpPr>
        <p:spPr>
          <a:xfrm>
            <a:off x="1651000" y="17145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Track daily care</a:t>
            </a:r>
          </a:p>
        </p:txBody>
      </p:sp>
      <p:cxnSp>
        <p:nvCxnSpPr>
          <p:cNvPr id="11" name="Straight Arrow Connector 10">
            <a:extLst>
              <a:ext uri="{FF2B5EF4-FFF2-40B4-BE49-F238E27FC236}">
                <a16:creationId xmlns:a16="http://schemas.microsoft.com/office/drawing/2014/main" id="{573C09C2-121F-AA41-7F58-53D92BB5DF50}"/>
              </a:ext>
            </a:extLst>
          </p:cNvPr>
          <p:cNvCxnSpPr/>
          <p:nvPr/>
        </p:nvCxnSpPr>
        <p:spPr>
          <a:xfrm>
            <a:off x="1270000" y="18542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EB6DA761-6667-2EAA-06CF-79FBC8A53094}"/>
              </a:ext>
            </a:extLst>
          </p:cNvPr>
          <p:cNvSpPr/>
          <p:nvPr/>
        </p:nvSpPr>
        <p:spPr>
          <a:xfrm>
            <a:off x="1574800" y="23114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1516499-49D8-0A4A-04DD-55B8216120A0}"/>
              </a:ext>
            </a:extLst>
          </p:cNvPr>
          <p:cNvSpPr txBox="1"/>
          <p:nvPr/>
        </p:nvSpPr>
        <p:spPr>
          <a:xfrm>
            <a:off x="1651000" y="24003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Manage appointments</a:t>
            </a:r>
          </a:p>
        </p:txBody>
      </p:sp>
      <p:cxnSp>
        <p:nvCxnSpPr>
          <p:cNvPr id="14" name="Straight Arrow Connector 13">
            <a:extLst>
              <a:ext uri="{FF2B5EF4-FFF2-40B4-BE49-F238E27FC236}">
                <a16:creationId xmlns:a16="http://schemas.microsoft.com/office/drawing/2014/main" id="{79A7E6CE-2D56-3023-FAAC-E05C7AE40544}"/>
              </a:ext>
            </a:extLst>
          </p:cNvPr>
          <p:cNvCxnSpPr/>
          <p:nvPr/>
        </p:nvCxnSpPr>
        <p:spPr>
          <a:xfrm>
            <a:off x="1270000" y="25400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065689A-5234-86B2-EFB9-6A947DD8D204}"/>
              </a:ext>
            </a:extLst>
          </p:cNvPr>
          <p:cNvSpPr/>
          <p:nvPr/>
        </p:nvSpPr>
        <p:spPr>
          <a:xfrm>
            <a:off x="1574800" y="29972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E0E8081-D10C-E217-BD0C-8BFA7A509CC3}"/>
              </a:ext>
            </a:extLst>
          </p:cNvPr>
          <p:cNvSpPr txBox="1"/>
          <p:nvPr/>
        </p:nvSpPr>
        <p:spPr>
          <a:xfrm>
            <a:off x="1651000" y="30861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Journal and review</a:t>
            </a:r>
          </a:p>
        </p:txBody>
      </p:sp>
      <p:cxnSp>
        <p:nvCxnSpPr>
          <p:cNvPr id="17" name="Straight Arrow Connector 16">
            <a:extLst>
              <a:ext uri="{FF2B5EF4-FFF2-40B4-BE49-F238E27FC236}">
                <a16:creationId xmlns:a16="http://schemas.microsoft.com/office/drawing/2014/main" id="{F93193FA-5B26-556F-5CBE-7A7F3EED0618}"/>
              </a:ext>
            </a:extLst>
          </p:cNvPr>
          <p:cNvCxnSpPr/>
          <p:nvPr/>
        </p:nvCxnSpPr>
        <p:spPr>
          <a:xfrm>
            <a:off x="1270000" y="32258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4DA15D35-FC14-CECB-2364-DA30BD406E4E}"/>
              </a:ext>
            </a:extLst>
          </p:cNvPr>
          <p:cNvSpPr/>
          <p:nvPr/>
        </p:nvSpPr>
        <p:spPr>
          <a:xfrm>
            <a:off x="1574800" y="36830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06DB160-6915-F545-0F5C-FC0AF115E580}"/>
              </a:ext>
            </a:extLst>
          </p:cNvPr>
          <p:cNvSpPr txBox="1"/>
          <p:nvPr/>
        </p:nvSpPr>
        <p:spPr>
          <a:xfrm>
            <a:off x="1651000" y="37719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Prepare reports</a:t>
            </a:r>
          </a:p>
        </p:txBody>
      </p:sp>
      <p:cxnSp>
        <p:nvCxnSpPr>
          <p:cNvPr id="20" name="Straight Arrow Connector 19">
            <a:extLst>
              <a:ext uri="{FF2B5EF4-FFF2-40B4-BE49-F238E27FC236}">
                <a16:creationId xmlns:a16="http://schemas.microsoft.com/office/drawing/2014/main" id="{7599E67D-7FC8-AA56-B741-FB5B4F80AB33}"/>
              </a:ext>
            </a:extLst>
          </p:cNvPr>
          <p:cNvCxnSpPr/>
          <p:nvPr/>
        </p:nvCxnSpPr>
        <p:spPr>
          <a:xfrm>
            <a:off x="1270000" y="39116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7E59CEA-8ECE-A463-1FBF-AE34F44AFC51}"/>
              </a:ext>
            </a:extLst>
          </p:cNvPr>
          <p:cNvSpPr txBox="1"/>
          <p:nvPr/>
        </p:nvSpPr>
        <p:spPr>
          <a:xfrm>
            <a:off x="4495800" y="787400"/>
            <a:ext cx="4191000" cy="369332"/>
          </a:xfrm>
          <a:prstGeom prst="rect">
            <a:avLst/>
          </a:prstGeom>
          <a:noFill/>
        </p:spPr>
        <p:txBody>
          <a:bodyPr vert="horz" wrap="square" lIns="25400" tIns="12700" rIns="25400" bIns="12700" rtlCol="0">
            <a:noAutofit/>
          </a:bodyPr>
          <a:lstStyle/>
          <a:p>
            <a:pPr algn="ctr"/>
            <a:r>
              <a:rPr lang="en-US" sz="1100" b="1">
                <a:solidFill>
                  <a:srgbClr val="173E79"/>
                </a:solidFill>
                <a:latin typeface="Times New Roman" panose="02020603050405020304" pitchFamily="18" charset="0"/>
              </a:rPr>
              <a:t>CORE CLASSES</a:t>
            </a:r>
          </a:p>
        </p:txBody>
      </p:sp>
      <p:sp>
        <p:nvSpPr>
          <p:cNvPr id="22" name="Rectangle 21">
            <a:extLst>
              <a:ext uri="{FF2B5EF4-FFF2-40B4-BE49-F238E27FC236}">
                <a16:creationId xmlns:a16="http://schemas.microsoft.com/office/drawing/2014/main" id="{CD5EBF6C-2D01-EA12-47FD-0884590F2148}"/>
              </a:ext>
            </a:extLst>
          </p:cNvPr>
          <p:cNvSpPr/>
          <p:nvPr/>
        </p:nvSpPr>
        <p:spPr>
          <a:xfrm>
            <a:off x="4495800" y="1155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174A495-EB40-8690-AB47-C67EC30E73E5}"/>
              </a:ext>
            </a:extLst>
          </p:cNvPr>
          <p:cNvSpPr txBox="1"/>
          <p:nvPr/>
        </p:nvSpPr>
        <p:spPr>
          <a:xfrm>
            <a:off x="4584700" y="1219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User</a:t>
            </a:r>
          </a:p>
        </p:txBody>
      </p:sp>
      <p:sp>
        <p:nvSpPr>
          <p:cNvPr id="24" name="TextBox 23">
            <a:extLst>
              <a:ext uri="{FF2B5EF4-FFF2-40B4-BE49-F238E27FC236}">
                <a16:creationId xmlns:a16="http://schemas.microsoft.com/office/drawing/2014/main" id="{B4EBB91A-1B16-63C1-BC8B-68AEC12B4F27}"/>
              </a:ext>
            </a:extLst>
          </p:cNvPr>
          <p:cNvSpPr txBox="1"/>
          <p:nvPr/>
        </p:nvSpPr>
        <p:spPr>
          <a:xfrm>
            <a:off x="4584700" y="1435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 email | timezone</a:t>
            </a:r>
          </a:p>
        </p:txBody>
      </p:sp>
      <p:sp>
        <p:nvSpPr>
          <p:cNvPr id="25" name="Rectangle 24">
            <a:extLst>
              <a:ext uri="{FF2B5EF4-FFF2-40B4-BE49-F238E27FC236}">
                <a16:creationId xmlns:a16="http://schemas.microsoft.com/office/drawing/2014/main" id="{606166E5-1A5D-F3AF-0A5D-C1853B404613}"/>
              </a:ext>
            </a:extLst>
          </p:cNvPr>
          <p:cNvSpPr/>
          <p:nvPr/>
        </p:nvSpPr>
        <p:spPr>
          <a:xfrm>
            <a:off x="4495800" y="1917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2456875-6D5E-B680-68C0-A812FC41C369}"/>
              </a:ext>
            </a:extLst>
          </p:cNvPr>
          <p:cNvSpPr txBox="1"/>
          <p:nvPr/>
        </p:nvSpPr>
        <p:spPr>
          <a:xfrm>
            <a:off x="4584700" y="1981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Appointment</a:t>
            </a:r>
          </a:p>
        </p:txBody>
      </p:sp>
      <p:sp>
        <p:nvSpPr>
          <p:cNvPr id="27" name="TextBox 26">
            <a:extLst>
              <a:ext uri="{FF2B5EF4-FFF2-40B4-BE49-F238E27FC236}">
                <a16:creationId xmlns:a16="http://schemas.microsoft.com/office/drawing/2014/main" id="{EB4D51AF-06B9-E718-21A3-38DF01C3B051}"/>
              </a:ext>
            </a:extLst>
          </p:cNvPr>
          <p:cNvSpPr txBox="1"/>
          <p:nvPr/>
        </p:nvSpPr>
        <p:spPr>
          <a:xfrm>
            <a:off x="4584700" y="2197100"/>
            <a:ext cx="3886200" cy="369332"/>
          </a:xfrm>
          <a:prstGeom prst="rect">
            <a:avLst/>
          </a:prstGeom>
          <a:noFill/>
        </p:spPr>
        <p:txBody>
          <a:bodyPr vert="horz" wrap="square" lIns="25400" tIns="12700" rIns="25400" bIns="12700" rtlCol="0">
            <a:noAutofit/>
          </a:bodyPr>
          <a:lstStyle/>
          <a:p>
            <a:r>
              <a:rPr lang="da-DK" sz="700">
                <a:solidFill>
                  <a:srgbClr val="222222"/>
                </a:solidFill>
                <a:latin typeface="Times New Roman" panose="02020603050405020304" pitchFamily="18" charset="0"/>
              </a:rPr>
              <a:t>user_id | starts_at | reminder</a:t>
            </a:r>
            <a:endParaRPr lang="en-US" sz="700">
              <a:solidFill>
                <a:srgbClr val="222222"/>
              </a:solidFill>
              <a:latin typeface="Times New Roman" panose="02020603050405020304" pitchFamily="18" charset="0"/>
            </a:endParaRPr>
          </a:p>
        </p:txBody>
      </p:sp>
      <p:sp>
        <p:nvSpPr>
          <p:cNvPr id="28" name="Rectangle 27">
            <a:extLst>
              <a:ext uri="{FF2B5EF4-FFF2-40B4-BE49-F238E27FC236}">
                <a16:creationId xmlns:a16="http://schemas.microsoft.com/office/drawing/2014/main" id="{01768980-B0D3-41D9-506D-7D0167185509}"/>
              </a:ext>
            </a:extLst>
          </p:cNvPr>
          <p:cNvSpPr/>
          <p:nvPr/>
        </p:nvSpPr>
        <p:spPr>
          <a:xfrm>
            <a:off x="4495800" y="2679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33F2E59-CCBE-6319-5266-288F5F365476}"/>
              </a:ext>
            </a:extLst>
          </p:cNvPr>
          <p:cNvSpPr txBox="1"/>
          <p:nvPr/>
        </p:nvSpPr>
        <p:spPr>
          <a:xfrm>
            <a:off x="4584700" y="2743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CareTask</a:t>
            </a:r>
          </a:p>
        </p:txBody>
      </p:sp>
      <p:sp>
        <p:nvSpPr>
          <p:cNvPr id="30" name="TextBox 29">
            <a:extLst>
              <a:ext uri="{FF2B5EF4-FFF2-40B4-BE49-F238E27FC236}">
                <a16:creationId xmlns:a16="http://schemas.microsoft.com/office/drawing/2014/main" id="{8CF34577-B478-325A-3099-94CFF14B52E7}"/>
              </a:ext>
            </a:extLst>
          </p:cNvPr>
          <p:cNvSpPr txBox="1"/>
          <p:nvPr/>
        </p:nvSpPr>
        <p:spPr>
          <a:xfrm>
            <a:off x="4584700" y="2959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date | completed</a:t>
            </a:r>
          </a:p>
        </p:txBody>
      </p:sp>
      <p:sp>
        <p:nvSpPr>
          <p:cNvPr id="31" name="Rectangle 30">
            <a:extLst>
              <a:ext uri="{FF2B5EF4-FFF2-40B4-BE49-F238E27FC236}">
                <a16:creationId xmlns:a16="http://schemas.microsoft.com/office/drawing/2014/main" id="{49089219-CD9E-57A2-3FFB-5BB4ED871C9C}"/>
              </a:ext>
            </a:extLst>
          </p:cNvPr>
          <p:cNvSpPr/>
          <p:nvPr/>
        </p:nvSpPr>
        <p:spPr>
          <a:xfrm>
            <a:off x="4495800" y="3441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A5E6ADB-77D6-EC61-D957-32DCA79EED7C}"/>
              </a:ext>
            </a:extLst>
          </p:cNvPr>
          <p:cNvSpPr txBox="1"/>
          <p:nvPr/>
        </p:nvSpPr>
        <p:spPr>
          <a:xfrm>
            <a:off x="4584700" y="3505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SymptomEntry</a:t>
            </a:r>
          </a:p>
        </p:txBody>
      </p:sp>
      <p:sp>
        <p:nvSpPr>
          <p:cNvPr id="33" name="TextBox 32">
            <a:extLst>
              <a:ext uri="{FF2B5EF4-FFF2-40B4-BE49-F238E27FC236}">
                <a16:creationId xmlns:a16="http://schemas.microsoft.com/office/drawing/2014/main" id="{65FA8E9F-7CB2-A6FF-1BB1-951BFEC0DE9E}"/>
              </a:ext>
            </a:extLst>
          </p:cNvPr>
          <p:cNvSpPr txBox="1"/>
          <p:nvPr/>
        </p:nvSpPr>
        <p:spPr>
          <a:xfrm>
            <a:off x="4584700" y="3721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symptom | severity</a:t>
            </a:r>
          </a:p>
        </p:txBody>
      </p:sp>
      <p:sp>
        <p:nvSpPr>
          <p:cNvPr id="34" name="Rectangle 33">
            <a:extLst>
              <a:ext uri="{FF2B5EF4-FFF2-40B4-BE49-F238E27FC236}">
                <a16:creationId xmlns:a16="http://schemas.microsoft.com/office/drawing/2014/main" id="{D06A7F8A-DBF9-C66B-6AC8-813FA45C6BEB}"/>
              </a:ext>
            </a:extLst>
          </p:cNvPr>
          <p:cNvSpPr/>
          <p:nvPr/>
        </p:nvSpPr>
        <p:spPr>
          <a:xfrm>
            <a:off x="4495800" y="4203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8C0BA379-88E6-6C64-7992-77C7237F451E}"/>
              </a:ext>
            </a:extLst>
          </p:cNvPr>
          <p:cNvSpPr txBox="1"/>
          <p:nvPr/>
        </p:nvSpPr>
        <p:spPr>
          <a:xfrm>
            <a:off x="4584700" y="4267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PushReminder</a:t>
            </a:r>
          </a:p>
        </p:txBody>
      </p:sp>
      <p:sp>
        <p:nvSpPr>
          <p:cNvPr id="36" name="TextBox 35">
            <a:extLst>
              <a:ext uri="{FF2B5EF4-FFF2-40B4-BE49-F238E27FC236}">
                <a16:creationId xmlns:a16="http://schemas.microsoft.com/office/drawing/2014/main" id="{08907A23-5B6F-B9EE-EE41-83D20D88EE80}"/>
              </a:ext>
            </a:extLst>
          </p:cNvPr>
          <p:cNvSpPr txBox="1"/>
          <p:nvPr/>
        </p:nvSpPr>
        <p:spPr>
          <a:xfrm>
            <a:off x="4584700" y="4483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scheduled_at | status</a:t>
            </a:r>
          </a:p>
        </p:txBody>
      </p:sp>
    </p:spTree>
    <p:extLst>
      <p:ext uri="{BB962C8B-B14F-4D97-AF65-F5344CB8AC3E}">
        <p14:creationId xmlns:p14="http://schemas.microsoft.com/office/powerpoint/2010/main" val="3854976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C078B2-2193-4225-B51A-BF4658177DC5}"/>
              </a:ext>
            </a:extLst>
          </p:cNvPr>
          <p:cNvSpPr/>
          <p:nvPr/>
        </p:nvSpPr>
        <p:spPr>
          <a:xfrm>
            <a:off x="304800" y="209550"/>
            <a:ext cx="8255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Hardware and Software Requirements</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74FF4FF-CC6A-45CF-9635-81F4BB07693B}"/>
              </a:ext>
            </a:extLst>
          </p:cNvPr>
          <p:cNvSpPr/>
          <p:nvPr/>
        </p:nvSpPr>
        <p:spPr>
          <a:xfrm>
            <a:off x="533400" y="590550"/>
            <a:ext cx="6889054" cy="2951064"/>
          </a:xfrm>
          <a:prstGeom prst="rect">
            <a:avLst/>
          </a:prstGeom>
        </p:spPr>
        <p:txBody>
          <a:bodyPr wrap="square">
            <a:noAutofit/>
          </a:bodyPr>
          <a:lstStyle/>
          <a:p>
            <a:pPr>
              <a:lnSpc>
                <a:spcPct val="150000"/>
              </a:lnSpc>
            </a:pPr>
            <a:r>
              <a:rPr lang="en-US" sz="1300">
                <a:latin typeface="Times New Roman" panose="02020603050405020304" pitchFamily="18" charset="0"/>
                <a:cs typeface="Times New Roman" panose="02020603050405020304" pitchFamily="18" charset="0"/>
              </a:rPr>
              <a:t>HARDWARE (DEVELOPMENT RECOMMENDATION)</a:t>
            </a:r>
          </a:p>
          <a:p>
            <a:pPr>
              <a:lnSpc>
                <a:spcPct val="150000"/>
              </a:lnSpc>
            </a:pPr>
            <a:r>
              <a:rPr lang="en-US" sz="1300">
                <a:latin typeface="Times New Roman" panose="02020603050405020304" pitchFamily="18" charset="0"/>
                <a:cs typeface="Times New Roman" panose="02020603050405020304" pitchFamily="18" charset="0"/>
              </a:rPr>
              <a:t>PROCESSOR: Dual-core or better</a:t>
            </a:r>
          </a:p>
          <a:p>
            <a:pPr>
              <a:lnSpc>
                <a:spcPct val="150000"/>
              </a:lnSpc>
            </a:pPr>
            <a:r>
              <a:rPr lang="en-US" sz="1300">
                <a:latin typeface="Times New Roman" panose="02020603050405020304" pitchFamily="18" charset="0"/>
                <a:cs typeface="Times New Roman" panose="02020603050405020304" pitchFamily="18" charset="0"/>
              </a:rPr>
              <a:t>RAM: 8 GB minimum; 16 GB recommended</a:t>
            </a:r>
          </a:p>
          <a:p>
            <a:pPr>
              <a:lnSpc>
                <a:spcPct val="150000"/>
              </a:lnSpc>
            </a:pPr>
            <a:r>
              <a:rPr lang="en-US" sz="1300">
                <a:latin typeface="Times New Roman" panose="02020603050405020304" pitchFamily="18" charset="0"/>
                <a:cs typeface="Times New Roman" panose="02020603050405020304" pitchFamily="18" charset="0"/>
              </a:rPr>
              <a:t>STORAGE: 10 GB available</a:t>
            </a:r>
          </a:p>
          <a:p>
            <a:pPr>
              <a:lnSpc>
                <a:spcPct val="150000"/>
              </a:lnSpc>
            </a:pPr>
            <a:r>
              <a:rPr lang="en-US" sz="1300">
                <a:latin typeface="Times New Roman" panose="02020603050405020304" pitchFamily="18" charset="0"/>
                <a:cs typeface="Times New Roman" panose="02020603050405020304" pitchFamily="18" charset="0"/>
              </a:rPr>
              <a:t>DISPLAY: 1366 x 768 or greater</a:t>
            </a:r>
          </a:p>
          <a:p>
            <a:pPr>
              <a:lnSpc>
                <a:spcPct val="150000"/>
              </a:lnSpc>
            </a:pPr>
            <a:r>
              <a:rPr lang="en-US" sz="1300">
                <a:latin typeface="Times New Roman" panose="02020603050405020304" pitchFamily="18" charset="0"/>
                <a:cs typeface="Times New Roman" panose="02020603050405020304" pitchFamily="18" charset="0"/>
              </a:rPr>
              <a:t>NETWORK: Internet for package installation and backend testing</a:t>
            </a:r>
            <a:endParaRPr lang="en-US" sz="13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D9198E9-4EE1-4EF1-803D-681FDEAC73A6}"/>
              </a:ext>
            </a:extLst>
          </p:cNvPr>
          <p:cNvSpPr/>
          <p:nvPr/>
        </p:nvSpPr>
        <p:spPr>
          <a:xfrm>
            <a:off x="546652" y="3486150"/>
            <a:ext cx="7162800" cy="1571584"/>
          </a:xfrm>
          <a:prstGeom prst="rect">
            <a:avLst/>
          </a:prstGeom>
        </p:spPr>
        <p:txBody>
          <a:bodyPr wrap="square">
            <a:noAutofit/>
          </a:bodyPr>
          <a:lstStyle/>
          <a:p>
            <a:pPr>
              <a:lnSpc>
                <a:spcPct val="150000"/>
              </a:lnSpc>
            </a:pPr>
            <a:r>
              <a:rPr lang="en-US" sz="1400">
                <a:latin typeface="Times New Roman" panose="02020603050405020304" pitchFamily="18" charset="0"/>
                <a:cs typeface="Times New Roman" panose="02020603050405020304" pitchFamily="18" charset="0"/>
              </a:rPr>
              <a:t>SOFTWARE REQUIREMENTS</a:t>
            </a:r>
          </a:p>
          <a:p>
            <a:pPr>
              <a:lnSpc>
                <a:spcPct val="150000"/>
              </a:lnSpc>
            </a:pPr>
            <a:r>
              <a:rPr lang="en-US" sz="1400">
                <a:latin typeface="Times New Roman" panose="02020603050405020304" pitchFamily="18" charset="0"/>
                <a:cs typeface="Times New Roman" panose="02020603050405020304" pitchFamily="18" charset="0"/>
              </a:rPr>
              <a:t>OPERATING SYSTEM: Windows 10/11 or Linux</a:t>
            </a:r>
          </a:p>
          <a:p>
            <a:pPr>
              <a:lnSpc>
                <a:spcPct val="150000"/>
              </a:lnSpc>
            </a:pPr>
            <a:r>
              <a:rPr lang="en-US" sz="1400">
                <a:latin typeface="Times New Roman" panose="02020603050405020304" pitchFamily="18" charset="0"/>
                <a:cs typeface="Times New Roman" panose="02020603050405020304" pitchFamily="18" charset="0"/>
              </a:rPr>
              <a:t>FRONT END: React, TypeScript, Vite</a:t>
            </a:r>
          </a:p>
          <a:p>
            <a:pPr>
              <a:lnSpc>
                <a:spcPct val="150000"/>
              </a:lnSpc>
            </a:pPr>
            <a:r>
              <a:rPr lang="en-US" sz="1400">
                <a:latin typeface="Times New Roman" panose="02020603050405020304" pitchFamily="18" charset="0"/>
                <a:cs typeface="Times New Roman" panose="02020603050405020304" pitchFamily="18" charset="0"/>
              </a:rPr>
              <a:t>BACK END: Java 25, Spring Boot 3.5.5, Maven</a:t>
            </a:r>
          </a:p>
          <a:p>
            <a:pPr>
              <a:lnSpc>
                <a:spcPct val="150000"/>
              </a:lnSpc>
            </a:pPr>
            <a:r>
              <a:rPr lang="en-US" sz="1400">
                <a:latin typeface="Times New Roman" panose="02020603050405020304" pitchFamily="18" charset="0"/>
                <a:cs typeface="Times New Roman" panose="02020603050405020304" pitchFamily="18" charset="0"/>
              </a:rPr>
              <a:t>DATABASE: MySQL local; PostgreSQL configuration; H2 tests</a:t>
            </a:r>
          </a:p>
          <a:p>
            <a:pPr>
              <a:lnSpc>
                <a:spcPct val="150000"/>
              </a:lnSpc>
            </a:pPr>
            <a:r>
              <a:rPr lang="en-US" sz="1400">
                <a:latin typeface="Times New Roman" panose="02020603050405020304" pitchFamily="18" charset="0"/>
                <a:cs typeface="Times New Roman" panose="02020603050405020304" pitchFamily="18" charset="0"/>
              </a:rPr>
              <a:t>TOOLS: Node.js/npm, Git, modern browser</a:t>
            </a:r>
          </a:p>
          <a:p>
            <a:pPr>
              <a:lnSpc>
                <a:spcPct val="150000"/>
              </a:lnSpc>
            </a:pPr>
            <a:r>
              <a:rPr lang="en-US" sz="1400">
                <a:latin typeface="Times New Roman" panose="02020603050405020304" pitchFamily="18" charset="0"/>
                <a:cs typeface="Times New Roman" panose="02020603050405020304" pitchFamily="18" charset="0"/>
              </a:rPr>
              <a:t>OPTIONAL: Ollama; VAPID configuration for Web Push</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8393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72B7ED-C78F-40F9-946B-24B47A43DB26}"/>
              </a:ext>
            </a:extLst>
          </p:cNvPr>
          <p:cNvSpPr/>
          <p:nvPr/>
        </p:nvSpPr>
        <p:spPr>
          <a:xfrm>
            <a:off x="304799" y="209550"/>
            <a:ext cx="6350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Module Name</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B50DC80-934D-41AD-9AD4-1E3649CE8552}"/>
              </a:ext>
            </a:extLst>
          </p:cNvPr>
          <p:cNvSpPr/>
          <p:nvPr/>
        </p:nvSpPr>
        <p:spPr>
          <a:xfrm>
            <a:off x="457200" y="971550"/>
            <a:ext cx="5410200" cy="2535566"/>
          </a:xfrm>
          <a:prstGeom prst="rect">
            <a:avLst/>
          </a:prstGeom>
        </p:spPr>
        <p:txBody>
          <a:bodyPr wrap="square">
            <a:noAutofit/>
          </a:bodyPr>
          <a:lstStyle/>
          <a:p>
            <a:pPr indent="457200">
              <a:lnSpc>
                <a:spcPct val="150000"/>
              </a:lnSpc>
              <a:spcAft>
                <a:spcPts val="0"/>
              </a:spcAft>
            </a:pPr>
            <a:r>
              <a:rPr lang="en-US" sz="1400">
                <a:latin typeface="Times New Roman" panose="02020603050405020304" pitchFamily="18" charset="0"/>
                <a:ea typeface="Times New Roman" panose="02020603050405020304" pitchFamily="18" charset="0"/>
              </a:rPr>
              <a:t>Implemented modules include:</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1) Authentication and pregnancy profile</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2) Pregnancy progress and milestones</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3) Daily care and Gentle Day Planner</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4) Appointment and visit-question management</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5) Private symptom journal</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6) Guides and resource library</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7) Reports and secure sharing</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8) Emergency contacts</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9) Reminder preferences and Web Push</a:t>
            </a:r>
            <a:endParaRPr lang="en-IN" sz="1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83566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2F6DF4-26B5-40DF-A90E-FA2136BD1555}"/>
              </a:ext>
            </a:extLst>
          </p:cNvPr>
          <p:cNvSpPr/>
          <p:nvPr/>
        </p:nvSpPr>
        <p:spPr>
          <a:xfrm>
            <a:off x="304799" y="209550"/>
            <a:ext cx="8255000" cy="457200"/>
          </a:xfrm>
          <a:prstGeom prst="rect">
            <a:avLst/>
          </a:prstGeom>
        </p:spPr>
        <p:txBody>
          <a:bodyPr wrap="square">
            <a:noAutofit/>
          </a:bodyPr>
          <a:lstStyle/>
          <a:p>
            <a:pPr marL="342900" indent="-342900">
              <a:tabLst>
                <a:tab pos="457200" algn="l"/>
              </a:tabLst>
            </a:pPr>
            <a:r>
              <a:rPr lang="en-US" sz="17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Daily Care and Gentle Day Planner</a:t>
            </a:r>
            <a:endParaRPr lang="en-IN" sz="17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08EE021-2ACA-4584-B165-B9649AE5E798}"/>
              </a:ext>
            </a:extLst>
          </p:cNvPr>
          <p:cNvSpPr txBox="1"/>
          <p:nvPr/>
        </p:nvSpPr>
        <p:spPr>
          <a:xfrm>
            <a:off x="381000" y="590550"/>
            <a:ext cx="7543800" cy="1800493"/>
          </a:xfrm>
          <a:prstGeom prst="rect">
            <a:avLst/>
          </a:prstGeom>
          <a:noFill/>
        </p:spPr>
        <p:txBody>
          <a:bodyPr wrap="square" rtlCol="0">
            <a:noAutofit/>
          </a:bodyPr>
          <a:lstStyle/>
          <a:p>
            <a:pPr>
              <a:lnSpc>
                <a:spcPct val="150000"/>
              </a:lnSpc>
            </a:pPr>
            <a:r>
              <a:rPr lang="en-US" sz="1300">
                <a:latin typeface="Times New Roman" panose="02020603050405020304" pitchFamily="18" charset="0"/>
                <a:cs typeface="Times New Roman" panose="02020603050405020304" pitchFamily="18" charset="0"/>
              </a:rPr>
              <a:t>The daily care module tracks user-selected routines, including hydration, vitamins, activity, sleep, and mood. The Gentle Day Planner lets a user choose an energy level and a manageable focus list. Completion updates are saved to the account.</a:t>
            </a:r>
          </a:p>
          <a:p>
            <a:pPr>
              <a:lnSpc>
                <a:spcPct val="150000"/>
              </a:lnSpc>
            </a:pPr>
            <a:endParaRPr lang="en-US" sz="1300">
              <a:latin typeface="Times New Roman" panose="02020603050405020304" pitchFamily="18" charset="0"/>
              <a:cs typeface="Times New Roman" panose="02020603050405020304" pitchFamily="18" charset="0"/>
            </a:endParaRPr>
          </a:p>
          <a:p>
            <a:pPr>
              <a:lnSpc>
                <a:spcPct val="150000"/>
              </a:lnSpc>
            </a:pPr>
            <a:r>
              <a:rPr lang="en-US" sz="1300">
                <a:latin typeface="Times New Roman" panose="02020603050405020304" pitchFamily="18" charset="0"/>
                <a:cs typeface="Times New Roman" panose="02020603050405020304" pitchFamily="18" charset="0"/>
              </a:rPr>
              <a:t>This module supports organization only; it does not prescribe a care plan.</a:t>
            </a:r>
            <a:endParaRPr lang="en-US" sz="13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2D65E393-E805-D2AC-B825-1F9B694FF750}"/>
              </a:ext>
            </a:extLst>
          </p:cNvPr>
          <p:cNvSpPr/>
          <p:nvPr/>
        </p:nvSpPr>
        <p:spPr>
          <a:xfrm>
            <a:off x="1498600" y="2451100"/>
            <a:ext cx="6286500" cy="22606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E4B85DA-2F47-2BB1-85B7-779CDF868830}"/>
              </a:ext>
            </a:extLst>
          </p:cNvPr>
          <p:cNvSpPr/>
          <p:nvPr/>
        </p:nvSpPr>
        <p:spPr>
          <a:xfrm>
            <a:off x="1600200" y="2552700"/>
            <a:ext cx="60833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B043745-57BF-708E-51B5-DF8109B46F43}"/>
              </a:ext>
            </a:extLst>
          </p:cNvPr>
          <p:cNvSpPr txBox="1"/>
          <p:nvPr/>
        </p:nvSpPr>
        <p:spPr>
          <a:xfrm>
            <a:off x="1689100" y="2578100"/>
            <a:ext cx="59055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Daily Care</a:t>
            </a:r>
          </a:p>
        </p:txBody>
      </p:sp>
      <p:sp>
        <p:nvSpPr>
          <p:cNvPr id="8" name="TextBox 7">
            <a:extLst>
              <a:ext uri="{FF2B5EF4-FFF2-40B4-BE49-F238E27FC236}">
                <a16:creationId xmlns:a16="http://schemas.microsoft.com/office/drawing/2014/main" id="{D9772027-3969-84B9-CE94-BDEA00152DF8}"/>
              </a:ext>
            </a:extLst>
          </p:cNvPr>
          <p:cNvSpPr txBox="1"/>
          <p:nvPr/>
        </p:nvSpPr>
        <p:spPr>
          <a:xfrm>
            <a:off x="1701800" y="2946400"/>
            <a:ext cx="5880100" cy="369332"/>
          </a:xfrm>
          <a:prstGeom prst="rect">
            <a:avLst/>
          </a:prstGeom>
          <a:noFill/>
        </p:spPr>
        <p:txBody>
          <a:bodyPr vert="horz" wrap="square" lIns="25400" tIns="12700" rIns="25400" bIns="12700" rtlCol="0">
            <a:noAutofit/>
          </a:bodyPr>
          <a:lstStyle/>
          <a:p>
            <a:r>
              <a:rPr lang="en-US" sz="1100" b="1">
                <a:solidFill>
                  <a:srgbClr val="173E79"/>
                </a:solidFill>
                <a:latin typeface="Times New Roman" panose="02020603050405020304" pitchFamily="18" charset="0"/>
              </a:rPr>
              <a:t>Pregnancy journey  |  Week 32</a:t>
            </a:r>
          </a:p>
        </p:txBody>
      </p:sp>
      <p:sp>
        <p:nvSpPr>
          <p:cNvPr id="9" name="Rectangle 8">
            <a:extLst>
              <a:ext uri="{FF2B5EF4-FFF2-40B4-BE49-F238E27FC236}">
                <a16:creationId xmlns:a16="http://schemas.microsoft.com/office/drawing/2014/main" id="{D5E7868A-89D9-0BA7-CEA7-95C9D0FA5982}"/>
              </a:ext>
            </a:extLst>
          </p:cNvPr>
          <p:cNvSpPr/>
          <p:nvPr/>
        </p:nvSpPr>
        <p:spPr>
          <a:xfrm>
            <a:off x="1701800" y="3314700"/>
            <a:ext cx="5880100" cy="127000"/>
          </a:xfrm>
          <a:prstGeom prst="rect">
            <a:avLst/>
          </a:prstGeom>
          <a:solidFill>
            <a:srgbClr val="DCE6F3"/>
          </a:solidFill>
          <a:ln w="12700">
            <a:solidFill>
              <a:srgbClr val="DCE6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B7F7A10-B139-5747-9567-27457D0F9DDD}"/>
              </a:ext>
            </a:extLst>
          </p:cNvPr>
          <p:cNvSpPr/>
          <p:nvPr/>
        </p:nvSpPr>
        <p:spPr>
          <a:xfrm>
            <a:off x="1701800" y="3314700"/>
            <a:ext cx="4704080" cy="127000"/>
          </a:xfrm>
          <a:prstGeom prst="rect">
            <a:avLst/>
          </a:prstGeom>
          <a:solidFill>
            <a:srgbClr val="3168A8"/>
          </a:solidFill>
          <a:ln w="12700">
            <a:solidFill>
              <a:srgbClr val="3168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26CEBCC-23FF-544F-BEB4-1E3D965A029B}"/>
              </a:ext>
            </a:extLst>
          </p:cNvPr>
          <p:cNvSpPr txBox="1"/>
          <p:nvPr/>
        </p:nvSpPr>
        <p:spPr>
          <a:xfrm>
            <a:off x="1701800" y="3517900"/>
            <a:ext cx="5880100" cy="369332"/>
          </a:xfrm>
          <a:prstGeom prst="rect">
            <a:avLst/>
          </a:prstGeom>
          <a:noFill/>
        </p:spPr>
        <p:txBody>
          <a:bodyPr vert="horz" wrap="square" lIns="25400" tIns="12700" rIns="25400" bIns="12700" rtlCol="0">
            <a:noAutofit/>
          </a:bodyPr>
          <a:lstStyle/>
          <a:p>
            <a:r>
              <a:rPr lang="en-US" sz="800">
                <a:solidFill>
                  <a:srgbClr val="333333"/>
                </a:solidFill>
                <a:latin typeface="Times New Roman" panose="02020603050405020304" pitchFamily="18" charset="0"/>
              </a:rPr>
              <a:t>Daily completion  |  Weekly care summary</a:t>
            </a:r>
          </a:p>
        </p:txBody>
      </p:sp>
      <p:sp>
        <p:nvSpPr>
          <p:cNvPr id="12" name="Rectangle 11">
            <a:extLst>
              <a:ext uri="{FF2B5EF4-FFF2-40B4-BE49-F238E27FC236}">
                <a16:creationId xmlns:a16="http://schemas.microsoft.com/office/drawing/2014/main" id="{889BF180-A354-C4E6-7C36-DB24E520E6E2}"/>
              </a:ext>
            </a:extLst>
          </p:cNvPr>
          <p:cNvSpPr/>
          <p:nvPr/>
        </p:nvSpPr>
        <p:spPr>
          <a:xfrm>
            <a:off x="1701800" y="3810000"/>
            <a:ext cx="2901950" cy="6096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3E8843E-C628-A9E1-2812-5DCC538111F0}"/>
              </a:ext>
            </a:extLst>
          </p:cNvPr>
          <p:cNvSpPr txBox="1"/>
          <p:nvPr/>
        </p:nvSpPr>
        <p:spPr>
          <a:xfrm>
            <a:off x="1790700" y="3886200"/>
            <a:ext cx="281305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CARE TASKS</a:t>
            </a:r>
          </a:p>
          <a:p>
            <a:r>
              <a:rPr lang="en-US" sz="800">
                <a:solidFill>
                  <a:srgbClr val="222222"/>
                </a:solidFill>
                <a:latin typeface="Times New Roman" panose="02020603050405020304" pitchFamily="18" charset="0"/>
              </a:rPr>
              <a:t>Hydration</a:t>
            </a:r>
          </a:p>
          <a:p>
            <a:r>
              <a:rPr lang="en-US" sz="800">
                <a:solidFill>
                  <a:srgbClr val="222222"/>
                </a:solidFill>
                <a:latin typeface="Times New Roman" panose="02020603050405020304" pitchFamily="18" charset="0"/>
              </a:rPr>
              <a:t>Vitamins</a:t>
            </a:r>
          </a:p>
          <a:p>
            <a:r>
              <a:rPr lang="en-US" sz="800">
                <a:solidFill>
                  <a:srgbClr val="222222"/>
                </a:solidFill>
                <a:latin typeface="Times New Roman" panose="02020603050405020304" pitchFamily="18" charset="0"/>
              </a:rPr>
              <a:t>Movement</a:t>
            </a:r>
          </a:p>
          <a:p>
            <a:r>
              <a:rPr lang="en-US" sz="800">
                <a:solidFill>
                  <a:srgbClr val="222222"/>
                </a:solidFill>
                <a:latin typeface="Times New Roman" panose="02020603050405020304" pitchFamily="18" charset="0"/>
              </a:rPr>
              <a:t>Sleep</a:t>
            </a:r>
          </a:p>
        </p:txBody>
      </p:sp>
      <p:sp>
        <p:nvSpPr>
          <p:cNvPr id="14" name="Rectangle 13">
            <a:extLst>
              <a:ext uri="{FF2B5EF4-FFF2-40B4-BE49-F238E27FC236}">
                <a16:creationId xmlns:a16="http://schemas.microsoft.com/office/drawing/2014/main" id="{08B3D0A2-46C6-A889-90EA-EF124B31CD5C}"/>
              </a:ext>
            </a:extLst>
          </p:cNvPr>
          <p:cNvSpPr/>
          <p:nvPr/>
        </p:nvSpPr>
        <p:spPr>
          <a:xfrm>
            <a:off x="4679950" y="3810000"/>
            <a:ext cx="2901950" cy="6096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0502FD6-F04D-2BDD-C4FA-B0806E891A75}"/>
              </a:ext>
            </a:extLst>
          </p:cNvPr>
          <p:cNvSpPr txBox="1"/>
          <p:nvPr/>
        </p:nvSpPr>
        <p:spPr>
          <a:xfrm>
            <a:off x="4768850" y="3886200"/>
            <a:ext cx="281305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TODAY</a:t>
            </a:r>
          </a:p>
          <a:p>
            <a:r>
              <a:rPr lang="en-US" sz="800">
                <a:solidFill>
                  <a:srgbClr val="222222"/>
                </a:solidFill>
                <a:latin typeface="Times New Roman" panose="02020603050405020304" pitchFamily="18" charset="0"/>
              </a:rPr>
              <a:t>5 / 8 glasses</a:t>
            </a:r>
          </a:p>
          <a:p>
            <a:r>
              <a:rPr lang="en-US" sz="800">
                <a:solidFill>
                  <a:srgbClr val="222222"/>
                </a:solidFill>
                <a:latin typeface="Times New Roman" panose="02020603050405020304" pitchFamily="18" charset="0"/>
              </a:rPr>
              <a:t>Vitamin recorded</a:t>
            </a:r>
          </a:p>
          <a:p>
            <a:r>
              <a:rPr lang="en-US" sz="800">
                <a:solidFill>
                  <a:srgbClr val="222222"/>
                </a:solidFill>
                <a:latin typeface="Times New Roman" panose="02020603050405020304" pitchFamily="18" charset="0"/>
              </a:rPr>
              <a:t>15 min activity</a:t>
            </a:r>
          </a:p>
        </p:txBody>
      </p:sp>
      <p:sp>
        <p:nvSpPr>
          <p:cNvPr id="16" name="TextBox 15">
            <a:extLst>
              <a:ext uri="{FF2B5EF4-FFF2-40B4-BE49-F238E27FC236}">
                <a16:creationId xmlns:a16="http://schemas.microsoft.com/office/drawing/2014/main" id="{4BCF256C-7B2F-59F1-0012-A1FB46DD2F57}"/>
              </a:ext>
            </a:extLst>
          </p:cNvPr>
          <p:cNvSpPr txBox="1"/>
          <p:nvPr/>
        </p:nvSpPr>
        <p:spPr>
          <a:xfrm>
            <a:off x="1574800" y="4533900"/>
            <a:ext cx="61341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3083893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8255000" cy="457200"/>
          </a:xfrm>
          <a:prstGeom prst="rect">
            <a:avLst/>
          </a:prstGeom>
        </p:spPr>
        <p:txBody>
          <a:bodyPr wrap="square">
            <a:noAutofit/>
          </a:bodyPr>
          <a:lstStyle/>
          <a:p>
            <a:r>
              <a:rPr lang="en-US" sz="17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Appointment and Visit Brief Module</a:t>
            </a:r>
            <a:endParaRPr lang="en-IN" sz="17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5C843D6B-E964-40F2-940D-79BB24D933ED}"/>
              </a:ext>
            </a:extLst>
          </p:cNvPr>
          <p:cNvSpPr/>
          <p:nvPr/>
        </p:nvSpPr>
        <p:spPr>
          <a:xfrm>
            <a:off x="228600" y="586591"/>
            <a:ext cx="8686800" cy="1945661"/>
          </a:xfrm>
          <a:prstGeom prst="rect">
            <a:avLst/>
          </a:prstGeom>
        </p:spPr>
        <p:txBody>
          <a:bodyPr wrap="square">
            <a:noAutofit/>
          </a:bodyPr>
          <a:lstStyle/>
          <a:p>
            <a:pPr>
              <a:lnSpc>
                <a:spcPct val="150000"/>
              </a:lnSpc>
            </a:pPr>
            <a:r>
              <a:rPr lang="en-US" sz="1300">
                <a:latin typeface="Times New Roman" panose="02020603050405020304" pitchFamily="18" charset="0"/>
                <a:cs typeface="Times New Roman" panose="02020603050405020304" pitchFamily="18" charset="0"/>
              </a:rPr>
              <a:t>Users can create, search, and review upcoming or past appointments, record provider details, prepare questions, export calendar events, and generate a printable visit brief. The brief includes only information the user explicitly selects.</a:t>
            </a:r>
            <a:endParaRPr lang="en-US" sz="13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457A49E-FCA2-1683-CE74-2EAB961C254E}"/>
              </a:ext>
            </a:extLst>
          </p:cNvPr>
          <p:cNvSpPr/>
          <p:nvPr/>
        </p:nvSpPr>
        <p:spPr>
          <a:xfrm>
            <a:off x="1816100" y="2527300"/>
            <a:ext cx="5842000" cy="21336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023EE8F-C633-C6C5-BBCB-5C54C50ACCFE}"/>
              </a:ext>
            </a:extLst>
          </p:cNvPr>
          <p:cNvSpPr/>
          <p:nvPr/>
        </p:nvSpPr>
        <p:spPr>
          <a:xfrm>
            <a:off x="1917700" y="2628900"/>
            <a:ext cx="56388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99C669A-D928-ED5A-DCA0-A51F4F74D544}"/>
              </a:ext>
            </a:extLst>
          </p:cNvPr>
          <p:cNvSpPr txBox="1"/>
          <p:nvPr/>
        </p:nvSpPr>
        <p:spPr>
          <a:xfrm>
            <a:off x="2006600" y="2654300"/>
            <a:ext cx="54610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Appointments</a:t>
            </a:r>
          </a:p>
        </p:txBody>
      </p:sp>
      <p:sp>
        <p:nvSpPr>
          <p:cNvPr id="9" name="TextBox 8">
            <a:extLst>
              <a:ext uri="{FF2B5EF4-FFF2-40B4-BE49-F238E27FC236}">
                <a16:creationId xmlns:a16="http://schemas.microsoft.com/office/drawing/2014/main" id="{3928F9C9-F24E-E919-1016-04AC6C921137}"/>
              </a:ext>
            </a:extLst>
          </p:cNvPr>
          <p:cNvSpPr txBox="1"/>
          <p:nvPr/>
        </p:nvSpPr>
        <p:spPr>
          <a:xfrm>
            <a:off x="2019300" y="3035300"/>
            <a:ext cx="54356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Upcoming  |  Past  |  All visits</a:t>
            </a:r>
          </a:p>
        </p:txBody>
      </p:sp>
      <p:sp>
        <p:nvSpPr>
          <p:cNvPr id="10" name="Rectangle 9">
            <a:extLst>
              <a:ext uri="{FF2B5EF4-FFF2-40B4-BE49-F238E27FC236}">
                <a16:creationId xmlns:a16="http://schemas.microsoft.com/office/drawing/2014/main" id="{44B14854-4712-917B-CDFF-17AB13327A18}"/>
              </a:ext>
            </a:extLst>
          </p:cNvPr>
          <p:cNvSpPr/>
          <p:nvPr/>
        </p:nvSpPr>
        <p:spPr>
          <a:xfrm>
            <a:off x="2019300" y="3340100"/>
            <a:ext cx="5435600" cy="5461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220A45C-6EA1-4EA6-59C2-6140B84D2C51}"/>
              </a:ext>
            </a:extLst>
          </p:cNvPr>
          <p:cNvSpPr txBox="1"/>
          <p:nvPr/>
        </p:nvSpPr>
        <p:spPr>
          <a:xfrm>
            <a:off x="2108200" y="3390900"/>
            <a:ext cx="525780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Routine prenatal visit</a:t>
            </a:r>
          </a:p>
          <a:p>
            <a:r>
              <a:rPr lang="en-US" sz="800">
                <a:solidFill>
                  <a:srgbClr val="222222"/>
                </a:solidFill>
                <a:latin typeface="Times New Roman" panose="02020603050405020304" pitchFamily="18" charset="0"/>
              </a:rPr>
              <a:t>Dr. Sample  |  Community Clinic</a:t>
            </a:r>
          </a:p>
        </p:txBody>
      </p:sp>
      <p:sp>
        <p:nvSpPr>
          <p:cNvPr id="12" name="TextBox 11">
            <a:extLst>
              <a:ext uri="{FF2B5EF4-FFF2-40B4-BE49-F238E27FC236}">
                <a16:creationId xmlns:a16="http://schemas.microsoft.com/office/drawing/2014/main" id="{3F8B09E2-5911-D8C4-7C17-9966F17B988E}"/>
              </a:ext>
            </a:extLst>
          </p:cNvPr>
          <p:cNvSpPr txBox="1"/>
          <p:nvPr/>
        </p:nvSpPr>
        <p:spPr>
          <a:xfrm>
            <a:off x="2019300" y="4000500"/>
            <a:ext cx="54356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Prepare questions  |  Visit brief  |  Calendar export</a:t>
            </a:r>
          </a:p>
        </p:txBody>
      </p:sp>
      <p:sp>
        <p:nvSpPr>
          <p:cNvPr id="13" name="TextBox 12">
            <a:extLst>
              <a:ext uri="{FF2B5EF4-FFF2-40B4-BE49-F238E27FC236}">
                <a16:creationId xmlns:a16="http://schemas.microsoft.com/office/drawing/2014/main" id="{94E65B61-7415-94F7-AF46-E93DE23099D3}"/>
              </a:ext>
            </a:extLst>
          </p:cNvPr>
          <p:cNvSpPr txBox="1"/>
          <p:nvPr/>
        </p:nvSpPr>
        <p:spPr>
          <a:xfrm>
            <a:off x="1892300" y="4483100"/>
            <a:ext cx="56896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3392042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04D8DF-8AFF-4DF8-A713-B306155F90CF}"/>
              </a:ext>
            </a:extLst>
          </p:cNvPr>
          <p:cNvSpPr/>
          <p:nvPr/>
        </p:nvSpPr>
        <p:spPr>
          <a:xfrm>
            <a:off x="304799" y="209550"/>
            <a:ext cx="8255000" cy="457200"/>
          </a:xfrm>
          <a:prstGeom prst="rect">
            <a:avLst/>
          </a:prstGeom>
        </p:spPr>
        <p:txBody>
          <a:bodyPr wrap="square">
            <a:noAutofit/>
          </a:bodyPr>
          <a:lstStyle/>
          <a:p>
            <a:pPr marL="342900" indent="-342900">
              <a:tabLst>
                <a:tab pos="457200" algn="l"/>
              </a:tabLst>
            </a:pPr>
            <a:r>
              <a:rPr lang="en-US" sz="16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Private Journal and Learning Modules</a:t>
            </a:r>
            <a:endParaRPr lang="en-IN" sz="1600" b="1" dirty="0">
              <a:solidFill>
                <a:srgbClr val="000099"/>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C28FB4B-F666-4731-B895-9C2851D11E37}"/>
              </a:ext>
            </a:extLst>
          </p:cNvPr>
          <p:cNvSpPr>
            <a:spLocks noChangeArrowheads="1"/>
          </p:cNvSpPr>
          <p:nvPr/>
        </p:nvSpPr>
        <p:spPr bwMode="auto">
          <a:xfrm>
            <a:off x="0" y="700892"/>
            <a:ext cx="8839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eaLnBrk="0" fontAlgn="base" hangingPunct="0">
              <a:spcBef>
                <a:spcPct val="0"/>
              </a:spcBef>
              <a:spcAft>
                <a:spcPct val="0"/>
              </a:spcAft>
            </a:pPr>
            <a:r>
              <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Journal: record symptoms, severity, dates, and private notes; search and filter your entries.</a:t>
            </a:r>
          </a:p>
          <a:p>
            <a:pPr eaLnBrk="0" fontAlgn="base" hangingPunct="0">
              <a:spcBef>
                <a:spcPct val="0"/>
              </a:spcBef>
              <a:spcAft>
                <a:spcPct val="0"/>
              </a:spcAft>
            </a:pPr>
            <a:endPar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Guides: review general, week-based information and searchable educational resources. Discuss personal questions with a healthcare professional.</a:t>
            </a:r>
            <a:endParaRPr kumimoji="0" lang="en-US" altLang="en-US" sz="1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2FB0502-EDC8-B7F6-9B34-832336B4807C}"/>
              </a:ext>
            </a:extLst>
          </p:cNvPr>
          <p:cNvSpPr/>
          <p:nvPr/>
        </p:nvSpPr>
        <p:spPr>
          <a:xfrm>
            <a:off x="1968500" y="2578100"/>
            <a:ext cx="5651500" cy="19685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D91F664-EA6D-F4C9-287A-BC956CD78A21}"/>
              </a:ext>
            </a:extLst>
          </p:cNvPr>
          <p:cNvSpPr/>
          <p:nvPr/>
        </p:nvSpPr>
        <p:spPr>
          <a:xfrm>
            <a:off x="2070100" y="2679700"/>
            <a:ext cx="54483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DA6AF21-238F-7BED-4332-052AB6BA08A7}"/>
              </a:ext>
            </a:extLst>
          </p:cNvPr>
          <p:cNvSpPr txBox="1"/>
          <p:nvPr/>
        </p:nvSpPr>
        <p:spPr>
          <a:xfrm>
            <a:off x="2159000" y="2705100"/>
            <a:ext cx="52705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Journal and Guides</a:t>
            </a:r>
          </a:p>
        </p:txBody>
      </p:sp>
      <p:sp>
        <p:nvSpPr>
          <p:cNvPr id="7" name="TextBox 6">
            <a:extLst>
              <a:ext uri="{FF2B5EF4-FFF2-40B4-BE49-F238E27FC236}">
                <a16:creationId xmlns:a16="http://schemas.microsoft.com/office/drawing/2014/main" id="{85BE60E3-5314-A22C-09FB-28C12E75B5BC}"/>
              </a:ext>
            </a:extLst>
          </p:cNvPr>
          <p:cNvSpPr txBox="1"/>
          <p:nvPr/>
        </p:nvSpPr>
        <p:spPr>
          <a:xfrm>
            <a:off x="2171700" y="3086100"/>
            <a:ext cx="5245100" cy="369332"/>
          </a:xfrm>
          <a:prstGeom prst="rect">
            <a:avLst/>
          </a:prstGeom>
          <a:noFill/>
        </p:spPr>
        <p:txBody>
          <a:bodyPr vert="horz" wrap="square" lIns="25400" tIns="12700" rIns="25400" bIns="12700" rtlCol="0">
            <a:noAutofit/>
          </a:bodyPr>
          <a:lstStyle/>
          <a:p>
            <a:r>
              <a:rPr lang="en-US" sz="1000" b="1">
                <a:solidFill>
                  <a:srgbClr val="173E79"/>
                </a:solidFill>
                <a:latin typeface="Times New Roman" panose="02020603050405020304" pitchFamily="18" charset="0"/>
              </a:rPr>
              <a:t>Private symptom journal</a:t>
            </a:r>
          </a:p>
        </p:txBody>
      </p:sp>
      <p:sp>
        <p:nvSpPr>
          <p:cNvPr id="8" name="TextBox 7">
            <a:extLst>
              <a:ext uri="{FF2B5EF4-FFF2-40B4-BE49-F238E27FC236}">
                <a16:creationId xmlns:a16="http://schemas.microsoft.com/office/drawing/2014/main" id="{A8AE7029-4A47-BCE9-9DD0-A6D137A22BC4}"/>
              </a:ext>
            </a:extLst>
          </p:cNvPr>
          <p:cNvSpPr txBox="1"/>
          <p:nvPr/>
        </p:nvSpPr>
        <p:spPr>
          <a:xfrm>
            <a:off x="2171700" y="3378200"/>
            <a:ext cx="5245100" cy="369332"/>
          </a:xfrm>
          <a:prstGeom prst="rect">
            <a:avLst/>
          </a:prstGeom>
          <a:noFill/>
        </p:spPr>
        <p:txBody>
          <a:bodyPr vert="horz" wrap="square" lIns="25400" tIns="12700" rIns="25400" bIns="12700" rtlCol="0">
            <a:noAutofit/>
          </a:bodyPr>
          <a:lstStyle/>
          <a:p>
            <a:r>
              <a:rPr lang="en-US" sz="800">
                <a:solidFill>
                  <a:srgbClr val="333333"/>
                </a:solidFill>
                <a:latin typeface="Times New Roman" panose="02020603050405020304" pitchFamily="18" charset="0"/>
              </a:rPr>
              <a:t>Search  |  Date range  |  Severity</a:t>
            </a:r>
          </a:p>
        </p:txBody>
      </p:sp>
      <p:sp>
        <p:nvSpPr>
          <p:cNvPr id="9" name="Rectangle 8">
            <a:extLst>
              <a:ext uri="{FF2B5EF4-FFF2-40B4-BE49-F238E27FC236}">
                <a16:creationId xmlns:a16="http://schemas.microsoft.com/office/drawing/2014/main" id="{F47F67F0-6DD4-D58B-D797-EF8157945F13}"/>
              </a:ext>
            </a:extLst>
          </p:cNvPr>
          <p:cNvSpPr/>
          <p:nvPr/>
        </p:nvSpPr>
        <p:spPr>
          <a:xfrm>
            <a:off x="2171700" y="3695700"/>
            <a:ext cx="5245100" cy="5334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D1D4B83-7845-3EA6-528A-F8BAAE54FD6F}"/>
              </a:ext>
            </a:extLst>
          </p:cNvPr>
          <p:cNvSpPr txBox="1"/>
          <p:nvPr/>
        </p:nvSpPr>
        <p:spPr>
          <a:xfrm>
            <a:off x="2247900" y="3759200"/>
            <a:ext cx="509270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Tired  |  Mild</a:t>
            </a:r>
          </a:p>
          <a:p>
            <a:r>
              <a:rPr lang="en-US" sz="800">
                <a:solidFill>
                  <a:srgbClr val="222222"/>
                </a:solidFill>
                <a:latin typeface="Times New Roman" panose="02020603050405020304" pitchFamily="18" charset="0"/>
              </a:rPr>
              <a:t>Recorded note for clinician discussion</a:t>
            </a:r>
          </a:p>
        </p:txBody>
      </p:sp>
      <p:sp>
        <p:nvSpPr>
          <p:cNvPr id="11" name="TextBox 10">
            <a:extLst>
              <a:ext uri="{FF2B5EF4-FFF2-40B4-BE49-F238E27FC236}">
                <a16:creationId xmlns:a16="http://schemas.microsoft.com/office/drawing/2014/main" id="{608BBB14-5E2E-3946-C795-C308D203C8E7}"/>
              </a:ext>
            </a:extLst>
          </p:cNvPr>
          <p:cNvSpPr txBox="1"/>
          <p:nvPr/>
        </p:nvSpPr>
        <p:spPr>
          <a:xfrm>
            <a:off x="2044700" y="4368800"/>
            <a:ext cx="54991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2222406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799" y="209550"/>
            <a:ext cx="7874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Input and Output</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96A681FF-5A9C-F2FD-4DA9-45600D567013}"/>
              </a:ext>
            </a:extLst>
          </p:cNvPr>
          <p:cNvSpPr/>
          <p:nvPr/>
        </p:nvSpPr>
        <p:spPr>
          <a:xfrm>
            <a:off x="431800" y="952500"/>
            <a:ext cx="4000500" cy="3302000"/>
          </a:xfrm>
          <a:prstGeom prst="rect">
            <a:avLst/>
          </a:prstGeom>
          <a:solidFill>
            <a:srgbClr val="FFFFFF"/>
          </a:solidFill>
          <a:ln w="12700">
            <a:solidFill>
              <a:srgbClr val="5476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9E3FFC5-6DE7-2B42-1CEA-BA69A002458E}"/>
              </a:ext>
            </a:extLst>
          </p:cNvPr>
          <p:cNvSpPr/>
          <p:nvPr/>
        </p:nvSpPr>
        <p:spPr>
          <a:xfrm>
            <a:off x="4699000" y="952500"/>
            <a:ext cx="4000500" cy="3302000"/>
          </a:xfrm>
          <a:prstGeom prst="rect">
            <a:avLst/>
          </a:prstGeom>
          <a:solidFill>
            <a:srgbClr val="FFFFFF"/>
          </a:solidFill>
          <a:ln w="12700">
            <a:solidFill>
              <a:srgbClr val="5476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4043DAA-2F26-11D6-0F6E-DA0844F230E0}"/>
              </a:ext>
            </a:extLst>
          </p:cNvPr>
          <p:cNvSpPr txBox="1"/>
          <p:nvPr/>
        </p:nvSpPr>
        <p:spPr>
          <a:xfrm>
            <a:off x="635000" y="1155700"/>
            <a:ext cx="3594100" cy="369332"/>
          </a:xfrm>
          <a:prstGeom prst="rect">
            <a:avLst/>
          </a:prstGeom>
          <a:noFill/>
        </p:spPr>
        <p:txBody>
          <a:bodyPr vert="horz" wrap="square" lIns="25400" tIns="12700" rIns="25400" bIns="12700" rtlCol="0">
            <a:noAutofit/>
          </a:bodyPr>
          <a:lstStyle/>
          <a:p>
            <a:pPr algn="ctr"/>
            <a:r>
              <a:rPr lang="en-US" sz="1200" b="1">
                <a:solidFill>
                  <a:srgbClr val="173E79"/>
                </a:solidFill>
                <a:latin typeface="Times New Roman" panose="02020603050405020304" pitchFamily="18" charset="0"/>
              </a:rPr>
              <a:t>SAMPLE INPUT</a:t>
            </a:r>
          </a:p>
        </p:txBody>
      </p:sp>
      <p:sp>
        <p:nvSpPr>
          <p:cNvPr id="7" name="TextBox 6">
            <a:extLst>
              <a:ext uri="{FF2B5EF4-FFF2-40B4-BE49-F238E27FC236}">
                <a16:creationId xmlns:a16="http://schemas.microsoft.com/office/drawing/2014/main" id="{B182937B-B7DF-E405-4ACA-9BB13C50811E}"/>
              </a:ext>
            </a:extLst>
          </p:cNvPr>
          <p:cNvSpPr txBox="1"/>
          <p:nvPr/>
        </p:nvSpPr>
        <p:spPr>
          <a:xfrm>
            <a:off x="635000" y="1562100"/>
            <a:ext cx="3594100" cy="369332"/>
          </a:xfrm>
          <a:prstGeom prst="rect">
            <a:avLst/>
          </a:prstGeom>
          <a:noFill/>
        </p:spPr>
        <p:txBody>
          <a:bodyPr vert="horz" wrap="square" lIns="25400" tIns="12700" rIns="25400" bIns="12700" rtlCol="0">
            <a:noAutofit/>
          </a:bodyPr>
          <a:lstStyle/>
          <a:p>
            <a:r>
              <a:rPr lang="en-US" sz="1200">
                <a:solidFill>
                  <a:srgbClr val="222222"/>
                </a:solidFill>
                <a:latin typeface="Times New Roman" panose="02020603050405020304" pitchFamily="18" charset="0"/>
              </a:rPr>
              <a:t>Appointment: Routine prenatal visit</a:t>
            </a:r>
          </a:p>
          <a:p>
            <a:r>
              <a:rPr lang="en-US" sz="1200">
                <a:solidFill>
                  <a:srgbClr val="222222"/>
                </a:solidFill>
                <a:latin typeface="Times New Roman" panose="02020603050405020304" pitchFamily="18" charset="0"/>
              </a:rPr>
              <a:t>Start: 23 Oct 2026, 10:00 IST</a:t>
            </a:r>
          </a:p>
          <a:p>
            <a:r>
              <a:rPr lang="en-US" sz="1200">
                <a:solidFill>
                  <a:srgbClr val="222222"/>
                </a:solidFill>
                <a:latin typeface="Times New Roman" panose="02020603050405020304" pitchFamily="18" charset="0"/>
              </a:rPr>
              <a:t>Reminder: 1 day before</a:t>
            </a:r>
          </a:p>
          <a:p>
            <a:r>
              <a:rPr lang="en-US" sz="1200">
                <a:solidFill>
                  <a:srgbClr val="222222"/>
                </a:solidFill>
                <a:latin typeface="Times New Roman" panose="02020603050405020304" pitchFamily="18" charset="0"/>
              </a:rPr>
              <a:t>Timezone: Asia/Kolkata</a:t>
            </a:r>
          </a:p>
          <a:p>
            <a:endParaRPr lang="en-US" sz="1200">
              <a:solidFill>
                <a:srgbClr val="222222"/>
              </a:solidFill>
              <a:latin typeface="Times New Roman" panose="02020603050405020304" pitchFamily="18" charset="0"/>
            </a:endParaRPr>
          </a:p>
          <a:p>
            <a:r>
              <a:rPr lang="en-US" sz="1200">
                <a:solidFill>
                  <a:srgbClr val="222222"/>
                </a:solidFill>
                <a:latin typeface="Times New Roman" panose="02020603050405020304" pitchFamily="18" charset="0"/>
              </a:rPr>
              <a:t>Data is synthetic.</a:t>
            </a:r>
          </a:p>
        </p:txBody>
      </p:sp>
      <p:sp>
        <p:nvSpPr>
          <p:cNvPr id="8" name="TextBox 7">
            <a:extLst>
              <a:ext uri="{FF2B5EF4-FFF2-40B4-BE49-F238E27FC236}">
                <a16:creationId xmlns:a16="http://schemas.microsoft.com/office/drawing/2014/main" id="{42C3B59A-15D7-DB6A-0A51-BFE11ACC0DA8}"/>
              </a:ext>
            </a:extLst>
          </p:cNvPr>
          <p:cNvSpPr txBox="1"/>
          <p:nvPr/>
        </p:nvSpPr>
        <p:spPr>
          <a:xfrm>
            <a:off x="4902200" y="1155700"/>
            <a:ext cx="3594100" cy="369332"/>
          </a:xfrm>
          <a:prstGeom prst="rect">
            <a:avLst/>
          </a:prstGeom>
          <a:noFill/>
        </p:spPr>
        <p:txBody>
          <a:bodyPr vert="horz" wrap="square" lIns="25400" tIns="12700" rIns="25400" bIns="12700" rtlCol="0">
            <a:noAutofit/>
          </a:bodyPr>
          <a:lstStyle/>
          <a:p>
            <a:pPr algn="ctr"/>
            <a:r>
              <a:rPr lang="en-US" sz="1200" b="1">
                <a:solidFill>
                  <a:srgbClr val="173E79"/>
                </a:solidFill>
                <a:latin typeface="Times New Roman" panose="02020603050405020304" pitchFamily="18" charset="0"/>
              </a:rPr>
              <a:t>SAMPLE OUTPUT</a:t>
            </a:r>
          </a:p>
        </p:txBody>
      </p:sp>
      <p:sp>
        <p:nvSpPr>
          <p:cNvPr id="9" name="TextBox 8">
            <a:extLst>
              <a:ext uri="{FF2B5EF4-FFF2-40B4-BE49-F238E27FC236}">
                <a16:creationId xmlns:a16="http://schemas.microsoft.com/office/drawing/2014/main" id="{8055A4F5-F4B1-59A1-2581-9E41359E283E}"/>
              </a:ext>
            </a:extLst>
          </p:cNvPr>
          <p:cNvSpPr txBox="1"/>
          <p:nvPr/>
        </p:nvSpPr>
        <p:spPr>
          <a:xfrm>
            <a:off x="4902200" y="1562100"/>
            <a:ext cx="3594100" cy="369332"/>
          </a:xfrm>
          <a:prstGeom prst="rect">
            <a:avLst/>
          </a:prstGeom>
          <a:noFill/>
        </p:spPr>
        <p:txBody>
          <a:bodyPr vert="horz" wrap="square" lIns="25400" tIns="12700" rIns="25400" bIns="12700" rtlCol="0">
            <a:noAutofit/>
          </a:bodyPr>
          <a:lstStyle/>
          <a:p>
            <a:r>
              <a:rPr lang="en-US" sz="1200">
                <a:solidFill>
                  <a:srgbClr val="222222"/>
                </a:solidFill>
                <a:latin typeface="Times New Roman" panose="02020603050405020304" pitchFamily="18" charset="0"/>
              </a:rPr>
              <a:t>Reminder: PENDING</a:t>
            </a:r>
          </a:p>
          <a:p>
            <a:r>
              <a:rPr lang="en-US" sz="1200">
                <a:solidFill>
                  <a:srgbClr val="222222"/>
                </a:solidFill>
                <a:latin typeface="Times New Roman" panose="02020603050405020304" pitchFamily="18" charset="0"/>
              </a:rPr>
              <a:t>Scheduled: 22 Oct 2026, 10:00 IST</a:t>
            </a:r>
          </a:p>
          <a:p>
            <a:r>
              <a:rPr lang="en-US" sz="1200">
                <a:solidFill>
                  <a:srgbClr val="222222"/>
                </a:solidFill>
                <a:latin typeface="Times New Roman" panose="02020603050405020304" pitchFamily="18" charset="0"/>
              </a:rPr>
              <a:t>Notification: generic reminder</a:t>
            </a:r>
          </a:p>
          <a:p>
            <a:r>
              <a:rPr lang="en-US" sz="1200">
                <a:solidFill>
                  <a:srgbClr val="222222"/>
                </a:solidFill>
                <a:latin typeface="Times New Roman" panose="02020603050405020304" pitchFamily="18" charset="0"/>
              </a:rPr>
              <a:t>Action: open app or snooze</a:t>
            </a:r>
          </a:p>
          <a:p>
            <a:r>
              <a:rPr lang="en-US" sz="1200">
                <a:solidFill>
                  <a:srgbClr val="222222"/>
                </a:solidFill>
                <a:latin typeface="Times New Roman" panose="02020603050405020304" pitchFamily="18" charset="0"/>
              </a:rPr>
              <a:t>Snooze: +1 hour</a:t>
            </a:r>
          </a:p>
        </p:txBody>
      </p:sp>
    </p:spTree>
    <p:extLst>
      <p:ext uri="{BB962C8B-B14F-4D97-AF65-F5344CB8AC3E}">
        <p14:creationId xmlns:p14="http://schemas.microsoft.com/office/powerpoint/2010/main" val="1729210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799" y="209550"/>
            <a:ext cx="8509000" cy="457200"/>
          </a:xfrm>
          <a:prstGeom prst="rect">
            <a:avLst/>
          </a:prstGeom>
        </p:spPr>
        <p:txBody>
          <a:bodyPr wrap="square">
            <a:noAutofit/>
          </a:bodyPr>
          <a:lstStyle/>
          <a:p>
            <a:pPr marL="342900" indent="-342900">
              <a:tabLst>
                <a:tab pos="457200" algn="l"/>
              </a:tabLst>
            </a:pPr>
            <a:r>
              <a:rPr lang="en-US" sz="14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UI : TypeScript : Appointment History</a:t>
            </a:r>
            <a:endParaRPr lang="en-IN" sz="1400"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5C448EE-E648-D240-0159-D48ADFDBA635}"/>
              </a:ext>
            </a:extLst>
          </p:cNvPr>
          <p:cNvSpPr/>
          <p:nvPr/>
        </p:nvSpPr>
        <p:spPr>
          <a:xfrm>
            <a:off x="368300" y="927100"/>
            <a:ext cx="8382000" cy="3835400"/>
          </a:xfrm>
          <a:prstGeom prst="rect">
            <a:avLst/>
          </a:prstGeom>
          <a:solidFill>
            <a:srgbClr val="F8FAFC"/>
          </a:solidFill>
          <a:ln w="12700">
            <a:solidFill>
              <a:srgbClr val="A9BE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B7053E8-632F-271D-CF38-7BADF5F2BF41}"/>
              </a:ext>
            </a:extLst>
          </p:cNvPr>
          <p:cNvSpPr txBox="1"/>
          <p:nvPr/>
        </p:nvSpPr>
        <p:spPr>
          <a:xfrm>
            <a:off x="558800" y="1130300"/>
            <a:ext cx="8001000" cy="369332"/>
          </a:xfrm>
          <a:prstGeom prst="rect">
            <a:avLst/>
          </a:prstGeom>
          <a:noFill/>
        </p:spPr>
        <p:txBody>
          <a:bodyPr vert="horz" wrap="square" lIns="25400" tIns="12700" rIns="25400" bIns="12700" rtlCol="0">
            <a:noAutofit/>
          </a:bodyPr>
          <a:lstStyle/>
          <a:p>
            <a:r>
              <a:rPr lang="en-US" sz="1200">
                <a:solidFill>
                  <a:srgbClr val="202020"/>
                </a:solidFill>
                <a:latin typeface="Consolas" panose="020B0609020204030204" pitchFamily="49" charset="0"/>
              </a:rPr>
              <a:t>const visibleVisits = appointments</a:t>
            </a:r>
          </a:p>
          <a:p>
            <a:r>
              <a:rPr lang="en-US" sz="1200">
                <a:solidFill>
                  <a:srgbClr val="202020"/>
                </a:solidFill>
                <a:latin typeface="Consolas" panose="020B0609020204030204" pitchFamily="49" charset="0"/>
              </a:rPr>
              <a:t>  .filter((visit) =&gt; matchesView(visit, view))</a:t>
            </a:r>
          </a:p>
          <a:p>
            <a:r>
              <a:rPr lang="en-US" sz="1200">
                <a:solidFill>
                  <a:srgbClr val="202020"/>
                </a:solidFill>
                <a:latin typeface="Consolas" panose="020B0609020204030204" pitchFamily="49" charset="0"/>
              </a:rPr>
              <a:t>  .filter((visit) =&gt; matchesSearch(visit, query))</a:t>
            </a:r>
          </a:p>
          <a:p>
            <a:r>
              <a:rPr lang="en-US" sz="1200">
                <a:solidFill>
                  <a:srgbClr val="202020"/>
                </a:solidFill>
                <a:latin typeface="Consolas" panose="020B0609020204030204" pitchFamily="49" charset="0"/>
              </a:rPr>
              <a:t>  .sort(compareByDate);</a:t>
            </a:r>
          </a:p>
          <a:p>
            <a:endParaRPr lang="en-US" sz="1200">
              <a:solidFill>
                <a:srgbClr val="202020"/>
              </a:solidFill>
              <a:latin typeface="Consolas" panose="020B0609020204030204" pitchFamily="49" charset="0"/>
            </a:endParaRPr>
          </a:p>
          <a:p>
            <a:r>
              <a:rPr lang="en-US" sz="1200">
                <a:solidFill>
                  <a:srgbClr val="202020"/>
                </a:solidFill>
                <a:latin typeface="Consolas" panose="020B0609020204030204" pitchFamily="49" charset="0"/>
              </a:rPr>
              <a:t>return visibleVisits.map((visit) =&gt; (</a:t>
            </a:r>
          </a:p>
          <a:p>
            <a:r>
              <a:rPr lang="en-US" sz="1200">
                <a:solidFill>
                  <a:srgbClr val="202020"/>
                </a:solidFill>
                <a:latin typeface="Consolas" panose="020B0609020204030204" pitchFamily="49" charset="0"/>
              </a:rPr>
              <a:t>  &lt;button key={visit.id}</a:t>
            </a:r>
          </a:p>
          <a:p>
            <a:r>
              <a:rPr lang="en-US" sz="1200">
                <a:solidFill>
                  <a:srgbClr val="202020"/>
                </a:solidFill>
                <a:latin typeface="Consolas" panose="020B0609020204030204" pitchFamily="49" charset="0"/>
              </a:rPr>
              <a:t>    aria-pressed={visit.id === selectedId}</a:t>
            </a:r>
          </a:p>
          <a:p>
            <a:r>
              <a:rPr lang="en-US" sz="1200">
                <a:solidFill>
                  <a:srgbClr val="202020"/>
                </a:solidFill>
                <a:latin typeface="Consolas" panose="020B0609020204030204" pitchFamily="49" charset="0"/>
              </a:rPr>
              <a:t>    onClick={() =&gt; selectVisit(visit.id)}&gt;</a:t>
            </a:r>
          </a:p>
          <a:p>
            <a:r>
              <a:rPr lang="en-US" sz="1200">
                <a:solidFill>
                  <a:srgbClr val="202020"/>
                </a:solidFill>
                <a:latin typeface="Consolas" panose="020B0609020204030204" pitchFamily="49" charset="0"/>
              </a:rPr>
              <a:t>    &lt;strong&gt;{visit.title}&lt;/strong&gt;</a:t>
            </a:r>
          </a:p>
          <a:p>
            <a:r>
              <a:rPr lang="en-US" sz="1200">
                <a:solidFill>
                  <a:srgbClr val="202020"/>
                </a:solidFill>
                <a:latin typeface="Consolas" panose="020B0609020204030204" pitchFamily="49" charset="0"/>
              </a:rPr>
              <a:t>    &lt;time&gt;{formatVisitDate(visit.startsAt)}&lt;/time&gt;</a:t>
            </a:r>
          </a:p>
          <a:p>
            <a:r>
              <a:rPr lang="en-US" sz="1200">
                <a:solidFill>
                  <a:srgbClr val="202020"/>
                </a:solidFill>
                <a:latin typeface="Consolas" panose="020B0609020204030204" pitchFamily="49" charset="0"/>
              </a:rPr>
              <a:t>  &lt;/button&gt;</a:t>
            </a:r>
          </a:p>
          <a:p>
            <a:r>
              <a:rPr lang="en-US" sz="1200">
                <a:solidFill>
                  <a:srgbClr val="202020"/>
                </a:solidFill>
                <a:latin typeface="Consolas" panose="020B0609020204030204" pitchFamily="49" charset="0"/>
              </a:rPr>
              <a:t>));</a:t>
            </a:r>
          </a:p>
        </p:txBody>
      </p:sp>
    </p:spTree>
    <p:extLst>
      <p:ext uri="{BB962C8B-B14F-4D97-AF65-F5344CB8AC3E}">
        <p14:creationId xmlns:p14="http://schemas.microsoft.com/office/powerpoint/2010/main" val="2923834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6E0D70-88F7-473F-B782-8DADD52C33AA}"/>
              </a:ext>
            </a:extLst>
          </p:cNvPr>
          <p:cNvSpPr/>
          <p:nvPr/>
        </p:nvSpPr>
        <p:spPr>
          <a:xfrm>
            <a:off x="304799" y="209550"/>
            <a:ext cx="8636000" cy="457200"/>
          </a:xfrm>
          <a:prstGeom prst="rect">
            <a:avLst/>
          </a:prstGeom>
        </p:spPr>
        <p:txBody>
          <a:bodyPr wrap="square">
            <a:noAutofit/>
          </a:bodyPr>
          <a:lstStyle/>
          <a:p>
            <a:pPr marL="342900" indent="-342900">
              <a:tabLst>
                <a:tab pos="457200" algn="l"/>
              </a:tabLst>
            </a:pPr>
            <a:r>
              <a:rPr lang="en-US" sz="14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Backend : Spring Boot : Reminder Scheduler</a:t>
            </a:r>
            <a:endParaRPr lang="en-IN" sz="14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946A14F-A168-5F46-1C3C-5BA2D731D54D}"/>
              </a:ext>
            </a:extLst>
          </p:cNvPr>
          <p:cNvSpPr/>
          <p:nvPr/>
        </p:nvSpPr>
        <p:spPr>
          <a:xfrm>
            <a:off x="292100" y="889000"/>
            <a:ext cx="8445500" cy="3937000"/>
          </a:xfrm>
          <a:prstGeom prst="rect">
            <a:avLst/>
          </a:prstGeom>
          <a:solidFill>
            <a:srgbClr val="F8FAFC"/>
          </a:solidFill>
          <a:ln w="12700">
            <a:solidFill>
              <a:srgbClr val="A9BE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8AD2FFA-BCDD-D328-CD10-E59BF181D830}"/>
              </a:ext>
            </a:extLst>
          </p:cNvPr>
          <p:cNvSpPr txBox="1"/>
          <p:nvPr/>
        </p:nvSpPr>
        <p:spPr>
          <a:xfrm>
            <a:off x="520700" y="1079500"/>
            <a:ext cx="8064500" cy="369332"/>
          </a:xfrm>
          <a:prstGeom prst="rect">
            <a:avLst/>
          </a:prstGeom>
          <a:noFill/>
        </p:spPr>
        <p:txBody>
          <a:bodyPr vert="horz" wrap="square" lIns="25400" tIns="12700" rIns="25400" bIns="12700" rtlCol="0">
            <a:noAutofit/>
          </a:bodyPr>
          <a:lstStyle/>
          <a:p>
            <a:r>
              <a:rPr lang="en-US" sz="1200">
                <a:solidFill>
                  <a:srgbClr val="202020"/>
                </a:solidFill>
                <a:latin typeface="Consolas" panose="020B0609020204030204" pitchFamily="49" charset="0"/>
              </a:rPr>
              <a:t>@Scheduled(fixedDelayString = "${notifications.scheduler.interval-ms:30000}")</a:t>
            </a:r>
          </a:p>
          <a:p>
            <a:r>
              <a:rPr lang="en-US" sz="1200">
                <a:solidFill>
                  <a:srgbClr val="202020"/>
                </a:solidFill>
                <a:latin typeface="Consolas" panose="020B0609020204030204" pitchFamily="49" charset="0"/>
              </a:rPr>
              <a:t>public void dispatchDueReminders() {</a:t>
            </a:r>
          </a:p>
          <a:p>
            <a:r>
              <a:rPr lang="en-US" sz="1200">
                <a:solidFill>
                  <a:srgbClr val="202020"/>
                </a:solidFill>
                <a:latin typeface="Consolas" panose="020B0609020204030204" pitchFamily="49" charset="0"/>
              </a:rPr>
              <a:t>    if (!pushService.isConfigured()) return;</a:t>
            </a:r>
          </a:p>
          <a:p>
            <a:r>
              <a:rPr lang="en-US" sz="1200">
                <a:solidFill>
                  <a:srgbClr val="202020"/>
                </a:solidFill>
                <a:latin typeface="Consolas" panose="020B0609020204030204" pitchFamily="49" charset="0"/>
              </a:rPr>
              <a:t>    for (UUID id : scheduler.synchronizeAndFindDue()) {</a:t>
            </a:r>
          </a:p>
          <a:p>
            <a:r>
              <a:rPr lang="en-US" sz="1200">
                <a:solidFill>
                  <a:srgbClr val="202020"/>
                </a:solidFill>
                <a:latin typeface="Consolas" panose="020B0609020204030204" pitchFamily="49" charset="0"/>
              </a:rPr>
              <a:t>        Delivery d = scheduler.claim(id);</a:t>
            </a:r>
          </a:p>
          <a:p>
            <a:r>
              <a:rPr lang="en-US" sz="1200">
                <a:solidFill>
                  <a:srgbClr val="202020"/>
                </a:solidFill>
                <a:latin typeface="Consolas" panose="020B0609020204030204" pitchFamily="49" charset="0"/>
              </a:rPr>
              <a:t>        if (d == null) continue;</a:t>
            </a:r>
          </a:p>
          <a:p>
            <a:r>
              <a:rPr lang="en-US" sz="1200">
                <a:solidFill>
                  <a:srgbClr val="202020"/>
                </a:solidFill>
                <a:latin typeface="Consolas" panose="020B0609020204030204" pitchFamily="49" charset="0"/>
              </a:rPr>
              <a:t>        boolean sent = push.sendToUser(</a:t>
            </a:r>
          </a:p>
          <a:p>
            <a:r>
              <a:rPr lang="en-US" sz="1200">
                <a:solidFill>
                  <a:srgbClr val="202020"/>
                </a:solidFill>
                <a:latin typeface="Consolas" panose="020B0609020204030204" pitchFamily="49" charset="0"/>
              </a:rPr>
              <a:t>            d.userId(), d.key(), d.title(), d.body(), d.snoozeToken());</a:t>
            </a:r>
          </a:p>
          <a:p>
            <a:r>
              <a:rPr lang="en-US" sz="1200">
                <a:solidFill>
                  <a:srgbClr val="202020"/>
                </a:solidFill>
                <a:latin typeface="Consolas" panose="020B0609020204030204" pitchFamily="49" charset="0"/>
              </a:rPr>
              <a:t>        scheduler.finish(id, sent);</a:t>
            </a:r>
          </a:p>
          <a:p>
            <a:r>
              <a:rPr lang="en-US" sz="1200">
                <a:solidFill>
                  <a:srgbClr val="202020"/>
                </a:solidFill>
                <a:latin typeface="Consolas" panose="020B0609020204030204" pitchFamily="49" charset="0"/>
              </a:rPr>
              <a:t>    }</a:t>
            </a:r>
          </a:p>
          <a:p>
            <a:r>
              <a:rPr lang="en-US" sz="1200">
                <a:solidFill>
                  <a:srgbClr val="202020"/>
                </a:solidFill>
                <a:latin typeface="Consolas" panose="020B0609020204030204" pitchFamily="49" charset="0"/>
              </a:rPr>
              <a:t>}</a:t>
            </a:r>
          </a:p>
        </p:txBody>
      </p:sp>
    </p:spTree>
    <p:extLst>
      <p:ext uri="{BB962C8B-B14F-4D97-AF65-F5344CB8AC3E}">
        <p14:creationId xmlns:p14="http://schemas.microsoft.com/office/powerpoint/2010/main" val="1769258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7366000" cy="457200"/>
          </a:xfrm>
          <a:prstGeom prst="rect">
            <a:avLst/>
          </a:prstGeom>
        </p:spPr>
        <p:txBody>
          <a:bodyPr wrap="square">
            <a:noAutofit/>
          </a:bodyPr>
          <a:lstStyle/>
          <a:p>
            <a:pPr marL="342900" indent="-342900">
              <a:tabLst>
                <a:tab pos="457200" algn="l"/>
              </a:tabLst>
            </a:pPr>
            <a:r>
              <a:rPr lang="en-IN" sz="16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Data Set : MySQL / PostgreSQL</a:t>
            </a:r>
            <a:endParaRPr lang="en-IN" sz="1600"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53BB81E-927F-2F22-FD70-CB04967AC5B4}"/>
              </a:ext>
            </a:extLst>
          </p:cNvPr>
          <p:cNvSpPr/>
          <p:nvPr/>
        </p:nvSpPr>
        <p:spPr>
          <a:xfrm>
            <a:off x="279400" y="876300"/>
            <a:ext cx="20320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63DA914-89F5-9FA1-036B-14AA935E0DEE}"/>
              </a:ext>
            </a:extLst>
          </p:cNvPr>
          <p:cNvSpPr txBox="1"/>
          <p:nvPr/>
        </p:nvSpPr>
        <p:spPr>
          <a:xfrm>
            <a:off x="368300" y="952500"/>
            <a:ext cx="18542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TABLE</a:t>
            </a:r>
          </a:p>
        </p:txBody>
      </p:sp>
      <p:sp>
        <p:nvSpPr>
          <p:cNvPr id="6" name="Rectangle 5">
            <a:extLst>
              <a:ext uri="{FF2B5EF4-FFF2-40B4-BE49-F238E27FC236}">
                <a16:creationId xmlns:a16="http://schemas.microsoft.com/office/drawing/2014/main" id="{20E733C3-7F81-1A97-4CE9-14F383B795CD}"/>
              </a:ext>
            </a:extLst>
          </p:cNvPr>
          <p:cNvSpPr/>
          <p:nvPr/>
        </p:nvSpPr>
        <p:spPr>
          <a:xfrm>
            <a:off x="2438400" y="876300"/>
            <a:ext cx="38735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93E7711-D7BB-E428-2C20-0BE5F3BE0ACD}"/>
              </a:ext>
            </a:extLst>
          </p:cNvPr>
          <p:cNvSpPr txBox="1"/>
          <p:nvPr/>
        </p:nvSpPr>
        <p:spPr>
          <a:xfrm>
            <a:off x="2527300" y="952500"/>
            <a:ext cx="36957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SAMPLE FIELDS</a:t>
            </a:r>
          </a:p>
        </p:txBody>
      </p:sp>
      <p:sp>
        <p:nvSpPr>
          <p:cNvPr id="8" name="Rectangle 7">
            <a:extLst>
              <a:ext uri="{FF2B5EF4-FFF2-40B4-BE49-F238E27FC236}">
                <a16:creationId xmlns:a16="http://schemas.microsoft.com/office/drawing/2014/main" id="{4388FE89-F281-E830-9D95-7C2794632D92}"/>
              </a:ext>
            </a:extLst>
          </p:cNvPr>
          <p:cNvSpPr/>
          <p:nvPr/>
        </p:nvSpPr>
        <p:spPr>
          <a:xfrm>
            <a:off x="6413500" y="876300"/>
            <a:ext cx="24130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0C9F511-9928-85DC-038E-0CA3FA6BF804}"/>
              </a:ext>
            </a:extLst>
          </p:cNvPr>
          <p:cNvSpPr txBox="1"/>
          <p:nvPr/>
        </p:nvSpPr>
        <p:spPr>
          <a:xfrm>
            <a:off x="6502400" y="952500"/>
            <a:ext cx="22352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PURPOSE</a:t>
            </a:r>
          </a:p>
        </p:txBody>
      </p:sp>
      <p:sp>
        <p:nvSpPr>
          <p:cNvPr id="10" name="Rectangle 9">
            <a:extLst>
              <a:ext uri="{FF2B5EF4-FFF2-40B4-BE49-F238E27FC236}">
                <a16:creationId xmlns:a16="http://schemas.microsoft.com/office/drawing/2014/main" id="{51898D7C-0DE9-F2AD-3B06-EEDE567F897A}"/>
              </a:ext>
            </a:extLst>
          </p:cNvPr>
          <p:cNvSpPr/>
          <p:nvPr/>
        </p:nvSpPr>
        <p:spPr>
          <a:xfrm>
            <a:off x="279400" y="12700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0EF1C5A-8D12-F13A-D345-F658F2608F24}"/>
              </a:ext>
            </a:extLst>
          </p:cNvPr>
          <p:cNvSpPr txBox="1"/>
          <p:nvPr/>
        </p:nvSpPr>
        <p:spPr>
          <a:xfrm>
            <a:off x="368300" y="13716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users</a:t>
            </a:r>
          </a:p>
        </p:txBody>
      </p:sp>
      <p:sp>
        <p:nvSpPr>
          <p:cNvPr id="12" name="Rectangle 11">
            <a:extLst>
              <a:ext uri="{FF2B5EF4-FFF2-40B4-BE49-F238E27FC236}">
                <a16:creationId xmlns:a16="http://schemas.microsoft.com/office/drawing/2014/main" id="{EF5F20DE-351E-2B30-C2DB-8D535450C130}"/>
              </a:ext>
            </a:extLst>
          </p:cNvPr>
          <p:cNvSpPr/>
          <p:nvPr/>
        </p:nvSpPr>
        <p:spPr>
          <a:xfrm>
            <a:off x="2438400" y="12700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57034B8-1AC2-4865-1496-968CC28C0987}"/>
              </a:ext>
            </a:extLst>
          </p:cNvPr>
          <p:cNvSpPr txBox="1"/>
          <p:nvPr/>
        </p:nvSpPr>
        <p:spPr>
          <a:xfrm>
            <a:off x="2527300" y="13716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id, email, timezone_id</a:t>
            </a:r>
          </a:p>
        </p:txBody>
      </p:sp>
      <p:sp>
        <p:nvSpPr>
          <p:cNvPr id="14" name="Rectangle 13">
            <a:extLst>
              <a:ext uri="{FF2B5EF4-FFF2-40B4-BE49-F238E27FC236}">
                <a16:creationId xmlns:a16="http://schemas.microsoft.com/office/drawing/2014/main" id="{9127ECBB-93BA-C868-6BE8-8593C8622D54}"/>
              </a:ext>
            </a:extLst>
          </p:cNvPr>
          <p:cNvSpPr/>
          <p:nvPr/>
        </p:nvSpPr>
        <p:spPr>
          <a:xfrm>
            <a:off x="6413500" y="12700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4C46F8F-2487-33FC-2507-59DBBCEF3FB7}"/>
              </a:ext>
            </a:extLst>
          </p:cNvPr>
          <p:cNvSpPr txBox="1"/>
          <p:nvPr/>
        </p:nvSpPr>
        <p:spPr>
          <a:xfrm>
            <a:off x="6502400" y="13716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account</a:t>
            </a:r>
          </a:p>
        </p:txBody>
      </p:sp>
      <p:sp>
        <p:nvSpPr>
          <p:cNvPr id="16" name="Rectangle 15">
            <a:extLst>
              <a:ext uri="{FF2B5EF4-FFF2-40B4-BE49-F238E27FC236}">
                <a16:creationId xmlns:a16="http://schemas.microsoft.com/office/drawing/2014/main" id="{4FDEE4F8-ED7B-5281-B775-582A7D8A0889}"/>
              </a:ext>
            </a:extLst>
          </p:cNvPr>
          <p:cNvSpPr/>
          <p:nvPr/>
        </p:nvSpPr>
        <p:spPr>
          <a:xfrm>
            <a:off x="279400" y="18161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144BB19-E5BE-C126-E013-FBCD2433AF45}"/>
              </a:ext>
            </a:extLst>
          </p:cNvPr>
          <p:cNvSpPr txBox="1"/>
          <p:nvPr/>
        </p:nvSpPr>
        <p:spPr>
          <a:xfrm>
            <a:off x="368300" y="19177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appointments</a:t>
            </a:r>
          </a:p>
        </p:txBody>
      </p:sp>
      <p:sp>
        <p:nvSpPr>
          <p:cNvPr id="18" name="Rectangle 17">
            <a:extLst>
              <a:ext uri="{FF2B5EF4-FFF2-40B4-BE49-F238E27FC236}">
                <a16:creationId xmlns:a16="http://schemas.microsoft.com/office/drawing/2014/main" id="{1407986E-154E-D4D5-CBCA-6EA9FCA89D4F}"/>
              </a:ext>
            </a:extLst>
          </p:cNvPr>
          <p:cNvSpPr/>
          <p:nvPr/>
        </p:nvSpPr>
        <p:spPr>
          <a:xfrm>
            <a:off x="2438400" y="18161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F392CFC-B820-D788-EE3C-8E55A551389F}"/>
              </a:ext>
            </a:extLst>
          </p:cNvPr>
          <p:cNvSpPr txBox="1"/>
          <p:nvPr/>
        </p:nvSpPr>
        <p:spPr>
          <a:xfrm>
            <a:off x="2527300" y="19177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starts_at, reminder_minutes_before</a:t>
            </a:r>
          </a:p>
        </p:txBody>
      </p:sp>
      <p:sp>
        <p:nvSpPr>
          <p:cNvPr id="20" name="Rectangle 19">
            <a:extLst>
              <a:ext uri="{FF2B5EF4-FFF2-40B4-BE49-F238E27FC236}">
                <a16:creationId xmlns:a16="http://schemas.microsoft.com/office/drawing/2014/main" id="{F45CF71F-24C2-50A0-4F94-88EDA057AE48}"/>
              </a:ext>
            </a:extLst>
          </p:cNvPr>
          <p:cNvSpPr/>
          <p:nvPr/>
        </p:nvSpPr>
        <p:spPr>
          <a:xfrm>
            <a:off x="6413500" y="18161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4BC31BF-DB1F-FE98-2A94-017EE99B4885}"/>
              </a:ext>
            </a:extLst>
          </p:cNvPr>
          <p:cNvSpPr txBox="1"/>
          <p:nvPr/>
        </p:nvSpPr>
        <p:spPr>
          <a:xfrm>
            <a:off x="6502400" y="19177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visit schedule</a:t>
            </a:r>
          </a:p>
        </p:txBody>
      </p:sp>
      <p:sp>
        <p:nvSpPr>
          <p:cNvPr id="22" name="Rectangle 21">
            <a:extLst>
              <a:ext uri="{FF2B5EF4-FFF2-40B4-BE49-F238E27FC236}">
                <a16:creationId xmlns:a16="http://schemas.microsoft.com/office/drawing/2014/main" id="{EA0F0E7F-08A1-EA34-6DCA-8907654CDD55}"/>
              </a:ext>
            </a:extLst>
          </p:cNvPr>
          <p:cNvSpPr/>
          <p:nvPr/>
        </p:nvSpPr>
        <p:spPr>
          <a:xfrm>
            <a:off x="279400" y="23622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E1139E1-D313-EAF2-184B-20C8AEB32EEE}"/>
              </a:ext>
            </a:extLst>
          </p:cNvPr>
          <p:cNvSpPr txBox="1"/>
          <p:nvPr/>
        </p:nvSpPr>
        <p:spPr>
          <a:xfrm>
            <a:off x="368300" y="24638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care_tasks</a:t>
            </a:r>
          </a:p>
        </p:txBody>
      </p:sp>
      <p:sp>
        <p:nvSpPr>
          <p:cNvPr id="24" name="Rectangle 23">
            <a:extLst>
              <a:ext uri="{FF2B5EF4-FFF2-40B4-BE49-F238E27FC236}">
                <a16:creationId xmlns:a16="http://schemas.microsoft.com/office/drawing/2014/main" id="{3D35079D-75F6-C3D0-B282-B83A915B649C}"/>
              </a:ext>
            </a:extLst>
          </p:cNvPr>
          <p:cNvSpPr/>
          <p:nvPr/>
        </p:nvSpPr>
        <p:spPr>
          <a:xfrm>
            <a:off x="2438400" y="23622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FE7AEFE-DA58-B801-E96C-A34EB9C0F88F}"/>
              </a:ext>
            </a:extLst>
          </p:cNvPr>
          <p:cNvSpPr txBox="1"/>
          <p:nvPr/>
        </p:nvSpPr>
        <p:spPr>
          <a:xfrm>
            <a:off x="2527300" y="24638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task_date, completed</a:t>
            </a:r>
          </a:p>
        </p:txBody>
      </p:sp>
      <p:sp>
        <p:nvSpPr>
          <p:cNvPr id="26" name="Rectangle 25">
            <a:extLst>
              <a:ext uri="{FF2B5EF4-FFF2-40B4-BE49-F238E27FC236}">
                <a16:creationId xmlns:a16="http://schemas.microsoft.com/office/drawing/2014/main" id="{C3ACCDD8-516B-88AF-2B0B-AA7A5BDB9311}"/>
              </a:ext>
            </a:extLst>
          </p:cNvPr>
          <p:cNvSpPr/>
          <p:nvPr/>
        </p:nvSpPr>
        <p:spPr>
          <a:xfrm>
            <a:off x="6413500" y="23622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A90B692-7800-11D1-835F-4081A957623D}"/>
              </a:ext>
            </a:extLst>
          </p:cNvPr>
          <p:cNvSpPr txBox="1"/>
          <p:nvPr/>
        </p:nvSpPr>
        <p:spPr>
          <a:xfrm>
            <a:off x="6502400" y="24638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daily tasks</a:t>
            </a:r>
          </a:p>
        </p:txBody>
      </p:sp>
      <p:sp>
        <p:nvSpPr>
          <p:cNvPr id="28" name="Rectangle 27">
            <a:extLst>
              <a:ext uri="{FF2B5EF4-FFF2-40B4-BE49-F238E27FC236}">
                <a16:creationId xmlns:a16="http://schemas.microsoft.com/office/drawing/2014/main" id="{A03C5C5E-A0A8-BE96-5329-FD7948F45279}"/>
              </a:ext>
            </a:extLst>
          </p:cNvPr>
          <p:cNvSpPr/>
          <p:nvPr/>
        </p:nvSpPr>
        <p:spPr>
          <a:xfrm>
            <a:off x="279400" y="29083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E5667E5-A98A-4D97-A830-4F899B315896}"/>
              </a:ext>
            </a:extLst>
          </p:cNvPr>
          <p:cNvSpPr txBox="1"/>
          <p:nvPr/>
        </p:nvSpPr>
        <p:spPr>
          <a:xfrm>
            <a:off x="368300" y="30099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symptom_entries</a:t>
            </a:r>
          </a:p>
        </p:txBody>
      </p:sp>
      <p:sp>
        <p:nvSpPr>
          <p:cNvPr id="30" name="Rectangle 29">
            <a:extLst>
              <a:ext uri="{FF2B5EF4-FFF2-40B4-BE49-F238E27FC236}">
                <a16:creationId xmlns:a16="http://schemas.microsoft.com/office/drawing/2014/main" id="{B5DFDEFA-7A36-C10D-0E4B-54C432DF36DC}"/>
              </a:ext>
            </a:extLst>
          </p:cNvPr>
          <p:cNvSpPr/>
          <p:nvPr/>
        </p:nvSpPr>
        <p:spPr>
          <a:xfrm>
            <a:off x="2438400" y="29083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95E4B6-2BBE-B19B-3E2C-8D2C11EB5C62}"/>
              </a:ext>
            </a:extLst>
          </p:cNvPr>
          <p:cNvSpPr txBox="1"/>
          <p:nvPr/>
        </p:nvSpPr>
        <p:spPr>
          <a:xfrm>
            <a:off x="2527300" y="30099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symptom, severity</a:t>
            </a:r>
          </a:p>
        </p:txBody>
      </p:sp>
      <p:sp>
        <p:nvSpPr>
          <p:cNvPr id="32" name="Rectangle 31">
            <a:extLst>
              <a:ext uri="{FF2B5EF4-FFF2-40B4-BE49-F238E27FC236}">
                <a16:creationId xmlns:a16="http://schemas.microsoft.com/office/drawing/2014/main" id="{44EDCCE6-601D-9D49-0AC2-A3C3620451F3}"/>
              </a:ext>
            </a:extLst>
          </p:cNvPr>
          <p:cNvSpPr/>
          <p:nvPr/>
        </p:nvSpPr>
        <p:spPr>
          <a:xfrm>
            <a:off x="6413500" y="29083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722C86B-782E-F154-BAE7-F63044BA4C18}"/>
              </a:ext>
            </a:extLst>
          </p:cNvPr>
          <p:cNvSpPr txBox="1"/>
          <p:nvPr/>
        </p:nvSpPr>
        <p:spPr>
          <a:xfrm>
            <a:off x="6502400" y="30099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private journal</a:t>
            </a:r>
          </a:p>
        </p:txBody>
      </p:sp>
      <p:sp>
        <p:nvSpPr>
          <p:cNvPr id="34" name="Rectangle 33">
            <a:extLst>
              <a:ext uri="{FF2B5EF4-FFF2-40B4-BE49-F238E27FC236}">
                <a16:creationId xmlns:a16="http://schemas.microsoft.com/office/drawing/2014/main" id="{D7C4F8E0-56F9-C04C-001A-ADB1D8242AD4}"/>
              </a:ext>
            </a:extLst>
          </p:cNvPr>
          <p:cNvSpPr/>
          <p:nvPr/>
        </p:nvSpPr>
        <p:spPr>
          <a:xfrm>
            <a:off x="279400" y="34544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4246ED6B-AA45-D545-ECC7-5057818403B8}"/>
              </a:ext>
            </a:extLst>
          </p:cNvPr>
          <p:cNvSpPr txBox="1"/>
          <p:nvPr/>
        </p:nvSpPr>
        <p:spPr>
          <a:xfrm>
            <a:off x="368300" y="35560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push_reminders</a:t>
            </a:r>
          </a:p>
        </p:txBody>
      </p:sp>
      <p:sp>
        <p:nvSpPr>
          <p:cNvPr id="36" name="Rectangle 35">
            <a:extLst>
              <a:ext uri="{FF2B5EF4-FFF2-40B4-BE49-F238E27FC236}">
                <a16:creationId xmlns:a16="http://schemas.microsoft.com/office/drawing/2014/main" id="{AEBF9CF5-E146-65E4-7560-7271597551FC}"/>
              </a:ext>
            </a:extLst>
          </p:cNvPr>
          <p:cNvSpPr/>
          <p:nvPr/>
        </p:nvSpPr>
        <p:spPr>
          <a:xfrm>
            <a:off x="2438400" y="34544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CEB5C08-7733-D09B-31AF-BDFDEE5440C9}"/>
              </a:ext>
            </a:extLst>
          </p:cNvPr>
          <p:cNvSpPr txBox="1"/>
          <p:nvPr/>
        </p:nvSpPr>
        <p:spPr>
          <a:xfrm>
            <a:off x="2527300" y="35560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key, scheduled_at, status</a:t>
            </a:r>
          </a:p>
        </p:txBody>
      </p:sp>
      <p:sp>
        <p:nvSpPr>
          <p:cNvPr id="38" name="Rectangle 37">
            <a:extLst>
              <a:ext uri="{FF2B5EF4-FFF2-40B4-BE49-F238E27FC236}">
                <a16:creationId xmlns:a16="http://schemas.microsoft.com/office/drawing/2014/main" id="{CD05DF03-301D-2584-D519-4C5F32E0A0AF}"/>
              </a:ext>
            </a:extLst>
          </p:cNvPr>
          <p:cNvSpPr/>
          <p:nvPr/>
        </p:nvSpPr>
        <p:spPr>
          <a:xfrm>
            <a:off x="6413500" y="34544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F7283F1-B5D3-C368-60FD-E6C0FD1AC491}"/>
              </a:ext>
            </a:extLst>
          </p:cNvPr>
          <p:cNvSpPr txBox="1"/>
          <p:nvPr/>
        </p:nvSpPr>
        <p:spPr>
          <a:xfrm>
            <a:off x="6502400" y="35560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scheduled delivery</a:t>
            </a:r>
          </a:p>
        </p:txBody>
      </p:sp>
      <p:sp>
        <p:nvSpPr>
          <p:cNvPr id="40" name="Rectangle 39">
            <a:extLst>
              <a:ext uri="{FF2B5EF4-FFF2-40B4-BE49-F238E27FC236}">
                <a16:creationId xmlns:a16="http://schemas.microsoft.com/office/drawing/2014/main" id="{6F76D151-075F-F634-2392-706582B1055E}"/>
              </a:ext>
            </a:extLst>
          </p:cNvPr>
          <p:cNvSpPr/>
          <p:nvPr/>
        </p:nvSpPr>
        <p:spPr>
          <a:xfrm>
            <a:off x="279400" y="40005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F7CDAAC-221B-85A5-60A4-20265AA0BD2C}"/>
              </a:ext>
            </a:extLst>
          </p:cNvPr>
          <p:cNvSpPr txBox="1"/>
          <p:nvPr/>
        </p:nvSpPr>
        <p:spPr>
          <a:xfrm>
            <a:off x="368300" y="41021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push_subscriptions</a:t>
            </a:r>
          </a:p>
        </p:txBody>
      </p:sp>
      <p:sp>
        <p:nvSpPr>
          <p:cNvPr id="42" name="Rectangle 41">
            <a:extLst>
              <a:ext uri="{FF2B5EF4-FFF2-40B4-BE49-F238E27FC236}">
                <a16:creationId xmlns:a16="http://schemas.microsoft.com/office/drawing/2014/main" id="{D73D2B94-9610-4B07-76DA-D01E9795EF3A}"/>
              </a:ext>
            </a:extLst>
          </p:cNvPr>
          <p:cNvSpPr/>
          <p:nvPr/>
        </p:nvSpPr>
        <p:spPr>
          <a:xfrm>
            <a:off x="2438400" y="40005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BA0D76DB-BFCD-5312-5C53-25C7BA9B320F}"/>
              </a:ext>
            </a:extLst>
          </p:cNvPr>
          <p:cNvSpPr txBox="1"/>
          <p:nvPr/>
        </p:nvSpPr>
        <p:spPr>
          <a:xfrm>
            <a:off x="2527300" y="41021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endpoint_hash</a:t>
            </a:r>
          </a:p>
        </p:txBody>
      </p:sp>
      <p:sp>
        <p:nvSpPr>
          <p:cNvPr id="44" name="Rectangle 43">
            <a:extLst>
              <a:ext uri="{FF2B5EF4-FFF2-40B4-BE49-F238E27FC236}">
                <a16:creationId xmlns:a16="http://schemas.microsoft.com/office/drawing/2014/main" id="{8F5181C3-08EE-499A-116F-532A51B845FC}"/>
              </a:ext>
            </a:extLst>
          </p:cNvPr>
          <p:cNvSpPr/>
          <p:nvPr/>
        </p:nvSpPr>
        <p:spPr>
          <a:xfrm>
            <a:off x="6413500" y="40005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3CE3585-B25C-8BFA-EC1F-32F84812BEA8}"/>
              </a:ext>
            </a:extLst>
          </p:cNvPr>
          <p:cNvSpPr txBox="1"/>
          <p:nvPr/>
        </p:nvSpPr>
        <p:spPr>
          <a:xfrm>
            <a:off x="6502400" y="41021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opt-in device</a:t>
            </a:r>
          </a:p>
        </p:txBody>
      </p:sp>
      <p:sp>
        <p:nvSpPr>
          <p:cNvPr id="46" name="TextBox 45">
            <a:extLst>
              <a:ext uri="{FF2B5EF4-FFF2-40B4-BE49-F238E27FC236}">
                <a16:creationId xmlns:a16="http://schemas.microsoft.com/office/drawing/2014/main" id="{E9076A18-DF24-0F10-E7D7-3BD4AFA9C348}"/>
              </a:ext>
            </a:extLst>
          </p:cNvPr>
          <p:cNvSpPr txBox="1"/>
          <p:nvPr/>
        </p:nvSpPr>
        <p:spPr>
          <a:xfrm>
            <a:off x="381000" y="4660900"/>
            <a:ext cx="8382000" cy="369332"/>
          </a:xfrm>
          <a:prstGeom prst="rect">
            <a:avLst/>
          </a:prstGeom>
          <a:noFill/>
        </p:spPr>
        <p:txBody>
          <a:bodyPr vert="horz" wrap="square" lIns="25400" tIns="12700" rIns="25400" bIns="12700" rtlCol="0">
            <a:noAutofit/>
          </a:bodyPr>
          <a:lstStyle/>
          <a:p>
            <a:pPr algn="ctr"/>
            <a:r>
              <a:rPr lang="en-US" sz="900">
                <a:solidFill>
                  <a:srgbClr val="555555"/>
                </a:solidFill>
                <a:latin typeface="Times New Roman" panose="02020603050405020304" pitchFamily="18" charset="0"/>
              </a:rPr>
              <a:t>All example records are synthetic and contain no real health information.</a:t>
            </a:r>
          </a:p>
        </p:txBody>
      </p:sp>
    </p:spTree>
    <p:extLst>
      <p:ext uri="{BB962C8B-B14F-4D97-AF65-F5344CB8AC3E}">
        <p14:creationId xmlns:p14="http://schemas.microsoft.com/office/powerpoint/2010/main" val="4029253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7747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Testing Methods and Results</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C2D9A24-C44F-40D0-82CE-2459343036BD}"/>
              </a:ext>
            </a:extLst>
          </p:cNvPr>
          <p:cNvSpPr/>
          <p:nvPr/>
        </p:nvSpPr>
        <p:spPr>
          <a:xfrm>
            <a:off x="647700" y="971550"/>
            <a:ext cx="7848600" cy="3323987"/>
          </a:xfrm>
          <a:prstGeom prst="rect">
            <a:avLst/>
          </a:prstGeom>
        </p:spPr>
        <p:txBody>
          <a:bodyPr wrap="square">
            <a:noAutofit/>
          </a:bodyPr>
          <a:lstStyle/>
          <a:p>
            <a:pPr marL="342900" indent="-342900">
              <a:buFont typeface="Wingdings" panose="05000000000000000000" pitchFamily="2" charset="2"/>
              <a:buChar char="v"/>
            </a:pPr>
            <a:r>
              <a:rPr lang="en-US" sz="1300">
                <a:latin typeface="Times New Roman" panose="02020603050405020304" pitchFamily="18" charset="0"/>
              </a:rPr>
              <a:t>Backend: Spring Boot Test, MockMvc, JUnit, and H2 PostgreSQL mode. Four focused reminder tests passed.</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Coverage: timezone default and validation; schedule preferences; deduplication; one-time expiring snooze; 90-day retention.</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Frontend: TypeScript/Vite production build passed.</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Privacy checks: JWT authentication, ownership checks, selective report sharing, generic push text.</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Limitations: no live push delivery without VAPID keys and HTTPS; broader UI, accessibility, and MySQL integration tests remain future work.</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8646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74D3FD-3F5A-4F68-95EF-1E13919DDE63}"/>
              </a:ext>
            </a:extLst>
          </p:cNvPr>
          <p:cNvSpPr/>
          <p:nvPr/>
        </p:nvSpPr>
        <p:spPr>
          <a:xfrm>
            <a:off x="304799" y="209550"/>
            <a:ext cx="7874000" cy="457200"/>
          </a:xfrm>
          <a:prstGeom prst="rect">
            <a:avLst/>
          </a:prstGeom>
        </p:spPr>
        <p:txBody>
          <a:bodyPr wrap="square">
            <a:noAutofit/>
          </a:bodyPr>
          <a:lstStyle/>
          <a:p>
            <a:pPr marL="342900" lvl="0" indent="-342900">
              <a:tabLst>
                <a:tab pos="457200" algn="l"/>
              </a:tabLst>
            </a:pPr>
            <a:r>
              <a:rPr lang="en-IN" b="1">
                <a:solidFill>
                  <a:srgbClr val="000099"/>
                </a:solidFill>
                <a:latin typeface="Times New Roman" panose="02020603050405020304" pitchFamily="18" charset="0"/>
                <a:ea typeface="Times New Roman" panose="02020603050405020304" pitchFamily="18" charset="0"/>
              </a:rPr>
              <a:t>Conclusion and Future Work</a:t>
            </a:r>
            <a:endParaRPr lang="en-IN" b="1" dirty="0">
              <a:solidFill>
                <a:srgbClr val="000099"/>
              </a:solidFill>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50063B2B-1D59-418D-A2B6-5F4901044C83}"/>
              </a:ext>
            </a:extLst>
          </p:cNvPr>
          <p:cNvSpPr/>
          <p:nvPr/>
        </p:nvSpPr>
        <p:spPr>
          <a:xfrm>
            <a:off x="334617" y="590550"/>
            <a:ext cx="8305800" cy="45807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a:t>
            </a:r>
          </a:p>
        </p:txBody>
      </p:sp>
      <p:sp>
        <p:nvSpPr>
          <p:cNvPr id="4" name="Rectangle 3">
            <a:extLst>
              <a:ext uri="{FF2B5EF4-FFF2-40B4-BE49-F238E27FC236}">
                <a16:creationId xmlns:a16="http://schemas.microsoft.com/office/drawing/2014/main" id="{814A9FBE-6227-4D01-8F92-1A3234B49896}"/>
              </a:ext>
            </a:extLst>
          </p:cNvPr>
          <p:cNvSpPr/>
          <p:nvPr/>
        </p:nvSpPr>
        <p:spPr>
          <a:xfrm>
            <a:off x="609600" y="742949"/>
            <a:ext cx="7696200" cy="3784600"/>
          </a:xfrm>
          <a:prstGeom prst="rect">
            <a:avLst/>
          </a:prstGeom>
        </p:spPr>
        <p:txBody>
          <a:bodyPr wrap="square">
            <a:noAutofit/>
          </a:bodyPr>
          <a:lstStyle/>
          <a:p>
            <a:pPr>
              <a:lnSpc>
                <a:spcPct val="150000"/>
              </a:lnSpc>
            </a:pPr>
            <a:r>
              <a:rPr lang="en-US" sz="1300">
                <a:latin typeface="Times New Roman" panose="02020603050405020304" pitchFamily="18" charset="0"/>
                <a:cs typeface="Times New Roman" panose="02020603050405020304" pitchFamily="18" charset="0"/>
              </a:rPr>
              <a:t>MaatriCare provides an authenticated workspace for pregnancy records, appointments, daily care, private journaling, educational resources, user-controlled reports, and reminders. The system focuses on organization and communication support.</a:t>
            </a:r>
          </a:p>
          <a:p>
            <a:pPr>
              <a:lnSpc>
                <a:spcPct val="150000"/>
              </a:lnSpc>
            </a:pPr>
            <a:endParaRPr lang="en-US" sz="1300">
              <a:latin typeface="Times New Roman" panose="02020603050405020304" pitchFamily="18" charset="0"/>
              <a:cs typeface="Times New Roman" panose="02020603050405020304" pitchFamily="18" charset="0"/>
            </a:endParaRPr>
          </a:p>
          <a:p>
            <a:pPr>
              <a:lnSpc>
                <a:spcPct val="150000"/>
              </a:lnSpc>
            </a:pPr>
            <a:r>
              <a:rPr lang="en-US" sz="1300">
                <a:latin typeface="Times New Roman" panose="02020603050405020304" pitchFamily="18" charset="0"/>
                <a:cs typeface="Times New Roman" panose="02020603050405020304" pitchFamily="18" charset="0"/>
              </a:rPr>
              <a:t>Future work</a:t>
            </a:r>
          </a:p>
          <a:p>
            <a:pPr>
              <a:lnSpc>
                <a:spcPct val="150000"/>
              </a:lnSpc>
            </a:pPr>
            <a:r>
              <a:rPr lang="en-US" sz="1300">
                <a:latin typeface="Times New Roman" panose="02020603050405020304" pitchFamily="18" charset="0"/>
                <a:cs typeface="Times New Roman" panose="02020603050405020304" pitchFamily="18" charset="0"/>
              </a:rPr>
              <a:t>- Configure VAPID and HTTPS, then test push on real devices</a:t>
            </a:r>
          </a:p>
          <a:p>
            <a:pPr>
              <a:lnSpc>
                <a:spcPct val="150000"/>
              </a:lnSpc>
            </a:pPr>
            <a:r>
              <a:rPr lang="en-US" sz="1300">
                <a:latin typeface="Times New Roman" panose="02020603050405020304" pitchFamily="18" charset="0"/>
                <a:cs typeface="Times New Roman" panose="02020603050405020304" pitchFamily="18" charset="0"/>
              </a:rPr>
              <a:t>- Replace illustrative interface panels with live screenshots</a:t>
            </a:r>
          </a:p>
          <a:p>
            <a:pPr>
              <a:lnSpc>
                <a:spcPct val="150000"/>
              </a:lnSpc>
            </a:pPr>
            <a:r>
              <a:rPr lang="en-US" sz="1300">
                <a:latin typeface="Times New Roman" panose="02020603050405020304" pitchFamily="18" charset="0"/>
                <a:cs typeface="Times New Roman" panose="02020603050405020304" pitchFamily="18" charset="0"/>
              </a:rPr>
              <a:t>- Extend frontend, database, migration, and accessibility tests</a:t>
            </a:r>
          </a:p>
          <a:p>
            <a:pPr>
              <a:lnSpc>
                <a:spcPct val="150000"/>
              </a:lnSpc>
            </a:pPr>
            <a:r>
              <a:rPr lang="en-US" sz="1300">
                <a:latin typeface="Times New Roman" panose="02020603050405020304" pitchFamily="18" charset="0"/>
                <a:cs typeface="Times New Roman" panose="02020603050405020304" pitchFamily="18" charset="0"/>
              </a:rPr>
              <a:t>- Complete privacy/security review and production deployment</a:t>
            </a:r>
          </a:p>
          <a:p>
            <a:pPr>
              <a:lnSpc>
                <a:spcPct val="150000"/>
              </a:lnSpc>
            </a:pPr>
            <a:r>
              <a:rPr lang="en-US" sz="1300">
                <a:latin typeface="Times New Roman" panose="02020603050405020304" pitchFamily="18" charset="0"/>
                <a:cs typeface="Times New Roman" panose="02020603050405020304" pitchFamily="18" charset="0"/>
              </a:rPr>
              <a:t>- Prepare the final report in the official institutional format</a:t>
            </a:r>
            <a:endParaRPr lang="en-IN"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917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99D439-EBA7-449F-8506-42CC095409CC}"/>
              </a:ext>
            </a:extLst>
          </p:cNvPr>
          <p:cNvSpPr/>
          <p:nvPr/>
        </p:nvSpPr>
        <p:spPr>
          <a:xfrm>
            <a:off x="76200" y="133350"/>
            <a:ext cx="7620000" cy="457200"/>
          </a:xfrm>
          <a:prstGeom prst="rect">
            <a:avLst/>
          </a:prstGeom>
        </p:spPr>
        <p:txBody>
          <a:bodyPr wrap="square">
            <a:noAutofit/>
          </a:bodyPr>
          <a:lstStyle/>
          <a:p>
            <a:r>
              <a:rPr lang="en-US"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Reference Books and Websites</a:t>
            </a:r>
            <a:endParaRPr lang="en-US"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F1F7F1A-FAAF-47A7-96F1-758A058B23EC}"/>
              </a:ext>
            </a:extLst>
          </p:cNvPr>
          <p:cNvSpPr>
            <a:spLocks noChangeArrowheads="1"/>
          </p:cNvSpPr>
          <p:nvPr/>
        </p:nvSpPr>
        <p:spPr bwMode="auto">
          <a:xfrm>
            <a:off x="0" y="876073"/>
            <a:ext cx="9149749" cy="337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React Documentation. React.dev.</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Spring Boot Reference Documentation. Spring.io.</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Spring Security Reference Documentation. Spring.io.</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PostgreSQL Documentation. PostgreSQL.org.</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MySQL 8.0 Reference Manual. Oracle.</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MDN Web Docs: Service Worker API and Push API.</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Pressman and Maxim. Software Engineering: A Practitionerâ€™s Approach, 9th ed.</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Sommerville. Software Engineering, 10th ed.</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Verify publication details and retain only sources actually consulted.</a:t>
            </a:r>
            <a:endPar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589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DBF420-0454-4DB5-82CD-499836C49A43}"/>
              </a:ext>
            </a:extLst>
          </p:cNvPr>
          <p:cNvSpPr/>
          <p:nvPr/>
        </p:nvSpPr>
        <p:spPr>
          <a:xfrm>
            <a:off x="698500" y="1333500"/>
            <a:ext cx="7696200" cy="812800"/>
          </a:xfrm>
          <a:prstGeom prst="rect">
            <a:avLst/>
          </a:prstGeom>
        </p:spPr>
        <p:txBody>
          <a:bodyPr wrap="square">
            <a:noAutofit/>
          </a:bodyPr>
          <a:lstStyle/>
          <a:p>
            <a:pPr algn="ctr">
              <a:lnSpc>
                <a:spcPct val="150000"/>
              </a:lnSpc>
            </a:pPr>
            <a:r>
              <a:rPr lang="en-US" sz="1700" b="1">
                <a:solidFill>
                  <a:srgbClr val="00B050"/>
                </a:solidFill>
                <a:latin typeface="Times New Roman" panose="02020603050405020304" pitchFamily="18" charset="0"/>
                <a:cs typeface="Times New Roman" panose="02020603050405020304" pitchFamily="18" charset="0"/>
              </a:rPr>
              <a:t>I sincerely thank my project guide: Mr. M. GOVINDARAJ Sir.</a:t>
            </a:r>
            <a:endParaRPr lang="en-US" sz="1700" b="1" dirty="0">
              <a:solidFill>
                <a:srgbClr val="00B05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E76DE56-3B45-4211-AFF9-FF50C014FFEC}"/>
              </a:ext>
            </a:extLst>
          </p:cNvPr>
          <p:cNvSpPr/>
          <p:nvPr/>
        </p:nvSpPr>
        <p:spPr>
          <a:xfrm>
            <a:off x="1905000" y="2921000"/>
            <a:ext cx="5334000" cy="825500"/>
          </a:xfrm>
          <a:prstGeom prst="rect">
            <a:avLst/>
          </a:prstGeom>
        </p:spPr>
        <p:txBody>
          <a:bodyPr wrap="square">
            <a:noAutofit/>
          </a:bodyPr>
          <a:lstStyle/>
          <a:p>
            <a:pPr algn="ctr"/>
            <a:r>
              <a:rPr lang="en-IN" sz="2800" b="1">
                <a:latin typeface="Arial" panose="020B0604020202020204" pitchFamily="34" charset="0"/>
              </a:rPr>
              <a:t>Thank You</a:t>
            </a:r>
            <a:endParaRPr lang="en-IN" sz="2800" b="1" dirty="0">
              <a:solidFill>
                <a:srgbClr val="00B050"/>
              </a:solidFill>
              <a:latin typeface="Arial" panose="020B0604020202020204" pitchFamily="34" charset="0"/>
            </a:endParaRPr>
          </a:p>
        </p:txBody>
      </p:sp>
      <p:sp>
        <p:nvSpPr>
          <p:cNvPr id="3" name="TextBox 2">
            <a:extLst>
              <a:ext uri="{FF2B5EF4-FFF2-40B4-BE49-F238E27FC236}">
                <a16:creationId xmlns:a16="http://schemas.microsoft.com/office/drawing/2014/main" id="{DE147FEC-FE5A-A8A8-BFE9-8820C6DB82DD}"/>
              </a:ext>
            </a:extLst>
          </p:cNvPr>
          <p:cNvSpPr txBox="1"/>
          <p:nvPr/>
        </p:nvSpPr>
        <p:spPr>
          <a:xfrm>
            <a:off x="889000" y="4000500"/>
            <a:ext cx="7366000" cy="369332"/>
          </a:xfrm>
          <a:prstGeom prst="rect">
            <a:avLst/>
          </a:prstGeom>
          <a:noFill/>
        </p:spPr>
        <p:txBody>
          <a:bodyPr vert="horz" wrap="square" lIns="25400" tIns="12700" rIns="25400" bIns="12700" rtlCol="0">
            <a:noAutofit/>
          </a:bodyPr>
          <a:lstStyle/>
          <a:p>
            <a:pPr algn="ctr"/>
            <a:r>
              <a:rPr lang="en-US" sz="1500" b="1">
                <a:solidFill>
                  <a:srgbClr val="138A4B"/>
                </a:solidFill>
                <a:latin typeface="Times New Roman" panose="02020603050405020304" pitchFamily="18" charset="0"/>
              </a:rPr>
              <a:t>The CDOE and Review Committee</a:t>
            </a:r>
          </a:p>
        </p:txBody>
      </p:sp>
    </p:spTree>
    <p:extLst>
      <p:ext uri="{BB962C8B-B14F-4D97-AF65-F5344CB8AC3E}">
        <p14:creationId xmlns:p14="http://schemas.microsoft.com/office/powerpoint/2010/main" val="36976880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8&quot; unique_id=&quot;74339&quot;&gt;&lt;/object&gt;&lt;object type=&quot;2&quot; unique_id=&quot;74340&quot;&gt;&lt;object type=&quot;3&quot; unique_id=&quot;74341&quot;&gt;&lt;property id=&quot;20148&quot; value=&quot;5&quot;/&gt;&lt;property id=&quot;20300&quot; value=&quot;Slide 1&quot;/&gt;&lt;property id=&quot;20307&quot; value=&quot;256&quot;/&gt;&lt;/object&gt;&lt;object type=&quot;3&quot; unique_id=&quot;74407&quot;&gt;&lt;property id=&quot;20148&quot; value=&quot;5&quot;/&gt;&lt;property id=&quot;20300&quot; value=&quot;Slide 2&quot;/&gt;&lt;property id=&quot;20307&quot; value=&quot;262&quot;/&gt;&lt;/object&gt;&lt;object type=&quot;3&quot; unique_id=&quot;74608&quot;&gt;&lt;property id=&quot;20148&quot; value=&quot;5&quot;/&gt;&lt;property id=&quot;20300&quot; value=&quot;Slide 5&quot;/&gt;&lt;property id=&quot;20307&quot; value=&quot;266&quot;/&gt;&lt;/object&gt;&lt;object type=&quot;3&quot; unique_id=&quot;74659&quot;&gt;&lt;property id=&quot;20148&quot; value=&quot;5&quot;/&gt;&lt;property id=&quot;20300&quot; value=&quot;Slide 9&quot;/&gt;&lt;property id=&quot;20307&quot; value=&quot;269&quot;/&gt;&lt;/object&gt;&lt;object type=&quot;3&quot; unique_id=&quot;74741&quot;&gt;&lt;property id=&quot;20148&quot; value=&quot;5&quot;/&gt;&lt;property id=&quot;20300&quot; value=&quot;Slide 3&quot;/&gt;&lt;property id=&quot;20307&quot; value=&quot;273&quot;/&gt;&lt;/object&gt;&lt;object type=&quot;3&quot; unique_id=&quot;74742&quot;&gt;&lt;property id=&quot;20148&quot; value=&quot;5&quot;/&gt;&lt;property id=&quot;20300&quot; value=&quot;Slide 6&quot;/&gt;&lt;property id=&quot;20307&quot; value=&quot;270&quot;/&gt;&lt;/object&gt;&lt;object type=&quot;3&quot; unique_id=&quot;74743&quot;&gt;&lt;property id=&quot;20148&quot; value=&quot;5&quot;/&gt;&lt;property id=&quot;20300&quot; value=&quot;Slide 7&quot;/&gt;&lt;property id=&quot;20307&quot; value=&quot;271&quot;/&gt;&lt;/object&gt;&lt;object type=&quot;3&quot; unique_id=&quot;74744&quot;&gt;&lt;property id=&quot;20148&quot; value=&quot;5&quot;/&gt;&lt;property id=&quot;20300&quot; value=&quot;Slide 8&quot;/&gt;&lt;property id=&quot;20307&quot; value=&quot;272&quot;/&gt;&lt;/object&gt;&lt;object type=&quot;3&quot; unique_id=&quot;74818&quot;&gt;&lt;property id=&quot;20148&quot; value=&quot;5&quot;/&gt;&lt;property id=&quot;20300&quot; value=&quot;Slide 4&quot;/&gt;&lt;property id=&quot;20307&quot; value=&quot;274&quot;/&gt;&lt;/object&gt;&lt;/object&gt;&lt;/object&gt;&lt;/database&gt;"/>
  <p:tag name="SECTOMILLISECCONVERTED" val="1"/>
  <p:tag name="ARTICULATE_DESIGN_ID_OFFICE THEME" val="hHk7KfzR"/>
  <p:tag name="ARTICULATE_SLIDE_COUNT" val="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11429</TotalTime>
  <Words>1799</Words>
  <Application>Microsoft Office PowerPoint</Application>
  <PresentationFormat>On-screen Show (16:9)</PresentationFormat>
  <Paragraphs>247</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Consolas</vt:lpstr>
      <vt:lpstr>Times New Roman</vt:lpstr>
      <vt:lpstr>Wingdings</vt:lpstr>
      <vt:lpstr>Office Theme</vt:lpstr>
      <vt:lpstr>Jan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Shailesh</dc:creator>
  <cp:lastModifiedBy>Kumar, Deepak</cp:lastModifiedBy>
  <cp:revision>989</cp:revision>
  <dcterms:created xsi:type="dcterms:W3CDTF">2016-07-22T06:37:47Z</dcterms:created>
  <dcterms:modified xsi:type="dcterms:W3CDTF">2026-10-19T15:45:03Z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FC4549A7-CFF4-4A36-89BC-19E85BFABD1B</vt:lpwstr>
  </property>
  <property fmtid="{D5CDD505-2E9C-101B-9397-08002B2CF9AE}" pid="3" name="ArticulatePath">
    <vt:lpwstr>Management Template (1) (1)</vt:lpwstr>
  </property>
</Properties>
</file>