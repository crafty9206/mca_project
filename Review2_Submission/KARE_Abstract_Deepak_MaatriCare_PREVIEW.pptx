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8799-5D4D-5790-E2FF-54D653DBB5CE}"/>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5004B938-6DC0-B649-5FBA-0340B906485C}"/>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716B3538-5BFF-AF51-4ADE-DA94BBD33D10}"/>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B9F6544D-6FC7-B0C6-F2D6-B095118B8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0FE23-0F08-4751-FD8F-36547C17DBAD}"/>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945339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5C7C1-6B80-059E-C5D8-9D0E902DC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9D10CB-73BD-DFD3-E225-E58FEC4C7E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8CEC35-71C2-DF8A-904E-84B51694EE13}"/>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0350DA07-6DE9-F000-F627-F96710D49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8FD9D-A461-5802-1923-816A01F7A80C}"/>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182557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AAF88-CE6D-E22C-C9A8-1CC64EC6205B}"/>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DD3C716B-201D-6D4A-8B95-E9F69CD25A66}"/>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038D7A-E826-FE56-DD30-A7236249F72C}"/>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E7DDF7B5-E3B6-4C90-BAAF-A7981AFF6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DFE34-8F5C-CF68-E2CF-279B2B1C43AF}"/>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2158196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5B82A-9F11-A119-0953-DEC6AC579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087FEE-054C-6B96-91EC-23DEA1E0AC8C}"/>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498244-6BE3-DA64-0DAE-FCBA16F90850}"/>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192E94-15D7-DD9C-E740-A9703EE61308}"/>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6" name="Footer Placeholder 5">
            <a:extLst>
              <a:ext uri="{FF2B5EF4-FFF2-40B4-BE49-F238E27FC236}">
                <a16:creationId xmlns:a16="http://schemas.microsoft.com/office/drawing/2014/main" id="{A3206125-6BFD-6B9D-C57A-9AD23E3DB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2A8C51-0D86-2F55-E136-04B88536624D}"/>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2910826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B136-396D-9404-B881-C34F61F17DC7}"/>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D64FE8-4333-5E32-251F-E6B58FA87CF1}"/>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76ACF920-2F9E-B25F-1BDA-BC6D5E6BB12F}"/>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BA3B75-4583-4D43-2CF1-1075AD836388}"/>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B624EF27-B9B2-A68F-7C18-4F195CAD5095}"/>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E11E6E-A54C-5822-3DF6-8F71BDD24957}"/>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8" name="Footer Placeholder 7">
            <a:extLst>
              <a:ext uri="{FF2B5EF4-FFF2-40B4-BE49-F238E27FC236}">
                <a16:creationId xmlns:a16="http://schemas.microsoft.com/office/drawing/2014/main" id="{94BB2FCE-0F34-5CF1-FB22-1F9AF72ECB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BD5B02-F3F1-5448-3DFB-1B6143CCC7CB}"/>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3449975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29A7-0D43-47D8-5B36-5C8A725079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398391-346E-78CE-C0C8-145F0D814821}"/>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4" name="Footer Placeholder 3">
            <a:extLst>
              <a:ext uri="{FF2B5EF4-FFF2-40B4-BE49-F238E27FC236}">
                <a16:creationId xmlns:a16="http://schemas.microsoft.com/office/drawing/2014/main" id="{57E24BD0-6783-138D-D253-FF2DA65786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A0A934-55F4-3567-B41B-B5E00436F649}"/>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1138122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CBF03-FC3E-1DCA-292A-AE2270D00D6B}"/>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3" name="Footer Placeholder 2">
            <a:extLst>
              <a:ext uri="{FF2B5EF4-FFF2-40B4-BE49-F238E27FC236}">
                <a16:creationId xmlns:a16="http://schemas.microsoft.com/office/drawing/2014/main" id="{F41968FA-1220-6779-9851-CF9EB53182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8CC753-4F85-CE18-65F6-F9AD217B3ADC}"/>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3422578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5CFAB-60A7-822F-FEBF-E6B36DFA173D}"/>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8DB7554C-B621-5B01-ACB3-916F62F2E11E}"/>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86521E-6C60-42BD-1165-5D6D3E9177C8}"/>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E37D3AEA-0B5C-C451-6554-A098C4FE6BF5}"/>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6" name="Footer Placeholder 5">
            <a:extLst>
              <a:ext uri="{FF2B5EF4-FFF2-40B4-BE49-F238E27FC236}">
                <a16:creationId xmlns:a16="http://schemas.microsoft.com/office/drawing/2014/main" id="{9E41C89A-C642-DA09-8749-AE075911E0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3DD293-0077-C5C6-322B-649C8FBF896C}"/>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317279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0F1C-E795-9AC5-E83D-0BC2B177D782}"/>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D64D01FE-23E1-64E1-CF91-ECFC68C828B6}"/>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5640077D-E32B-E183-ADE7-36CF8646F087}"/>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132562F0-B972-F527-7E22-C5BABAFA4E41}"/>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6" name="Footer Placeholder 5">
            <a:extLst>
              <a:ext uri="{FF2B5EF4-FFF2-40B4-BE49-F238E27FC236}">
                <a16:creationId xmlns:a16="http://schemas.microsoft.com/office/drawing/2014/main" id="{767A9DB7-660A-7FB6-379D-7CDE5A3B77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DFF615-4A51-C156-D003-757DD0BF3413}"/>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25140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9135-191D-6DD0-AE8E-BAD24B5AF3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BCF05D-CD9C-4D76-32A0-42BF82650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8CB94-7874-CBEF-8FA9-764E4579F8D6}"/>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FB6301F9-6F67-01FC-5B77-B08D54FC5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0E19A-CE34-2E81-7210-675154B6D7DB}"/>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63829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013EE-B52D-B9BE-B2F9-CA83D12F5A02}"/>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559B85-BFAF-C7E3-70D5-B1C473FE54A5}"/>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AC3AD9-C318-B13E-4A65-2CE263316001}"/>
              </a:ext>
            </a:extLst>
          </p:cNvPr>
          <p:cNvSpPr>
            <a:spLocks noGrp="1"/>
          </p:cNvSpPr>
          <p:nvPr>
            <p:ph type="dt" sz="half" idx="10"/>
          </p:nvPr>
        </p:nvSpPr>
        <p:spPr/>
        <p:txBody>
          <a:body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19B00C94-11E4-8AA0-5A7D-8E72E98A4E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76D68-D2C1-9B6F-FB0E-8FAF6D6E67FD}"/>
              </a:ext>
            </a:extLst>
          </p:cNvPr>
          <p:cNvSpPr>
            <a:spLocks noGrp="1"/>
          </p:cNvSpPr>
          <p:nvPr>
            <p:ph type="sldNum" sz="quarter" idx="12"/>
          </p:nvPr>
        </p:nvSpPr>
        <p:spPr/>
        <p:txBody>
          <a:bodyPr/>
          <a:lstStyle/>
          <a:p>
            <a:fld id="{E91C4AE8-A4CD-4DBE-9889-2B5CE8467DA4}" type="slidenum">
              <a:rPr lang="en-US" smtClean="0"/>
              <a:t>‹#›</a:t>
            </a:fld>
            <a:endParaRPr lang="en-US"/>
          </a:p>
        </p:txBody>
      </p:sp>
    </p:spTree>
    <p:extLst>
      <p:ext uri="{BB962C8B-B14F-4D97-AF65-F5344CB8AC3E}">
        <p14:creationId xmlns:p14="http://schemas.microsoft.com/office/powerpoint/2010/main" val="283162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BE86D9-9289-E67A-96B0-D99B044DFF4F}"/>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FCE07F-D5E1-B168-9A08-F0264E13E96B}"/>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6A1598-5893-A5B5-A346-5E88E17B1578}"/>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5D97BC41-37ED-4C51-98B6-3EDC0FB7D338}" type="datetimeFigureOut">
              <a:rPr lang="en-US" smtClean="0"/>
              <a:t>10/19/2026</a:t>
            </a:fld>
            <a:endParaRPr lang="en-US"/>
          </a:p>
        </p:txBody>
      </p:sp>
      <p:sp>
        <p:nvSpPr>
          <p:cNvPr id="5" name="Footer Placeholder 4">
            <a:extLst>
              <a:ext uri="{FF2B5EF4-FFF2-40B4-BE49-F238E27FC236}">
                <a16:creationId xmlns:a16="http://schemas.microsoft.com/office/drawing/2014/main" id="{2ABBE8F6-66AE-17EC-129C-B1EE4D0F69FB}"/>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833487-046B-5E72-02B8-1FC8CDCEF047}"/>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E91C4AE8-A4CD-4DBE-9889-2B5CE8467DA4}" type="slidenum">
              <a:rPr lang="en-US" smtClean="0"/>
              <a:t>‹#›</a:t>
            </a:fld>
            <a:endParaRPr lang="en-US"/>
          </a:p>
        </p:txBody>
      </p:sp>
    </p:spTree>
    <p:extLst>
      <p:ext uri="{BB962C8B-B14F-4D97-AF65-F5344CB8AC3E}">
        <p14:creationId xmlns:p14="http://schemas.microsoft.com/office/powerpoint/2010/main" val="2561814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97347E-A58A-D368-970F-9171523578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65100"/>
            <a:ext cx="6540500" cy="1633313"/>
          </a:xfrm>
          <a:prstGeom prst="rect">
            <a:avLst/>
          </a:prstGeom>
          <a:noFill/>
          <a:ln>
            <a:noFill/>
          </a:ln>
        </p:spPr>
      </p:pic>
      <p:sp>
        <p:nvSpPr>
          <p:cNvPr id="3" name="TextBox 2">
            <a:extLst>
              <a:ext uri="{FF2B5EF4-FFF2-40B4-BE49-F238E27FC236}">
                <a16:creationId xmlns:a16="http://schemas.microsoft.com/office/drawing/2014/main" id="{18143BFA-5E49-BA26-6B51-5F6B62977EE4}"/>
              </a:ext>
            </a:extLst>
          </p:cNvPr>
          <p:cNvSpPr txBox="1"/>
          <p:nvPr/>
        </p:nvSpPr>
        <p:spPr>
          <a:xfrm>
            <a:off x="444500" y="1917700"/>
            <a:ext cx="66675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CENTRE FOR DISTANCE AND ONLINE EDUCATION (CDOE)</a:t>
            </a:r>
          </a:p>
        </p:txBody>
      </p:sp>
      <p:cxnSp>
        <p:nvCxnSpPr>
          <p:cNvPr id="4" name="Straight Arrow Connector 3">
            <a:extLst>
              <a:ext uri="{FF2B5EF4-FFF2-40B4-BE49-F238E27FC236}">
                <a16:creationId xmlns:a16="http://schemas.microsoft.com/office/drawing/2014/main" id="{4CF7F82E-85B2-A3BC-4B3B-9BEA29E0A5C7}"/>
              </a:ext>
            </a:extLst>
          </p:cNvPr>
          <p:cNvCxnSpPr/>
          <p:nvPr/>
        </p:nvCxnSpPr>
        <p:spPr>
          <a:xfrm>
            <a:off x="508000" y="2235200"/>
            <a:ext cx="654050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7EBB1CD-A856-229C-D12A-08AAAA82D365}"/>
              </a:ext>
            </a:extLst>
          </p:cNvPr>
          <p:cNvSpPr txBox="1"/>
          <p:nvPr/>
        </p:nvSpPr>
        <p:spPr>
          <a:xfrm>
            <a:off x="533400" y="23368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Learner: Deepak Kumar</a:t>
            </a:r>
          </a:p>
        </p:txBody>
      </p:sp>
      <p:sp>
        <p:nvSpPr>
          <p:cNvPr id="6" name="TextBox 5">
            <a:extLst>
              <a:ext uri="{FF2B5EF4-FFF2-40B4-BE49-F238E27FC236}">
                <a16:creationId xmlns:a16="http://schemas.microsoft.com/office/drawing/2014/main" id="{7075E95A-BA00-9DB8-1A2F-EB3E6273232C}"/>
              </a:ext>
            </a:extLst>
          </p:cNvPr>
          <p:cNvSpPr txBox="1"/>
          <p:nvPr/>
        </p:nvSpPr>
        <p:spPr>
          <a:xfrm>
            <a:off x="4191000" y="23368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Register number: 9224116032</a:t>
            </a:r>
          </a:p>
        </p:txBody>
      </p:sp>
      <p:sp>
        <p:nvSpPr>
          <p:cNvPr id="7" name="TextBox 6">
            <a:extLst>
              <a:ext uri="{FF2B5EF4-FFF2-40B4-BE49-F238E27FC236}">
                <a16:creationId xmlns:a16="http://schemas.microsoft.com/office/drawing/2014/main" id="{C62CBA6E-91DF-E97A-E37B-264321251223}"/>
              </a:ext>
            </a:extLst>
          </p:cNvPr>
          <p:cNvSpPr txBox="1"/>
          <p:nvPr/>
        </p:nvSpPr>
        <p:spPr>
          <a:xfrm>
            <a:off x="533400" y="26797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Programme: MCA</a:t>
            </a:r>
          </a:p>
        </p:txBody>
      </p:sp>
      <p:sp>
        <p:nvSpPr>
          <p:cNvPr id="8" name="TextBox 7">
            <a:extLst>
              <a:ext uri="{FF2B5EF4-FFF2-40B4-BE49-F238E27FC236}">
                <a16:creationId xmlns:a16="http://schemas.microsoft.com/office/drawing/2014/main" id="{DE7726FA-D314-5BBC-0FA6-73B3A64EEF72}"/>
              </a:ext>
            </a:extLst>
          </p:cNvPr>
          <p:cNvSpPr txBox="1"/>
          <p:nvPr/>
        </p:nvSpPr>
        <p:spPr>
          <a:xfrm>
            <a:off x="4191000" y="26797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Semester: IV</a:t>
            </a:r>
          </a:p>
        </p:txBody>
      </p:sp>
      <p:sp>
        <p:nvSpPr>
          <p:cNvPr id="9" name="TextBox 8">
            <a:extLst>
              <a:ext uri="{FF2B5EF4-FFF2-40B4-BE49-F238E27FC236}">
                <a16:creationId xmlns:a16="http://schemas.microsoft.com/office/drawing/2014/main" id="{3C8C0E1D-8AA5-7712-2A35-4FD4F5AD67FC}"/>
              </a:ext>
            </a:extLst>
          </p:cNvPr>
          <p:cNvSpPr txBox="1"/>
          <p:nvPr/>
        </p:nvSpPr>
        <p:spPr>
          <a:xfrm>
            <a:off x="533400" y="30226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Name of the Course: Project Work</a:t>
            </a:r>
          </a:p>
        </p:txBody>
      </p:sp>
      <p:sp>
        <p:nvSpPr>
          <p:cNvPr id="10" name="TextBox 9">
            <a:extLst>
              <a:ext uri="{FF2B5EF4-FFF2-40B4-BE49-F238E27FC236}">
                <a16:creationId xmlns:a16="http://schemas.microsoft.com/office/drawing/2014/main" id="{50921FC2-0C08-45BF-14C5-C341B16D23AC}"/>
              </a:ext>
            </a:extLst>
          </p:cNvPr>
          <p:cNvSpPr txBox="1"/>
          <p:nvPr/>
        </p:nvSpPr>
        <p:spPr>
          <a:xfrm>
            <a:off x="4191000" y="30226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Batch: Jan 2024</a:t>
            </a:r>
          </a:p>
        </p:txBody>
      </p:sp>
      <p:sp>
        <p:nvSpPr>
          <p:cNvPr id="11" name="TextBox 10">
            <a:extLst>
              <a:ext uri="{FF2B5EF4-FFF2-40B4-BE49-F238E27FC236}">
                <a16:creationId xmlns:a16="http://schemas.microsoft.com/office/drawing/2014/main" id="{784FFBE4-6249-CB04-73ED-AE5B64DFF890}"/>
              </a:ext>
            </a:extLst>
          </p:cNvPr>
          <p:cNvSpPr txBox="1"/>
          <p:nvPr/>
        </p:nvSpPr>
        <p:spPr>
          <a:xfrm>
            <a:off x="533400" y="3365500"/>
            <a:ext cx="38100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Course Code: 223MCA4201</a:t>
            </a:r>
          </a:p>
        </p:txBody>
      </p:sp>
      <p:sp>
        <p:nvSpPr>
          <p:cNvPr id="12" name="TextBox 11">
            <a:extLst>
              <a:ext uri="{FF2B5EF4-FFF2-40B4-BE49-F238E27FC236}">
                <a16:creationId xmlns:a16="http://schemas.microsoft.com/office/drawing/2014/main" id="{F2A1F90F-B21F-FD05-8936-958B4A1A08E4}"/>
              </a:ext>
            </a:extLst>
          </p:cNvPr>
          <p:cNvSpPr txBox="1"/>
          <p:nvPr/>
        </p:nvSpPr>
        <p:spPr>
          <a:xfrm>
            <a:off x="4191000" y="3365500"/>
            <a:ext cx="2832100" cy="2794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Regulation: 2022</a:t>
            </a:r>
          </a:p>
        </p:txBody>
      </p:sp>
      <p:sp>
        <p:nvSpPr>
          <p:cNvPr id="13" name="TextBox 12">
            <a:extLst>
              <a:ext uri="{FF2B5EF4-FFF2-40B4-BE49-F238E27FC236}">
                <a16:creationId xmlns:a16="http://schemas.microsoft.com/office/drawing/2014/main" id="{374A0C4D-A14B-4E8A-B4D1-7BBB38041232}"/>
              </a:ext>
            </a:extLst>
          </p:cNvPr>
          <p:cNvSpPr txBox="1"/>
          <p:nvPr/>
        </p:nvSpPr>
        <p:spPr>
          <a:xfrm>
            <a:off x="533400" y="3708400"/>
            <a:ext cx="6477000" cy="3048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Project Title: MaatriCare</a:t>
            </a:r>
          </a:p>
        </p:txBody>
      </p:sp>
      <p:sp>
        <p:nvSpPr>
          <p:cNvPr id="14" name="TextBox 13">
            <a:extLst>
              <a:ext uri="{FF2B5EF4-FFF2-40B4-BE49-F238E27FC236}">
                <a16:creationId xmlns:a16="http://schemas.microsoft.com/office/drawing/2014/main" id="{36203EF4-456A-281B-6BEE-6B6B4F54D9EB}"/>
              </a:ext>
            </a:extLst>
          </p:cNvPr>
          <p:cNvSpPr txBox="1"/>
          <p:nvPr/>
        </p:nvSpPr>
        <p:spPr>
          <a:xfrm>
            <a:off x="533400" y="4114800"/>
            <a:ext cx="6477000" cy="279400"/>
          </a:xfrm>
          <a:prstGeom prst="rect">
            <a:avLst/>
          </a:prstGeom>
          <a:noFill/>
        </p:spPr>
        <p:txBody>
          <a:bodyPr vert="horz" wrap="square" lIns="0" tIns="0" rIns="0" bIns="0" rtlCol="0">
            <a:noAutofit/>
          </a:bodyPr>
          <a:lstStyle/>
          <a:p>
            <a:pPr algn="ctr"/>
            <a:r>
              <a:rPr lang="en-US" sz="1400" b="1">
                <a:solidFill>
                  <a:srgbClr val="111111"/>
                </a:solidFill>
                <a:latin typeface="Times New Roman" panose="02020603050405020304" pitchFamily="18" charset="0"/>
              </a:rPr>
              <a:t>Abstract</a:t>
            </a:r>
          </a:p>
        </p:txBody>
      </p:sp>
      <p:sp>
        <p:nvSpPr>
          <p:cNvPr id="15" name="TextBox 14">
            <a:extLst>
              <a:ext uri="{FF2B5EF4-FFF2-40B4-BE49-F238E27FC236}">
                <a16:creationId xmlns:a16="http://schemas.microsoft.com/office/drawing/2014/main" id="{421DF7AC-8AAF-16B2-70F4-07BFBA58CE80}"/>
              </a:ext>
            </a:extLst>
          </p:cNvPr>
          <p:cNvSpPr txBox="1"/>
          <p:nvPr/>
        </p:nvSpPr>
        <p:spPr>
          <a:xfrm>
            <a:off x="609600" y="4483100"/>
            <a:ext cx="6337300" cy="2717800"/>
          </a:xfrm>
          <a:prstGeom prst="rect">
            <a:avLst/>
          </a:prstGeom>
          <a:noFill/>
        </p:spPr>
        <p:txBody>
          <a:bodyPr vert="horz" wrap="square" lIns="0" tIns="0" rIns="0" bIns="0" rtlCol="0">
            <a:noAutofit/>
          </a:bodyPr>
          <a:lstStyle/>
          <a:p>
            <a:pPr algn="just">
              <a:lnSpc>
                <a:spcPct val="150000"/>
              </a:lnSpc>
            </a:pPr>
            <a:r>
              <a:rPr lang="en-US" sz="1200">
                <a:solidFill>
                  <a:srgbClr val="111111"/>
                </a:solidFill>
                <a:latin typeface="Times New Roman" panose="02020603050405020304" pitchFamily="18" charset="0"/>
              </a:rPr>
              <a:t>Pregnancy involves regular appointments, daily care, personal records, and communication with healthcare professionals. When information is scattered across separate tools, organizing activities and preparing for visits can be difficult. MaatriCare is a pregnancy support and care-coordination application that brings these activities into one authenticated workspace.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system supports pregnancy profiles, appointments and visit questions, daily care and wellbeing tracking, a private symptom journal, milestones, educational resources, healthcare summaries, emergency contacts, and configurable reminders. Users choose which records to include in reports and may share selected summaries through revocable, time-limited links. MaatriCare organizes user-entered information; it does not diagnose or recommend treatment and does not replace professional or emergency care.</a:t>
            </a:r>
          </a:p>
          <a:p>
            <a:pPr algn="just">
              <a:lnSpc>
                <a:spcPct val="150000"/>
              </a:lnSpc>
            </a:pPr>
            <a:endParaRPr lang="en-US" sz="1200">
              <a:solidFill>
                <a:srgbClr val="111111"/>
              </a:solidFill>
              <a:latin typeface="Times New Roman" panose="02020603050405020304" pitchFamily="18" charset="0"/>
            </a:endParaRPr>
          </a:p>
          <a:p>
            <a:pPr algn="just">
              <a:lnSpc>
                <a:spcPct val="150000"/>
              </a:lnSpc>
            </a:pPr>
            <a:r>
              <a:rPr lang="en-US" sz="1200">
                <a:solidFill>
                  <a:srgbClr val="111111"/>
                </a:solidFill>
                <a:latin typeface="Times New Roman" panose="02020603050405020304" pitchFamily="18" charset="0"/>
              </a:rPr>
              <a:t>The frontend uses React, TypeScript, and Vite; the backend uses Java Spring Boot REST APIs, Spring Security/JWT, validation, and JPA. MySQL is used locally and PostgreSQL is configured for production. Optional Web Push uses Asia/Kolkata time and requires VAPID keys and HTTPS for live delivery.</a:t>
            </a:r>
          </a:p>
        </p:txBody>
      </p:sp>
      <p:sp>
        <p:nvSpPr>
          <p:cNvPr id="16" name="TextBox 15">
            <a:extLst>
              <a:ext uri="{FF2B5EF4-FFF2-40B4-BE49-F238E27FC236}">
                <a16:creationId xmlns:a16="http://schemas.microsoft.com/office/drawing/2014/main" id="{EFCD6455-8475-DA19-D18F-71E041F75D00}"/>
              </a:ext>
            </a:extLst>
          </p:cNvPr>
          <p:cNvSpPr txBox="1"/>
          <p:nvPr/>
        </p:nvSpPr>
        <p:spPr>
          <a:xfrm>
            <a:off x="533400" y="7353300"/>
            <a:ext cx="6477000" cy="254000"/>
          </a:xfrm>
          <a:prstGeom prst="rect">
            <a:avLst/>
          </a:prstGeom>
          <a:noFill/>
        </p:spPr>
        <p:txBody>
          <a:bodyPr vert="horz" wrap="square" lIns="0" tIns="0" rIns="0" bIns="0" rtlCol="0">
            <a:noAutofit/>
          </a:bodyPr>
          <a:lstStyle/>
          <a:p>
            <a:r>
              <a:rPr lang="en-US" sz="1200" b="1">
                <a:solidFill>
                  <a:srgbClr val="111111"/>
                </a:solidFill>
                <a:latin typeface="Times New Roman" panose="02020603050405020304" pitchFamily="18" charset="0"/>
              </a:rPr>
              <a:t>Tools &amp; Technologies Used</a:t>
            </a:r>
          </a:p>
        </p:txBody>
      </p:sp>
      <p:sp>
        <p:nvSpPr>
          <p:cNvPr id="17" name="TextBox 16">
            <a:extLst>
              <a:ext uri="{FF2B5EF4-FFF2-40B4-BE49-F238E27FC236}">
                <a16:creationId xmlns:a16="http://schemas.microsoft.com/office/drawing/2014/main" id="{ABDAF222-88D9-11D4-9073-C4F0CC162AE1}"/>
              </a:ext>
            </a:extLst>
          </p:cNvPr>
          <p:cNvSpPr txBox="1"/>
          <p:nvPr/>
        </p:nvSpPr>
        <p:spPr>
          <a:xfrm>
            <a:off x="673100" y="7658100"/>
            <a:ext cx="6273800" cy="914400"/>
          </a:xfrm>
          <a:prstGeom prst="rect">
            <a:avLst/>
          </a:prstGeom>
          <a:noFill/>
        </p:spPr>
        <p:txBody>
          <a:bodyPr vert="horz" wrap="square" lIns="0" tIns="0" rIns="0" bIns="0" rtlCol="0">
            <a:noAutofit/>
          </a:bodyPr>
          <a:lstStyle/>
          <a:p>
            <a:pPr>
              <a:lnSpc>
                <a:spcPct val="150000"/>
              </a:lnSpc>
            </a:pPr>
            <a:r>
              <a:rPr lang="en-US" sz="1200">
                <a:solidFill>
                  <a:srgbClr val="111111"/>
                </a:solidFill>
                <a:latin typeface="Times New Roman" panose="02020603050405020304" pitchFamily="18" charset="0"/>
              </a:rPr>
              <a:t>Frontend (Design): React, TypeScript, Vite</a:t>
            </a:r>
          </a:p>
          <a:p>
            <a:pPr>
              <a:lnSpc>
                <a:spcPct val="150000"/>
              </a:lnSpc>
            </a:pPr>
            <a:r>
              <a:rPr lang="en-US" sz="1200">
                <a:solidFill>
                  <a:srgbClr val="111111"/>
                </a:solidFill>
                <a:latin typeface="Times New Roman" panose="02020603050405020304" pitchFamily="18" charset="0"/>
              </a:rPr>
              <a:t>Backend (API): Java, Spring Boot REST</a:t>
            </a:r>
          </a:p>
          <a:p>
            <a:pPr>
              <a:lnSpc>
                <a:spcPct val="150000"/>
              </a:lnSpc>
            </a:pPr>
            <a:r>
              <a:rPr lang="en-US" sz="1200">
                <a:solidFill>
                  <a:srgbClr val="111111"/>
                </a:solidFill>
                <a:latin typeface="Times New Roman" panose="02020603050405020304" pitchFamily="18" charset="0"/>
              </a:rPr>
              <a:t>Database: MySQL (local), PostgreSQL configuration</a:t>
            </a:r>
          </a:p>
          <a:p>
            <a:pPr>
              <a:lnSpc>
                <a:spcPct val="150000"/>
              </a:lnSpc>
            </a:pPr>
            <a:r>
              <a:rPr lang="en-US" sz="1200">
                <a:solidFill>
                  <a:srgbClr val="111111"/>
                </a:solidFill>
                <a:latin typeface="Times New Roman" panose="02020603050405020304" pitchFamily="18" charset="0"/>
              </a:rPr>
              <a:t>Security / Testing: Spring Security, JWT, H2</a:t>
            </a:r>
          </a:p>
        </p:txBody>
      </p:sp>
      <p:sp>
        <p:nvSpPr>
          <p:cNvPr id="18" name="TextBox 17">
            <a:extLst>
              <a:ext uri="{FF2B5EF4-FFF2-40B4-BE49-F238E27FC236}">
                <a16:creationId xmlns:a16="http://schemas.microsoft.com/office/drawing/2014/main" id="{F8310CD9-FD41-AB67-962F-4D7FAE4B7F86}"/>
              </a:ext>
            </a:extLst>
          </p:cNvPr>
          <p:cNvSpPr txBox="1"/>
          <p:nvPr/>
        </p:nvSpPr>
        <p:spPr>
          <a:xfrm>
            <a:off x="533400" y="8788400"/>
            <a:ext cx="64770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Approval Committee</a:t>
            </a:r>
          </a:p>
        </p:txBody>
      </p:sp>
      <p:cxnSp>
        <p:nvCxnSpPr>
          <p:cNvPr id="19" name="Straight Arrow Connector 18">
            <a:extLst>
              <a:ext uri="{FF2B5EF4-FFF2-40B4-BE49-F238E27FC236}">
                <a16:creationId xmlns:a16="http://schemas.microsoft.com/office/drawing/2014/main" id="{5E620E18-F6C6-9814-310D-F12F94EF6C3F}"/>
              </a:ext>
            </a:extLst>
          </p:cNvPr>
          <p:cNvCxnSpPr/>
          <p:nvPr/>
        </p:nvCxnSpPr>
        <p:spPr>
          <a:xfrm>
            <a:off x="533400" y="9601200"/>
            <a:ext cx="18796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4F637E7-764A-F812-573C-9FE64ACC93CB}"/>
              </a:ext>
            </a:extLst>
          </p:cNvPr>
          <p:cNvCxnSpPr/>
          <p:nvPr/>
        </p:nvCxnSpPr>
        <p:spPr>
          <a:xfrm>
            <a:off x="2819400" y="9601200"/>
            <a:ext cx="19558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6DAC8FC-EDA5-F3A3-8B89-3B6E9A227CB1}"/>
              </a:ext>
            </a:extLst>
          </p:cNvPr>
          <p:cNvCxnSpPr/>
          <p:nvPr/>
        </p:nvCxnSpPr>
        <p:spPr>
          <a:xfrm>
            <a:off x="5143500" y="9601200"/>
            <a:ext cx="1879600" cy="0"/>
          </a:xfrm>
          <a:prstGeom prst="straightConnector1">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FF47187-64F1-52F3-0DB2-AEB37BE7F0F0}"/>
              </a:ext>
            </a:extLst>
          </p:cNvPr>
          <p:cNvSpPr txBox="1"/>
          <p:nvPr/>
        </p:nvSpPr>
        <p:spPr>
          <a:xfrm>
            <a:off x="444500" y="9690100"/>
            <a:ext cx="2032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Internal Examiner</a:t>
            </a:r>
          </a:p>
        </p:txBody>
      </p:sp>
      <p:sp>
        <p:nvSpPr>
          <p:cNvPr id="23" name="TextBox 22">
            <a:extLst>
              <a:ext uri="{FF2B5EF4-FFF2-40B4-BE49-F238E27FC236}">
                <a16:creationId xmlns:a16="http://schemas.microsoft.com/office/drawing/2014/main" id="{81D44EAE-A860-16D4-E128-F4FBC5360859}"/>
              </a:ext>
            </a:extLst>
          </p:cNvPr>
          <p:cNvSpPr txBox="1"/>
          <p:nvPr/>
        </p:nvSpPr>
        <p:spPr>
          <a:xfrm>
            <a:off x="2705100" y="9690100"/>
            <a:ext cx="2159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Deputy Director - CDOE</a:t>
            </a:r>
          </a:p>
        </p:txBody>
      </p:sp>
      <p:sp>
        <p:nvSpPr>
          <p:cNvPr id="24" name="TextBox 23">
            <a:extLst>
              <a:ext uri="{FF2B5EF4-FFF2-40B4-BE49-F238E27FC236}">
                <a16:creationId xmlns:a16="http://schemas.microsoft.com/office/drawing/2014/main" id="{96FB0D74-304D-4CC1-8D86-EF8EF8B96EDC}"/>
              </a:ext>
            </a:extLst>
          </p:cNvPr>
          <p:cNvSpPr txBox="1"/>
          <p:nvPr/>
        </p:nvSpPr>
        <p:spPr>
          <a:xfrm>
            <a:off x="5080000" y="9690100"/>
            <a:ext cx="2032000" cy="304800"/>
          </a:xfrm>
          <a:prstGeom prst="rect">
            <a:avLst/>
          </a:prstGeom>
          <a:noFill/>
        </p:spPr>
        <p:txBody>
          <a:bodyPr vert="horz" wrap="square" lIns="0" tIns="0" rIns="0" bIns="0" rtlCol="0">
            <a:noAutofit/>
          </a:bodyPr>
          <a:lstStyle/>
          <a:p>
            <a:pPr algn="ctr"/>
            <a:r>
              <a:rPr lang="en-US" sz="9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2790770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ECC084-EB7B-3340-8E12-E2FA4CF137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65100"/>
            <a:ext cx="6540500" cy="1633313"/>
          </a:xfrm>
          <a:prstGeom prst="rect">
            <a:avLst/>
          </a:prstGeom>
          <a:noFill/>
          <a:ln>
            <a:noFill/>
          </a:ln>
        </p:spPr>
      </p:pic>
      <p:sp>
        <p:nvSpPr>
          <p:cNvPr id="3" name="TextBox 2">
            <a:extLst>
              <a:ext uri="{FF2B5EF4-FFF2-40B4-BE49-F238E27FC236}">
                <a16:creationId xmlns:a16="http://schemas.microsoft.com/office/drawing/2014/main" id="{A3AADF85-BB97-48CF-B984-1129595B9142}"/>
              </a:ext>
            </a:extLst>
          </p:cNvPr>
          <p:cNvSpPr txBox="1"/>
          <p:nvPr/>
        </p:nvSpPr>
        <p:spPr>
          <a:xfrm>
            <a:off x="444500" y="1917700"/>
            <a:ext cx="6667500" cy="254000"/>
          </a:xfrm>
          <a:prstGeom prst="rect">
            <a:avLst/>
          </a:prstGeom>
          <a:noFill/>
        </p:spPr>
        <p:txBody>
          <a:bodyPr vert="horz" wrap="square" lIns="0" tIns="0" rIns="0" bIns="0" rtlCol="0">
            <a:noAutofit/>
          </a:bodyPr>
          <a:lstStyle/>
          <a:p>
            <a:pPr algn="ctr"/>
            <a:r>
              <a:rPr lang="en-US" sz="1200" b="1">
                <a:solidFill>
                  <a:srgbClr val="111111"/>
                </a:solidFill>
                <a:latin typeface="Times New Roman" panose="02020603050405020304" pitchFamily="18" charset="0"/>
              </a:rPr>
              <a:t>CENTRE FOR DISTANCE AND ONLINE EDUCATION (CDOE)</a:t>
            </a:r>
          </a:p>
        </p:txBody>
      </p:sp>
      <p:cxnSp>
        <p:nvCxnSpPr>
          <p:cNvPr id="4" name="Straight Arrow Connector 3">
            <a:extLst>
              <a:ext uri="{FF2B5EF4-FFF2-40B4-BE49-F238E27FC236}">
                <a16:creationId xmlns:a16="http://schemas.microsoft.com/office/drawing/2014/main" id="{23433282-8CE0-DB44-EC7E-3F20572245A7}"/>
              </a:ext>
            </a:extLst>
          </p:cNvPr>
          <p:cNvCxnSpPr/>
          <p:nvPr/>
        </p:nvCxnSpPr>
        <p:spPr>
          <a:xfrm>
            <a:off x="508000" y="2235200"/>
            <a:ext cx="654050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ABF1CB0-AB3D-8E6C-6BA1-D98859661671}"/>
              </a:ext>
            </a:extLst>
          </p:cNvPr>
          <p:cNvSpPr txBox="1"/>
          <p:nvPr/>
        </p:nvSpPr>
        <p:spPr>
          <a:xfrm>
            <a:off x="508000" y="2374900"/>
            <a:ext cx="6540500" cy="304800"/>
          </a:xfrm>
          <a:prstGeom prst="rect">
            <a:avLst/>
          </a:prstGeom>
          <a:noFill/>
        </p:spPr>
        <p:txBody>
          <a:bodyPr vert="horz" wrap="square" lIns="0" tIns="0" rIns="0" bIns="0" rtlCol="0">
            <a:noAutofit/>
          </a:bodyPr>
          <a:lstStyle/>
          <a:p>
            <a:pPr algn="ctr"/>
            <a:r>
              <a:rPr lang="en-US" sz="1400" b="1">
                <a:solidFill>
                  <a:srgbClr val="111111"/>
                </a:solidFill>
                <a:latin typeface="Times New Roman" panose="02020603050405020304" pitchFamily="18" charset="0"/>
              </a:rPr>
              <a:t>ENTITY RELATIONSHIP DIAGRAM (ER)</a:t>
            </a:r>
          </a:p>
        </p:txBody>
      </p:sp>
      <p:sp>
        <p:nvSpPr>
          <p:cNvPr id="6" name="TextBox 5">
            <a:extLst>
              <a:ext uri="{FF2B5EF4-FFF2-40B4-BE49-F238E27FC236}">
                <a16:creationId xmlns:a16="http://schemas.microsoft.com/office/drawing/2014/main" id="{8C86D975-75BB-3DB9-9736-C898591D2426}"/>
              </a:ext>
            </a:extLst>
          </p:cNvPr>
          <p:cNvSpPr txBox="1"/>
          <p:nvPr/>
        </p:nvSpPr>
        <p:spPr>
          <a:xfrm>
            <a:off x="508000" y="2705100"/>
            <a:ext cx="6540500" cy="203200"/>
          </a:xfrm>
          <a:prstGeom prst="rect">
            <a:avLst/>
          </a:prstGeom>
          <a:noFill/>
        </p:spPr>
        <p:txBody>
          <a:bodyPr vert="horz" wrap="square" lIns="0" tIns="0" rIns="0" bIns="0" rtlCol="0">
            <a:noAutofit/>
          </a:bodyPr>
          <a:lstStyle/>
          <a:p>
            <a:pPr algn="ctr"/>
            <a:r>
              <a:rPr lang="en-US" sz="900">
                <a:solidFill>
                  <a:srgbClr val="333333"/>
                </a:solidFill>
                <a:latin typeface="Times New Roman" panose="02020603050405020304" pitchFamily="18" charset="0"/>
              </a:rPr>
              <a:t>MaatriCare - simplified implemented relational schema</a:t>
            </a:r>
          </a:p>
        </p:txBody>
      </p:sp>
      <p:sp>
        <p:nvSpPr>
          <p:cNvPr id="7" name="Rectangle 6">
            <a:extLst>
              <a:ext uri="{FF2B5EF4-FFF2-40B4-BE49-F238E27FC236}">
                <a16:creationId xmlns:a16="http://schemas.microsoft.com/office/drawing/2014/main" id="{257D1BA4-8CBB-99F3-C9A5-B20F73F0914B}"/>
              </a:ext>
            </a:extLst>
          </p:cNvPr>
          <p:cNvSpPr/>
          <p:nvPr/>
        </p:nvSpPr>
        <p:spPr>
          <a:xfrm>
            <a:off x="2317750" y="3048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110302-8AED-1BAA-42FF-545428A402B9}"/>
              </a:ext>
            </a:extLst>
          </p:cNvPr>
          <p:cNvSpPr/>
          <p:nvPr/>
        </p:nvSpPr>
        <p:spPr>
          <a:xfrm>
            <a:off x="2317750" y="3048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16C8ADD-ED5F-3AD8-8882-B23939F7A7FF}"/>
              </a:ext>
            </a:extLst>
          </p:cNvPr>
          <p:cNvSpPr txBox="1"/>
          <p:nvPr/>
        </p:nvSpPr>
        <p:spPr>
          <a:xfrm>
            <a:off x="2381250" y="3073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users</a:t>
            </a:r>
          </a:p>
        </p:txBody>
      </p:sp>
      <p:sp>
        <p:nvSpPr>
          <p:cNvPr id="10" name="TextBox 9">
            <a:extLst>
              <a:ext uri="{FF2B5EF4-FFF2-40B4-BE49-F238E27FC236}">
                <a16:creationId xmlns:a16="http://schemas.microsoft.com/office/drawing/2014/main" id="{7BF37875-32FC-F854-1DBC-A0AD96B902C5}"/>
              </a:ext>
            </a:extLst>
          </p:cNvPr>
          <p:cNvSpPr txBox="1"/>
          <p:nvPr/>
        </p:nvSpPr>
        <p:spPr>
          <a:xfrm>
            <a:off x="2381250" y="3314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email UNIQUE | timezone_id</a:t>
            </a:r>
          </a:p>
        </p:txBody>
      </p:sp>
      <p:cxnSp>
        <p:nvCxnSpPr>
          <p:cNvPr id="11" name="Straight Arrow Connector 10">
            <a:extLst>
              <a:ext uri="{FF2B5EF4-FFF2-40B4-BE49-F238E27FC236}">
                <a16:creationId xmlns:a16="http://schemas.microsoft.com/office/drawing/2014/main" id="{8B0B3288-C47F-E2C0-5EFC-CF91582172E0}"/>
              </a:ext>
            </a:extLst>
          </p:cNvPr>
          <p:cNvCxnSpPr/>
          <p:nvPr/>
        </p:nvCxnSpPr>
        <p:spPr>
          <a:xfrm>
            <a:off x="3778250" y="3670300"/>
            <a:ext cx="0" cy="4673600"/>
          </a:xfrm>
          <a:prstGeom prst="straightConnector1">
            <a:avLst/>
          </a:prstGeom>
          <a:ln w="13970">
            <a:solidFill>
              <a:srgbClr val="444444"/>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8DDF29B-EAA0-0238-1BD8-6F7BB1C5F4B1}"/>
              </a:ext>
            </a:extLst>
          </p:cNvPr>
          <p:cNvCxnSpPr/>
          <p:nvPr/>
        </p:nvCxnSpPr>
        <p:spPr>
          <a:xfrm>
            <a:off x="3365500" y="4146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12B1D38-7BF8-8856-9FF5-11DA106983A5}"/>
              </a:ext>
            </a:extLst>
          </p:cNvPr>
          <p:cNvSpPr txBox="1"/>
          <p:nvPr/>
        </p:nvSpPr>
        <p:spPr>
          <a:xfrm>
            <a:off x="3390900" y="3937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1:1</a:t>
            </a:r>
          </a:p>
        </p:txBody>
      </p:sp>
      <p:sp>
        <p:nvSpPr>
          <p:cNvPr id="14" name="Rectangle 13">
            <a:extLst>
              <a:ext uri="{FF2B5EF4-FFF2-40B4-BE49-F238E27FC236}">
                <a16:creationId xmlns:a16="http://schemas.microsoft.com/office/drawing/2014/main" id="{E84EAE73-36FD-74F6-334E-E93E05C5CB12}"/>
              </a:ext>
            </a:extLst>
          </p:cNvPr>
          <p:cNvSpPr/>
          <p:nvPr/>
        </p:nvSpPr>
        <p:spPr>
          <a:xfrm>
            <a:off x="444500" y="3835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14207B-1657-B07D-BDC5-20A99B227FE9}"/>
              </a:ext>
            </a:extLst>
          </p:cNvPr>
          <p:cNvSpPr/>
          <p:nvPr/>
        </p:nvSpPr>
        <p:spPr>
          <a:xfrm>
            <a:off x="444500" y="3835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E97EB01-E696-3FD3-822C-6BF6422213EA}"/>
              </a:ext>
            </a:extLst>
          </p:cNvPr>
          <p:cNvSpPr txBox="1"/>
          <p:nvPr/>
        </p:nvSpPr>
        <p:spPr>
          <a:xfrm>
            <a:off x="508000" y="3860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pregnancy_profiles</a:t>
            </a:r>
          </a:p>
        </p:txBody>
      </p:sp>
      <p:sp>
        <p:nvSpPr>
          <p:cNvPr id="17" name="TextBox 16">
            <a:extLst>
              <a:ext uri="{FF2B5EF4-FFF2-40B4-BE49-F238E27FC236}">
                <a16:creationId xmlns:a16="http://schemas.microsoft.com/office/drawing/2014/main" id="{147FB559-7CF8-0801-F5E7-BFA878035295}"/>
              </a:ext>
            </a:extLst>
          </p:cNvPr>
          <p:cNvSpPr txBox="1"/>
          <p:nvPr/>
        </p:nvSpPr>
        <p:spPr>
          <a:xfrm>
            <a:off x="508000" y="4102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UNIQUE</a:t>
            </a:r>
          </a:p>
        </p:txBody>
      </p:sp>
      <p:cxnSp>
        <p:nvCxnSpPr>
          <p:cNvPr id="18" name="Straight Arrow Connector 17">
            <a:extLst>
              <a:ext uri="{FF2B5EF4-FFF2-40B4-BE49-F238E27FC236}">
                <a16:creationId xmlns:a16="http://schemas.microsoft.com/office/drawing/2014/main" id="{8787A598-49B6-2E65-18EF-5A55F9DBC48F}"/>
              </a:ext>
            </a:extLst>
          </p:cNvPr>
          <p:cNvCxnSpPr/>
          <p:nvPr/>
        </p:nvCxnSpPr>
        <p:spPr>
          <a:xfrm>
            <a:off x="3778250" y="4146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3C1D12F-5CFA-BAD6-CB4A-7C9AA26D0D36}"/>
              </a:ext>
            </a:extLst>
          </p:cNvPr>
          <p:cNvSpPr txBox="1"/>
          <p:nvPr/>
        </p:nvSpPr>
        <p:spPr>
          <a:xfrm>
            <a:off x="3810000" y="3937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20" name="Rectangle 19">
            <a:extLst>
              <a:ext uri="{FF2B5EF4-FFF2-40B4-BE49-F238E27FC236}">
                <a16:creationId xmlns:a16="http://schemas.microsoft.com/office/drawing/2014/main" id="{A2B11B7A-4373-DB9C-91D1-882673068301}"/>
              </a:ext>
            </a:extLst>
          </p:cNvPr>
          <p:cNvSpPr/>
          <p:nvPr/>
        </p:nvSpPr>
        <p:spPr>
          <a:xfrm>
            <a:off x="4191000" y="3835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417400A-238B-D5C1-AE5A-0C9D34886D36}"/>
              </a:ext>
            </a:extLst>
          </p:cNvPr>
          <p:cNvSpPr/>
          <p:nvPr/>
        </p:nvSpPr>
        <p:spPr>
          <a:xfrm>
            <a:off x="4191000" y="3835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4D55753-3AF8-DC47-2E22-D4B903C1CEDA}"/>
              </a:ext>
            </a:extLst>
          </p:cNvPr>
          <p:cNvSpPr txBox="1"/>
          <p:nvPr/>
        </p:nvSpPr>
        <p:spPr>
          <a:xfrm>
            <a:off x="4254500" y="3860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appointments</a:t>
            </a:r>
          </a:p>
        </p:txBody>
      </p:sp>
      <p:sp>
        <p:nvSpPr>
          <p:cNvPr id="23" name="TextBox 22">
            <a:extLst>
              <a:ext uri="{FF2B5EF4-FFF2-40B4-BE49-F238E27FC236}">
                <a16:creationId xmlns:a16="http://schemas.microsoft.com/office/drawing/2014/main" id="{9ACC10FE-8E62-ED7F-476D-9D9011E8301A}"/>
              </a:ext>
            </a:extLst>
          </p:cNvPr>
          <p:cNvSpPr txBox="1"/>
          <p:nvPr/>
        </p:nvSpPr>
        <p:spPr>
          <a:xfrm>
            <a:off x="4254500" y="4102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starts_at</a:t>
            </a:r>
          </a:p>
        </p:txBody>
      </p:sp>
      <p:cxnSp>
        <p:nvCxnSpPr>
          <p:cNvPr id="24" name="Straight Arrow Connector 23">
            <a:extLst>
              <a:ext uri="{FF2B5EF4-FFF2-40B4-BE49-F238E27FC236}">
                <a16:creationId xmlns:a16="http://schemas.microsoft.com/office/drawing/2014/main" id="{0D9F9A15-6CB7-2440-F2A6-2A7F3AB43E5F}"/>
              </a:ext>
            </a:extLst>
          </p:cNvPr>
          <p:cNvCxnSpPr/>
          <p:nvPr/>
        </p:nvCxnSpPr>
        <p:spPr>
          <a:xfrm>
            <a:off x="3365500" y="48831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35B9DBD-0666-6266-8172-3B65B5046197}"/>
              </a:ext>
            </a:extLst>
          </p:cNvPr>
          <p:cNvSpPr txBox="1"/>
          <p:nvPr/>
        </p:nvSpPr>
        <p:spPr>
          <a:xfrm>
            <a:off x="3390900" y="46736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26" name="Rectangle 25">
            <a:extLst>
              <a:ext uri="{FF2B5EF4-FFF2-40B4-BE49-F238E27FC236}">
                <a16:creationId xmlns:a16="http://schemas.microsoft.com/office/drawing/2014/main" id="{969BC733-92E5-DABC-A429-22485328F820}"/>
              </a:ext>
            </a:extLst>
          </p:cNvPr>
          <p:cNvSpPr/>
          <p:nvPr/>
        </p:nvSpPr>
        <p:spPr>
          <a:xfrm>
            <a:off x="444500" y="4572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0084FD8-AEBD-3C84-FD07-529B6BBFE423}"/>
              </a:ext>
            </a:extLst>
          </p:cNvPr>
          <p:cNvSpPr/>
          <p:nvPr/>
        </p:nvSpPr>
        <p:spPr>
          <a:xfrm>
            <a:off x="444500" y="4572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61FA35D-43FF-F696-1D2D-01F6DA56079C}"/>
              </a:ext>
            </a:extLst>
          </p:cNvPr>
          <p:cNvSpPr txBox="1"/>
          <p:nvPr/>
        </p:nvSpPr>
        <p:spPr>
          <a:xfrm>
            <a:off x="508000" y="4597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care_tasks</a:t>
            </a:r>
          </a:p>
        </p:txBody>
      </p:sp>
      <p:sp>
        <p:nvSpPr>
          <p:cNvPr id="29" name="TextBox 28">
            <a:extLst>
              <a:ext uri="{FF2B5EF4-FFF2-40B4-BE49-F238E27FC236}">
                <a16:creationId xmlns:a16="http://schemas.microsoft.com/office/drawing/2014/main" id="{DCF06EAB-EDE8-B595-FEA6-75962C1BBA07}"/>
              </a:ext>
            </a:extLst>
          </p:cNvPr>
          <p:cNvSpPr txBox="1"/>
          <p:nvPr/>
        </p:nvSpPr>
        <p:spPr>
          <a:xfrm>
            <a:off x="508000" y="4838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task_detail_id FK</a:t>
            </a:r>
          </a:p>
        </p:txBody>
      </p:sp>
      <p:cxnSp>
        <p:nvCxnSpPr>
          <p:cNvPr id="30" name="Straight Arrow Connector 29">
            <a:extLst>
              <a:ext uri="{FF2B5EF4-FFF2-40B4-BE49-F238E27FC236}">
                <a16:creationId xmlns:a16="http://schemas.microsoft.com/office/drawing/2014/main" id="{75E0B1EF-9A6F-78EE-572E-5A334F0F7297}"/>
              </a:ext>
            </a:extLst>
          </p:cNvPr>
          <p:cNvCxnSpPr/>
          <p:nvPr/>
        </p:nvCxnSpPr>
        <p:spPr>
          <a:xfrm>
            <a:off x="3778250" y="48831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0DBCF20-8A37-0613-6133-927BD2CEE823}"/>
              </a:ext>
            </a:extLst>
          </p:cNvPr>
          <p:cNvSpPr txBox="1"/>
          <p:nvPr/>
        </p:nvSpPr>
        <p:spPr>
          <a:xfrm>
            <a:off x="3810000" y="46736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32" name="Rectangle 31">
            <a:extLst>
              <a:ext uri="{FF2B5EF4-FFF2-40B4-BE49-F238E27FC236}">
                <a16:creationId xmlns:a16="http://schemas.microsoft.com/office/drawing/2014/main" id="{84B3DAC4-4F62-75CB-3B2E-39722983EDC7}"/>
              </a:ext>
            </a:extLst>
          </p:cNvPr>
          <p:cNvSpPr/>
          <p:nvPr/>
        </p:nvSpPr>
        <p:spPr>
          <a:xfrm>
            <a:off x="4191000" y="45720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7FC2A09-F739-46A9-B55E-8354006EE8E0}"/>
              </a:ext>
            </a:extLst>
          </p:cNvPr>
          <p:cNvSpPr/>
          <p:nvPr/>
        </p:nvSpPr>
        <p:spPr>
          <a:xfrm>
            <a:off x="4191000" y="45720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98E0B76-702D-2E9C-D17F-5AEA07512C5A}"/>
              </a:ext>
            </a:extLst>
          </p:cNvPr>
          <p:cNvSpPr txBox="1"/>
          <p:nvPr/>
        </p:nvSpPr>
        <p:spPr>
          <a:xfrm>
            <a:off x="4254500" y="45974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daily_wellbeing</a:t>
            </a:r>
          </a:p>
        </p:txBody>
      </p:sp>
      <p:sp>
        <p:nvSpPr>
          <p:cNvPr id="35" name="TextBox 34">
            <a:extLst>
              <a:ext uri="{FF2B5EF4-FFF2-40B4-BE49-F238E27FC236}">
                <a16:creationId xmlns:a16="http://schemas.microsoft.com/office/drawing/2014/main" id="{822956DD-FFB7-D6DB-36CD-4DBF187FFE74}"/>
              </a:ext>
            </a:extLst>
          </p:cNvPr>
          <p:cNvSpPr txBox="1"/>
          <p:nvPr/>
        </p:nvSpPr>
        <p:spPr>
          <a:xfrm>
            <a:off x="4254500" y="48387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user_id FK | entry_date UNIQUE</a:t>
            </a:r>
          </a:p>
        </p:txBody>
      </p:sp>
      <p:cxnSp>
        <p:nvCxnSpPr>
          <p:cNvPr id="36" name="Straight Arrow Connector 35">
            <a:extLst>
              <a:ext uri="{FF2B5EF4-FFF2-40B4-BE49-F238E27FC236}">
                <a16:creationId xmlns:a16="http://schemas.microsoft.com/office/drawing/2014/main" id="{9F2D39A5-BB6B-369D-F14A-9CC93CA8194A}"/>
              </a:ext>
            </a:extLst>
          </p:cNvPr>
          <p:cNvCxnSpPr/>
          <p:nvPr/>
        </p:nvCxnSpPr>
        <p:spPr>
          <a:xfrm>
            <a:off x="3365500" y="56197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251FA363-1A0B-73D1-ECA5-3C6FC8AB18D6}"/>
              </a:ext>
            </a:extLst>
          </p:cNvPr>
          <p:cNvSpPr txBox="1"/>
          <p:nvPr/>
        </p:nvSpPr>
        <p:spPr>
          <a:xfrm>
            <a:off x="3390900" y="54102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38" name="Rectangle 37">
            <a:extLst>
              <a:ext uri="{FF2B5EF4-FFF2-40B4-BE49-F238E27FC236}">
                <a16:creationId xmlns:a16="http://schemas.microsoft.com/office/drawing/2014/main" id="{CC7B749D-7860-C63A-830D-486D9EE471D4}"/>
              </a:ext>
            </a:extLst>
          </p:cNvPr>
          <p:cNvSpPr/>
          <p:nvPr/>
        </p:nvSpPr>
        <p:spPr>
          <a:xfrm>
            <a:off x="444500" y="53086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87D95C9-9BDB-BBF5-0D45-8EB031236E54}"/>
              </a:ext>
            </a:extLst>
          </p:cNvPr>
          <p:cNvSpPr/>
          <p:nvPr/>
        </p:nvSpPr>
        <p:spPr>
          <a:xfrm>
            <a:off x="444500" y="53086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32AFCC6-9390-4E81-993F-02DCA48F5271}"/>
              </a:ext>
            </a:extLst>
          </p:cNvPr>
          <p:cNvSpPr txBox="1"/>
          <p:nvPr/>
        </p:nvSpPr>
        <p:spPr>
          <a:xfrm>
            <a:off x="508000" y="53340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symptom_entries</a:t>
            </a:r>
          </a:p>
        </p:txBody>
      </p:sp>
      <p:sp>
        <p:nvSpPr>
          <p:cNvPr id="41" name="TextBox 40">
            <a:extLst>
              <a:ext uri="{FF2B5EF4-FFF2-40B4-BE49-F238E27FC236}">
                <a16:creationId xmlns:a16="http://schemas.microsoft.com/office/drawing/2014/main" id="{116A668E-7B37-1DE9-EDA3-78095991B307}"/>
              </a:ext>
            </a:extLst>
          </p:cNvPr>
          <p:cNvSpPr txBox="1"/>
          <p:nvPr/>
        </p:nvSpPr>
        <p:spPr>
          <a:xfrm>
            <a:off x="508000" y="55753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severity</a:t>
            </a:r>
          </a:p>
        </p:txBody>
      </p:sp>
      <p:cxnSp>
        <p:nvCxnSpPr>
          <p:cNvPr id="42" name="Straight Arrow Connector 41">
            <a:extLst>
              <a:ext uri="{FF2B5EF4-FFF2-40B4-BE49-F238E27FC236}">
                <a16:creationId xmlns:a16="http://schemas.microsoft.com/office/drawing/2014/main" id="{211DF5E0-456C-BFA9-8B84-B09516C49A06}"/>
              </a:ext>
            </a:extLst>
          </p:cNvPr>
          <p:cNvCxnSpPr/>
          <p:nvPr/>
        </p:nvCxnSpPr>
        <p:spPr>
          <a:xfrm>
            <a:off x="3778250" y="56197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651B9DB-C8BB-CB04-9301-B1678251C7CC}"/>
              </a:ext>
            </a:extLst>
          </p:cNvPr>
          <p:cNvSpPr txBox="1"/>
          <p:nvPr/>
        </p:nvSpPr>
        <p:spPr>
          <a:xfrm>
            <a:off x="3810000" y="54102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44" name="Rectangle 43">
            <a:extLst>
              <a:ext uri="{FF2B5EF4-FFF2-40B4-BE49-F238E27FC236}">
                <a16:creationId xmlns:a16="http://schemas.microsoft.com/office/drawing/2014/main" id="{AD8B4CE3-0CAE-F70F-9AB7-9E501175D70A}"/>
              </a:ext>
            </a:extLst>
          </p:cNvPr>
          <p:cNvSpPr/>
          <p:nvPr/>
        </p:nvSpPr>
        <p:spPr>
          <a:xfrm>
            <a:off x="4191000" y="53086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CAF5F61-E8C3-F68F-EBC1-7C47AAF3148E}"/>
              </a:ext>
            </a:extLst>
          </p:cNvPr>
          <p:cNvSpPr/>
          <p:nvPr/>
        </p:nvSpPr>
        <p:spPr>
          <a:xfrm>
            <a:off x="4191000" y="53086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2CA1AF75-CF17-3663-2700-DC368A7C4F27}"/>
              </a:ext>
            </a:extLst>
          </p:cNvPr>
          <p:cNvSpPr txBox="1"/>
          <p:nvPr/>
        </p:nvSpPr>
        <p:spPr>
          <a:xfrm>
            <a:off x="4254500" y="53340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pregnancy_milestones</a:t>
            </a:r>
          </a:p>
        </p:txBody>
      </p:sp>
      <p:sp>
        <p:nvSpPr>
          <p:cNvPr id="47" name="TextBox 46">
            <a:extLst>
              <a:ext uri="{FF2B5EF4-FFF2-40B4-BE49-F238E27FC236}">
                <a16:creationId xmlns:a16="http://schemas.microsoft.com/office/drawing/2014/main" id="{062BA776-2950-BDB1-B718-03996B618421}"/>
              </a:ext>
            </a:extLst>
          </p:cNvPr>
          <p:cNvSpPr txBox="1"/>
          <p:nvPr/>
        </p:nvSpPr>
        <p:spPr>
          <a:xfrm>
            <a:off x="4254500" y="55753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week_number</a:t>
            </a:r>
          </a:p>
        </p:txBody>
      </p:sp>
      <p:cxnSp>
        <p:nvCxnSpPr>
          <p:cNvPr id="48" name="Straight Arrow Connector 47">
            <a:extLst>
              <a:ext uri="{FF2B5EF4-FFF2-40B4-BE49-F238E27FC236}">
                <a16:creationId xmlns:a16="http://schemas.microsoft.com/office/drawing/2014/main" id="{7E4BF5B8-B811-0282-F853-A1576DD3A3F7}"/>
              </a:ext>
            </a:extLst>
          </p:cNvPr>
          <p:cNvCxnSpPr/>
          <p:nvPr/>
        </p:nvCxnSpPr>
        <p:spPr>
          <a:xfrm>
            <a:off x="3365500" y="63563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74BF3FC8-D157-F722-04B4-56CC1837EE50}"/>
              </a:ext>
            </a:extLst>
          </p:cNvPr>
          <p:cNvSpPr txBox="1"/>
          <p:nvPr/>
        </p:nvSpPr>
        <p:spPr>
          <a:xfrm>
            <a:off x="3390900" y="61468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50" name="Rectangle 49">
            <a:extLst>
              <a:ext uri="{FF2B5EF4-FFF2-40B4-BE49-F238E27FC236}">
                <a16:creationId xmlns:a16="http://schemas.microsoft.com/office/drawing/2014/main" id="{CB73DA8D-79E7-87E9-7DF9-48BB258A72A1}"/>
              </a:ext>
            </a:extLst>
          </p:cNvPr>
          <p:cNvSpPr/>
          <p:nvPr/>
        </p:nvSpPr>
        <p:spPr>
          <a:xfrm>
            <a:off x="444500" y="60452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FDF023D-C145-F5C6-2830-481C98586683}"/>
              </a:ext>
            </a:extLst>
          </p:cNvPr>
          <p:cNvSpPr/>
          <p:nvPr/>
        </p:nvSpPr>
        <p:spPr>
          <a:xfrm>
            <a:off x="444500" y="60452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3336EAD-4519-FB6A-866C-84DCCE367E9B}"/>
              </a:ext>
            </a:extLst>
          </p:cNvPr>
          <p:cNvSpPr txBox="1"/>
          <p:nvPr/>
        </p:nvSpPr>
        <p:spPr>
          <a:xfrm>
            <a:off x="508000" y="60706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emergency_contacts</a:t>
            </a:r>
          </a:p>
        </p:txBody>
      </p:sp>
      <p:sp>
        <p:nvSpPr>
          <p:cNvPr id="53" name="TextBox 52">
            <a:extLst>
              <a:ext uri="{FF2B5EF4-FFF2-40B4-BE49-F238E27FC236}">
                <a16:creationId xmlns:a16="http://schemas.microsoft.com/office/drawing/2014/main" id="{998B7513-B871-A891-53D7-A8F1C233BC1E}"/>
              </a:ext>
            </a:extLst>
          </p:cNvPr>
          <p:cNvSpPr txBox="1"/>
          <p:nvPr/>
        </p:nvSpPr>
        <p:spPr>
          <a:xfrm>
            <a:off x="508000" y="63119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type</a:t>
            </a:r>
          </a:p>
        </p:txBody>
      </p:sp>
      <p:cxnSp>
        <p:nvCxnSpPr>
          <p:cNvPr id="54" name="Straight Arrow Connector 53">
            <a:extLst>
              <a:ext uri="{FF2B5EF4-FFF2-40B4-BE49-F238E27FC236}">
                <a16:creationId xmlns:a16="http://schemas.microsoft.com/office/drawing/2014/main" id="{B4D06DE4-B370-B5E3-7D1F-5D398D6A9007}"/>
              </a:ext>
            </a:extLst>
          </p:cNvPr>
          <p:cNvCxnSpPr/>
          <p:nvPr/>
        </p:nvCxnSpPr>
        <p:spPr>
          <a:xfrm>
            <a:off x="3778250" y="63563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9634A12B-7107-C5A0-6BD4-B8F23EDD5382}"/>
              </a:ext>
            </a:extLst>
          </p:cNvPr>
          <p:cNvSpPr txBox="1"/>
          <p:nvPr/>
        </p:nvSpPr>
        <p:spPr>
          <a:xfrm>
            <a:off x="3810000" y="61468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56" name="Rectangle 55">
            <a:extLst>
              <a:ext uri="{FF2B5EF4-FFF2-40B4-BE49-F238E27FC236}">
                <a16:creationId xmlns:a16="http://schemas.microsoft.com/office/drawing/2014/main" id="{461E4CC2-1C09-35F5-1E76-8950F0E39FBD}"/>
              </a:ext>
            </a:extLst>
          </p:cNvPr>
          <p:cNvSpPr/>
          <p:nvPr/>
        </p:nvSpPr>
        <p:spPr>
          <a:xfrm>
            <a:off x="4191000" y="60452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F9B8C10-AC5C-440B-0B0F-90BFA38A3056}"/>
              </a:ext>
            </a:extLst>
          </p:cNvPr>
          <p:cNvSpPr/>
          <p:nvPr/>
        </p:nvSpPr>
        <p:spPr>
          <a:xfrm>
            <a:off x="4191000" y="60452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66B27541-F861-8D86-FD1D-6B61E1207C27}"/>
              </a:ext>
            </a:extLst>
          </p:cNvPr>
          <p:cNvSpPr txBox="1"/>
          <p:nvPr/>
        </p:nvSpPr>
        <p:spPr>
          <a:xfrm>
            <a:off x="4254500" y="60706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report_shares</a:t>
            </a:r>
          </a:p>
        </p:txBody>
      </p:sp>
      <p:sp>
        <p:nvSpPr>
          <p:cNvPr id="59" name="TextBox 58">
            <a:extLst>
              <a:ext uri="{FF2B5EF4-FFF2-40B4-BE49-F238E27FC236}">
                <a16:creationId xmlns:a16="http://schemas.microsoft.com/office/drawing/2014/main" id="{2D73D2EC-FD0D-C9C9-F3B9-D9D2C5258E25}"/>
              </a:ext>
            </a:extLst>
          </p:cNvPr>
          <p:cNvSpPr txBox="1"/>
          <p:nvPr/>
        </p:nvSpPr>
        <p:spPr>
          <a:xfrm>
            <a:off x="4254500" y="6311900"/>
            <a:ext cx="2794000" cy="304800"/>
          </a:xfrm>
          <a:prstGeom prst="rect">
            <a:avLst/>
          </a:prstGeom>
          <a:noFill/>
        </p:spPr>
        <p:txBody>
          <a:bodyPr vert="horz" wrap="square" lIns="0" tIns="0" rIns="0" bIns="0" rtlCol="0">
            <a:noAutofit/>
          </a:bodyPr>
          <a:lstStyle/>
          <a:p>
            <a:r>
              <a:rPr lang="da-DK" sz="800">
                <a:solidFill>
                  <a:srgbClr val="111111"/>
                </a:solidFill>
                <a:latin typeface="Times New Roman" panose="02020603050405020304" pitchFamily="18" charset="0"/>
              </a:rPr>
              <a:t>id PK | user_id FK | expires_at</a:t>
            </a:r>
            <a:endParaRPr lang="en-US" sz="800">
              <a:solidFill>
                <a:srgbClr val="111111"/>
              </a:solidFill>
              <a:latin typeface="Times New Roman" panose="02020603050405020304" pitchFamily="18" charset="0"/>
            </a:endParaRPr>
          </a:p>
        </p:txBody>
      </p:sp>
      <p:cxnSp>
        <p:nvCxnSpPr>
          <p:cNvPr id="60" name="Straight Arrow Connector 59">
            <a:extLst>
              <a:ext uri="{FF2B5EF4-FFF2-40B4-BE49-F238E27FC236}">
                <a16:creationId xmlns:a16="http://schemas.microsoft.com/office/drawing/2014/main" id="{C4A52D13-BF13-E24D-415C-B5D5C09AC47A}"/>
              </a:ext>
            </a:extLst>
          </p:cNvPr>
          <p:cNvCxnSpPr/>
          <p:nvPr/>
        </p:nvCxnSpPr>
        <p:spPr>
          <a:xfrm>
            <a:off x="3365500" y="70929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699B81E0-C35B-7EE3-CDAF-B765596733D3}"/>
              </a:ext>
            </a:extLst>
          </p:cNvPr>
          <p:cNvSpPr txBox="1"/>
          <p:nvPr/>
        </p:nvSpPr>
        <p:spPr>
          <a:xfrm>
            <a:off x="3390900" y="68834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62" name="Rectangle 61">
            <a:extLst>
              <a:ext uri="{FF2B5EF4-FFF2-40B4-BE49-F238E27FC236}">
                <a16:creationId xmlns:a16="http://schemas.microsoft.com/office/drawing/2014/main" id="{6BD14F74-9B9F-9A70-C215-1A4A4B368691}"/>
              </a:ext>
            </a:extLst>
          </p:cNvPr>
          <p:cNvSpPr/>
          <p:nvPr/>
        </p:nvSpPr>
        <p:spPr>
          <a:xfrm>
            <a:off x="444500" y="67818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ABF6693-EB53-7E7C-8212-05CD1649FBF7}"/>
              </a:ext>
            </a:extLst>
          </p:cNvPr>
          <p:cNvSpPr/>
          <p:nvPr/>
        </p:nvSpPr>
        <p:spPr>
          <a:xfrm>
            <a:off x="444500" y="67818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AA753B74-1369-901E-B859-506D2352118A}"/>
              </a:ext>
            </a:extLst>
          </p:cNvPr>
          <p:cNvSpPr txBox="1"/>
          <p:nvPr/>
        </p:nvSpPr>
        <p:spPr>
          <a:xfrm>
            <a:off x="508000" y="68072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push_subscriptions</a:t>
            </a:r>
          </a:p>
        </p:txBody>
      </p:sp>
      <p:sp>
        <p:nvSpPr>
          <p:cNvPr id="65" name="TextBox 64">
            <a:extLst>
              <a:ext uri="{FF2B5EF4-FFF2-40B4-BE49-F238E27FC236}">
                <a16:creationId xmlns:a16="http://schemas.microsoft.com/office/drawing/2014/main" id="{C8E132C5-7F4F-F57D-4A5B-14FF7894F3BF}"/>
              </a:ext>
            </a:extLst>
          </p:cNvPr>
          <p:cNvSpPr txBox="1"/>
          <p:nvPr/>
        </p:nvSpPr>
        <p:spPr>
          <a:xfrm>
            <a:off x="508000" y="70485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endpoint_hash</a:t>
            </a:r>
          </a:p>
        </p:txBody>
      </p:sp>
      <p:cxnSp>
        <p:nvCxnSpPr>
          <p:cNvPr id="66" name="Straight Arrow Connector 65">
            <a:extLst>
              <a:ext uri="{FF2B5EF4-FFF2-40B4-BE49-F238E27FC236}">
                <a16:creationId xmlns:a16="http://schemas.microsoft.com/office/drawing/2014/main" id="{EA551E47-B2CE-2651-4D71-05FF2FA7E868}"/>
              </a:ext>
            </a:extLst>
          </p:cNvPr>
          <p:cNvCxnSpPr/>
          <p:nvPr/>
        </p:nvCxnSpPr>
        <p:spPr>
          <a:xfrm>
            <a:off x="3778250" y="70929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0A74014-32E0-AAB1-DEAB-C61F13ECA10C}"/>
              </a:ext>
            </a:extLst>
          </p:cNvPr>
          <p:cNvSpPr txBox="1"/>
          <p:nvPr/>
        </p:nvSpPr>
        <p:spPr>
          <a:xfrm>
            <a:off x="3810000" y="68834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68" name="Rectangle 67">
            <a:extLst>
              <a:ext uri="{FF2B5EF4-FFF2-40B4-BE49-F238E27FC236}">
                <a16:creationId xmlns:a16="http://schemas.microsoft.com/office/drawing/2014/main" id="{27D40AFC-42BE-EF4E-EC1D-F5E9835FF8BF}"/>
              </a:ext>
            </a:extLst>
          </p:cNvPr>
          <p:cNvSpPr/>
          <p:nvPr/>
        </p:nvSpPr>
        <p:spPr>
          <a:xfrm>
            <a:off x="4191000" y="67818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E185027-FDBB-9BA2-9486-87C74BE095D2}"/>
              </a:ext>
            </a:extLst>
          </p:cNvPr>
          <p:cNvSpPr/>
          <p:nvPr/>
        </p:nvSpPr>
        <p:spPr>
          <a:xfrm>
            <a:off x="4191000" y="67818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2E3A5231-5295-FB45-3662-C5334CDC078D}"/>
              </a:ext>
            </a:extLst>
          </p:cNvPr>
          <p:cNvSpPr txBox="1"/>
          <p:nvPr/>
        </p:nvSpPr>
        <p:spPr>
          <a:xfrm>
            <a:off x="4254500" y="68072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push_reminders</a:t>
            </a:r>
          </a:p>
        </p:txBody>
      </p:sp>
      <p:sp>
        <p:nvSpPr>
          <p:cNvPr id="71" name="TextBox 70">
            <a:extLst>
              <a:ext uri="{FF2B5EF4-FFF2-40B4-BE49-F238E27FC236}">
                <a16:creationId xmlns:a16="http://schemas.microsoft.com/office/drawing/2014/main" id="{38D0828E-30AF-48E1-5A41-05BC04B21887}"/>
              </a:ext>
            </a:extLst>
          </p:cNvPr>
          <p:cNvSpPr txBox="1"/>
          <p:nvPr/>
        </p:nvSpPr>
        <p:spPr>
          <a:xfrm>
            <a:off x="4254500" y="70485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user_id FK | scheduled_at</a:t>
            </a:r>
          </a:p>
        </p:txBody>
      </p:sp>
      <p:cxnSp>
        <p:nvCxnSpPr>
          <p:cNvPr id="72" name="Straight Arrow Connector 71">
            <a:extLst>
              <a:ext uri="{FF2B5EF4-FFF2-40B4-BE49-F238E27FC236}">
                <a16:creationId xmlns:a16="http://schemas.microsoft.com/office/drawing/2014/main" id="{E14D8270-B8B1-7297-EAAD-09F2777EB3B0}"/>
              </a:ext>
            </a:extLst>
          </p:cNvPr>
          <p:cNvCxnSpPr/>
          <p:nvPr/>
        </p:nvCxnSpPr>
        <p:spPr>
          <a:xfrm>
            <a:off x="3365500" y="7829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A63D1EC8-5F18-2426-7951-91400377985A}"/>
              </a:ext>
            </a:extLst>
          </p:cNvPr>
          <p:cNvSpPr txBox="1"/>
          <p:nvPr/>
        </p:nvSpPr>
        <p:spPr>
          <a:xfrm>
            <a:off x="3390900" y="7620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1:N*</a:t>
            </a:r>
          </a:p>
        </p:txBody>
      </p:sp>
      <p:sp>
        <p:nvSpPr>
          <p:cNvPr id="74" name="Rectangle 73">
            <a:extLst>
              <a:ext uri="{FF2B5EF4-FFF2-40B4-BE49-F238E27FC236}">
                <a16:creationId xmlns:a16="http://schemas.microsoft.com/office/drawing/2014/main" id="{70D0256A-BACB-FC6C-0A1E-849324B4E8C4}"/>
              </a:ext>
            </a:extLst>
          </p:cNvPr>
          <p:cNvSpPr/>
          <p:nvPr/>
        </p:nvSpPr>
        <p:spPr>
          <a:xfrm>
            <a:off x="444500" y="7518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03C281C-9100-A757-E5A1-0C4A7D785CA3}"/>
              </a:ext>
            </a:extLst>
          </p:cNvPr>
          <p:cNvSpPr/>
          <p:nvPr/>
        </p:nvSpPr>
        <p:spPr>
          <a:xfrm>
            <a:off x="444500" y="7518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3CED67E7-AAD9-C562-2CAD-ECF5397345C8}"/>
              </a:ext>
            </a:extLst>
          </p:cNvPr>
          <p:cNvSpPr txBox="1"/>
          <p:nvPr/>
        </p:nvSpPr>
        <p:spPr>
          <a:xfrm>
            <a:off x="508000" y="7543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appointment_questions</a:t>
            </a:r>
          </a:p>
        </p:txBody>
      </p:sp>
      <p:sp>
        <p:nvSpPr>
          <p:cNvPr id="77" name="TextBox 76">
            <a:extLst>
              <a:ext uri="{FF2B5EF4-FFF2-40B4-BE49-F238E27FC236}">
                <a16:creationId xmlns:a16="http://schemas.microsoft.com/office/drawing/2014/main" id="{F91FC167-CC99-E776-8AE5-5A395A210380}"/>
              </a:ext>
            </a:extLst>
          </p:cNvPr>
          <p:cNvSpPr txBox="1"/>
          <p:nvPr/>
        </p:nvSpPr>
        <p:spPr>
          <a:xfrm>
            <a:off x="508000" y="7785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appointment_id FK</a:t>
            </a:r>
          </a:p>
        </p:txBody>
      </p:sp>
      <p:cxnSp>
        <p:nvCxnSpPr>
          <p:cNvPr id="78" name="Straight Arrow Connector 77">
            <a:extLst>
              <a:ext uri="{FF2B5EF4-FFF2-40B4-BE49-F238E27FC236}">
                <a16:creationId xmlns:a16="http://schemas.microsoft.com/office/drawing/2014/main" id="{DCA89FBD-6BC3-CBAA-89B3-F029750CAFCD}"/>
              </a:ext>
            </a:extLst>
          </p:cNvPr>
          <p:cNvCxnSpPr/>
          <p:nvPr/>
        </p:nvCxnSpPr>
        <p:spPr>
          <a:xfrm>
            <a:off x="3778250" y="7829550"/>
            <a:ext cx="412750" cy="0"/>
          </a:xfrm>
          <a:prstGeom prst="straightConnector1">
            <a:avLst/>
          </a:prstGeom>
          <a:ln w="10160">
            <a:solidFill>
              <a:srgbClr val="555555"/>
            </a:solidFil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CBAE1E18-0997-F77D-36EA-6EC452EAA114}"/>
              </a:ext>
            </a:extLst>
          </p:cNvPr>
          <p:cNvSpPr txBox="1"/>
          <p:nvPr/>
        </p:nvSpPr>
        <p:spPr>
          <a:xfrm>
            <a:off x="3810000" y="7620000"/>
            <a:ext cx="355600" cy="165100"/>
          </a:xfrm>
          <a:prstGeom prst="rect">
            <a:avLst/>
          </a:prstGeom>
          <a:noFill/>
        </p:spPr>
        <p:txBody>
          <a:bodyPr vert="horz" wrap="square" lIns="0" tIns="0" rIns="0" bIns="0" rtlCol="0">
            <a:noAutofit/>
          </a:bodyPr>
          <a:lstStyle/>
          <a:p>
            <a:pPr algn="ctr"/>
            <a:r>
              <a:rPr lang="en-US" sz="650">
                <a:solidFill>
                  <a:srgbClr val="444444"/>
                </a:solidFill>
                <a:latin typeface="Times New Roman" panose="02020603050405020304" pitchFamily="18" charset="0"/>
              </a:rPr>
              <a:t>shared</a:t>
            </a:r>
          </a:p>
        </p:txBody>
      </p:sp>
      <p:sp>
        <p:nvSpPr>
          <p:cNvPr id="80" name="Rectangle 79">
            <a:extLst>
              <a:ext uri="{FF2B5EF4-FFF2-40B4-BE49-F238E27FC236}">
                <a16:creationId xmlns:a16="http://schemas.microsoft.com/office/drawing/2014/main" id="{14B6A255-F964-EBB3-FC9F-B705EEA5220A}"/>
              </a:ext>
            </a:extLst>
          </p:cNvPr>
          <p:cNvSpPr/>
          <p:nvPr/>
        </p:nvSpPr>
        <p:spPr>
          <a:xfrm>
            <a:off x="4191000" y="7518400"/>
            <a:ext cx="2921000" cy="622300"/>
          </a:xfrm>
          <a:prstGeom prst="rect">
            <a:avLst/>
          </a:prstGeom>
          <a:solidFill>
            <a:srgbClr val="FFFFFF"/>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A98D799-EF0F-2AB0-7667-F66A3FC58D2F}"/>
              </a:ext>
            </a:extLst>
          </p:cNvPr>
          <p:cNvSpPr/>
          <p:nvPr/>
        </p:nvSpPr>
        <p:spPr>
          <a:xfrm>
            <a:off x="4191000" y="7518400"/>
            <a:ext cx="2921000" cy="228600"/>
          </a:xfrm>
          <a:prstGeom prst="rect">
            <a:avLst/>
          </a:prstGeom>
          <a:solidFill>
            <a:srgbClr val="E9EEF0"/>
          </a:solidFill>
          <a:ln w="10160">
            <a:solidFill>
              <a:srgbClr val="3333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B6EF658C-D310-0296-88F7-43B8EF34BF9E}"/>
              </a:ext>
            </a:extLst>
          </p:cNvPr>
          <p:cNvSpPr txBox="1"/>
          <p:nvPr/>
        </p:nvSpPr>
        <p:spPr>
          <a:xfrm>
            <a:off x="4254500" y="7543800"/>
            <a:ext cx="2794000" cy="177800"/>
          </a:xfrm>
          <a:prstGeom prst="rect">
            <a:avLst/>
          </a:prstGeom>
          <a:noFill/>
        </p:spPr>
        <p:txBody>
          <a:bodyPr vert="horz" wrap="square" lIns="0" tIns="0" rIns="0" bIns="0" rtlCol="0">
            <a:noAutofit/>
          </a:bodyPr>
          <a:lstStyle/>
          <a:p>
            <a:r>
              <a:rPr lang="en-US" sz="900" b="1">
                <a:solidFill>
                  <a:srgbClr val="111111"/>
                </a:solidFill>
                <a:latin typeface="Times New Roman" panose="02020603050405020304" pitchFamily="18" charset="0"/>
              </a:rPr>
              <a:t>task_details</a:t>
            </a:r>
          </a:p>
        </p:txBody>
      </p:sp>
      <p:sp>
        <p:nvSpPr>
          <p:cNvPr id="83" name="TextBox 82">
            <a:extLst>
              <a:ext uri="{FF2B5EF4-FFF2-40B4-BE49-F238E27FC236}">
                <a16:creationId xmlns:a16="http://schemas.microsoft.com/office/drawing/2014/main" id="{F2244637-5278-E1EC-0176-75EB678396E0}"/>
              </a:ext>
            </a:extLst>
          </p:cNvPr>
          <p:cNvSpPr txBox="1"/>
          <p:nvPr/>
        </p:nvSpPr>
        <p:spPr>
          <a:xfrm>
            <a:off x="4254500" y="7785100"/>
            <a:ext cx="2794000" cy="304800"/>
          </a:xfrm>
          <a:prstGeom prst="rect">
            <a:avLst/>
          </a:prstGeom>
          <a:noFill/>
        </p:spPr>
        <p:txBody>
          <a:bodyPr vert="horz" wrap="square" lIns="0" tIns="0" rIns="0" bIns="0" rtlCol="0">
            <a:noAutofit/>
          </a:bodyPr>
          <a:lstStyle/>
          <a:p>
            <a:r>
              <a:rPr lang="en-US" sz="800">
                <a:solidFill>
                  <a:srgbClr val="111111"/>
                </a:solidFill>
                <a:latin typeface="Times New Roman" panose="02020603050405020304" pitchFamily="18" charset="0"/>
              </a:rPr>
              <a:t>id PK | title | is_shared</a:t>
            </a:r>
          </a:p>
        </p:txBody>
      </p:sp>
      <p:sp>
        <p:nvSpPr>
          <p:cNvPr id="84" name="TextBox 83">
            <a:extLst>
              <a:ext uri="{FF2B5EF4-FFF2-40B4-BE49-F238E27FC236}">
                <a16:creationId xmlns:a16="http://schemas.microsoft.com/office/drawing/2014/main" id="{B9E33E17-F577-4868-40F2-F205BA391BE4}"/>
              </a:ext>
            </a:extLst>
          </p:cNvPr>
          <p:cNvSpPr txBox="1"/>
          <p:nvPr/>
        </p:nvSpPr>
        <p:spPr>
          <a:xfrm>
            <a:off x="533400" y="8483600"/>
            <a:ext cx="6477000" cy="736600"/>
          </a:xfrm>
          <a:prstGeom prst="rect">
            <a:avLst/>
          </a:prstGeom>
          <a:noFill/>
        </p:spPr>
        <p:txBody>
          <a:bodyPr vert="horz" wrap="square" lIns="0" tIns="0" rIns="0" bIns="0" rtlCol="0">
            <a:noAutofit/>
          </a:bodyPr>
          <a:lstStyle/>
          <a:p>
            <a:r>
              <a:rPr lang="en-US" sz="900">
                <a:solidFill>
                  <a:srgbClr val="222222"/>
                </a:solidFill>
                <a:latin typeface="Times New Roman" panose="02020603050405020304" pitchFamily="18" charset="0"/>
              </a:rPr>
              <a:t>Relationships: one user has one pregnancy profile and may have many appointments, tasks, daily records, symptoms, milestones, report shares, push subscriptions, and reminders. Appointment questions reference appointments; care tasks reference shared task details.</a:t>
            </a:r>
          </a:p>
        </p:txBody>
      </p:sp>
    </p:spTree>
    <p:extLst>
      <p:ext uri="{BB962C8B-B14F-4D97-AF65-F5344CB8AC3E}">
        <p14:creationId xmlns:p14="http://schemas.microsoft.com/office/powerpoint/2010/main" val="4219594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551</Words>
  <Application>Microsoft Office PowerPoint</Application>
  <PresentationFormat>Custom</PresentationFormat>
  <Paragraphs>67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2026-10-19T13:57:56Z</dcterms:created>
  <dcterms:modified xsi:type="dcterms:W3CDTF">2026-10-19T13:57:56Z</dcterms:modified>
</cp:coreProperties>
</file>