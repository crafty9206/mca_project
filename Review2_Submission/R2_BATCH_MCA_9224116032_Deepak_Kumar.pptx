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68" r:id="rId2"/>
    <p:sldId id="369" r:id="rId3"/>
    <p:sldId id="382" r:id="rId4"/>
    <p:sldId id="390" r:id="rId5"/>
    <p:sldId id="371" r:id="rId6"/>
    <p:sldId id="385" r:id="rId7"/>
    <p:sldId id="376" r:id="rId8"/>
    <p:sldId id="395" r:id="rId9"/>
    <p:sldId id="396" r:id="rId10"/>
    <p:sldId id="404" r:id="rId11"/>
    <p:sldId id="386" r:id="rId12"/>
    <p:sldId id="408" r:id="rId13"/>
    <p:sldId id="392" r:id="rId14"/>
    <p:sldId id="409" r:id="rId15"/>
    <p:sldId id="411" r:id="rId16"/>
    <p:sldId id="401" r:id="rId17"/>
    <p:sldId id="412" r:id="rId18"/>
    <p:sldId id="402" r:id="rId19"/>
  </p:sldIdLst>
  <p:sldSz cx="9144000" cy="5143500" type="screen16x9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rish bhagavathula" initials="h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41"/>
    <a:srgbClr val="000099"/>
    <a:srgbClr val="012142"/>
    <a:srgbClr val="17375E"/>
    <a:srgbClr val="718587"/>
    <a:srgbClr val="C00000"/>
    <a:srgbClr val="ED1B24"/>
    <a:srgbClr val="75BE39"/>
    <a:srgbClr val="0067AC"/>
    <a:srgbClr val="0055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71" autoAdjust="0"/>
  </p:normalViewPr>
  <p:slideViewPr>
    <p:cSldViewPr>
      <p:cViewPr>
        <p:scale>
          <a:sx n="98" d="100"/>
          <a:sy n="98" d="100"/>
        </p:scale>
        <p:origin x="268" y="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550"/>
    </p:cViewPr>
  </p:sorterViewPr>
  <p:notesViewPr>
    <p:cSldViewPr>
      <p:cViewPr varScale="1">
        <p:scale>
          <a:sx n="53" d="100"/>
          <a:sy n="53" d="100"/>
        </p:scale>
        <p:origin x="-2850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72081-C824-4086-8F2F-2E1515CCAD09}" type="datetimeFigureOut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24658-0728-4F51-80F4-3C91ECA2A4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052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5D0174-27A0-4699-9B7D-1DF316D5B691}" type="datetimeFigureOut">
              <a:rPr lang="en-IN" smtClean="0"/>
              <a:pPr/>
              <a:t>20-10-2026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294E0-43BA-4050-978A-B5F4E62A110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25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2582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6" userDrawn="1">
          <p15:clr>
            <a:srgbClr val="FBAE40"/>
          </p15:clr>
        </p15:guide>
        <p15:guide id="2" pos="336" userDrawn="1">
          <p15:clr>
            <a:srgbClr val="FBAE40"/>
          </p15:clr>
        </p15:guide>
        <p15:guide id="3" pos="5376" userDrawn="1">
          <p15:clr>
            <a:srgbClr val="FBAE40"/>
          </p15:clr>
        </p15:guide>
        <p15:guide id="4" orient="horz" pos="3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0C3BC438-8BA7-2CBA-46E9-939F92AFEE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" y="0"/>
            <a:ext cx="9143111" cy="51435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6" userDrawn="1">
          <p15:clr>
            <a:srgbClr val="FBAE40"/>
          </p15:clr>
        </p15:guide>
        <p15:guide id="2" pos="336" userDrawn="1">
          <p15:clr>
            <a:srgbClr val="FBAE40"/>
          </p15:clr>
        </p15:guide>
        <p15:guide id="3" pos="5376" userDrawn="1">
          <p15:clr>
            <a:srgbClr val="FBAE40"/>
          </p15:clr>
        </p15:guide>
        <p15:guide id="4" orient="horz" pos="30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60" userDrawn="1">
          <p15:clr>
            <a:srgbClr val="FBAE40"/>
          </p15:clr>
        </p15:guide>
        <p15:guide id="2" pos="336" userDrawn="1">
          <p15:clr>
            <a:srgbClr val="FBAE40"/>
          </p15:clr>
        </p15:guide>
        <p15:guide id="3" pos="5376" userDrawn="1">
          <p15:clr>
            <a:srgbClr val="FBAE40"/>
          </p15:clr>
        </p15:guide>
        <p15:guide id="4" orient="horz" pos="75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7390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6" userDrawn="1">
          <p15:clr>
            <a:srgbClr val="FBAE40"/>
          </p15:clr>
        </p15:guide>
        <p15:guide id="2" pos="336" userDrawn="1">
          <p15:clr>
            <a:srgbClr val="FBAE40"/>
          </p15:clr>
        </p15:guide>
        <p15:guide id="3" orient="horz" pos="3060" userDrawn="1">
          <p15:clr>
            <a:srgbClr val="FBAE40"/>
          </p15:clr>
        </p15:guide>
        <p15:guide id="4" pos="537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1_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5"/>
          <p:cNvSpPr/>
          <p:nvPr/>
        </p:nvSpPr>
        <p:spPr>
          <a:xfrm>
            <a:off x="-12320" y="2655588"/>
            <a:ext cx="9153940" cy="21450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15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15"/>
          <p:cNvSpPr txBox="1">
            <a:spLocks noGrp="1"/>
          </p:cNvSpPr>
          <p:nvPr>
            <p:ph type="ctrTitle"/>
          </p:nvPr>
        </p:nvSpPr>
        <p:spPr>
          <a:xfrm>
            <a:off x="171528" y="3225959"/>
            <a:ext cx="5424601" cy="1096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5"/>
          <p:cNvSpPr txBox="1">
            <a:spLocks noGrp="1"/>
          </p:cNvSpPr>
          <p:nvPr>
            <p:ph type="subTitle" idx="1"/>
          </p:nvPr>
        </p:nvSpPr>
        <p:spPr>
          <a:xfrm>
            <a:off x="6055822" y="3299469"/>
            <a:ext cx="2420663" cy="99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  <a:defRPr sz="1800" cap="none">
                <a:solidFill>
                  <a:srgbClr val="B0B0F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1500"/>
            </a:lvl9pPr>
          </a:lstStyle>
          <a:p>
            <a:endParaRPr/>
          </a:p>
        </p:txBody>
      </p:sp>
      <p:pic>
        <p:nvPicPr>
          <p:cNvPr id="23" name="Google Shape;23;p115" descr="KGC-20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03214" y="1222240"/>
            <a:ext cx="5327633" cy="93025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5"/>
          <p:cNvSpPr txBox="1"/>
          <p:nvPr/>
        </p:nvSpPr>
        <p:spPr>
          <a:xfrm>
            <a:off x="-9939" y="4902476"/>
            <a:ext cx="2305879" cy="190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Kalasalingam academy of research and education</a:t>
            </a:r>
            <a:endParaRPr sz="1350"/>
          </a:p>
        </p:txBody>
      </p:sp>
      <p:cxnSp>
        <p:nvCxnSpPr>
          <p:cNvPr id="25" name="Google Shape;25;p115"/>
          <p:cNvCxnSpPr/>
          <p:nvPr/>
        </p:nvCxnSpPr>
        <p:spPr>
          <a:xfrm>
            <a:off x="5774436" y="2972335"/>
            <a:ext cx="0" cy="1713581"/>
          </a:xfrm>
          <a:prstGeom prst="straightConnector1">
            <a:avLst/>
          </a:prstGeom>
          <a:noFill/>
          <a:ln w="5715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241504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F9E877FF-2708-28CB-27F6-6195A99B4E5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6" userDrawn="1">
          <p15:clr>
            <a:srgbClr val="F26B43"/>
          </p15:clr>
        </p15:guide>
        <p15:guide id="2" pos="336" userDrawn="1">
          <p15:clr>
            <a:srgbClr val="F26B43"/>
          </p15:clr>
        </p15:guide>
        <p15:guide id="3" pos="5376" userDrawn="1">
          <p15:clr>
            <a:srgbClr val="F26B43"/>
          </p15:clr>
        </p15:guide>
        <p15:guide id="4" orient="horz" pos="30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 txBox="1">
            <a:spLocks noGrp="1"/>
          </p:cNvSpPr>
          <p:nvPr>
            <p:ph type="ctrTitle"/>
          </p:nvPr>
        </p:nvSpPr>
        <p:spPr>
          <a:xfrm>
            <a:off x="171528" y="3225959"/>
            <a:ext cx="5424601" cy="1096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IN" sz="2600" b="1" dirty="0">
                <a:latin typeface="Times New Roman" panose="02020603050405020304" pitchFamily="18" charset="0"/>
              </a:rPr>
              <a:t>July -2024</a:t>
            </a:r>
          </a:p>
        </p:txBody>
      </p:sp>
      <p:sp>
        <p:nvSpPr>
          <p:cNvPr id="134" name="Google Shape;134;p1"/>
          <p:cNvSpPr txBox="1">
            <a:spLocks noGrp="1"/>
          </p:cNvSpPr>
          <p:nvPr>
            <p:ph type="subTitle" idx="1"/>
          </p:nvPr>
        </p:nvSpPr>
        <p:spPr>
          <a:xfrm>
            <a:off x="5791200" y="3224542"/>
            <a:ext cx="3352800" cy="1176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 Semester</a:t>
            </a:r>
          </a:p>
          <a:p>
            <a:pPr algn="ctr"/>
            <a:r>
              <a:rPr 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MCA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D4B5BF-7DB1-477F-8BB5-FEB8B6ED369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759460"/>
            <a:ext cx="5731510" cy="14312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AEC255-C425-48D6-AD52-BAF53A1AC15C}"/>
              </a:ext>
            </a:extLst>
          </p:cNvPr>
          <p:cNvSpPr txBox="1"/>
          <p:nvPr/>
        </p:nvSpPr>
        <p:spPr>
          <a:xfrm>
            <a:off x="2789555" y="1930501"/>
            <a:ext cx="39624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Review - 2</a:t>
            </a:r>
            <a:endParaRPr lang="en-IN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FE9BD6-2AEF-4F5D-99F0-79900C97BE19}"/>
              </a:ext>
            </a:extLst>
          </p:cNvPr>
          <p:cNvSpPr/>
          <p:nvPr/>
        </p:nvSpPr>
        <p:spPr>
          <a:xfrm>
            <a:off x="2403136" y="2276704"/>
            <a:ext cx="4337727" cy="37407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b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Centre for Distance and Online Education</a:t>
            </a:r>
            <a:endParaRPr lang="en-IN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758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17A28E-1572-4B2F-AB46-2B90825978F5}"/>
              </a:ext>
            </a:extLst>
          </p:cNvPr>
          <p:cNvSpPr/>
          <p:nvPr/>
        </p:nvSpPr>
        <p:spPr>
          <a:xfrm>
            <a:off x="304800" y="514350"/>
            <a:ext cx="8763000" cy="441896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200000"/>
              </a:lnSpc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of the Learner : Deepak Kumar
Register number : 9224116032
Name of the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Programme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MCA
Semester : IV
Name of the Course : Project Work
Batch : July 2024
Course Code 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223MCA4201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
Regulation : 2022
Faculty Advisor : Mr. M. GOVINDARAJ</a:t>
            </a:r>
            <a:endParaRPr lang="en-I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6ADDB6-EC90-4C9E-B247-954741439B5B}"/>
              </a:ext>
            </a:extLst>
          </p:cNvPr>
          <p:cNvSpPr/>
          <p:nvPr/>
        </p:nvSpPr>
        <p:spPr>
          <a:xfrm>
            <a:off x="218661" y="86783"/>
            <a:ext cx="8839200" cy="57996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IN" sz="2200" b="1">
                <a:solidFill>
                  <a:srgbClr val="000099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Project Title : MaatriCare</a:t>
            </a:r>
            <a:endParaRPr lang="en-IN" sz="22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675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36BD41-AA31-446B-AF03-E04A9D35F390}"/>
              </a:ext>
            </a:extLst>
          </p:cNvPr>
          <p:cNvSpPr/>
          <p:nvPr/>
        </p:nvSpPr>
        <p:spPr>
          <a:xfrm>
            <a:off x="304800" y="209550"/>
            <a:ext cx="1863011" cy="4616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sz="2200" b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2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899A73-A892-4AA1-B496-D9261B159AC8}"/>
              </a:ext>
            </a:extLst>
          </p:cNvPr>
          <p:cNvSpPr/>
          <p:nvPr/>
        </p:nvSpPr>
        <p:spPr>
          <a:xfrm>
            <a:off x="304800" y="678669"/>
            <a:ext cx="8458200" cy="446483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MaatriCare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pregnancy support and care-coordination web application that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pregnancy profiles, appointments, daily care, wellbeing records, symptom journals, milestones, learning resources, reports, and reminders in one authenticated system. Users can prepare questions for healthcare visits, create a printable visit brief, and choose which records to include in a report.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frontend is implemented with React, TypeScript, and Vite. The backend uses Java Spring Boot REST APIs, Spring Security with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JWT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authentication, request validation, and Spring Data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JPA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MySQL supports local development, with PostgreSQL configured for production. Relational data includes user profiles, appointments, care tasks, wellbeing entries, symptoms, milestones, emergency contacts, report shares, push subscriptions, and scheduled reminders.</a:t>
            </a:r>
          </a:p>
          <a:p>
            <a:pPr>
              <a:lnSpc>
                <a:spcPct val="150000"/>
              </a:lnSpc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MaatriCare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organizational and educational aid. It does not diagnose conditions, recommend treatment, or replace a healthcare professional or emergency services.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22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DCAB1EF9-DC87-4E4A-BF3E-65E325AE2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" y="1004069"/>
            <a:ext cx="9067800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MaatriCare</a:t>
            </a: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private workspace for pregnancy-related organization and care coordination.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Keep pregnancy profile and progress information together.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 daily care and wellbeing entries.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 appointments, questions, and visit briefs.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educational resources, summaries, and configurable reminders.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 and Safety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user-entered records and healthcare conversations. It does not diagnose, prescribe, or provide emergency triage.</a:t>
            </a:r>
            <a:endParaRPr kumimoji="0" lang="en-US" altLang="en-US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6FF737-0BA0-41F4-BC58-449A66B0CED8}"/>
              </a:ext>
            </a:extLst>
          </p:cNvPr>
          <p:cNvSpPr/>
          <p:nvPr/>
        </p:nvSpPr>
        <p:spPr>
          <a:xfrm>
            <a:off x="228600" y="133350"/>
            <a:ext cx="2133600" cy="4616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IN" sz="22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21040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FCF714-1514-45C0-9533-8E83BBABFF6C}"/>
              </a:ext>
            </a:extLst>
          </p:cNvPr>
          <p:cNvSpPr/>
          <p:nvPr/>
        </p:nvSpPr>
        <p:spPr>
          <a:xfrm>
            <a:off x="228600" y="133350"/>
            <a:ext cx="8509000" cy="457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b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(Entity Relationship) Diagram</a:t>
            </a:r>
            <a:endParaRPr lang="en-IN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FA247F2-7B09-0626-4CF8-A25D35304894}"/>
              </a:ext>
            </a:extLst>
          </p:cNvPr>
          <p:cNvCxnSpPr/>
          <p:nvPr/>
        </p:nvCxnSpPr>
        <p:spPr>
          <a:xfrm>
            <a:off x="4572000" y="1308100"/>
            <a:ext cx="0" cy="11430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06D477D-F199-EF1D-4708-D32A5707B888}"/>
              </a:ext>
            </a:extLst>
          </p:cNvPr>
          <p:cNvCxnSpPr/>
          <p:nvPr/>
        </p:nvCxnSpPr>
        <p:spPr>
          <a:xfrm>
            <a:off x="1651000" y="1422400"/>
            <a:ext cx="5842000" cy="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C54C94-9A65-3272-DD1C-0C491BF2D156}"/>
              </a:ext>
            </a:extLst>
          </p:cNvPr>
          <p:cNvCxnSpPr/>
          <p:nvPr/>
        </p:nvCxnSpPr>
        <p:spPr>
          <a:xfrm>
            <a:off x="1651000" y="1422400"/>
            <a:ext cx="0" cy="8890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3FF717-4DA5-C6B4-EBB9-AD23C3FA2F76}"/>
              </a:ext>
            </a:extLst>
          </p:cNvPr>
          <p:cNvCxnSpPr/>
          <p:nvPr/>
        </p:nvCxnSpPr>
        <p:spPr>
          <a:xfrm>
            <a:off x="1651000" y="2095500"/>
            <a:ext cx="0" cy="19050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4A191C-CB27-2DB4-BA30-8EDB1FD84602}"/>
              </a:ext>
            </a:extLst>
          </p:cNvPr>
          <p:cNvCxnSpPr/>
          <p:nvPr/>
        </p:nvCxnSpPr>
        <p:spPr>
          <a:xfrm>
            <a:off x="1651000" y="2870200"/>
            <a:ext cx="0" cy="19050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04248C-BFE4-D57B-CA4E-9F780C02A9A3}"/>
              </a:ext>
            </a:extLst>
          </p:cNvPr>
          <p:cNvCxnSpPr/>
          <p:nvPr/>
        </p:nvCxnSpPr>
        <p:spPr>
          <a:xfrm>
            <a:off x="1651000" y="3644900"/>
            <a:ext cx="0" cy="19050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985CB7-2556-CE94-1D09-E83C3AAEB614}"/>
              </a:ext>
            </a:extLst>
          </p:cNvPr>
          <p:cNvCxnSpPr/>
          <p:nvPr/>
        </p:nvCxnSpPr>
        <p:spPr>
          <a:xfrm>
            <a:off x="4572000" y="1422400"/>
            <a:ext cx="0" cy="8890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1FAAD9-C5C6-E0E7-C90B-90C97ED3CB7D}"/>
              </a:ext>
            </a:extLst>
          </p:cNvPr>
          <p:cNvCxnSpPr/>
          <p:nvPr/>
        </p:nvCxnSpPr>
        <p:spPr>
          <a:xfrm>
            <a:off x="4572000" y="2095500"/>
            <a:ext cx="0" cy="19050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B8257E-309A-1AAB-31A0-A925DC97C3F8}"/>
              </a:ext>
            </a:extLst>
          </p:cNvPr>
          <p:cNvCxnSpPr/>
          <p:nvPr/>
        </p:nvCxnSpPr>
        <p:spPr>
          <a:xfrm>
            <a:off x="4572000" y="2870200"/>
            <a:ext cx="0" cy="19050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758DA81-7378-89D0-DB06-82C41760611D}"/>
              </a:ext>
            </a:extLst>
          </p:cNvPr>
          <p:cNvCxnSpPr/>
          <p:nvPr/>
        </p:nvCxnSpPr>
        <p:spPr>
          <a:xfrm>
            <a:off x="4572000" y="3644900"/>
            <a:ext cx="0" cy="19050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1E167B-8C42-BA33-AD04-A5C713726307}"/>
              </a:ext>
            </a:extLst>
          </p:cNvPr>
          <p:cNvCxnSpPr/>
          <p:nvPr/>
        </p:nvCxnSpPr>
        <p:spPr>
          <a:xfrm>
            <a:off x="7493000" y="1422400"/>
            <a:ext cx="0" cy="8890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F8C42C7-09AF-07F1-BBBF-4EFBA82D554E}"/>
              </a:ext>
            </a:extLst>
          </p:cNvPr>
          <p:cNvCxnSpPr/>
          <p:nvPr/>
        </p:nvCxnSpPr>
        <p:spPr>
          <a:xfrm>
            <a:off x="7493000" y="2095500"/>
            <a:ext cx="0" cy="19050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8E436F5-ED52-EA6C-12F5-4EF8A849499D}"/>
              </a:ext>
            </a:extLst>
          </p:cNvPr>
          <p:cNvCxnSpPr/>
          <p:nvPr/>
        </p:nvCxnSpPr>
        <p:spPr>
          <a:xfrm>
            <a:off x="7493000" y="2870200"/>
            <a:ext cx="0" cy="19050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6CF01F-AA6B-E980-156B-4D04C611437B}"/>
              </a:ext>
            </a:extLst>
          </p:cNvPr>
          <p:cNvCxnSpPr/>
          <p:nvPr/>
        </p:nvCxnSpPr>
        <p:spPr>
          <a:xfrm>
            <a:off x="7493000" y="3644900"/>
            <a:ext cx="0" cy="19050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FF93CED-70B4-56AC-A559-C55E07AC73A2}"/>
              </a:ext>
            </a:extLst>
          </p:cNvPr>
          <p:cNvSpPr/>
          <p:nvPr/>
        </p:nvSpPr>
        <p:spPr>
          <a:xfrm>
            <a:off x="3175000" y="698500"/>
            <a:ext cx="2794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293D32-FC40-1FB7-4374-B03024F9FAB7}"/>
              </a:ext>
            </a:extLst>
          </p:cNvPr>
          <p:cNvSpPr/>
          <p:nvPr/>
        </p:nvSpPr>
        <p:spPr>
          <a:xfrm>
            <a:off x="3175000" y="698500"/>
            <a:ext cx="2794000" cy="215900"/>
          </a:xfrm>
          <a:prstGeom prst="rect">
            <a:avLst/>
          </a:prstGeom>
          <a:solidFill>
            <a:srgbClr val="DDE8F3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F6103C-39E2-A872-4D3D-5EF4A57E33FD}"/>
              </a:ext>
            </a:extLst>
          </p:cNvPr>
          <p:cNvSpPr txBox="1"/>
          <p:nvPr/>
        </p:nvSpPr>
        <p:spPr>
          <a:xfrm>
            <a:off x="3225800" y="711200"/>
            <a:ext cx="2692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800" b="1">
                <a:solidFill>
                  <a:srgbClr val="173E79"/>
                </a:solidFill>
                <a:latin typeface="Times New Roman" panose="02020603050405020304" pitchFamily="18" charset="0"/>
              </a:rPr>
              <a:t>users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8A170B-569A-6D5D-1B40-19AFFDDCDA95}"/>
              </a:ext>
            </a:extLst>
          </p:cNvPr>
          <p:cNvSpPr txBox="1"/>
          <p:nvPr/>
        </p:nvSpPr>
        <p:spPr>
          <a:xfrm>
            <a:off x="3225800" y="939800"/>
            <a:ext cx="2692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fr-FR" sz="700">
                <a:solidFill>
                  <a:srgbClr val="222222"/>
                </a:solidFill>
                <a:latin typeface="Times New Roman" panose="02020603050405020304" pitchFamily="18" charset="0"/>
              </a:rPr>
              <a:t>id PK | email UNIQUE | timezone</a:t>
            </a:r>
            <a:endParaRPr lang="en-US" sz="700">
              <a:solidFill>
                <a:srgbClr val="22222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CD1995-C270-FCEF-D63D-780C05FB1B1A}"/>
              </a:ext>
            </a:extLst>
          </p:cNvPr>
          <p:cNvSpPr/>
          <p:nvPr/>
        </p:nvSpPr>
        <p:spPr>
          <a:xfrm>
            <a:off x="317500" y="1511300"/>
            <a:ext cx="2667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DFB442-AF44-C1E8-EB3C-9869DFFCDE4A}"/>
              </a:ext>
            </a:extLst>
          </p:cNvPr>
          <p:cNvSpPr/>
          <p:nvPr/>
        </p:nvSpPr>
        <p:spPr>
          <a:xfrm>
            <a:off x="317500" y="1511300"/>
            <a:ext cx="2667000" cy="215900"/>
          </a:xfrm>
          <a:prstGeom prst="rect">
            <a:avLst/>
          </a:prstGeom>
          <a:solidFill>
            <a:srgbClr val="DDE8F3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4F8854-FEDA-D6AB-C593-83F518ABD260}"/>
              </a:ext>
            </a:extLst>
          </p:cNvPr>
          <p:cNvSpPr txBox="1"/>
          <p:nvPr/>
        </p:nvSpPr>
        <p:spPr>
          <a:xfrm>
            <a:off x="368300" y="15240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800" b="1">
                <a:solidFill>
                  <a:srgbClr val="173E79"/>
                </a:solidFill>
                <a:latin typeface="Times New Roman" panose="02020603050405020304" pitchFamily="18" charset="0"/>
              </a:rPr>
              <a:t>pregnancy_profiles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911280-2C44-BDD6-540B-33AA8A1CA5DD}"/>
              </a:ext>
            </a:extLst>
          </p:cNvPr>
          <p:cNvSpPr txBox="1"/>
          <p:nvPr/>
        </p:nvSpPr>
        <p:spPr>
          <a:xfrm>
            <a:off x="368300" y="17526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700">
                <a:solidFill>
                  <a:srgbClr val="222222"/>
                </a:solidFill>
                <a:latin typeface="Times New Roman" panose="02020603050405020304" pitchFamily="18" charset="0"/>
              </a:rPr>
              <a:t>id PK | user_id FK UNIQUE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05E28C-C1FC-2C5C-0805-B04782B6F110}"/>
              </a:ext>
            </a:extLst>
          </p:cNvPr>
          <p:cNvSpPr/>
          <p:nvPr/>
        </p:nvSpPr>
        <p:spPr>
          <a:xfrm>
            <a:off x="3238500" y="1511300"/>
            <a:ext cx="2667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B3B247-920C-AC13-862A-8FAB0580E696}"/>
              </a:ext>
            </a:extLst>
          </p:cNvPr>
          <p:cNvSpPr/>
          <p:nvPr/>
        </p:nvSpPr>
        <p:spPr>
          <a:xfrm>
            <a:off x="3238500" y="1511300"/>
            <a:ext cx="2667000" cy="215900"/>
          </a:xfrm>
          <a:prstGeom prst="rect">
            <a:avLst/>
          </a:prstGeom>
          <a:solidFill>
            <a:srgbClr val="DDE8F3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6980C7-2D59-65DE-322C-6B58E01853F1}"/>
              </a:ext>
            </a:extLst>
          </p:cNvPr>
          <p:cNvSpPr txBox="1"/>
          <p:nvPr/>
        </p:nvSpPr>
        <p:spPr>
          <a:xfrm>
            <a:off x="3289300" y="15240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800" b="1">
                <a:solidFill>
                  <a:srgbClr val="173E79"/>
                </a:solidFill>
                <a:latin typeface="Times New Roman" panose="02020603050405020304" pitchFamily="18" charset="0"/>
              </a:rPr>
              <a:t>appointments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30CAF7-40FB-AECC-A707-5008E6E983B1}"/>
              </a:ext>
            </a:extLst>
          </p:cNvPr>
          <p:cNvSpPr txBox="1"/>
          <p:nvPr/>
        </p:nvSpPr>
        <p:spPr>
          <a:xfrm>
            <a:off x="3289300" y="17526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700">
                <a:solidFill>
                  <a:srgbClr val="222222"/>
                </a:solidFill>
                <a:latin typeface="Times New Roman" panose="02020603050405020304" pitchFamily="18" charset="0"/>
              </a:rPr>
              <a:t>id PK | user_id FK | starts_at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6B2B61C-239A-D0AD-ECEE-F71779D90EF1}"/>
              </a:ext>
            </a:extLst>
          </p:cNvPr>
          <p:cNvSpPr/>
          <p:nvPr/>
        </p:nvSpPr>
        <p:spPr>
          <a:xfrm>
            <a:off x="6159500" y="1511300"/>
            <a:ext cx="2667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EC72027-C273-9A37-B361-F1639B219538}"/>
              </a:ext>
            </a:extLst>
          </p:cNvPr>
          <p:cNvSpPr/>
          <p:nvPr/>
        </p:nvSpPr>
        <p:spPr>
          <a:xfrm>
            <a:off x="6159500" y="1511300"/>
            <a:ext cx="2667000" cy="215900"/>
          </a:xfrm>
          <a:prstGeom prst="rect">
            <a:avLst/>
          </a:prstGeom>
          <a:solidFill>
            <a:srgbClr val="DDE8F3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79F07B-8056-F07A-B9DF-34ED9231EA70}"/>
              </a:ext>
            </a:extLst>
          </p:cNvPr>
          <p:cNvSpPr txBox="1"/>
          <p:nvPr/>
        </p:nvSpPr>
        <p:spPr>
          <a:xfrm>
            <a:off x="6210300" y="15240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800" b="1">
                <a:solidFill>
                  <a:srgbClr val="173E79"/>
                </a:solidFill>
                <a:latin typeface="Times New Roman" panose="02020603050405020304" pitchFamily="18" charset="0"/>
              </a:rPr>
              <a:t>care_tasks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422339-B18A-3FD7-BEDC-FB7F1205E05C}"/>
              </a:ext>
            </a:extLst>
          </p:cNvPr>
          <p:cNvSpPr txBox="1"/>
          <p:nvPr/>
        </p:nvSpPr>
        <p:spPr>
          <a:xfrm>
            <a:off x="6210300" y="17526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700">
                <a:solidFill>
                  <a:srgbClr val="222222"/>
                </a:solidFill>
                <a:latin typeface="Times New Roman" panose="02020603050405020304" pitchFamily="18" charset="0"/>
              </a:rPr>
              <a:t>id PK | user_id FK | task_detail_id FK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F8EA5D-B3CC-FFF1-5989-2C73E4C4B943}"/>
              </a:ext>
            </a:extLst>
          </p:cNvPr>
          <p:cNvSpPr/>
          <p:nvPr/>
        </p:nvSpPr>
        <p:spPr>
          <a:xfrm>
            <a:off x="317500" y="2286000"/>
            <a:ext cx="2667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DBFFCA-CBF0-E1AA-FEB9-994ECFA1B469}"/>
              </a:ext>
            </a:extLst>
          </p:cNvPr>
          <p:cNvSpPr/>
          <p:nvPr/>
        </p:nvSpPr>
        <p:spPr>
          <a:xfrm>
            <a:off x="317500" y="2286000"/>
            <a:ext cx="2667000" cy="215900"/>
          </a:xfrm>
          <a:prstGeom prst="rect">
            <a:avLst/>
          </a:prstGeom>
          <a:solidFill>
            <a:srgbClr val="DDE8F3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3B048C-78A1-3DB9-9B8A-74131E446E15}"/>
              </a:ext>
            </a:extLst>
          </p:cNvPr>
          <p:cNvSpPr txBox="1"/>
          <p:nvPr/>
        </p:nvSpPr>
        <p:spPr>
          <a:xfrm>
            <a:off x="368300" y="22987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800" b="1">
                <a:solidFill>
                  <a:srgbClr val="173E79"/>
                </a:solidFill>
                <a:latin typeface="Times New Roman" panose="02020603050405020304" pitchFamily="18" charset="0"/>
              </a:rPr>
              <a:t>daily_wellbeing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81DD4A-F78A-252E-5826-80AB5A8D62A2}"/>
              </a:ext>
            </a:extLst>
          </p:cNvPr>
          <p:cNvSpPr txBox="1"/>
          <p:nvPr/>
        </p:nvSpPr>
        <p:spPr>
          <a:xfrm>
            <a:off x="368300" y="25273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700">
                <a:solidFill>
                  <a:srgbClr val="222222"/>
                </a:solidFill>
                <a:latin typeface="Times New Roman" panose="02020603050405020304" pitchFamily="18" charset="0"/>
              </a:rPr>
              <a:t>user_id FK | entry_date UNIQUE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BAE2DE-9E96-0BBB-0F89-F7A1860500A8}"/>
              </a:ext>
            </a:extLst>
          </p:cNvPr>
          <p:cNvSpPr/>
          <p:nvPr/>
        </p:nvSpPr>
        <p:spPr>
          <a:xfrm>
            <a:off x="3238500" y="2286000"/>
            <a:ext cx="2667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B3422A-0005-E264-19F0-F8478CB233E8}"/>
              </a:ext>
            </a:extLst>
          </p:cNvPr>
          <p:cNvSpPr/>
          <p:nvPr/>
        </p:nvSpPr>
        <p:spPr>
          <a:xfrm>
            <a:off x="3238500" y="2286000"/>
            <a:ext cx="2667000" cy="215900"/>
          </a:xfrm>
          <a:prstGeom prst="rect">
            <a:avLst/>
          </a:prstGeom>
          <a:solidFill>
            <a:srgbClr val="DDE8F3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DE2E6D-7B4D-AC6C-DC09-77606C6E38F2}"/>
              </a:ext>
            </a:extLst>
          </p:cNvPr>
          <p:cNvSpPr txBox="1"/>
          <p:nvPr/>
        </p:nvSpPr>
        <p:spPr>
          <a:xfrm>
            <a:off x="3289300" y="22987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800" b="1">
                <a:solidFill>
                  <a:srgbClr val="173E79"/>
                </a:solidFill>
                <a:latin typeface="Times New Roman" panose="02020603050405020304" pitchFamily="18" charset="0"/>
              </a:rPr>
              <a:t>symptom_entries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016BA1-F722-793A-E05F-219BB9486C1B}"/>
              </a:ext>
            </a:extLst>
          </p:cNvPr>
          <p:cNvSpPr txBox="1"/>
          <p:nvPr/>
        </p:nvSpPr>
        <p:spPr>
          <a:xfrm>
            <a:off x="3289300" y="25273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700">
                <a:solidFill>
                  <a:srgbClr val="222222"/>
                </a:solidFill>
                <a:latin typeface="Times New Roman" panose="02020603050405020304" pitchFamily="18" charset="0"/>
              </a:rPr>
              <a:t>id PK | user_id FK | severity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0217203-33BF-F0D5-3868-B2331FC0AD72}"/>
              </a:ext>
            </a:extLst>
          </p:cNvPr>
          <p:cNvSpPr/>
          <p:nvPr/>
        </p:nvSpPr>
        <p:spPr>
          <a:xfrm>
            <a:off x="6159500" y="2286000"/>
            <a:ext cx="2667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AD2DEF-82C0-5BB5-D84C-BC2C4056D2A0}"/>
              </a:ext>
            </a:extLst>
          </p:cNvPr>
          <p:cNvSpPr/>
          <p:nvPr/>
        </p:nvSpPr>
        <p:spPr>
          <a:xfrm>
            <a:off x="6159500" y="2286000"/>
            <a:ext cx="2667000" cy="215900"/>
          </a:xfrm>
          <a:prstGeom prst="rect">
            <a:avLst/>
          </a:prstGeom>
          <a:solidFill>
            <a:srgbClr val="DDE8F3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12A677-D6D6-586B-B7BA-85E7EC88F282}"/>
              </a:ext>
            </a:extLst>
          </p:cNvPr>
          <p:cNvSpPr txBox="1"/>
          <p:nvPr/>
        </p:nvSpPr>
        <p:spPr>
          <a:xfrm>
            <a:off x="6210300" y="22987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800" b="1">
                <a:solidFill>
                  <a:srgbClr val="173E79"/>
                </a:solidFill>
                <a:latin typeface="Times New Roman" panose="02020603050405020304" pitchFamily="18" charset="0"/>
              </a:rPr>
              <a:t>pregnancy_milestones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2C270A-6A5D-AC97-BB61-C011C77E08EC}"/>
              </a:ext>
            </a:extLst>
          </p:cNvPr>
          <p:cNvSpPr txBox="1"/>
          <p:nvPr/>
        </p:nvSpPr>
        <p:spPr>
          <a:xfrm>
            <a:off x="6210300" y="25273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700">
                <a:solidFill>
                  <a:srgbClr val="222222"/>
                </a:solidFill>
                <a:latin typeface="Times New Roman" panose="02020603050405020304" pitchFamily="18" charset="0"/>
              </a:rPr>
              <a:t>id PK | user_id FK | week_number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91D4D3-2E28-07DE-0048-6B0A2D0F5216}"/>
              </a:ext>
            </a:extLst>
          </p:cNvPr>
          <p:cNvSpPr/>
          <p:nvPr/>
        </p:nvSpPr>
        <p:spPr>
          <a:xfrm>
            <a:off x="317500" y="3060700"/>
            <a:ext cx="2667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99FB2C2-0236-96BE-AD8B-04E7CB42E337}"/>
              </a:ext>
            </a:extLst>
          </p:cNvPr>
          <p:cNvSpPr/>
          <p:nvPr/>
        </p:nvSpPr>
        <p:spPr>
          <a:xfrm>
            <a:off x="317500" y="3060700"/>
            <a:ext cx="2667000" cy="215900"/>
          </a:xfrm>
          <a:prstGeom prst="rect">
            <a:avLst/>
          </a:prstGeom>
          <a:solidFill>
            <a:srgbClr val="DDE8F3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5FD810-1ABE-AC95-607B-269CFED7CC41}"/>
              </a:ext>
            </a:extLst>
          </p:cNvPr>
          <p:cNvSpPr txBox="1"/>
          <p:nvPr/>
        </p:nvSpPr>
        <p:spPr>
          <a:xfrm>
            <a:off x="368300" y="30734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800" b="1">
                <a:solidFill>
                  <a:srgbClr val="173E79"/>
                </a:solidFill>
                <a:latin typeface="Times New Roman" panose="02020603050405020304" pitchFamily="18" charset="0"/>
              </a:rPr>
              <a:t>emergency_contacts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4B3F47-155E-54BE-E8DF-C2237ADD7D21}"/>
              </a:ext>
            </a:extLst>
          </p:cNvPr>
          <p:cNvSpPr txBox="1"/>
          <p:nvPr/>
        </p:nvSpPr>
        <p:spPr>
          <a:xfrm>
            <a:off x="368300" y="33020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700">
                <a:solidFill>
                  <a:srgbClr val="222222"/>
                </a:solidFill>
                <a:latin typeface="Times New Roman" panose="02020603050405020304" pitchFamily="18" charset="0"/>
              </a:rPr>
              <a:t>id PK | user_id FK | type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6691518-0606-A319-CACE-9854BF6C2101}"/>
              </a:ext>
            </a:extLst>
          </p:cNvPr>
          <p:cNvSpPr/>
          <p:nvPr/>
        </p:nvSpPr>
        <p:spPr>
          <a:xfrm>
            <a:off x="3238500" y="3060700"/>
            <a:ext cx="2667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AC2D05E-665F-C8A1-04B6-FF3933F6F921}"/>
              </a:ext>
            </a:extLst>
          </p:cNvPr>
          <p:cNvSpPr/>
          <p:nvPr/>
        </p:nvSpPr>
        <p:spPr>
          <a:xfrm>
            <a:off x="3238500" y="3060700"/>
            <a:ext cx="2667000" cy="215900"/>
          </a:xfrm>
          <a:prstGeom prst="rect">
            <a:avLst/>
          </a:prstGeom>
          <a:solidFill>
            <a:srgbClr val="DDE8F3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3C0EE9-558E-8E68-7D83-C6D7109568D1}"/>
              </a:ext>
            </a:extLst>
          </p:cNvPr>
          <p:cNvSpPr txBox="1"/>
          <p:nvPr/>
        </p:nvSpPr>
        <p:spPr>
          <a:xfrm>
            <a:off x="3289300" y="30734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800" b="1">
                <a:solidFill>
                  <a:srgbClr val="173E79"/>
                </a:solidFill>
                <a:latin typeface="Times New Roman" panose="02020603050405020304" pitchFamily="18" charset="0"/>
              </a:rPr>
              <a:t>report_shares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7BFDF1-9861-3485-95EA-318769273B8A}"/>
              </a:ext>
            </a:extLst>
          </p:cNvPr>
          <p:cNvSpPr txBox="1"/>
          <p:nvPr/>
        </p:nvSpPr>
        <p:spPr>
          <a:xfrm>
            <a:off x="3289300" y="33020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da-DK" sz="700">
                <a:solidFill>
                  <a:srgbClr val="222222"/>
                </a:solidFill>
                <a:latin typeface="Times New Roman" panose="02020603050405020304" pitchFamily="18" charset="0"/>
              </a:rPr>
              <a:t>id PK | user_id FK | expires_at</a:t>
            </a:r>
            <a:endParaRPr lang="en-US" sz="700">
              <a:solidFill>
                <a:srgbClr val="22222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65EA516-B494-1727-7202-FF9B99343023}"/>
              </a:ext>
            </a:extLst>
          </p:cNvPr>
          <p:cNvSpPr/>
          <p:nvPr/>
        </p:nvSpPr>
        <p:spPr>
          <a:xfrm>
            <a:off x="6159500" y="3060700"/>
            <a:ext cx="2667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A5A674A-4FD3-2FE0-ECAB-2AF01D3A5DD2}"/>
              </a:ext>
            </a:extLst>
          </p:cNvPr>
          <p:cNvSpPr/>
          <p:nvPr/>
        </p:nvSpPr>
        <p:spPr>
          <a:xfrm>
            <a:off x="6159500" y="3060700"/>
            <a:ext cx="2667000" cy="215900"/>
          </a:xfrm>
          <a:prstGeom prst="rect">
            <a:avLst/>
          </a:prstGeom>
          <a:solidFill>
            <a:srgbClr val="DDE8F3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7D6CFB-0835-4009-5598-D623F4D5D264}"/>
              </a:ext>
            </a:extLst>
          </p:cNvPr>
          <p:cNvSpPr txBox="1"/>
          <p:nvPr/>
        </p:nvSpPr>
        <p:spPr>
          <a:xfrm>
            <a:off x="6210300" y="30734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800" b="1">
                <a:solidFill>
                  <a:srgbClr val="173E79"/>
                </a:solidFill>
                <a:latin typeface="Times New Roman" panose="02020603050405020304" pitchFamily="18" charset="0"/>
              </a:rPr>
              <a:t>push_subscriptions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F3C127-DEA6-220C-62CA-19B0F374524C}"/>
              </a:ext>
            </a:extLst>
          </p:cNvPr>
          <p:cNvSpPr txBox="1"/>
          <p:nvPr/>
        </p:nvSpPr>
        <p:spPr>
          <a:xfrm>
            <a:off x="6210300" y="33020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700">
                <a:solidFill>
                  <a:srgbClr val="222222"/>
                </a:solidFill>
                <a:latin typeface="Times New Roman" panose="02020603050405020304" pitchFamily="18" charset="0"/>
              </a:rPr>
              <a:t>id PK | user_id FK | endpoint_hash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D7559DB-126D-4700-C0CB-127B615733B3}"/>
              </a:ext>
            </a:extLst>
          </p:cNvPr>
          <p:cNvSpPr/>
          <p:nvPr/>
        </p:nvSpPr>
        <p:spPr>
          <a:xfrm>
            <a:off x="317500" y="3835400"/>
            <a:ext cx="2667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5068E00-F06A-2959-328D-8B64B9F491B4}"/>
              </a:ext>
            </a:extLst>
          </p:cNvPr>
          <p:cNvSpPr/>
          <p:nvPr/>
        </p:nvSpPr>
        <p:spPr>
          <a:xfrm>
            <a:off x="317500" y="3835400"/>
            <a:ext cx="2667000" cy="215900"/>
          </a:xfrm>
          <a:prstGeom prst="rect">
            <a:avLst/>
          </a:prstGeom>
          <a:solidFill>
            <a:srgbClr val="DDE8F3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E0A340-8FF5-338B-4EC0-E121E0118CBE}"/>
              </a:ext>
            </a:extLst>
          </p:cNvPr>
          <p:cNvSpPr txBox="1"/>
          <p:nvPr/>
        </p:nvSpPr>
        <p:spPr>
          <a:xfrm>
            <a:off x="368300" y="38481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800" b="1">
                <a:solidFill>
                  <a:srgbClr val="173E79"/>
                </a:solidFill>
                <a:latin typeface="Times New Roman" panose="02020603050405020304" pitchFamily="18" charset="0"/>
              </a:rPr>
              <a:t>push_reminders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ACFC9E6-8361-9AD7-DBB4-40D394F6E3C3}"/>
              </a:ext>
            </a:extLst>
          </p:cNvPr>
          <p:cNvSpPr txBox="1"/>
          <p:nvPr/>
        </p:nvSpPr>
        <p:spPr>
          <a:xfrm>
            <a:off x="368300" y="40767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700">
                <a:solidFill>
                  <a:srgbClr val="222222"/>
                </a:solidFill>
                <a:latin typeface="Times New Roman" panose="02020603050405020304" pitchFamily="18" charset="0"/>
              </a:rPr>
              <a:t>id PK | user_id FK | scheduled_at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25DD06-9E6A-F942-C4BB-61F12ED5704C}"/>
              </a:ext>
            </a:extLst>
          </p:cNvPr>
          <p:cNvSpPr/>
          <p:nvPr/>
        </p:nvSpPr>
        <p:spPr>
          <a:xfrm>
            <a:off x="3238500" y="3835400"/>
            <a:ext cx="2667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A55BC2F-34BC-9E17-FE5A-F14E6AD68581}"/>
              </a:ext>
            </a:extLst>
          </p:cNvPr>
          <p:cNvSpPr/>
          <p:nvPr/>
        </p:nvSpPr>
        <p:spPr>
          <a:xfrm>
            <a:off x="3238500" y="3835400"/>
            <a:ext cx="2667000" cy="215900"/>
          </a:xfrm>
          <a:prstGeom prst="rect">
            <a:avLst/>
          </a:prstGeom>
          <a:solidFill>
            <a:srgbClr val="DDE8F3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CCB327-A0CE-BE13-0F5D-9BB7C9AC55C3}"/>
              </a:ext>
            </a:extLst>
          </p:cNvPr>
          <p:cNvSpPr txBox="1"/>
          <p:nvPr/>
        </p:nvSpPr>
        <p:spPr>
          <a:xfrm>
            <a:off x="3289300" y="38481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800" b="1">
                <a:solidFill>
                  <a:srgbClr val="173E79"/>
                </a:solidFill>
                <a:latin typeface="Times New Roman" panose="02020603050405020304" pitchFamily="18" charset="0"/>
              </a:rPr>
              <a:t>appointment_questions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1AF59C-8716-55E9-4901-55E09AB0BBB4}"/>
              </a:ext>
            </a:extLst>
          </p:cNvPr>
          <p:cNvSpPr txBox="1"/>
          <p:nvPr/>
        </p:nvSpPr>
        <p:spPr>
          <a:xfrm>
            <a:off x="3289300" y="40767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700">
                <a:solidFill>
                  <a:srgbClr val="222222"/>
                </a:solidFill>
                <a:latin typeface="Times New Roman" panose="02020603050405020304" pitchFamily="18" charset="0"/>
              </a:rPr>
              <a:t>id PK | appointment_id FK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C6387D2-8FBC-BF30-4FD7-966637CAF755}"/>
              </a:ext>
            </a:extLst>
          </p:cNvPr>
          <p:cNvSpPr/>
          <p:nvPr/>
        </p:nvSpPr>
        <p:spPr>
          <a:xfrm>
            <a:off x="6159500" y="3835400"/>
            <a:ext cx="2667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6231070-98E7-C7EE-6720-0C78ECE85EC2}"/>
              </a:ext>
            </a:extLst>
          </p:cNvPr>
          <p:cNvSpPr/>
          <p:nvPr/>
        </p:nvSpPr>
        <p:spPr>
          <a:xfrm>
            <a:off x="6159500" y="3835400"/>
            <a:ext cx="2667000" cy="215900"/>
          </a:xfrm>
          <a:prstGeom prst="rect">
            <a:avLst/>
          </a:prstGeom>
          <a:solidFill>
            <a:srgbClr val="DDE8F3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673CB90-12CD-A79F-89DE-D75C2CE78540}"/>
              </a:ext>
            </a:extLst>
          </p:cNvPr>
          <p:cNvSpPr txBox="1"/>
          <p:nvPr/>
        </p:nvSpPr>
        <p:spPr>
          <a:xfrm>
            <a:off x="6210300" y="38481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800" b="1">
                <a:solidFill>
                  <a:srgbClr val="173E79"/>
                </a:solidFill>
                <a:latin typeface="Times New Roman" panose="02020603050405020304" pitchFamily="18" charset="0"/>
              </a:rPr>
              <a:t>task_details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384BDFE-77AE-6B57-1F3E-5FFDF19A7C69}"/>
              </a:ext>
            </a:extLst>
          </p:cNvPr>
          <p:cNvSpPr txBox="1"/>
          <p:nvPr/>
        </p:nvSpPr>
        <p:spPr>
          <a:xfrm>
            <a:off x="6210300" y="4076700"/>
            <a:ext cx="25654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700">
                <a:solidFill>
                  <a:srgbClr val="222222"/>
                </a:solidFill>
                <a:latin typeface="Times New Roman" panose="02020603050405020304" pitchFamily="18" charset="0"/>
              </a:rPr>
              <a:t>id PK | title | is_shared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50E585-2FB2-F08A-4BAB-FA2AF8083454}"/>
              </a:ext>
            </a:extLst>
          </p:cNvPr>
          <p:cNvSpPr txBox="1"/>
          <p:nvPr/>
        </p:nvSpPr>
        <p:spPr>
          <a:xfrm>
            <a:off x="508000" y="4495800"/>
            <a:ext cx="8128000" cy="3810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ctr"/>
            <a:r>
              <a:rPr lang="en-US" sz="800">
                <a:solidFill>
                  <a:srgbClr val="333333"/>
                </a:solidFill>
                <a:latin typeface="Times New Roman" panose="02020603050405020304" pitchFamily="18" charset="0"/>
              </a:rPr>
              <a:t>Relationships: users 1:N to user-owned records; pregnancy_profiles 1:1. appointment_questions reference appointments; care_tasks reference task_details.</a:t>
            </a:r>
          </a:p>
        </p:txBody>
      </p:sp>
    </p:spTree>
    <p:extLst>
      <p:ext uri="{BB962C8B-B14F-4D97-AF65-F5344CB8AC3E}">
        <p14:creationId xmlns:p14="http://schemas.microsoft.com/office/powerpoint/2010/main" val="1981563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FCF714-1514-45C0-9533-8E83BBABFF6C}"/>
              </a:ext>
            </a:extLst>
          </p:cNvPr>
          <p:cNvSpPr/>
          <p:nvPr/>
        </p:nvSpPr>
        <p:spPr>
          <a:xfrm>
            <a:off x="228600" y="209550"/>
            <a:ext cx="6604000" cy="457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b="1">
                <a:latin typeface="Times New Roman" panose="02020603050405020304" pitchFamily="18" charset="0"/>
              </a:rPr>
              <a:t>UML Use-Case and Class Diagrams</a:t>
            </a:r>
            <a:endParaRPr lang="en-IN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BC517B-2277-BC78-21B1-CDD6AF62FDF7}"/>
              </a:ext>
            </a:extLst>
          </p:cNvPr>
          <p:cNvSpPr txBox="1"/>
          <p:nvPr/>
        </p:nvSpPr>
        <p:spPr>
          <a:xfrm>
            <a:off x="749300" y="739326"/>
            <a:ext cx="37465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ctr"/>
            <a:r>
              <a:rPr lang="en-US" sz="1100" b="1" dirty="0">
                <a:solidFill>
                  <a:srgbClr val="173E79"/>
                </a:solidFill>
                <a:latin typeface="Times New Roman" panose="02020603050405020304" pitchFamily="18" charset="0"/>
              </a:rPr>
              <a:t>USE CASES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59434-493D-5273-BD57-4B5900D86FE5}"/>
              </a:ext>
            </a:extLst>
          </p:cNvPr>
          <p:cNvSpPr txBox="1"/>
          <p:nvPr/>
        </p:nvSpPr>
        <p:spPr>
          <a:xfrm>
            <a:off x="355600" y="1168400"/>
            <a:ext cx="9525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ctr"/>
            <a:r>
              <a:rPr lang="en-US" sz="1000" b="1">
                <a:solidFill>
                  <a:srgbClr val="222222"/>
                </a:solidFill>
                <a:latin typeface="Times New Roman" panose="02020603050405020304" pitchFamily="18" charset="0"/>
              </a:rPr>
              <a:t>USER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22EEE5A-39D5-A360-BEA9-E4D0198BF287}"/>
              </a:ext>
            </a:extLst>
          </p:cNvPr>
          <p:cNvSpPr/>
          <p:nvPr/>
        </p:nvSpPr>
        <p:spPr>
          <a:xfrm>
            <a:off x="1574800" y="939800"/>
            <a:ext cx="21590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D12355-7090-E3A0-6AF6-1179D135B38E}"/>
              </a:ext>
            </a:extLst>
          </p:cNvPr>
          <p:cNvSpPr txBox="1"/>
          <p:nvPr/>
        </p:nvSpPr>
        <p:spPr>
          <a:xfrm>
            <a:off x="1651000" y="1028700"/>
            <a:ext cx="20066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ctr"/>
            <a:r>
              <a:rPr lang="en-US" sz="800">
                <a:solidFill>
                  <a:srgbClr val="222222"/>
                </a:solidFill>
                <a:latin typeface="Times New Roman" panose="02020603050405020304" pitchFamily="18" charset="0"/>
              </a:rPr>
              <a:t>Manage profile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54BBF9-86C3-B26C-9576-7B40338FFFB4}"/>
              </a:ext>
            </a:extLst>
          </p:cNvPr>
          <p:cNvCxnSpPr/>
          <p:nvPr/>
        </p:nvCxnSpPr>
        <p:spPr>
          <a:xfrm>
            <a:off x="1270000" y="1168400"/>
            <a:ext cx="304800" cy="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3504FBF-305D-BC0D-5F48-96EA45DAE5CE}"/>
              </a:ext>
            </a:extLst>
          </p:cNvPr>
          <p:cNvSpPr/>
          <p:nvPr/>
        </p:nvSpPr>
        <p:spPr>
          <a:xfrm>
            <a:off x="1574800" y="1625600"/>
            <a:ext cx="21590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11306A-60F4-6B6B-C677-5D24C482FF07}"/>
              </a:ext>
            </a:extLst>
          </p:cNvPr>
          <p:cNvSpPr txBox="1"/>
          <p:nvPr/>
        </p:nvSpPr>
        <p:spPr>
          <a:xfrm>
            <a:off x="1651000" y="1714500"/>
            <a:ext cx="20066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ctr"/>
            <a:r>
              <a:rPr lang="en-US" sz="800">
                <a:solidFill>
                  <a:srgbClr val="222222"/>
                </a:solidFill>
                <a:latin typeface="Times New Roman" panose="02020603050405020304" pitchFamily="18" charset="0"/>
              </a:rPr>
              <a:t>Track daily care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3C09C2-121F-AA41-7F58-53D92BB5DF50}"/>
              </a:ext>
            </a:extLst>
          </p:cNvPr>
          <p:cNvCxnSpPr/>
          <p:nvPr/>
        </p:nvCxnSpPr>
        <p:spPr>
          <a:xfrm>
            <a:off x="1270000" y="1854200"/>
            <a:ext cx="304800" cy="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EB6DA761-6667-2EAA-06CF-79FBC8A53094}"/>
              </a:ext>
            </a:extLst>
          </p:cNvPr>
          <p:cNvSpPr/>
          <p:nvPr/>
        </p:nvSpPr>
        <p:spPr>
          <a:xfrm>
            <a:off x="1574800" y="2311400"/>
            <a:ext cx="21590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16499-49D8-0A4A-04DD-55B8216120A0}"/>
              </a:ext>
            </a:extLst>
          </p:cNvPr>
          <p:cNvSpPr txBox="1"/>
          <p:nvPr/>
        </p:nvSpPr>
        <p:spPr>
          <a:xfrm>
            <a:off x="1651000" y="2400300"/>
            <a:ext cx="20066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ctr"/>
            <a:r>
              <a:rPr lang="en-US" sz="800">
                <a:solidFill>
                  <a:srgbClr val="222222"/>
                </a:solidFill>
                <a:latin typeface="Times New Roman" panose="02020603050405020304" pitchFamily="18" charset="0"/>
              </a:rPr>
              <a:t>Manage appointments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A7E6CE-2D56-3023-FAAC-E05C7AE40544}"/>
              </a:ext>
            </a:extLst>
          </p:cNvPr>
          <p:cNvCxnSpPr/>
          <p:nvPr/>
        </p:nvCxnSpPr>
        <p:spPr>
          <a:xfrm>
            <a:off x="1270000" y="2540000"/>
            <a:ext cx="304800" cy="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065689A-5234-86B2-EFB9-6A947DD8D204}"/>
              </a:ext>
            </a:extLst>
          </p:cNvPr>
          <p:cNvSpPr/>
          <p:nvPr/>
        </p:nvSpPr>
        <p:spPr>
          <a:xfrm>
            <a:off x="1574800" y="2997200"/>
            <a:ext cx="21590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0E8081-D10C-E217-BD0C-8BFA7A509CC3}"/>
              </a:ext>
            </a:extLst>
          </p:cNvPr>
          <p:cNvSpPr txBox="1"/>
          <p:nvPr/>
        </p:nvSpPr>
        <p:spPr>
          <a:xfrm>
            <a:off x="1651000" y="3086100"/>
            <a:ext cx="20066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ctr"/>
            <a:r>
              <a:rPr lang="en-US" sz="800">
                <a:solidFill>
                  <a:srgbClr val="222222"/>
                </a:solidFill>
                <a:latin typeface="Times New Roman" panose="02020603050405020304" pitchFamily="18" charset="0"/>
              </a:rPr>
              <a:t>Journal and review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93193FA-5B26-556F-5CBE-7A7F3EED0618}"/>
              </a:ext>
            </a:extLst>
          </p:cNvPr>
          <p:cNvCxnSpPr/>
          <p:nvPr/>
        </p:nvCxnSpPr>
        <p:spPr>
          <a:xfrm>
            <a:off x="1270000" y="3225800"/>
            <a:ext cx="304800" cy="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4DA15D35-FC14-CECB-2364-DA30BD406E4E}"/>
              </a:ext>
            </a:extLst>
          </p:cNvPr>
          <p:cNvSpPr/>
          <p:nvPr/>
        </p:nvSpPr>
        <p:spPr>
          <a:xfrm>
            <a:off x="1574800" y="3683000"/>
            <a:ext cx="21590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6DB160-6915-F545-0F5C-FC0AF115E580}"/>
              </a:ext>
            </a:extLst>
          </p:cNvPr>
          <p:cNvSpPr txBox="1"/>
          <p:nvPr/>
        </p:nvSpPr>
        <p:spPr>
          <a:xfrm>
            <a:off x="1651000" y="3771900"/>
            <a:ext cx="20066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ctr"/>
            <a:r>
              <a:rPr lang="en-US" sz="800">
                <a:solidFill>
                  <a:srgbClr val="222222"/>
                </a:solidFill>
                <a:latin typeface="Times New Roman" panose="02020603050405020304" pitchFamily="18" charset="0"/>
              </a:rPr>
              <a:t>Prepare reports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99E67D-7FC8-AA56-B741-FB5B4F80AB33}"/>
              </a:ext>
            </a:extLst>
          </p:cNvPr>
          <p:cNvCxnSpPr/>
          <p:nvPr/>
        </p:nvCxnSpPr>
        <p:spPr>
          <a:xfrm>
            <a:off x="1270000" y="3911600"/>
            <a:ext cx="304800" cy="0"/>
          </a:xfrm>
          <a:prstGeom prst="straightConnector1">
            <a:avLst/>
          </a:prstGeom>
          <a:ln w="13970">
            <a:solidFill>
              <a:srgbClr val="365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7E59CEA-8ECE-A463-1FBF-AE34F44AFC51}"/>
              </a:ext>
            </a:extLst>
          </p:cNvPr>
          <p:cNvSpPr txBox="1"/>
          <p:nvPr/>
        </p:nvSpPr>
        <p:spPr>
          <a:xfrm>
            <a:off x="4495800" y="787400"/>
            <a:ext cx="41910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ctr"/>
            <a:r>
              <a:rPr lang="en-US" sz="1100" b="1">
                <a:solidFill>
                  <a:srgbClr val="173E79"/>
                </a:solidFill>
                <a:latin typeface="Times New Roman" panose="02020603050405020304" pitchFamily="18" charset="0"/>
              </a:rPr>
              <a:t>CORE CLASSES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5EBF6C-2D01-EA12-47FD-0884590F2148}"/>
              </a:ext>
            </a:extLst>
          </p:cNvPr>
          <p:cNvSpPr/>
          <p:nvPr/>
        </p:nvSpPr>
        <p:spPr>
          <a:xfrm>
            <a:off x="4495800" y="1155700"/>
            <a:ext cx="406400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74A495-EB40-8690-AB47-C67EC30E73E5}"/>
              </a:ext>
            </a:extLst>
          </p:cNvPr>
          <p:cNvSpPr txBox="1"/>
          <p:nvPr/>
        </p:nvSpPr>
        <p:spPr>
          <a:xfrm>
            <a:off x="4584700" y="1219200"/>
            <a:ext cx="3886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 b="1">
                <a:solidFill>
                  <a:srgbClr val="173E79"/>
                </a:solidFill>
                <a:latin typeface="Times New Roman" panose="02020603050405020304" pitchFamily="18" charset="0"/>
              </a:rPr>
              <a:t>User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EBB91A-1B16-63C1-BC8B-68AEC12B4F27}"/>
              </a:ext>
            </a:extLst>
          </p:cNvPr>
          <p:cNvSpPr txBox="1"/>
          <p:nvPr/>
        </p:nvSpPr>
        <p:spPr>
          <a:xfrm>
            <a:off x="4584700" y="1435100"/>
            <a:ext cx="3886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700">
                <a:solidFill>
                  <a:srgbClr val="222222"/>
                </a:solidFill>
                <a:latin typeface="Times New Roman" panose="02020603050405020304" pitchFamily="18" charset="0"/>
              </a:rPr>
              <a:t>id | email | timezone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6166E5-1A5D-F3AF-0A5D-C1853B404613}"/>
              </a:ext>
            </a:extLst>
          </p:cNvPr>
          <p:cNvSpPr/>
          <p:nvPr/>
        </p:nvSpPr>
        <p:spPr>
          <a:xfrm>
            <a:off x="4495800" y="1917700"/>
            <a:ext cx="406400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456875-6D5E-B680-68C0-A812FC41C369}"/>
              </a:ext>
            </a:extLst>
          </p:cNvPr>
          <p:cNvSpPr txBox="1"/>
          <p:nvPr/>
        </p:nvSpPr>
        <p:spPr>
          <a:xfrm>
            <a:off x="4584700" y="1981200"/>
            <a:ext cx="3886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 b="1">
                <a:solidFill>
                  <a:srgbClr val="173E79"/>
                </a:solidFill>
                <a:latin typeface="Times New Roman" panose="02020603050405020304" pitchFamily="18" charset="0"/>
              </a:rPr>
              <a:t>Appointment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4D51AF-06B9-E718-21A3-38DF01C3B051}"/>
              </a:ext>
            </a:extLst>
          </p:cNvPr>
          <p:cNvSpPr txBox="1"/>
          <p:nvPr/>
        </p:nvSpPr>
        <p:spPr>
          <a:xfrm>
            <a:off x="4584700" y="2197100"/>
            <a:ext cx="3886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da-DK" sz="700">
                <a:solidFill>
                  <a:srgbClr val="222222"/>
                </a:solidFill>
                <a:latin typeface="Times New Roman" panose="02020603050405020304" pitchFamily="18" charset="0"/>
              </a:rPr>
              <a:t>user_id | starts_at | reminder</a:t>
            </a:r>
            <a:endParaRPr lang="en-US" sz="700">
              <a:solidFill>
                <a:srgbClr val="22222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768980-B0D3-41D9-506D-7D0167185509}"/>
              </a:ext>
            </a:extLst>
          </p:cNvPr>
          <p:cNvSpPr/>
          <p:nvPr/>
        </p:nvSpPr>
        <p:spPr>
          <a:xfrm>
            <a:off x="4495800" y="2679700"/>
            <a:ext cx="406400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3F2E59-CCBE-6319-5266-288F5F365476}"/>
              </a:ext>
            </a:extLst>
          </p:cNvPr>
          <p:cNvSpPr txBox="1"/>
          <p:nvPr/>
        </p:nvSpPr>
        <p:spPr>
          <a:xfrm>
            <a:off x="4584700" y="2743200"/>
            <a:ext cx="3886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 b="1">
                <a:solidFill>
                  <a:srgbClr val="173E79"/>
                </a:solidFill>
                <a:latin typeface="Times New Roman" panose="02020603050405020304" pitchFamily="18" charset="0"/>
              </a:rPr>
              <a:t>CareTask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F34577-B478-325A-3099-94CFF14B52E7}"/>
              </a:ext>
            </a:extLst>
          </p:cNvPr>
          <p:cNvSpPr txBox="1"/>
          <p:nvPr/>
        </p:nvSpPr>
        <p:spPr>
          <a:xfrm>
            <a:off x="4584700" y="2959100"/>
            <a:ext cx="3886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700">
                <a:solidFill>
                  <a:srgbClr val="222222"/>
                </a:solidFill>
                <a:latin typeface="Times New Roman" panose="02020603050405020304" pitchFamily="18" charset="0"/>
              </a:rPr>
              <a:t>user_id | date | completed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089219-CD9E-57A2-3FFB-5BB4ED871C9C}"/>
              </a:ext>
            </a:extLst>
          </p:cNvPr>
          <p:cNvSpPr/>
          <p:nvPr/>
        </p:nvSpPr>
        <p:spPr>
          <a:xfrm>
            <a:off x="4495800" y="3441700"/>
            <a:ext cx="406400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5E6ADB-77D6-EC61-D957-32DCA79EED7C}"/>
              </a:ext>
            </a:extLst>
          </p:cNvPr>
          <p:cNvSpPr txBox="1"/>
          <p:nvPr/>
        </p:nvSpPr>
        <p:spPr>
          <a:xfrm>
            <a:off x="4584700" y="3505200"/>
            <a:ext cx="3886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 b="1">
                <a:solidFill>
                  <a:srgbClr val="173E79"/>
                </a:solidFill>
                <a:latin typeface="Times New Roman" panose="02020603050405020304" pitchFamily="18" charset="0"/>
              </a:rPr>
              <a:t>SymptomEntry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FA8E9F-7CB2-A6FF-1BB1-951BFEC0DE9E}"/>
              </a:ext>
            </a:extLst>
          </p:cNvPr>
          <p:cNvSpPr txBox="1"/>
          <p:nvPr/>
        </p:nvSpPr>
        <p:spPr>
          <a:xfrm>
            <a:off x="4584700" y="3721100"/>
            <a:ext cx="3886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700">
                <a:solidFill>
                  <a:srgbClr val="222222"/>
                </a:solidFill>
                <a:latin typeface="Times New Roman" panose="02020603050405020304" pitchFamily="18" charset="0"/>
              </a:rPr>
              <a:t>user_id | symptom | severity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6A7F8A-DBF9-C66B-6AC8-813FA45C6BEB}"/>
              </a:ext>
            </a:extLst>
          </p:cNvPr>
          <p:cNvSpPr/>
          <p:nvPr/>
        </p:nvSpPr>
        <p:spPr>
          <a:xfrm>
            <a:off x="4495800" y="4203700"/>
            <a:ext cx="4064000" cy="54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6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0BA379-88E6-6C64-7992-77C7237F451E}"/>
              </a:ext>
            </a:extLst>
          </p:cNvPr>
          <p:cNvSpPr txBox="1"/>
          <p:nvPr/>
        </p:nvSpPr>
        <p:spPr>
          <a:xfrm>
            <a:off x="4584700" y="4267200"/>
            <a:ext cx="3886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 b="1">
                <a:solidFill>
                  <a:srgbClr val="173E79"/>
                </a:solidFill>
                <a:latin typeface="Times New Roman" panose="02020603050405020304" pitchFamily="18" charset="0"/>
              </a:rPr>
              <a:t>PushReminder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907A23-5B6F-B9EE-EE41-83D20D88EE80}"/>
              </a:ext>
            </a:extLst>
          </p:cNvPr>
          <p:cNvSpPr txBox="1"/>
          <p:nvPr/>
        </p:nvSpPr>
        <p:spPr>
          <a:xfrm>
            <a:off x="4584700" y="4483100"/>
            <a:ext cx="3886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700">
                <a:solidFill>
                  <a:srgbClr val="222222"/>
                </a:solidFill>
                <a:latin typeface="Times New Roman" panose="02020603050405020304" pitchFamily="18" charset="0"/>
              </a:rPr>
              <a:t>user_id | scheduled_at | status</a:t>
            </a:r>
          </a:p>
        </p:txBody>
      </p:sp>
    </p:spTree>
    <p:extLst>
      <p:ext uri="{BB962C8B-B14F-4D97-AF65-F5344CB8AC3E}">
        <p14:creationId xmlns:p14="http://schemas.microsoft.com/office/powerpoint/2010/main" val="3854976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C078B2-2193-4225-B51A-BF4658177DC5}"/>
              </a:ext>
            </a:extLst>
          </p:cNvPr>
          <p:cNvSpPr/>
          <p:nvPr/>
        </p:nvSpPr>
        <p:spPr>
          <a:xfrm>
            <a:off x="304800" y="209550"/>
            <a:ext cx="8255000" cy="457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tabLst>
                <a:tab pos="457200" algn="l"/>
              </a:tabLst>
            </a:pPr>
            <a:r>
              <a:rPr lang="en-IN" b="1">
                <a:solidFill>
                  <a:srgbClr val="00009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Hardware and Software Requirements</a:t>
            </a:r>
            <a:endParaRPr lang="en-IN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4FF4FF-CC6A-45CF-9635-81F4BB07693B}"/>
              </a:ext>
            </a:extLst>
          </p:cNvPr>
          <p:cNvSpPr/>
          <p:nvPr/>
        </p:nvSpPr>
        <p:spPr>
          <a:xfrm>
            <a:off x="533400" y="590550"/>
            <a:ext cx="6889054" cy="295106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(DEVELOPMENT RECOMMENDATION)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Dual-core or better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8 GB minimum; 16 GB recommended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10 GB available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1366 x 768 or greater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NETWORK: Internet for package installation and backend testing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198E9-4EE1-4EF1-803D-681FDEAC73A6}"/>
              </a:ext>
            </a:extLst>
          </p:cNvPr>
          <p:cNvSpPr/>
          <p:nvPr/>
        </p:nvSpPr>
        <p:spPr>
          <a:xfrm>
            <a:off x="533400" y="2588368"/>
            <a:ext cx="7162800" cy="157158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10/11 or Linux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END: React, TypeScript, Vite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END: Java 25, Spring Boot 3.5.5, Maven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 local; PostgreSQL configuration;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tests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Node.js/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Git, modern browser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VAPID configuration for Web Push</a:t>
            </a:r>
          </a:p>
        </p:txBody>
      </p:sp>
    </p:spTree>
    <p:extLst>
      <p:ext uri="{BB962C8B-B14F-4D97-AF65-F5344CB8AC3E}">
        <p14:creationId xmlns:p14="http://schemas.microsoft.com/office/powerpoint/2010/main" val="3858393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72B7ED-C78F-40F9-946B-24B47A43DB26}"/>
              </a:ext>
            </a:extLst>
          </p:cNvPr>
          <p:cNvSpPr/>
          <p:nvPr/>
        </p:nvSpPr>
        <p:spPr>
          <a:xfrm>
            <a:off x="304799" y="209550"/>
            <a:ext cx="6350000" cy="457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tabLst>
                <a:tab pos="457200" algn="l"/>
              </a:tabLst>
            </a:pPr>
            <a:r>
              <a:rPr lang="en-IN" b="1">
                <a:solidFill>
                  <a:srgbClr val="00009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 Name</a:t>
            </a:r>
            <a:endParaRPr lang="en-IN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50DC80-934D-41AD-9AD4-1E3649CE8552}"/>
              </a:ext>
            </a:extLst>
          </p:cNvPr>
          <p:cNvSpPr/>
          <p:nvPr/>
        </p:nvSpPr>
        <p:spPr>
          <a:xfrm>
            <a:off x="457200" y="971550"/>
            <a:ext cx="5410200" cy="253556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Implemented modules include:</a:t>
            </a:r>
          </a:p>
          <a:p>
            <a:pPr indent="457200"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1) Authentication and pregnancy profile</a:t>
            </a:r>
          </a:p>
          <a:p>
            <a:pPr indent="457200"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2) Pregnancy progress and milestones</a:t>
            </a:r>
          </a:p>
          <a:p>
            <a:pPr indent="457200"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3) Daily care and Gentle Day Planner</a:t>
            </a:r>
          </a:p>
          <a:p>
            <a:pPr indent="457200"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4) Appointment and visit-question management</a:t>
            </a:r>
          </a:p>
          <a:p>
            <a:pPr indent="457200"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5) Private symptom journal</a:t>
            </a:r>
          </a:p>
          <a:p>
            <a:pPr indent="457200"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6) Guides and resource library</a:t>
            </a:r>
          </a:p>
          <a:p>
            <a:pPr indent="457200"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7) Reports and secure sharing</a:t>
            </a:r>
          </a:p>
          <a:p>
            <a:pPr indent="457200"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8) Emergency contacts</a:t>
            </a:r>
          </a:p>
          <a:p>
            <a:pPr indent="457200"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9) Reminder preferences and Web Push</a:t>
            </a:r>
            <a:endParaRPr lang="en-IN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566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32F6DF4-26B5-40DF-A90E-FA2136BD1555}"/>
              </a:ext>
            </a:extLst>
          </p:cNvPr>
          <p:cNvSpPr/>
          <p:nvPr/>
        </p:nvSpPr>
        <p:spPr>
          <a:xfrm>
            <a:off x="304799" y="209550"/>
            <a:ext cx="8255000" cy="457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tabLst>
                <a:tab pos="457200" algn="l"/>
              </a:tabLst>
            </a:pPr>
            <a:r>
              <a:rPr lang="en-US" sz="1700" b="1" dirty="0">
                <a:solidFill>
                  <a:srgbClr val="00009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Daily Care and Gentle Day Planner</a:t>
            </a:r>
            <a:endParaRPr lang="en-IN" sz="1700" b="1" dirty="0">
              <a:solidFill>
                <a:srgbClr val="000099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8EE021-2ACA-4584-B165-B9649AE5E798}"/>
              </a:ext>
            </a:extLst>
          </p:cNvPr>
          <p:cNvSpPr txBox="1"/>
          <p:nvPr/>
        </p:nvSpPr>
        <p:spPr>
          <a:xfrm>
            <a:off x="381000" y="590550"/>
            <a:ext cx="7543800" cy="18004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daily care module tracks user-selected routines, including hydration, vitamins, activity, sleep, and mood. The Gentle Day Planner lets a user choose an energy level and a manageable focus list. Completion updates are saved to the account.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supports organization only; it does not prescribe a care plan.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08494F8-49A3-FE7C-AEE0-7B784CE01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8" y="2190750"/>
            <a:ext cx="815340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893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FCF714-1514-45C0-9533-8E83BBABFF6C}"/>
              </a:ext>
            </a:extLst>
          </p:cNvPr>
          <p:cNvSpPr/>
          <p:nvPr/>
        </p:nvSpPr>
        <p:spPr>
          <a:xfrm>
            <a:off x="228600" y="209550"/>
            <a:ext cx="8255000" cy="457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2000" b="1" dirty="0">
                <a:solidFill>
                  <a:srgbClr val="00009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 and Visit Brief Module</a:t>
            </a:r>
            <a:endParaRPr lang="en-IN" sz="2000" b="1" dirty="0">
              <a:solidFill>
                <a:srgbClr val="000099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843D6B-E964-40F2-940D-79BB24D933ED}"/>
              </a:ext>
            </a:extLst>
          </p:cNvPr>
          <p:cNvSpPr/>
          <p:nvPr/>
        </p:nvSpPr>
        <p:spPr>
          <a:xfrm>
            <a:off x="228600" y="586591"/>
            <a:ext cx="8686800" cy="194566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create, search, and review upcoming or past appointments, record provider details, prepare questions, export calendar events, and generate a printable visit brief. The brief includes only information the user explicitly selects.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3FED08-06DB-A322-2F3C-5400BC892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20" y="1428750"/>
            <a:ext cx="842168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042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04D8DF-8AFF-4DF8-A713-B306155F90CF}"/>
              </a:ext>
            </a:extLst>
          </p:cNvPr>
          <p:cNvSpPr/>
          <p:nvPr/>
        </p:nvSpPr>
        <p:spPr>
          <a:xfrm>
            <a:off x="304799" y="209550"/>
            <a:ext cx="8255000" cy="457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tabLst>
                <a:tab pos="457200" algn="l"/>
              </a:tabLst>
            </a:pPr>
            <a:r>
              <a:rPr lang="en-US" sz="2000" b="1" dirty="0">
                <a:solidFill>
                  <a:srgbClr val="00009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Journal and Learning Modules</a:t>
            </a:r>
            <a:endParaRPr lang="en-IN" sz="20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28FB4B-F666-4731-B895-9C2851D11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00892"/>
            <a:ext cx="88392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Journal: record symptoms, severity, dates, and private notes; search and filter your entries.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1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Guides: review general, week-based information and searchable educational resources. Discuss personal questions with a healthcare professional.</a:t>
            </a:r>
            <a:endParaRPr kumimoji="0" lang="en-US" alt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705495-3F2E-2479-AF1A-E66971A49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85950"/>
            <a:ext cx="85344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06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4E1ED7-3FF5-4F08-907E-F603606C8015}"/>
              </a:ext>
            </a:extLst>
          </p:cNvPr>
          <p:cNvSpPr/>
          <p:nvPr/>
        </p:nvSpPr>
        <p:spPr>
          <a:xfrm>
            <a:off x="304799" y="209550"/>
            <a:ext cx="8509000" cy="457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tabLst>
                <a:tab pos="457200" algn="l"/>
              </a:tabLst>
            </a:pPr>
            <a:r>
              <a:rPr lang="en-US" sz="1400" b="1" dirty="0">
                <a:solidFill>
                  <a:srgbClr val="00009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Sample Code : UI : TypeScript : </a:t>
            </a:r>
            <a:r>
              <a:rPr lang="en-US" sz="1400" b="1" dirty="0" err="1">
                <a:solidFill>
                  <a:srgbClr val="00009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AppointmentCard</a:t>
            </a:r>
            <a:endParaRPr lang="en-IN" sz="1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448EE-E648-D240-0159-D48ADFDBA635}"/>
              </a:ext>
            </a:extLst>
          </p:cNvPr>
          <p:cNvSpPr/>
          <p:nvPr/>
        </p:nvSpPr>
        <p:spPr>
          <a:xfrm>
            <a:off x="368300" y="927100"/>
            <a:ext cx="8382000" cy="3835400"/>
          </a:xfrm>
          <a:prstGeom prst="rect">
            <a:avLst/>
          </a:prstGeom>
          <a:solidFill>
            <a:srgbClr val="F8FAFC"/>
          </a:solidFill>
          <a:ln w="12700">
            <a:solidFill>
              <a:srgbClr val="A9B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7053E8-632F-271D-CF38-7BADF5F2BF41}"/>
              </a:ext>
            </a:extLst>
          </p:cNvPr>
          <p:cNvSpPr txBox="1"/>
          <p:nvPr/>
        </p:nvSpPr>
        <p:spPr>
          <a:xfrm>
            <a:off x="558800" y="1130300"/>
            <a:ext cx="80010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US" sz="1200" dirty="0">
              <a:solidFill>
                <a:srgbClr val="20202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811F03-6189-FD39-BEE2-97BDDE4E4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12" y="819150"/>
            <a:ext cx="8555087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34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6E0D70-88F7-473F-B782-8DADD52C33AA}"/>
              </a:ext>
            </a:extLst>
          </p:cNvPr>
          <p:cNvSpPr/>
          <p:nvPr/>
        </p:nvSpPr>
        <p:spPr>
          <a:xfrm>
            <a:off x="304799" y="209550"/>
            <a:ext cx="8636000" cy="457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tabLst>
                <a:tab pos="457200" algn="l"/>
              </a:tabLst>
            </a:pPr>
            <a:r>
              <a:rPr lang="en-US" sz="1400" b="1" dirty="0">
                <a:solidFill>
                  <a:srgbClr val="00009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Sample Code : Backend : Spring Boot : </a:t>
            </a:r>
            <a:r>
              <a:rPr lang="en-US" sz="1400" b="1" dirty="0" err="1">
                <a:solidFill>
                  <a:srgbClr val="00009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TrackingController</a:t>
            </a:r>
            <a:endParaRPr lang="en-IN" sz="1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46A14F-A168-5F46-1C3C-5BA2D731D54D}"/>
              </a:ext>
            </a:extLst>
          </p:cNvPr>
          <p:cNvSpPr/>
          <p:nvPr/>
        </p:nvSpPr>
        <p:spPr>
          <a:xfrm>
            <a:off x="228600" y="3638550"/>
            <a:ext cx="8509000" cy="1187450"/>
          </a:xfrm>
          <a:prstGeom prst="rect">
            <a:avLst/>
          </a:prstGeom>
          <a:solidFill>
            <a:srgbClr val="F8FAFC"/>
          </a:solidFill>
          <a:ln w="12700">
            <a:solidFill>
              <a:srgbClr val="A9BE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AD2FFA-BCDD-D328-CD10-E59BF181D830}"/>
              </a:ext>
            </a:extLst>
          </p:cNvPr>
          <p:cNvSpPr txBox="1"/>
          <p:nvPr/>
        </p:nvSpPr>
        <p:spPr>
          <a:xfrm>
            <a:off x="520700" y="1079500"/>
            <a:ext cx="80645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US" sz="1200" dirty="0">
              <a:solidFill>
                <a:srgbClr val="20202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EBF73D-BD23-C07E-85FD-AD4294444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" y="838200"/>
            <a:ext cx="8714232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258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C81962-5F4E-442D-A8CA-20CECF48EEB2}"/>
              </a:ext>
            </a:extLst>
          </p:cNvPr>
          <p:cNvSpPr/>
          <p:nvPr/>
        </p:nvSpPr>
        <p:spPr>
          <a:xfrm>
            <a:off x="304800" y="209550"/>
            <a:ext cx="7366000" cy="457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tabLst>
                <a:tab pos="457200" algn="l"/>
              </a:tabLst>
            </a:pPr>
            <a:r>
              <a:rPr lang="en-IN" sz="1600" b="1">
                <a:solidFill>
                  <a:srgbClr val="00009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Sample Data Set : MySQL / PostgreSQL</a:t>
            </a:r>
            <a:endParaRPr lang="en-IN" sz="16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3BB81E-927F-2F22-FD70-CB04967AC5B4}"/>
              </a:ext>
            </a:extLst>
          </p:cNvPr>
          <p:cNvSpPr/>
          <p:nvPr/>
        </p:nvSpPr>
        <p:spPr>
          <a:xfrm>
            <a:off x="279400" y="876300"/>
            <a:ext cx="2032000" cy="381000"/>
          </a:xfrm>
          <a:prstGeom prst="rect">
            <a:avLst/>
          </a:prstGeom>
          <a:solidFill>
            <a:srgbClr val="DDE8F5"/>
          </a:solidFill>
          <a:ln w="12700">
            <a:solidFill>
              <a:srgbClr val="5277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3DA914-89F5-9FA1-036B-14AA935E0DEE}"/>
              </a:ext>
            </a:extLst>
          </p:cNvPr>
          <p:cNvSpPr txBox="1"/>
          <p:nvPr/>
        </p:nvSpPr>
        <p:spPr>
          <a:xfrm>
            <a:off x="368300" y="952500"/>
            <a:ext cx="1854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1000" b="1">
                <a:solidFill>
                  <a:srgbClr val="1A3761"/>
                </a:solidFill>
                <a:latin typeface="Times New Roman" panose="02020603050405020304" pitchFamily="18" charset="0"/>
              </a:rPr>
              <a:t>TABLE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E733C3-7F81-1A97-4CE9-14F383B795CD}"/>
              </a:ext>
            </a:extLst>
          </p:cNvPr>
          <p:cNvSpPr/>
          <p:nvPr/>
        </p:nvSpPr>
        <p:spPr>
          <a:xfrm>
            <a:off x="2438400" y="876300"/>
            <a:ext cx="3873500" cy="381000"/>
          </a:xfrm>
          <a:prstGeom prst="rect">
            <a:avLst/>
          </a:prstGeom>
          <a:solidFill>
            <a:srgbClr val="DDE8F5"/>
          </a:solidFill>
          <a:ln w="12700">
            <a:solidFill>
              <a:srgbClr val="5277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3E7711-D7BB-E428-2C20-0BE5F3BE0ACD}"/>
              </a:ext>
            </a:extLst>
          </p:cNvPr>
          <p:cNvSpPr txBox="1"/>
          <p:nvPr/>
        </p:nvSpPr>
        <p:spPr>
          <a:xfrm>
            <a:off x="2527300" y="952500"/>
            <a:ext cx="36957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1000" b="1">
                <a:solidFill>
                  <a:srgbClr val="1A3761"/>
                </a:solidFill>
                <a:latin typeface="Times New Roman" panose="02020603050405020304" pitchFamily="18" charset="0"/>
              </a:rPr>
              <a:t>SAMPLE FIELDS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88FE89-F281-E830-9D95-7C2794632D92}"/>
              </a:ext>
            </a:extLst>
          </p:cNvPr>
          <p:cNvSpPr/>
          <p:nvPr/>
        </p:nvSpPr>
        <p:spPr>
          <a:xfrm>
            <a:off x="6413500" y="876300"/>
            <a:ext cx="2413000" cy="381000"/>
          </a:xfrm>
          <a:prstGeom prst="rect">
            <a:avLst/>
          </a:prstGeom>
          <a:solidFill>
            <a:srgbClr val="DDE8F5"/>
          </a:solidFill>
          <a:ln w="12700">
            <a:solidFill>
              <a:srgbClr val="5277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9F511-9928-85DC-038E-0CA3FA6BF804}"/>
              </a:ext>
            </a:extLst>
          </p:cNvPr>
          <p:cNvSpPr txBox="1"/>
          <p:nvPr/>
        </p:nvSpPr>
        <p:spPr>
          <a:xfrm>
            <a:off x="6502400" y="952500"/>
            <a:ext cx="2235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1000" b="1">
                <a:solidFill>
                  <a:srgbClr val="1A3761"/>
                </a:solidFill>
                <a:latin typeface="Times New Roman" panose="02020603050405020304" pitchFamily="18" charset="0"/>
              </a:rPr>
              <a:t>PURPOSE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898D7C-0DE9-F2AD-3B06-EEDE567F897A}"/>
              </a:ext>
            </a:extLst>
          </p:cNvPr>
          <p:cNvSpPr/>
          <p:nvPr/>
        </p:nvSpPr>
        <p:spPr>
          <a:xfrm>
            <a:off x="279400" y="1270000"/>
            <a:ext cx="2032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EF1C5A-8D12-F13A-D345-F658F2608F24}"/>
              </a:ext>
            </a:extLst>
          </p:cNvPr>
          <p:cNvSpPr txBox="1"/>
          <p:nvPr/>
        </p:nvSpPr>
        <p:spPr>
          <a:xfrm>
            <a:off x="368300" y="1371600"/>
            <a:ext cx="1854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 b="1">
                <a:solidFill>
                  <a:srgbClr val="222222"/>
                </a:solidFill>
                <a:latin typeface="Times New Roman" panose="02020603050405020304" pitchFamily="18" charset="0"/>
              </a:rPr>
              <a:t>users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F20DE-351E-2B30-C2DB-8D535450C130}"/>
              </a:ext>
            </a:extLst>
          </p:cNvPr>
          <p:cNvSpPr/>
          <p:nvPr/>
        </p:nvSpPr>
        <p:spPr>
          <a:xfrm>
            <a:off x="2438400" y="1270000"/>
            <a:ext cx="38735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7034B8-1AC2-4865-1496-968CC28C0987}"/>
              </a:ext>
            </a:extLst>
          </p:cNvPr>
          <p:cNvSpPr txBox="1"/>
          <p:nvPr/>
        </p:nvSpPr>
        <p:spPr>
          <a:xfrm>
            <a:off x="2527300" y="1371600"/>
            <a:ext cx="36957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>
                <a:solidFill>
                  <a:srgbClr val="222222"/>
                </a:solidFill>
                <a:latin typeface="Times New Roman" panose="02020603050405020304" pitchFamily="18" charset="0"/>
              </a:rPr>
              <a:t>id, email, timezone_id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27ECBB-93BA-C868-6BE8-8593C8622D54}"/>
              </a:ext>
            </a:extLst>
          </p:cNvPr>
          <p:cNvSpPr/>
          <p:nvPr/>
        </p:nvSpPr>
        <p:spPr>
          <a:xfrm>
            <a:off x="6413500" y="1270000"/>
            <a:ext cx="2413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C46F8F-2487-33FC-2507-59DBBCEF3FB7}"/>
              </a:ext>
            </a:extLst>
          </p:cNvPr>
          <p:cNvSpPr txBox="1"/>
          <p:nvPr/>
        </p:nvSpPr>
        <p:spPr>
          <a:xfrm>
            <a:off x="6502400" y="1371600"/>
            <a:ext cx="2235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>
                <a:solidFill>
                  <a:srgbClr val="222222"/>
                </a:solidFill>
                <a:latin typeface="Times New Roman" panose="02020603050405020304" pitchFamily="18" charset="0"/>
              </a:rPr>
              <a:t>account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DEE4F8-ED7B-5281-B775-582A7D8A0889}"/>
              </a:ext>
            </a:extLst>
          </p:cNvPr>
          <p:cNvSpPr/>
          <p:nvPr/>
        </p:nvSpPr>
        <p:spPr>
          <a:xfrm>
            <a:off x="279400" y="1816100"/>
            <a:ext cx="2032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44BB19-E5BE-C126-E013-FBCD2433AF45}"/>
              </a:ext>
            </a:extLst>
          </p:cNvPr>
          <p:cNvSpPr txBox="1"/>
          <p:nvPr/>
        </p:nvSpPr>
        <p:spPr>
          <a:xfrm>
            <a:off x="368300" y="1917700"/>
            <a:ext cx="1854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 b="1">
                <a:solidFill>
                  <a:srgbClr val="222222"/>
                </a:solidFill>
                <a:latin typeface="Times New Roman" panose="02020603050405020304" pitchFamily="18" charset="0"/>
              </a:rPr>
              <a:t>appointments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07986E-154E-D4D5-CBCA-6EA9FCA89D4F}"/>
              </a:ext>
            </a:extLst>
          </p:cNvPr>
          <p:cNvSpPr/>
          <p:nvPr/>
        </p:nvSpPr>
        <p:spPr>
          <a:xfrm>
            <a:off x="2438400" y="1816100"/>
            <a:ext cx="38735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392CFC-B820-D788-EE3C-8E55A551389F}"/>
              </a:ext>
            </a:extLst>
          </p:cNvPr>
          <p:cNvSpPr txBox="1"/>
          <p:nvPr/>
        </p:nvSpPr>
        <p:spPr>
          <a:xfrm>
            <a:off x="2527300" y="1917700"/>
            <a:ext cx="36957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>
                <a:solidFill>
                  <a:srgbClr val="222222"/>
                </a:solidFill>
                <a:latin typeface="Times New Roman" panose="02020603050405020304" pitchFamily="18" charset="0"/>
              </a:rPr>
              <a:t>user_id, starts_at, reminder_minutes_before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5CF71F-24C2-50A0-4F94-88EDA057AE48}"/>
              </a:ext>
            </a:extLst>
          </p:cNvPr>
          <p:cNvSpPr/>
          <p:nvPr/>
        </p:nvSpPr>
        <p:spPr>
          <a:xfrm>
            <a:off x="6413500" y="1816100"/>
            <a:ext cx="2413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BC31BF-DB1F-FE98-2A94-017EE99B4885}"/>
              </a:ext>
            </a:extLst>
          </p:cNvPr>
          <p:cNvSpPr txBox="1"/>
          <p:nvPr/>
        </p:nvSpPr>
        <p:spPr>
          <a:xfrm>
            <a:off x="6502400" y="1917700"/>
            <a:ext cx="2235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>
                <a:solidFill>
                  <a:srgbClr val="222222"/>
                </a:solidFill>
                <a:latin typeface="Times New Roman" panose="02020603050405020304" pitchFamily="18" charset="0"/>
              </a:rPr>
              <a:t>visit schedule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0F0E7F-08A1-EA34-6DCA-8907654CDD55}"/>
              </a:ext>
            </a:extLst>
          </p:cNvPr>
          <p:cNvSpPr/>
          <p:nvPr/>
        </p:nvSpPr>
        <p:spPr>
          <a:xfrm>
            <a:off x="279400" y="2362200"/>
            <a:ext cx="2032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1139E1-D313-EAF2-184B-20C8AEB32EEE}"/>
              </a:ext>
            </a:extLst>
          </p:cNvPr>
          <p:cNvSpPr txBox="1"/>
          <p:nvPr/>
        </p:nvSpPr>
        <p:spPr>
          <a:xfrm>
            <a:off x="368300" y="2463800"/>
            <a:ext cx="1854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 b="1">
                <a:solidFill>
                  <a:srgbClr val="222222"/>
                </a:solidFill>
                <a:latin typeface="Times New Roman" panose="02020603050405020304" pitchFamily="18" charset="0"/>
              </a:rPr>
              <a:t>care_tasks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35079D-75F6-C3D0-B282-B83A915B649C}"/>
              </a:ext>
            </a:extLst>
          </p:cNvPr>
          <p:cNvSpPr/>
          <p:nvPr/>
        </p:nvSpPr>
        <p:spPr>
          <a:xfrm>
            <a:off x="2438400" y="2362200"/>
            <a:ext cx="38735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E7AEFE-DA58-B801-E96C-A34EB9C0F88F}"/>
              </a:ext>
            </a:extLst>
          </p:cNvPr>
          <p:cNvSpPr txBox="1"/>
          <p:nvPr/>
        </p:nvSpPr>
        <p:spPr>
          <a:xfrm>
            <a:off x="2527300" y="2463800"/>
            <a:ext cx="36957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>
                <a:solidFill>
                  <a:srgbClr val="222222"/>
                </a:solidFill>
                <a:latin typeface="Times New Roman" panose="02020603050405020304" pitchFamily="18" charset="0"/>
              </a:rPr>
              <a:t>user_id, task_date, completed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ACCDD8-516B-88AF-2B0B-AA7A5BDB9311}"/>
              </a:ext>
            </a:extLst>
          </p:cNvPr>
          <p:cNvSpPr/>
          <p:nvPr/>
        </p:nvSpPr>
        <p:spPr>
          <a:xfrm>
            <a:off x="6413500" y="2362200"/>
            <a:ext cx="2413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90B692-7800-11D1-835F-4081A957623D}"/>
              </a:ext>
            </a:extLst>
          </p:cNvPr>
          <p:cNvSpPr txBox="1"/>
          <p:nvPr/>
        </p:nvSpPr>
        <p:spPr>
          <a:xfrm>
            <a:off x="6502400" y="2463800"/>
            <a:ext cx="2235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>
                <a:solidFill>
                  <a:srgbClr val="222222"/>
                </a:solidFill>
                <a:latin typeface="Times New Roman" panose="02020603050405020304" pitchFamily="18" charset="0"/>
              </a:rPr>
              <a:t>daily tasks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3C5C5E-A0A8-BE96-5329-FD7948F45279}"/>
              </a:ext>
            </a:extLst>
          </p:cNvPr>
          <p:cNvSpPr/>
          <p:nvPr/>
        </p:nvSpPr>
        <p:spPr>
          <a:xfrm>
            <a:off x="279400" y="2908300"/>
            <a:ext cx="2032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5667E5-A98A-4D97-A830-4F899B315896}"/>
              </a:ext>
            </a:extLst>
          </p:cNvPr>
          <p:cNvSpPr txBox="1"/>
          <p:nvPr/>
        </p:nvSpPr>
        <p:spPr>
          <a:xfrm>
            <a:off x="368300" y="3009900"/>
            <a:ext cx="1854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 b="1">
                <a:solidFill>
                  <a:srgbClr val="222222"/>
                </a:solidFill>
                <a:latin typeface="Times New Roman" panose="02020603050405020304" pitchFamily="18" charset="0"/>
              </a:rPr>
              <a:t>symptom_entries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DFDEFA-7A36-C10D-0E4B-54C432DF36DC}"/>
              </a:ext>
            </a:extLst>
          </p:cNvPr>
          <p:cNvSpPr/>
          <p:nvPr/>
        </p:nvSpPr>
        <p:spPr>
          <a:xfrm>
            <a:off x="2438400" y="2908300"/>
            <a:ext cx="38735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95E4B6-2BBE-B19B-3E2C-8D2C11EB5C62}"/>
              </a:ext>
            </a:extLst>
          </p:cNvPr>
          <p:cNvSpPr txBox="1"/>
          <p:nvPr/>
        </p:nvSpPr>
        <p:spPr>
          <a:xfrm>
            <a:off x="2527300" y="3009900"/>
            <a:ext cx="36957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>
                <a:solidFill>
                  <a:srgbClr val="222222"/>
                </a:solidFill>
                <a:latin typeface="Times New Roman" panose="02020603050405020304" pitchFamily="18" charset="0"/>
              </a:rPr>
              <a:t>user_id, symptom, severity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EDCCE6-601D-9D49-0AC2-A3C3620451F3}"/>
              </a:ext>
            </a:extLst>
          </p:cNvPr>
          <p:cNvSpPr/>
          <p:nvPr/>
        </p:nvSpPr>
        <p:spPr>
          <a:xfrm>
            <a:off x="6413500" y="2908300"/>
            <a:ext cx="2413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22C86B-782E-F154-BAE7-F63044BA4C18}"/>
              </a:ext>
            </a:extLst>
          </p:cNvPr>
          <p:cNvSpPr txBox="1"/>
          <p:nvPr/>
        </p:nvSpPr>
        <p:spPr>
          <a:xfrm>
            <a:off x="6502400" y="3009900"/>
            <a:ext cx="2235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>
                <a:solidFill>
                  <a:srgbClr val="222222"/>
                </a:solidFill>
                <a:latin typeface="Times New Roman" panose="02020603050405020304" pitchFamily="18" charset="0"/>
              </a:rPr>
              <a:t>private journal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7C4F8E0-56F9-C04C-001A-ADB1D8242AD4}"/>
              </a:ext>
            </a:extLst>
          </p:cNvPr>
          <p:cNvSpPr/>
          <p:nvPr/>
        </p:nvSpPr>
        <p:spPr>
          <a:xfrm>
            <a:off x="279400" y="3454400"/>
            <a:ext cx="2032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46ED6B-AA45-D545-ECC7-5057818403B8}"/>
              </a:ext>
            </a:extLst>
          </p:cNvPr>
          <p:cNvSpPr txBox="1"/>
          <p:nvPr/>
        </p:nvSpPr>
        <p:spPr>
          <a:xfrm>
            <a:off x="368300" y="3556000"/>
            <a:ext cx="1854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 b="1">
                <a:solidFill>
                  <a:srgbClr val="222222"/>
                </a:solidFill>
                <a:latin typeface="Times New Roman" panose="02020603050405020304" pitchFamily="18" charset="0"/>
              </a:rPr>
              <a:t>push_reminders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BF9CF5-E146-65E4-7560-7271597551FC}"/>
              </a:ext>
            </a:extLst>
          </p:cNvPr>
          <p:cNvSpPr/>
          <p:nvPr/>
        </p:nvSpPr>
        <p:spPr>
          <a:xfrm>
            <a:off x="2438400" y="3454400"/>
            <a:ext cx="38735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EB5C08-7733-D09B-31AF-BDFDEE5440C9}"/>
              </a:ext>
            </a:extLst>
          </p:cNvPr>
          <p:cNvSpPr txBox="1"/>
          <p:nvPr/>
        </p:nvSpPr>
        <p:spPr>
          <a:xfrm>
            <a:off x="2527300" y="3556000"/>
            <a:ext cx="36957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>
                <a:solidFill>
                  <a:srgbClr val="222222"/>
                </a:solidFill>
                <a:latin typeface="Times New Roman" panose="02020603050405020304" pitchFamily="18" charset="0"/>
              </a:rPr>
              <a:t>user_id, key, scheduled_at, status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05DF03-301D-2584-D519-4C5F32E0A0AF}"/>
              </a:ext>
            </a:extLst>
          </p:cNvPr>
          <p:cNvSpPr/>
          <p:nvPr/>
        </p:nvSpPr>
        <p:spPr>
          <a:xfrm>
            <a:off x="6413500" y="3454400"/>
            <a:ext cx="2413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7283F1-B5D3-C368-60FD-E6C0FD1AC491}"/>
              </a:ext>
            </a:extLst>
          </p:cNvPr>
          <p:cNvSpPr txBox="1"/>
          <p:nvPr/>
        </p:nvSpPr>
        <p:spPr>
          <a:xfrm>
            <a:off x="6502400" y="3556000"/>
            <a:ext cx="2235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>
                <a:solidFill>
                  <a:srgbClr val="222222"/>
                </a:solidFill>
                <a:latin typeface="Times New Roman" panose="02020603050405020304" pitchFamily="18" charset="0"/>
              </a:rPr>
              <a:t>scheduled delivery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F76D151-075F-F634-2392-706582B1055E}"/>
              </a:ext>
            </a:extLst>
          </p:cNvPr>
          <p:cNvSpPr/>
          <p:nvPr/>
        </p:nvSpPr>
        <p:spPr>
          <a:xfrm>
            <a:off x="279400" y="4000500"/>
            <a:ext cx="2032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7CDAAC-221B-85A5-60A4-20265AA0BD2C}"/>
              </a:ext>
            </a:extLst>
          </p:cNvPr>
          <p:cNvSpPr txBox="1"/>
          <p:nvPr/>
        </p:nvSpPr>
        <p:spPr>
          <a:xfrm>
            <a:off x="368300" y="4102100"/>
            <a:ext cx="1854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 b="1">
                <a:solidFill>
                  <a:srgbClr val="222222"/>
                </a:solidFill>
                <a:latin typeface="Times New Roman" panose="02020603050405020304" pitchFamily="18" charset="0"/>
              </a:rPr>
              <a:t>push_subscriptions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73D2B94-9610-4B07-76DA-D01E9795EF3A}"/>
              </a:ext>
            </a:extLst>
          </p:cNvPr>
          <p:cNvSpPr/>
          <p:nvPr/>
        </p:nvSpPr>
        <p:spPr>
          <a:xfrm>
            <a:off x="2438400" y="4000500"/>
            <a:ext cx="38735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0D76DB-BFCD-5312-5C53-25C7BA9B320F}"/>
              </a:ext>
            </a:extLst>
          </p:cNvPr>
          <p:cNvSpPr txBox="1"/>
          <p:nvPr/>
        </p:nvSpPr>
        <p:spPr>
          <a:xfrm>
            <a:off x="2527300" y="4102100"/>
            <a:ext cx="36957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>
                <a:solidFill>
                  <a:srgbClr val="222222"/>
                </a:solidFill>
                <a:latin typeface="Times New Roman" panose="02020603050405020304" pitchFamily="18" charset="0"/>
              </a:rPr>
              <a:t>user_id, endpoint_hash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F5181C3-08EE-499A-116F-532A51B845FC}"/>
              </a:ext>
            </a:extLst>
          </p:cNvPr>
          <p:cNvSpPr/>
          <p:nvPr/>
        </p:nvSpPr>
        <p:spPr>
          <a:xfrm>
            <a:off x="6413500" y="4000500"/>
            <a:ext cx="2413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CE3585-B25C-8BFA-EC1F-32F84812BEA8}"/>
              </a:ext>
            </a:extLst>
          </p:cNvPr>
          <p:cNvSpPr txBox="1"/>
          <p:nvPr/>
        </p:nvSpPr>
        <p:spPr>
          <a:xfrm>
            <a:off x="6502400" y="4102100"/>
            <a:ext cx="22352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US" sz="900">
                <a:solidFill>
                  <a:srgbClr val="222222"/>
                </a:solidFill>
                <a:latin typeface="Times New Roman" panose="02020603050405020304" pitchFamily="18" charset="0"/>
              </a:rPr>
              <a:t>opt-in device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076A18-DF24-0F10-E7D7-3BD4AFA9C348}"/>
              </a:ext>
            </a:extLst>
          </p:cNvPr>
          <p:cNvSpPr txBox="1"/>
          <p:nvPr/>
        </p:nvSpPr>
        <p:spPr>
          <a:xfrm>
            <a:off x="381000" y="4660900"/>
            <a:ext cx="8382000" cy="36933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ctr"/>
            <a:r>
              <a:rPr lang="en-US" sz="900">
                <a:solidFill>
                  <a:srgbClr val="555555"/>
                </a:solidFill>
                <a:latin typeface="Times New Roman" panose="02020603050405020304" pitchFamily="18" charset="0"/>
              </a:rPr>
              <a:t>All example records are synthetic and contain no real health information.</a:t>
            </a:r>
          </a:p>
        </p:txBody>
      </p:sp>
    </p:spTree>
    <p:extLst>
      <p:ext uri="{BB962C8B-B14F-4D97-AF65-F5344CB8AC3E}">
        <p14:creationId xmlns:p14="http://schemas.microsoft.com/office/powerpoint/2010/main" val="4029253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C81962-5F4E-442D-A8CA-20CECF48EEB2}"/>
              </a:ext>
            </a:extLst>
          </p:cNvPr>
          <p:cNvSpPr/>
          <p:nvPr/>
        </p:nvSpPr>
        <p:spPr>
          <a:xfrm>
            <a:off x="304800" y="209550"/>
            <a:ext cx="7747000" cy="457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tabLst>
                <a:tab pos="457200" algn="l"/>
              </a:tabLst>
            </a:pPr>
            <a:r>
              <a:rPr lang="en-IN" b="1">
                <a:solidFill>
                  <a:srgbClr val="00009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Testing Methods and Results</a:t>
            </a:r>
            <a:endParaRPr lang="en-IN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2D9A24-C44F-40D0-82CE-2459343036BD}"/>
              </a:ext>
            </a:extLst>
          </p:cNvPr>
          <p:cNvSpPr/>
          <p:nvPr/>
        </p:nvSpPr>
        <p:spPr>
          <a:xfrm>
            <a:off x="647700" y="971550"/>
            <a:ext cx="7848600" cy="332398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300">
                <a:latin typeface="Times New Roman" panose="02020603050405020304" pitchFamily="18" charset="0"/>
              </a:rPr>
              <a:t>Backend: Spring Boot Test, MockMvc, JUnit, and H2 PostgreSQL mode. Four focused reminder tests passed.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1300"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300">
                <a:latin typeface="Times New Roman" panose="02020603050405020304" pitchFamily="18" charset="0"/>
              </a:rPr>
              <a:t>Coverage: timezone default and validation; schedule preferences; deduplication; one-time expiring snooze; 90-day retention.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1300"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300">
                <a:latin typeface="Times New Roman" panose="02020603050405020304" pitchFamily="18" charset="0"/>
              </a:rPr>
              <a:t>Frontend: TypeScript/Vite production build passed.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1300"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300">
                <a:latin typeface="Times New Roman" panose="02020603050405020304" pitchFamily="18" charset="0"/>
              </a:rPr>
              <a:t>Privacy checks: JWT authentication, ownership checks, selective report sharing, generic push text.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1300"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300">
                <a:latin typeface="Times New Roman" panose="02020603050405020304" pitchFamily="18" charset="0"/>
              </a:rPr>
              <a:t>Limitations: no live push delivery without VAPID keys and HTTPS; broader UI, accessibility, and MySQL integration tests remain future work.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646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74D3FD-3F5A-4F68-95EF-1E13919DDE63}"/>
              </a:ext>
            </a:extLst>
          </p:cNvPr>
          <p:cNvSpPr/>
          <p:nvPr/>
        </p:nvSpPr>
        <p:spPr>
          <a:xfrm>
            <a:off x="304799" y="209550"/>
            <a:ext cx="7874000" cy="457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en-IN" b="1">
                <a:solidFill>
                  <a:srgbClr val="000099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Conclusion and Future Work</a:t>
            </a:r>
            <a:endParaRPr lang="en-IN" b="1" dirty="0">
              <a:solidFill>
                <a:srgbClr val="000099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063B2B-1D59-418D-A2B6-5F4901044C83}"/>
              </a:ext>
            </a:extLst>
          </p:cNvPr>
          <p:cNvSpPr/>
          <p:nvPr/>
        </p:nvSpPr>
        <p:spPr>
          <a:xfrm>
            <a:off x="334617" y="590550"/>
            <a:ext cx="8305800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4A9FBE-6227-4D01-8F92-1A3234B49896}"/>
              </a:ext>
            </a:extLst>
          </p:cNvPr>
          <p:cNvSpPr/>
          <p:nvPr/>
        </p:nvSpPr>
        <p:spPr>
          <a:xfrm>
            <a:off x="609600" y="742949"/>
            <a:ext cx="7696200" cy="37846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MaatriCare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authenticated workspace for pregnancy records, appointments, daily care, private journaling, educational resources, user-controlled reports, and reminders. The system focuses on organization and communication support.</a:t>
            </a:r>
          </a:p>
          <a:p>
            <a:pPr>
              <a:lnSpc>
                <a:spcPct val="150000"/>
              </a:lnSpc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Configure VAPID and HTTPS, then test push on real devices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Replace illustrative interface panels with live screenshots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Extend frontend, database, migration, and accessibility tests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Complete privacy/security review and production deployment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Prepare the final report in the official institutional format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917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99D439-EBA7-449F-8506-42CC095409CC}"/>
              </a:ext>
            </a:extLst>
          </p:cNvPr>
          <p:cNvSpPr/>
          <p:nvPr/>
        </p:nvSpPr>
        <p:spPr>
          <a:xfrm>
            <a:off x="76200" y="133350"/>
            <a:ext cx="7620000" cy="4572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b="1">
                <a:solidFill>
                  <a:srgbClr val="000099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 Books and Websites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1F7F1A-FAAF-47A7-96F1-758A058B2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6073"/>
            <a:ext cx="9149749" cy="3372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 Documentation. React.dev.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Boot Reference Documentation. Spring.io.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 Reference Documentation. Spring.io.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 Documentation. PostgreSQL.org.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8.0 Reference Manual. Oracle.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MDN Web Docs: Service Worker API and Push API.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Pressman and Maxim. Software Engineering: A Practitionerâ€™s Approach, 9th ed.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Sommerville. Software Engineering, 10th ed.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Verify publication details and retain only sources actually consulted.</a:t>
            </a:r>
            <a:endParaRPr kumimoji="0" lang="en-US" altLang="en-US" sz="1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589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DBF420-0454-4DB5-82CD-499836C49A43}"/>
              </a:ext>
            </a:extLst>
          </p:cNvPr>
          <p:cNvSpPr/>
          <p:nvPr/>
        </p:nvSpPr>
        <p:spPr>
          <a:xfrm>
            <a:off x="698500" y="1333500"/>
            <a:ext cx="7696200" cy="812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endParaRPr lang="en-US" sz="17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76DE56-3B45-4211-AFF9-FF50C014FFEC}"/>
              </a:ext>
            </a:extLst>
          </p:cNvPr>
          <p:cNvSpPr/>
          <p:nvPr/>
        </p:nvSpPr>
        <p:spPr>
          <a:xfrm>
            <a:off x="1371600" y="2038350"/>
            <a:ext cx="5715000" cy="12954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IN" sz="4000" b="1" dirty="0">
                <a:latin typeface="Arial" panose="020B0604020202020204" pitchFamily="34" charset="0"/>
              </a:rPr>
              <a:t>Thank You</a:t>
            </a:r>
            <a:endParaRPr lang="en-IN" sz="4000" b="1" dirty="0">
              <a:solidFill>
                <a:srgbClr val="00B05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6880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8&quot; unique_id=&quot;74339&quot;&gt;&lt;/object&gt;&lt;object type=&quot;2&quot; unique_id=&quot;74340&quot;&gt;&lt;object type=&quot;3&quot; unique_id=&quot;74341&quot;&gt;&lt;property id=&quot;20148&quot; value=&quot;5&quot;/&gt;&lt;property id=&quot;20300&quot; value=&quot;Slide 1&quot;/&gt;&lt;property id=&quot;20307&quot; value=&quot;256&quot;/&gt;&lt;/object&gt;&lt;object type=&quot;3&quot; unique_id=&quot;74407&quot;&gt;&lt;property id=&quot;20148&quot; value=&quot;5&quot;/&gt;&lt;property id=&quot;20300&quot; value=&quot;Slide 2&quot;/&gt;&lt;property id=&quot;20307&quot; value=&quot;262&quot;/&gt;&lt;/object&gt;&lt;object type=&quot;3&quot; unique_id=&quot;74608&quot;&gt;&lt;property id=&quot;20148&quot; value=&quot;5&quot;/&gt;&lt;property id=&quot;20300&quot; value=&quot;Slide 5&quot;/&gt;&lt;property id=&quot;20307&quot; value=&quot;266&quot;/&gt;&lt;/object&gt;&lt;object type=&quot;3&quot; unique_id=&quot;74659&quot;&gt;&lt;property id=&quot;20148&quot; value=&quot;5&quot;/&gt;&lt;property id=&quot;20300&quot; value=&quot;Slide 9&quot;/&gt;&lt;property id=&quot;20307&quot; value=&quot;269&quot;/&gt;&lt;/object&gt;&lt;object type=&quot;3&quot; unique_id=&quot;74741&quot;&gt;&lt;property id=&quot;20148&quot; value=&quot;5&quot;/&gt;&lt;property id=&quot;20300&quot; value=&quot;Slide 3&quot;/&gt;&lt;property id=&quot;20307&quot; value=&quot;273&quot;/&gt;&lt;/object&gt;&lt;object type=&quot;3&quot; unique_id=&quot;74742&quot;&gt;&lt;property id=&quot;20148&quot; value=&quot;5&quot;/&gt;&lt;property id=&quot;20300&quot; value=&quot;Slide 6&quot;/&gt;&lt;property id=&quot;20307&quot; value=&quot;270&quot;/&gt;&lt;/object&gt;&lt;object type=&quot;3&quot; unique_id=&quot;74743&quot;&gt;&lt;property id=&quot;20148&quot; value=&quot;5&quot;/&gt;&lt;property id=&quot;20300&quot; value=&quot;Slide 7&quot;/&gt;&lt;property id=&quot;20307&quot; value=&quot;271&quot;/&gt;&lt;/object&gt;&lt;object type=&quot;3&quot; unique_id=&quot;74744&quot;&gt;&lt;property id=&quot;20148&quot; value=&quot;5&quot;/&gt;&lt;property id=&quot;20300&quot; value=&quot;Slide 8&quot;/&gt;&lt;property id=&quot;20307&quot; value=&quot;272&quot;/&gt;&lt;/object&gt;&lt;object type=&quot;3&quot; unique_id=&quot;74818&quot;&gt;&lt;property id=&quot;20148&quot; value=&quot;5&quot;/&gt;&lt;property id=&quot;20300&quot; value=&quot;Slide 4&quot;/&gt;&lt;property id=&quot;20307&quot; value=&quot;274&quot;/&gt;&lt;/object&gt;&lt;/object&gt;&lt;/object&gt;&lt;/database&gt;"/>
  <p:tag name="SECTOMILLISECCONVERTED" val="1"/>
  <p:tag name="ARTICULATE_DESIGN_ID_OFFICE THEME" val="hHk7KfzR"/>
  <p:tag name="ARTICULATE_SLIDE_COUNT" val="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11955</TotalTime>
  <Words>1293</Words>
  <Application>Microsoft Office PowerPoint</Application>
  <PresentationFormat>On-screen Show (16:9)</PresentationFormat>
  <Paragraphs>159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Consolas</vt:lpstr>
      <vt:lpstr>Times New Roman</vt:lpstr>
      <vt:lpstr>Wingdings</vt:lpstr>
      <vt:lpstr>Office Theme</vt:lpstr>
      <vt:lpstr>July -2024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Shailesh</dc:creator>
  <cp:lastModifiedBy>Kumar, Deepak</cp:lastModifiedBy>
  <cp:revision>994</cp:revision>
  <dcterms:created xsi:type="dcterms:W3CDTF">2016-07-22T06:37:47Z</dcterms:created>
  <dcterms:modified xsi:type="dcterms:W3CDTF">2026-10-20T19:03:38Z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FC4549A7-CFF4-4A36-89BC-19E85BFABD1B</vt:lpwstr>
  </property>
  <property fmtid="{D5CDD505-2E9C-101B-9397-08002B2CF9AE}" pid="3" name="ArticulatePath">
    <vt:lpwstr>Management Template (1) (1)</vt:lpwstr>
  </property>
</Properties>
</file>