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8D043-AA42-F830-F631-986A24FFEA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3AE0AE-D453-B121-1A37-E38A8F86A5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B56DBA-7FC9-65FE-12CE-7F4A6B0F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C9E26-B174-4465-8A15-90AF92D707B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5B7382-2D60-5EAF-8BFB-1D2E0A49C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3516B2-56E6-30E9-0B34-5BA7D9239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892020-1EF3-4635-BE0C-7C0F42AF55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096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21F97-712E-C4AD-596C-F59888906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79989B-2399-AAA3-B7B8-005025E72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4F9369-A7EF-7EB8-0150-BED9247A9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C9E26-B174-4465-8A15-90AF92D707B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E4C68-B028-2A64-E793-221B5E487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FB0425-1736-855F-07EF-5F3DCDE38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892020-1EF3-4635-BE0C-7C0F42AF55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892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435B8-5734-F8E5-FD5A-F227E66DF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3A13C6-A6D7-4ADE-7F94-2F43587A0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BFB5A-CA4B-4C89-1133-73D6E4D9C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C9E26-B174-4465-8A15-90AF92D707B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9E57D5-A350-BE68-991F-8773AA464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51FEEF-3BAF-01CD-7611-78A309AC5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892020-1EF3-4635-BE0C-7C0F42AF55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061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C68A8-6A68-9D30-CA3A-56DA180C0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4FB4B-43A7-AA62-E060-AA5C2C57CB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7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1DC0F5-A2AC-8435-FD8D-90B5AB45FE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7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97367D-82E7-B1F4-A16C-DACD9556C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C9E26-B174-4465-8A15-90AF92D707B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ADF2C3-3267-ED0D-6CFC-8E5A2EE6C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F853B-319A-EB73-681E-70F8DF9E9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892020-1EF3-4635-BE0C-7C0F42AF55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1354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62297-31A7-AC4A-919C-95CA1E332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375E0D-A69D-810C-0430-8EB6D3135F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4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3C739D-F5F3-F852-C046-4F3358BBEE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6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844DDF-867A-4788-D8CE-FB479EE58F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4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B15902-5A55-8FA1-8431-F96EFE8144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6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24A302-221E-C06B-126C-A86046D4E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C9E26-B174-4465-8A15-90AF92D707B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E6B3E3-DF65-9DF9-DDDD-0D2247AA0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35C9E1-5197-4965-43B1-D604AA1ED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892020-1EF3-4635-BE0C-7C0F42AF55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412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42DD1-1EF9-4F5D-B8F7-F3508288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299EF4-C7DF-F2A0-D32D-1BFA17D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C9E26-B174-4465-8A15-90AF92D707B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D2F24A-81F1-D614-24D6-3317D2C99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29ADB4-981D-65E9-29C6-111CAF6F7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892020-1EF3-4635-BE0C-7C0F42AF55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849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B922AA9-28CB-8BD6-DE0A-9BC4B2751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C9E26-B174-4465-8A15-90AF92D707B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081404-76E8-7F8C-D005-1A7A0F17A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5E294-C272-6CA2-B236-EA48EE983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892020-1EF3-4635-BE0C-7C0F42AF55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1080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092AF-B8CA-602C-5DB5-B85294004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92080-02E2-0BE3-BD42-918DE30B2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769478-C69A-3B60-080D-4DAB2F0F40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F73904-E5EC-C848-8271-77C59119C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C9E26-B174-4465-8A15-90AF92D707B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64DE91-E4F3-11FF-87DB-BDA14C3E8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6C1844-DB40-925C-9FDD-01010460E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892020-1EF3-4635-BE0C-7C0F42AF55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7663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652B2-C696-9123-C713-11B050497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8903D6-84F6-418A-4FB5-5437C95C13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932938-EFAB-ADE5-DDAE-A2961C024E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9DA37A-EA35-3899-422D-BD25E8526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C9E26-B174-4465-8A15-90AF92D707B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984A9-BBCC-B097-4066-15D6DE757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F03633-1CDD-5AFC-487F-780F31843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892020-1EF3-4635-BE0C-7C0F42AF55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0075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BD250-A092-F504-65A7-692094389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AEE5DF-2F18-AFF5-D53C-5C875D4B32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006EC0-ADD1-F280-6C52-10539608F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C9E26-B174-4465-8A15-90AF92D707B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FC81CE-721A-CB8C-E19C-08F3B1B76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4EAA0-C786-3568-B335-AC9E7A4B1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892020-1EF3-4635-BE0C-7C0F42AF55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943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7DDFE3-2F5A-099F-F044-023B0C74BD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1B148E-1938-061C-D343-314A186D3A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DDA7A2-334C-0C35-C857-FD9B5DE16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C9E26-B174-4465-8A15-90AF92D707B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DE96A4-8F63-33C2-13EC-4775E15D5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9E6683-353F-48AC-8F8F-958595778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892020-1EF3-4635-BE0C-7C0F42AF55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4321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37083A-6D47-EE5E-46C8-10204D81B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80790A-9E6B-2D9D-A68B-F5A5ED99C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7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BBBF32-1F89-5A46-5BFE-DA8C2C8974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DC9E26-B174-4465-8A15-90AF92D707B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BF9BC-EC99-B6CD-0D2F-54AA5077A7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E9A150-ADE1-1E09-2670-E9915804CA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892020-1EF3-4635-BE0C-7C0F42AF55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706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B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D4CD4B-F17A-3116-9E06-62C124C5A02E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D889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51386DF-5AF8-61E7-FEDC-7085C6A0AA2C}"/>
              </a:ext>
            </a:extLst>
          </p:cNvPr>
          <p:cNvSpPr/>
          <p:nvPr/>
        </p:nvSpPr>
        <p:spPr>
          <a:xfrm>
            <a:off x="685800" y="533400"/>
            <a:ext cx="1752600" cy="330200"/>
          </a:xfrm>
          <a:prstGeom prst="roundRect">
            <a:avLst/>
          </a:prstGeom>
          <a:solidFill>
            <a:srgbClr val="2C514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6EB03B-A9D8-6C1C-6735-2BE7669A4FA4}"/>
              </a:ext>
            </a:extLst>
          </p:cNvPr>
          <p:cNvSpPr txBox="1"/>
          <p:nvPr/>
        </p:nvSpPr>
        <p:spPr>
          <a:xfrm>
            <a:off x="787400" y="584200"/>
            <a:ext cx="15494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900" b="1">
                <a:solidFill>
                  <a:srgbClr val="D8E9E1"/>
                </a:solidFill>
                <a:latin typeface="Aptos" panose="020B0004020202020204" pitchFamily="34" charset="0"/>
              </a:rPr>
              <a:t>REVIEW 2 | MCA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2F9271-FE97-B345-5C73-F73A78424DF2}"/>
              </a:ext>
            </a:extLst>
          </p:cNvPr>
          <p:cNvSpPr txBox="1"/>
          <p:nvPr/>
        </p:nvSpPr>
        <p:spPr>
          <a:xfrm>
            <a:off x="698500" y="1524000"/>
            <a:ext cx="990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3300" b="1">
                <a:solidFill>
                  <a:srgbClr val="FFFFFF"/>
                </a:solidFill>
                <a:latin typeface="Aptos" panose="020B0004020202020204" pitchFamily="34" charset="0"/>
              </a:rPr>
              <a:t>Welcome to my project review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7EC2C6-A704-744F-CB31-6A40224FDBE7}"/>
              </a:ext>
            </a:extLst>
          </p:cNvPr>
          <p:cNvSpPr txBox="1"/>
          <p:nvPr/>
        </p:nvSpPr>
        <p:spPr>
          <a:xfrm>
            <a:off x="736600" y="2667000"/>
            <a:ext cx="8890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000" b="1">
                <a:solidFill>
                  <a:srgbClr val="DCEAE5"/>
                </a:solidFill>
                <a:latin typeface="Aptos" panose="020B0004020202020204" pitchFamily="34" charset="0"/>
              </a:rPr>
              <a:t>MaatriCare: Pregnancy Support and Care Coordination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AB5C73-0AE5-9FCD-B24F-85E1D10FE108}"/>
              </a:ext>
            </a:extLst>
          </p:cNvPr>
          <p:cNvSpPr txBox="1"/>
          <p:nvPr/>
        </p:nvSpPr>
        <p:spPr>
          <a:xfrm>
            <a:off x="736600" y="3860800"/>
            <a:ext cx="8128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FFFFFF"/>
                </a:solidFill>
                <a:latin typeface="Aptos" panose="020B0004020202020204" pitchFamily="34" charset="0"/>
              </a:rPr>
              <a:t>Presented by  Deepak Kumar</a:t>
            </a:r>
          </a:p>
          <a:p>
            <a:r>
              <a:rPr lang="en-US" sz="1700" b="1">
                <a:solidFill>
                  <a:srgbClr val="FFFFFF"/>
                </a:solidFill>
                <a:latin typeface="Aptos" panose="020B0004020202020204" pitchFamily="34" charset="0"/>
              </a:rPr>
              <a:t>Register No. 9224116032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402845-BF9A-DEAF-5FBE-6BA0775D7811}"/>
              </a:ext>
            </a:extLst>
          </p:cNvPr>
          <p:cNvSpPr txBox="1"/>
          <p:nvPr/>
        </p:nvSpPr>
        <p:spPr>
          <a:xfrm>
            <a:off x="736600" y="5003800"/>
            <a:ext cx="8128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ptos" panose="020B0004020202020204" pitchFamily="34" charset="0"/>
              </a:rPr>
              <a:t>Master of Computer Applications (MCA)</a:t>
            </a:r>
          </a:p>
          <a:p>
            <a:r>
              <a:rPr lang="en-US" sz="1300">
                <a:solidFill>
                  <a:srgbClr val="FFFFFF"/>
                </a:solidFill>
                <a:latin typeface="Aptos" panose="020B0004020202020204" pitchFamily="34" charset="0"/>
              </a:rPr>
              <a:t>Semester: [FILL]   |   Batch: [FILL]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93FB90E-0A4C-7651-6F38-FA2D274C2F81}"/>
              </a:ext>
            </a:extLst>
          </p:cNvPr>
          <p:cNvSpPr/>
          <p:nvPr/>
        </p:nvSpPr>
        <p:spPr>
          <a:xfrm>
            <a:off x="9334500" y="1041400"/>
            <a:ext cx="2159000" cy="1422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2B5A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DAF078-9A8D-41AA-118E-30140A8A3348}"/>
              </a:ext>
            </a:extLst>
          </p:cNvPr>
          <p:cNvSpPr txBox="1"/>
          <p:nvPr/>
        </p:nvSpPr>
        <p:spPr>
          <a:xfrm>
            <a:off x="9550400" y="1435100"/>
            <a:ext cx="17272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200" b="1">
                <a:solidFill>
                  <a:srgbClr val="173B38"/>
                </a:solidFill>
                <a:latin typeface="Aptos" panose="020B0004020202020204" pitchFamily="34" charset="0"/>
              </a:rPr>
              <a:t>COLLEGE LOGO</a:t>
            </a:r>
          </a:p>
          <a:p>
            <a:pPr algn="ctr"/>
            <a:r>
              <a:rPr lang="en-US" sz="1200" b="1">
                <a:solidFill>
                  <a:srgbClr val="173B38"/>
                </a:solidFill>
                <a:latin typeface="Aptos" panose="020B0004020202020204" pitchFamily="34" charset="0"/>
              </a:rPr>
              <a:t>PLACEHOLDER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3D1380-23CB-3C94-CDAA-03CCCC0C3EFD}"/>
              </a:ext>
            </a:extLst>
          </p:cNvPr>
          <p:cNvSpPr txBox="1"/>
          <p:nvPr/>
        </p:nvSpPr>
        <p:spPr>
          <a:xfrm>
            <a:off x="736600" y="6261100"/>
            <a:ext cx="8255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DCEAE5"/>
                </a:solidFill>
                <a:latin typeface="Aptos" panose="020B0004020202020204" pitchFamily="34" charset="0"/>
              </a:rPr>
              <a:t>Department of Computer Applications | Kalasalingam Academy of Research and Education (CDOE)</a:t>
            </a:r>
          </a:p>
        </p:txBody>
      </p:sp>
    </p:spTree>
    <p:extLst>
      <p:ext uri="{BB962C8B-B14F-4D97-AF65-F5344CB8AC3E}">
        <p14:creationId xmlns:p14="http://schemas.microsoft.com/office/powerpoint/2010/main" val="981698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E24AE6-4979-9A48-97A9-298F0E0D0104}"/>
              </a:ext>
            </a:extLst>
          </p:cNvPr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D70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169336-E017-E404-F662-5853C43E719C}"/>
              </a:ext>
            </a:extLst>
          </p:cNvPr>
          <p:cNvSpPr txBox="1"/>
          <p:nvPr/>
        </p:nvSpPr>
        <p:spPr>
          <a:xfrm>
            <a:off x="482600" y="2540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63817B"/>
                </a:solidFill>
                <a:latin typeface="Aptos" panose="020B0004020202020204" pitchFamily="34" charset="0"/>
              </a:rPr>
              <a:t>01 | PROJECT IDENTIFICATION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725736-9BEC-270C-2272-088201EBF95F}"/>
              </a:ext>
            </a:extLst>
          </p:cNvPr>
          <p:cNvSpPr txBox="1"/>
          <p:nvPr/>
        </p:nvSpPr>
        <p:spPr>
          <a:xfrm>
            <a:off x="482600" y="5715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700" b="1">
                <a:solidFill>
                  <a:srgbClr val="163E3A"/>
                </a:solidFill>
                <a:latin typeface="Aptos" panose="020B0004020202020204" pitchFamily="34" charset="0"/>
              </a:rPr>
              <a:t>Project Title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260AAF-4FB6-75AB-ED0D-863DCB41FE9D}"/>
              </a:ext>
            </a:extLst>
          </p:cNvPr>
          <p:cNvSpPr/>
          <p:nvPr/>
        </p:nvSpPr>
        <p:spPr>
          <a:xfrm>
            <a:off x="482600" y="6375400"/>
            <a:ext cx="11226800" cy="12700"/>
          </a:xfrm>
          <a:prstGeom prst="rect">
            <a:avLst/>
          </a:prstGeom>
          <a:solidFill>
            <a:srgbClr val="D6E2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1E78C5-74B6-2605-8260-53B8152B405C}"/>
              </a:ext>
            </a:extLst>
          </p:cNvPr>
          <p:cNvSpPr txBox="1"/>
          <p:nvPr/>
        </p:nvSpPr>
        <p:spPr>
          <a:xfrm>
            <a:off x="482600" y="6451600"/>
            <a:ext cx="965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70837F"/>
                </a:solidFill>
                <a:latin typeface="Aptos" panose="020B0004020202020204" pitchFamily="34" charset="0"/>
              </a:rPr>
              <a:t>MaatriCare | MCA Project | Illustrative academic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55423F-129D-3BB8-F740-1309E36A2C93}"/>
              </a:ext>
            </a:extLst>
          </p:cNvPr>
          <p:cNvSpPr txBox="1"/>
          <p:nvPr/>
        </p:nvSpPr>
        <p:spPr>
          <a:xfrm>
            <a:off x="11049000" y="64389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r"/>
            <a:r>
              <a:rPr lang="en-US" sz="900" b="1">
                <a:solidFill>
                  <a:srgbClr val="357A70"/>
                </a:solidFill>
                <a:latin typeface="Aptos" panose="020B0004020202020204" pitchFamily="34" charset="0"/>
              </a:rPr>
              <a:t>02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2E3763C-86B5-55A1-D149-90D9B7463064}"/>
              </a:ext>
            </a:extLst>
          </p:cNvPr>
          <p:cNvSpPr/>
          <p:nvPr/>
        </p:nvSpPr>
        <p:spPr>
          <a:xfrm>
            <a:off x="660400" y="1651000"/>
            <a:ext cx="5207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A619A2-2229-7350-016C-285F45BC6D3E}"/>
              </a:ext>
            </a:extLst>
          </p:cNvPr>
          <p:cNvSpPr/>
          <p:nvPr/>
        </p:nvSpPr>
        <p:spPr>
          <a:xfrm>
            <a:off x="838200" y="1841500"/>
            <a:ext cx="63500" cy="3048000"/>
          </a:xfrm>
          <a:prstGeom prst="rect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2C7B63-E45C-ADAC-A3F4-CF4BBA6C2A07}"/>
              </a:ext>
            </a:extLst>
          </p:cNvPr>
          <p:cNvSpPr txBox="1"/>
          <p:nvPr/>
        </p:nvSpPr>
        <p:spPr>
          <a:xfrm>
            <a:off x="1041400" y="1790700"/>
            <a:ext cx="4635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MaatriCare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51303B-B0F1-57F4-690A-D8A3F89FBAB6}"/>
              </a:ext>
            </a:extLst>
          </p:cNvPr>
          <p:cNvSpPr txBox="1"/>
          <p:nvPr/>
        </p:nvSpPr>
        <p:spPr>
          <a:xfrm>
            <a:off x="1041400" y="2108200"/>
            <a:ext cx="45974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Pregnancy support and care-coordination web application.</a:t>
            </a:r>
          </a:p>
          <a:p>
            <a:endParaRPr lang="en-US" sz="1100">
              <a:solidFill>
                <a:srgbClr val="4C6260"/>
              </a:solidFill>
              <a:latin typeface="Aptos" panose="020B0004020202020204" pitchFamily="34" charset="0"/>
            </a:endParaRP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A private organizer for appointments, daily care, journals, guides, reminders, and healthcare conversations.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B9FB72-C9B4-1E33-E8D3-A69ABBC615A5}"/>
              </a:ext>
            </a:extLst>
          </p:cNvPr>
          <p:cNvSpPr txBox="1"/>
          <p:nvPr/>
        </p:nvSpPr>
        <p:spPr>
          <a:xfrm>
            <a:off x="6413500" y="1803400"/>
            <a:ext cx="4953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203A3A"/>
                </a:solidFill>
                <a:latin typeface="Aptos" panose="020B0004020202020204" pitchFamily="34" charset="0"/>
              </a:rPr>
              <a:t>Student: Deepak Kumar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5C1BEB-FC6A-5D0B-3104-F2BB478309EF}"/>
              </a:ext>
            </a:extLst>
          </p:cNvPr>
          <p:cNvSpPr txBox="1"/>
          <p:nvPr/>
        </p:nvSpPr>
        <p:spPr>
          <a:xfrm>
            <a:off x="6413500" y="2362200"/>
            <a:ext cx="4953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500">
                <a:solidFill>
                  <a:srgbClr val="5C716D"/>
                </a:solidFill>
                <a:latin typeface="Aptos" panose="020B0004020202020204" pitchFamily="34" charset="0"/>
              </a:rPr>
              <a:t>Register No.: 9224116032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689D5A-984A-3682-BC52-89B39738ECB8}"/>
              </a:ext>
            </a:extLst>
          </p:cNvPr>
          <p:cNvSpPr txBox="1"/>
          <p:nvPr/>
        </p:nvSpPr>
        <p:spPr>
          <a:xfrm>
            <a:off x="6413500" y="2819400"/>
            <a:ext cx="4953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500">
                <a:solidFill>
                  <a:srgbClr val="5C716D"/>
                </a:solidFill>
                <a:latin typeface="Aptos" panose="020B0004020202020204" pitchFamily="34" charset="0"/>
              </a:rPr>
              <a:t>Department: Computer Applications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7B3FCD-E46A-37F9-5DA3-FB78C322AB21}"/>
              </a:ext>
            </a:extLst>
          </p:cNvPr>
          <p:cNvSpPr txBox="1"/>
          <p:nvPr/>
        </p:nvSpPr>
        <p:spPr>
          <a:xfrm>
            <a:off x="6413500" y="3416300"/>
            <a:ext cx="4953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400">
                <a:solidFill>
                  <a:srgbClr val="203A3A"/>
                </a:solidFill>
                <a:latin typeface="Aptos" panose="020B0004020202020204" pitchFamily="34" charset="0"/>
              </a:rPr>
              <a:t>Faculty Guide: [FILL]</a:t>
            </a:r>
          </a:p>
          <a:p>
            <a:r>
              <a:rPr lang="en-US" sz="1400">
                <a:solidFill>
                  <a:srgbClr val="203A3A"/>
                </a:solidFill>
                <a:latin typeface="Aptos" panose="020B0004020202020204" pitchFamily="34" charset="0"/>
              </a:rPr>
              <a:t>Semester / Batch: [FILL]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020D24-0EBA-62CD-761A-1819CA4500CB}"/>
              </a:ext>
            </a:extLst>
          </p:cNvPr>
          <p:cNvSpPr txBox="1"/>
          <p:nvPr/>
        </p:nvSpPr>
        <p:spPr>
          <a:xfrm>
            <a:off x="6413500" y="4381500"/>
            <a:ext cx="4953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 b="1">
                <a:solidFill>
                  <a:srgbClr val="9B5B3C"/>
                </a:solidFill>
                <a:latin typeface="Aptos" panose="020B0004020202020204" pitchFamily="34" charset="0"/>
              </a:rPr>
              <a:t>College logo: insert official KARE/CDoE asset</a:t>
            </a:r>
          </a:p>
        </p:txBody>
      </p:sp>
    </p:spTree>
    <p:extLst>
      <p:ext uri="{BB962C8B-B14F-4D97-AF65-F5344CB8AC3E}">
        <p14:creationId xmlns:p14="http://schemas.microsoft.com/office/powerpoint/2010/main" val="34994017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92FA3D-8C05-4563-345A-00348F55C07F}"/>
              </a:ext>
            </a:extLst>
          </p:cNvPr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D70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34BA43-BF78-5D8F-26C2-ACF3706F6BF4}"/>
              </a:ext>
            </a:extLst>
          </p:cNvPr>
          <p:cNvSpPr txBox="1"/>
          <p:nvPr/>
        </p:nvSpPr>
        <p:spPr>
          <a:xfrm>
            <a:off x="482600" y="2540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63817B"/>
                </a:solidFill>
                <a:latin typeface="Aptos" panose="020B0004020202020204" pitchFamily="34" charset="0"/>
              </a:rPr>
              <a:t>02 | NEED AND RESPONSE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F3E26B-245A-97ED-2F5F-1D34FA8F495A}"/>
              </a:ext>
            </a:extLst>
          </p:cNvPr>
          <p:cNvSpPr txBox="1"/>
          <p:nvPr/>
        </p:nvSpPr>
        <p:spPr>
          <a:xfrm>
            <a:off x="482600" y="5715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700" b="1">
                <a:solidFill>
                  <a:srgbClr val="163E3A"/>
                </a:solidFill>
                <a:latin typeface="Aptos" panose="020B0004020202020204" pitchFamily="34" charset="0"/>
              </a:rPr>
              <a:t>Problem Statement &amp; Abstract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EE5C2D-BE28-3713-F31D-F8A4CA11DD28}"/>
              </a:ext>
            </a:extLst>
          </p:cNvPr>
          <p:cNvSpPr/>
          <p:nvPr/>
        </p:nvSpPr>
        <p:spPr>
          <a:xfrm>
            <a:off x="482600" y="6375400"/>
            <a:ext cx="11226800" cy="12700"/>
          </a:xfrm>
          <a:prstGeom prst="rect">
            <a:avLst/>
          </a:prstGeom>
          <a:solidFill>
            <a:srgbClr val="D6E2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97813C-4D13-7E11-61B3-DB6B7AF8BE86}"/>
              </a:ext>
            </a:extLst>
          </p:cNvPr>
          <p:cNvSpPr txBox="1"/>
          <p:nvPr/>
        </p:nvSpPr>
        <p:spPr>
          <a:xfrm>
            <a:off x="482600" y="6451600"/>
            <a:ext cx="965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70837F"/>
                </a:solidFill>
                <a:latin typeface="Aptos" panose="020B0004020202020204" pitchFamily="34" charset="0"/>
              </a:rPr>
              <a:t>MaatriCare | MCA Project | Illustrative academic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1B5085-E503-4C4E-196B-287DA7D6E409}"/>
              </a:ext>
            </a:extLst>
          </p:cNvPr>
          <p:cNvSpPr txBox="1"/>
          <p:nvPr/>
        </p:nvSpPr>
        <p:spPr>
          <a:xfrm>
            <a:off x="11049000" y="64389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r"/>
            <a:r>
              <a:rPr lang="en-US" sz="900" b="1">
                <a:solidFill>
                  <a:srgbClr val="357A70"/>
                </a:solidFill>
                <a:latin typeface="Aptos" panose="020B0004020202020204" pitchFamily="34" charset="0"/>
              </a:rPr>
              <a:t>03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933782C-C35F-A9B6-C806-D5DFE6893EAF}"/>
              </a:ext>
            </a:extLst>
          </p:cNvPr>
          <p:cNvSpPr/>
          <p:nvPr/>
        </p:nvSpPr>
        <p:spPr>
          <a:xfrm>
            <a:off x="609600" y="1600200"/>
            <a:ext cx="5257800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DBCFA9-B9C5-0321-396D-B07964110BA4}"/>
              </a:ext>
            </a:extLst>
          </p:cNvPr>
          <p:cNvSpPr/>
          <p:nvPr/>
        </p:nvSpPr>
        <p:spPr>
          <a:xfrm>
            <a:off x="787400" y="1790700"/>
            <a:ext cx="63500" cy="3505200"/>
          </a:xfrm>
          <a:prstGeom prst="rect">
            <a:avLst/>
          </a:prstGeom>
          <a:solidFill>
            <a:srgbClr val="D889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E82266-589C-8232-6B6C-5D5BA45FB620}"/>
              </a:ext>
            </a:extLst>
          </p:cNvPr>
          <p:cNvSpPr txBox="1"/>
          <p:nvPr/>
        </p:nvSpPr>
        <p:spPr>
          <a:xfrm>
            <a:off x="990600" y="1739900"/>
            <a:ext cx="46863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The problem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25A989-1358-C208-470C-A72189A6BD6F}"/>
              </a:ext>
            </a:extLst>
          </p:cNvPr>
          <p:cNvSpPr txBox="1"/>
          <p:nvPr/>
        </p:nvSpPr>
        <p:spPr>
          <a:xfrm>
            <a:off x="990600" y="2057400"/>
            <a:ext cx="46482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Pregnancy-related care creates many small coordination tasks: appointments, preparation questions, daily routines, symptom notes, and educational information. These details can be difficult to keep together and recall during a clinical visit.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DEF827A-831D-AAE4-65FB-29D6A23F55AE}"/>
              </a:ext>
            </a:extLst>
          </p:cNvPr>
          <p:cNvSpPr/>
          <p:nvPr/>
        </p:nvSpPr>
        <p:spPr>
          <a:xfrm>
            <a:off x="6248400" y="1600200"/>
            <a:ext cx="5257800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50E72B-CD73-FC1E-6789-C1FA11AAF926}"/>
              </a:ext>
            </a:extLst>
          </p:cNvPr>
          <p:cNvSpPr/>
          <p:nvPr/>
        </p:nvSpPr>
        <p:spPr>
          <a:xfrm>
            <a:off x="6426200" y="1790700"/>
            <a:ext cx="63500" cy="3505200"/>
          </a:xfrm>
          <a:prstGeom prst="rect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4B95A0-87CE-37E9-4769-BCE666627D79}"/>
              </a:ext>
            </a:extLst>
          </p:cNvPr>
          <p:cNvSpPr txBox="1"/>
          <p:nvPr/>
        </p:nvSpPr>
        <p:spPr>
          <a:xfrm>
            <a:off x="6629400" y="1739900"/>
            <a:ext cx="46863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The response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0472B1-B832-5BD7-E0C0-9CF2DC49451D}"/>
              </a:ext>
            </a:extLst>
          </p:cNvPr>
          <p:cNvSpPr txBox="1"/>
          <p:nvPr/>
        </p:nvSpPr>
        <p:spPr>
          <a:xfrm>
            <a:off x="6629400" y="2057400"/>
            <a:ext cx="46482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MaatriCare provides one authenticated web application to organize those records, track user-entered routines, prepare visit briefs, and offer general educational resources. It is a support and organization tool, not a diagnostic or treatment system.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866988-7F1D-B9A8-E485-175A5B38DD39}"/>
              </a:ext>
            </a:extLst>
          </p:cNvPr>
          <p:cNvSpPr txBox="1"/>
          <p:nvPr/>
        </p:nvSpPr>
        <p:spPr>
          <a:xfrm>
            <a:off x="685800" y="5689600"/>
            <a:ext cx="10795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300" b="1">
                <a:solidFill>
                  <a:srgbClr val="8B583F"/>
                </a:solidFill>
                <a:latin typeface="Aptos" panose="020B0004020202020204" pitchFamily="34" charset="0"/>
              </a:rPr>
              <a:t>Scope boundary: clinician remains the source for diagnosis, treatment, medication instructions, and urgent care.</a:t>
            </a:r>
          </a:p>
        </p:txBody>
      </p:sp>
    </p:spTree>
    <p:extLst>
      <p:ext uri="{BB962C8B-B14F-4D97-AF65-F5344CB8AC3E}">
        <p14:creationId xmlns:p14="http://schemas.microsoft.com/office/powerpoint/2010/main" val="753231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7745076-58AB-93F6-75B9-50D7C5D05E2E}"/>
              </a:ext>
            </a:extLst>
          </p:cNvPr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D70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77C3CA-4A65-82CD-5CF2-F2C53825197C}"/>
              </a:ext>
            </a:extLst>
          </p:cNvPr>
          <p:cNvSpPr txBox="1"/>
          <p:nvPr/>
        </p:nvSpPr>
        <p:spPr>
          <a:xfrm>
            <a:off x="482600" y="2540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63817B"/>
                </a:solidFill>
                <a:latin typeface="Aptos" panose="020B0004020202020204" pitchFamily="34" charset="0"/>
              </a:rPr>
              <a:t>03 | PROJECT OVERVIEW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70DE30-FA83-CD52-C45E-57899B8A9C75}"/>
              </a:ext>
            </a:extLst>
          </p:cNvPr>
          <p:cNvSpPr txBox="1"/>
          <p:nvPr/>
        </p:nvSpPr>
        <p:spPr>
          <a:xfrm>
            <a:off x="482600" y="5715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700" b="1">
                <a:solidFill>
                  <a:srgbClr val="163E3A"/>
                </a:solidFill>
                <a:latin typeface="Aptos" panose="020B0004020202020204" pitchFamily="34" charset="0"/>
              </a:rPr>
              <a:t>Introduction, Objectives &amp; Scope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55ACAD-4A54-67A5-7D31-20BF0DFF39E3}"/>
              </a:ext>
            </a:extLst>
          </p:cNvPr>
          <p:cNvSpPr/>
          <p:nvPr/>
        </p:nvSpPr>
        <p:spPr>
          <a:xfrm>
            <a:off x="482600" y="6375400"/>
            <a:ext cx="11226800" cy="12700"/>
          </a:xfrm>
          <a:prstGeom prst="rect">
            <a:avLst/>
          </a:prstGeom>
          <a:solidFill>
            <a:srgbClr val="D6E2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353463-3D40-C615-9A97-FEF808DB1F1F}"/>
              </a:ext>
            </a:extLst>
          </p:cNvPr>
          <p:cNvSpPr txBox="1"/>
          <p:nvPr/>
        </p:nvSpPr>
        <p:spPr>
          <a:xfrm>
            <a:off x="482600" y="6451600"/>
            <a:ext cx="965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70837F"/>
                </a:solidFill>
                <a:latin typeface="Aptos" panose="020B0004020202020204" pitchFamily="34" charset="0"/>
              </a:rPr>
              <a:t>MaatriCare | MCA Project | Illustrative academic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95D5B6-386A-4228-3FA4-61C1D6EEA8E1}"/>
              </a:ext>
            </a:extLst>
          </p:cNvPr>
          <p:cNvSpPr txBox="1"/>
          <p:nvPr/>
        </p:nvSpPr>
        <p:spPr>
          <a:xfrm>
            <a:off x="11049000" y="64389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r"/>
            <a:r>
              <a:rPr lang="en-US" sz="900" b="1">
                <a:solidFill>
                  <a:srgbClr val="357A70"/>
                </a:solidFill>
                <a:latin typeface="Aptos" panose="020B0004020202020204" pitchFamily="34" charset="0"/>
              </a:rPr>
              <a:t>04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C2919F2-249C-CB25-07A8-2BD51C41BE58}"/>
              </a:ext>
            </a:extLst>
          </p:cNvPr>
          <p:cNvSpPr/>
          <p:nvPr/>
        </p:nvSpPr>
        <p:spPr>
          <a:xfrm>
            <a:off x="609600" y="1600200"/>
            <a:ext cx="3505200" cy="387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85A169-1F87-247E-E2A9-7D13322FB310}"/>
              </a:ext>
            </a:extLst>
          </p:cNvPr>
          <p:cNvSpPr/>
          <p:nvPr/>
        </p:nvSpPr>
        <p:spPr>
          <a:xfrm>
            <a:off x="787400" y="1790700"/>
            <a:ext cx="63500" cy="3492500"/>
          </a:xfrm>
          <a:prstGeom prst="rect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52965A-A698-3D98-011B-28250A6C4F79}"/>
              </a:ext>
            </a:extLst>
          </p:cNvPr>
          <p:cNvSpPr txBox="1"/>
          <p:nvPr/>
        </p:nvSpPr>
        <p:spPr>
          <a:xfrm>
            <a:off x="990600" y="1739900"/>
            <a:ext cx="29337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Overview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5B84BA-2766-EA5B-2728-35959FFF0557}"/>
              </a:ext>
            </a:extLst>
          </p:cNvPr>
          <p:cNvSpPr txBox="1"/>
          <p:nvPr/>
        </p:nvSpPr>
        <p:spPr>
          <a:xfrm>
            <a:off x="990600" y="2057400"/>
            <a:ext cx="2895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A full-stack application with React/TypeScript frontend, Spring Boot REST API, relational storage, JWT authentication, and optional local AI support.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D1C10F1-CB71-9210-0A92-30A097193C8D}"/>
              </a:ext>
            </a:extLst>
          </p:cNvPr>
          <p:cNvSpPr/>
          <p:nvPr/>
        </p:nvSpPr>
        <p:spPr>
          <a:xfrm>
            <a:off x="4343400" y="1600200"/>
            <a:ext cx="3505200" cy="387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B4B8DB-802B-F024-C2E8-A52DE293DBAA}"/>
              </a:ext>
            </a:extLst>
          </p:cNvPr>
          <p:cNvSpPr/>
          <p:nvPr/>
        </p:nvSpPr>
        <p:spPr>
          <a:xfrm>
            <a:off x="4521200" y="1790700"/>
            <a:ext cx="63500" cy="3492500"/>
          </a:xfrm>
          <a:prstGeom prst="rect">
            <a:avLst/>
          </a:prstGeom>
          <a:solidFill>
            <a:srgbClr val="D889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689DBF-731D-EDB5-C29B-A42496E08C57}"/>
              </a:ext>
            </a:extLst>
          </p:cNvPr>
          <p:cNvSpPr txBox="1"/>
          <p:nvPr/>
        </p:nvSpPr>
        <p:spPr>
          <a:xfrm>
            <a:off x="4724400" y="1739900"/>
            <a:ext cx="29337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Objectives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B23952-30B1-0EE7-699C-1E23BC30EAA9}"/>
              </a:ext>
            </a:extLst>
          </p:cNvPr>
          <p:cNvSpPr txBox="1"/>
          <p:nvPr/>
        </p:nvSpPr>
        <p:spPr>
          <a:xfrm>
            <a:off x="4724400" y="2057400"/>
            <a:ext cx="2895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Keep pregnancy profile, appointments, care tasks, journals, milestones, reminders, and reports organized. Help users prepare for conversations with their healthcare team.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F2BBD6E-788E-EF0A-678F-7B8593448570}"/>
              </a:ext>
            </a:extLst>
          </p:cNvPr>
          <p:cNvSpPr/>
          <p:nvPr/>
        </p:nvSpPr>
        <p:spPr>
          <a:xfrm>
            <a:off x="8077200" y="1600200"/>
            <a:ext cx="3505200" cy="387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176F06C-0142-8611-748B-94E77234A8E9}"/>
              </a:ext>
            </a:extLst>
          </p:cNvPr>
          <p:cNvSpPr/>
          <p:nvPr/>
        </p:nvSpPr>
        <p:spPr>
          <a:xfrm>
            <a:off x="8255000" y="1790700"/>
            <a:ext cx="63500" cy="3492500"/>
          </a:xfrm>
          <a:prstGeom prst="rect">
            <a:avLst/>
          </a:prstGeom>
          <a:solidFill>
            <a:srgbClr val="557B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4868D8-4411-9F5D-DF6F-6F6BDFAE5625}"/>
              </a:ext>
            </a:extLst>
          </p:cNvPr>
          <p:cNvSpPr txBox="1"/>
          <p:nvPr/>
        </p:nvSpPr>
        <p:spPr>
          <a:xfrm>
            <a:off x="8458200" y="1739900"/>
            <a:ext cx="29337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Scope &amp; limits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A778FA-C2EE-94E9-9C95-39AFD341724D}"/>
              </a:ext>
            </a:extLst>
          </p:cNvPr>
          <p:cNvSpPr txBox="1"/>
          <p:nvPr/>
        </p:nvSpPr>
        <p:spPr>
          <a:xfrm>
            <a:off x="8458200" y="2057400"/>
            <a:ext cx="2895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User-controlled tracking, reminders, educational guides, and report sharing. No diagnosis, prescriptions, treatment decisions, emergency triage, or automatic clinician sharing.</a:t>
            </a:r>
          </a:p>
        </p:txBody>
      </p:sp>
    </p:spTree>
    <p:extLst>
      <p:ext uri="{BB962C8B-B14F-4D97-AF65-F5344CB8AC3E}">
        <p14:creationId xmlns:p14="http://schemas.microsoft.com/office/powerpoint/2010/main" val="31221177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930AC53-7B40-252F-AAE1-E61796B7494A}"/>
              </a:ext>
            </a:extLst>
          </p:cNvPr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D70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804196-341A-22D8-F9B4-6481E3AC78D9}"/>
              </a:ext>
            </a:extLst>
          </p:cNvPr>
          <p:cNvSpPr txBox="1"/>
          <p:nvPr/>
        </p:nvSpPr>
        <p:spPr>
          <a:xfrm>
            <a:off x="482600" y="2540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63817B"/>
                </a:solidFill>
                <a:latin typeface="Aptos" panose="020B0004020202020204" pitchFamily="34" charset="0"/>
              </a:rPr>
              <a:t>04 |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D9E4DD-18F9-F5DA-09F1-809AE4AC735A}"/>
              </a:ext>
            </a:extLst>
          </p:cNvPr>
          <p:cNvSpPr txBox="1"/>
          <p:nvPr/>
        </p:nvSpPr>
        <p:spPr>
          <a:xfrm>
            <a:off x="482600" y="5715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700" b="1">
                <a:solidFill>
                  <a:srgbClr val="163E3A"/>
                </a:solidFill>
                <a:latin typeface="Aptos" panose="020B0004020202020204" pitchFamily="34" charset="0"/>
              </a:rPr>
              <a:t>System Architecture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73A216-BE33-E312-3461-3C946A975180}"/>
              </a:ext>
            </a:extLst>
          </p:cNvPr>
          <p:cNvSpPr/>
          <p:nvPr/>
        </p:nvSpPr>
        <p:spPr>
          <a:xfrm>
            <a:off x="482600" y="6375400"/>
            <a:ext cx="11226800" cy="12700"/>
          </a:xfrm>
          <a:prstGeom prst="rect">
            <a:avLst/>
          </a:prstGeom>
          <a:solidFill>
            <a:srgbClr val="D6E2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132829-1261-91C5-E1F0-1FE80D9EAA2A}"/>
              </a:ext>
            </a:extLst>
          </p:cNvPr>
          <p:cNvSpPr txBox="1"/>
          <p:nvPr/>
        </p:nvSpPr>
        <p:spPr>
          <a:xfrm>
            <a:off x="482600" y="6451600"/>
            <a:ext cx="965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70837F"/>
                </a:solidFill>
                <a:latin typeface="Aptos" panose="020B0004020202020204" pitchFamily="34" charset="0"/>
              </a:rPr>
              <a:t>MaatriCare | MCA Project | Illustrative academic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FC8633-7416-7D6E-D29E-CBED7BD5627E}"/>
              </a:ext>
            </a:extLst>
          </p:cNvPr>
          <p:cNvSpPr txBox="1"/>
          <p:nvPr/>
        </p:nvSpPr>
        <p:spPr>
          <a:xfrm>
            <a:off x="11049000" y="64389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r"/>
            <a:r>
              <a:rPr lang="en-US" sz="900" b="1">
                <a:solidFill>
                  <a:srgbClr val="357A70"/>
                </a:solidFill>
                <a:latin typeface="Aptos" panose="020B0004020202020204" pitchFamily="34" charset="0"/>
              </a:rPr>
              <a:t>05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6D00581-6F20-A878-E14C-3252296810C3}"/>
              </a:ext>
            </a:extLst>
          </p:cNvPr>
          <p:cNvSpPr/>
          <p:nvPr/>
        </p:nvSpPr>
        <p:spPr>
          <a:xfrm>
            <a:off x="635000" y="1879600"/>
            <a:ext cx="2984500" cy="2590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4B1190-DB54-FFAE-DD28-A40A41E273F7}"/>
              </a:ext>
            </a:extLst>
          </p:cNvPr>
          <p:cNvSpPr/>
          <p:nvPr/>
        </p:nvSpPr>
        <p:spPr>
          <a:xfrm>
            <a:off x="812800" y="2070100"/>
            <a:ext cx="63500" cy="2209800"/>
          </a:xfrm>
          <a:prstGeom prst="rect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207C81-44D3-3244-ECEC-DA650618117D}"/>
              </a:ext>
            </a:extLst>
          </p:cNvPr>
          <p:cNvSpPr txBox="1"/>
          <p:nvPr/>
        </p:nvSpPr>
        <p:spPr>
          <a:xfrm>
            <a:off x="1016000" y="2019300"/>
            <a:ext cx="2413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Browser client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E1B79D-845A-EEF0-A017-47B17A50FEB4}"/>
              </a:ext>
            </a:extLst>
          </p:cNvPr>
          <p:cNvSpPr txBox="1"/>
          <p:nvPr/>
        </p:nvSpPr>
        <p:spPr>
          <a:xfrm>
            <a:off x="1016000" y="2336800"/>
            <a:ext cx="23749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React 19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TypeScript 6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Vite 8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Lucide icons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Service worker for push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C75E14-B15D-0DD2-3802-6BB2261576DF}"/>
              </a:ext>
            </a:extLst>
          </p:cNvPr>
          <p:cNvSpPr txBox="1"/>
          <p:nvPr/>
        </p:nvSpPr>
        <p:spPr>
          <a:xfrm>
            <a:off x="3733800" y="28321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2400" b="1">
                <a:solidFill>
                  <a:srgbClr val="D88968"/>
                </a:solidFill>
                <a:latin typeface="Aptos" panose="020B0004020202020204" pitchFamily="34" charset="0"/>
              </a:rPr>
              <a:t>-&gt;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B1017C8-4E6D-566E-208F-AD55A6C4237B}"/>
              </a:ext>
            </a:extLst>
          </p:cNvPr>
          <p:cNvSpPr/>
          <p:nvPr/>
        </p:nvSpPr>
        <p:spPr>
          <a:xfrm>
            <a:off x="4419600" y="1879600"/>
            <a:ext cx="3302000" cy="2590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383C7E-1BEC-0D25-CFAD-AB3D62ACB60F}"/>
              </a:ext>
            </a:extLst>
          </p:cNvPr>
          <p:cNvSpPr/>
          <p:nvPr/>
        </p:nvSpPr>
        <p:spPr>
          <a:xfrm>
            <a:off x="4597400" y="2070100"/>
            <a:ext cx="63500" cy="2209800"/>
          </a:xfrm>
          <a:prstGeom prst="rect">
            <a:avLst/>
          </a:prstGeom>
          <a:solidFill>
            <a:srgbClr val="557B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C7DA49-809F-459C-4229-D2292755CD6F}"/>
              </a:ext>
            </a:extLst>
          </p:cNvPr>
          <p:cNvSpPr txBox="1"/>
          <p:nvPr/>
        </p:nvSpPr>
        <p:spPr>
          <a:xfrm>
            <a:off x="4800600" y="2019300"/>
            <a:ext cx="2730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Application API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6758A-5E17-FCF7-EDFA-FC89F3A86EB3}"/>
              </a:ext>
            </a:extLst>
          </p:cNvPr>
          <p:cNvSpPr txBox="1"/>
          <p:nvPr/>
        </p:nvSpPr>
        <p:spPr>
          <a:xfrm>
            <a:off x="4800600" y="2336800"/>
            <a:ext cx="26924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Spring Boot 3.5.5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JWT + Spring Security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Validation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JPA repositories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Scheduled reminder service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621B3F-DFF0-A082-E001-40C47FCCA8B5}"/>
              </a:ext>
            </a:extLst>
          </p:cNvPr>
          <p:cNvSpPr txBox="1"/>
          <p:nvPr/>
        </p:nvSpPr>
        <p:spPr>
          <a:xfrm>
            <a:off x="7835900" y="28321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2400" b="1">
                <a:solidFill>
                  <a:srgbClr val="D88968"/>
                </a:solidFill>
                <a:latin typeface="Aptos" panose="020B0004020202020204" pitchFamily="34" charset="0"/>
              </a:rPr>
              <a:t>-&gt;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B1F7B24-7557-50D3-4A69-8310DC3658CA}"/>
              </a:ext>
            </a:extLst>
          </p:cNvPr>
          <p:cNvSpPr/>
          <p:nvPr/>
        </p:nvSpPr>
        <p:spPr>
          <a:xfrm>
            <a:off x="8509000" y="1879600"/>
            <a:ext cx="3022600" cy="2590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FFB769F-A87C-3B42-E9F9-97C6C3CE1D2B}"/>
              </a:ext>
            </a:extLst>
          </p:cNvPr>
          <p:cNvSpPr/>
          <p:nvPr/>
        </p:nvSpPr>
        <p:spPr>
          <a:xfrm>
            <a:off x="8686800" y="2070100"/>
            <a:ext cx="63500" cy="2209800"/>
          </a:xfrm>
          <a:prstGeom prst="rect">
            <a:avLst/>
          </a:prstGeom>
          <a:solidFill>
            <a:srgbClr val="D889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F83003-51AD-5691-D1DC-C48D700A9D75}"/>
              </a:ext>
            </a:extLst>
          </p:cNvPr>
          <p:cNvSpPr txBox="1"/>
          <p:nvPr/>
        </p:nvSpPr>
        <p:spPr>
          <a:xfrm>
            <a:off x="8890000" y="2019300"/>
            <a:ext cx="24511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Relational data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8FDB82-B3F8-719B-451B-2C66195638A4}"/>
              </a:ext>
            </a:extLst>
          </p:cNvPr>
          <p:cNvSpPr txBox="1"/>
          <p:nvPr/>
        </p:nvSpPr>
        <p:spPr>
          <a:xfrm>
            <a:off x="8890000" y="2336800"/>
            <a:ext cx="2413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MySQL local profile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PostgreSQL configuration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Flyway migrations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User-owned records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H2 integration tests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E0AE13-EF0F-2041-6B6F-BAA68CB7BED5}"/>
              </a:ext>
            </a:extLst>
          </p:cNvPr>
          <p:cNvSpPr txBox="1"/>
          <p:nvPr/>
        </p:nvSpPr>
        <p:spPr>
          <a:xfrm>
            <a:off x="1270000" y="4889500"/>
            <a:ext cx="9588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300" b="1">
                <a:solidFill>
                  <a:srgbClr val="203A3A"/>
                </a:solidFill>
                <a:latin typeface="Aptos" panose="020B0004020202020204" pitchFamily="34" charset="0"/>
              </a:rPr>
              <a:t>Push service worker &lt;-&gt; browser push service (VAPID) | optional Ollama local model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313956-29AC-F807-05F7-BF1358691CAD}"/>
              </a:ext>
            </a:extLst>
          </p:cNvPr>
          <p:cNvSpPr txBox="1"/>
          <p:nvPr/>
        </p:nvSpPr>
        <p:spPr>
          <a:xfrm>
            <a:off x="1524000" y="5486400"/>
            <a:ext cx="9017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000" b="1">
                <a:solidFill>
                  <a:srgbClr val="8B583F"/>
                </a:solidFill>
                <a:latin typeface="Aptos" panose="020B0004020202020204" pitchFamily="34" charset="0"/>
              </a:rPr>
              <a:t>HTTPS required for deployed push; VAPID keys must be configured by the operator.</a:t>
            </a:r>
          </a:p>
        </p:txBody>
      </p:sp>
    </p:spTree>
    <p:extLst>
      <p:ext uri="{BB962C8B-B14F-4D97-AF65-F5344CB8AC3E}">
        <p14:creationId xmlns:p14="http://schemas.microsoft.com/office/powerpoint/2010/main" val="622691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A0A352-1F90-F303-D3B4-97AF3F933027}"/>
              </a:ext>
            </a:extLst>
          </p:cNvPr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D70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389B0D-17DC-6854-08FF-062C43655645}"/>
              </a:ext>
            </a:extLst>
          </p:cNvPr>
          <p:cNvSpPr txBox="1"/>
          <p:nvPr/>
        </p:nvSpPr>
        <p:spPr>
          <a:xfrm>
            <a:off x="482600" y="2540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63817B"/>
                </a:solidFill>
                <a:latin typeface="Aptos" panose="020B0004020202020204" pitchFamily="34" charset="0"/>
              </a:rPr>
              <a:t>05 | SYSTEM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535FB3-A665-AB88-6DE7-0CDAD7BDAA20}"/>
              </a:ext>
            </a:extLst>
          </p:cNvPr>
          <p:cNvSpPr txBox="1"/>
          <p:nvPr/>
        </p:nvSpPr>
        <p:spPr>
          <a:xfrm>
            <a:off x="482600" y="5715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700" b="1">
                <a:solidFill>
                  <a:srgbClr val="163E3A"/>
                </a:solidFill>
                <a:latin typeface="Aptos" panose="020B0004020202020204" pitchFamily="34" charset="0"/>
              </a:rPr>
              <a:t>Data Flow Diagram (Level 0)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FDF605-80E9-4928-9D58-52D5AB147E0D}"/>
              </a:ext>
            </a:extLst>
          </p:cNvPr>
          <p:cNvSpPr/>
          <p:nvPr/>
        </p:nvSpPr>
        <p:spPr>
          <a:xfrm>
            <a:off x="482600" y="6375400"/>
            <a:ext cx="11226800" cy="12700"/>
          </a:xfrm>
          <a:prstGeom prst="rect">
            <a:avLst/>
          </a:prstGeom>
          <a:solidFill>
            <a:srgbClr val="D6E2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B85B52-C521-DCE5-9BB5-F87EF65149B5}"/>
              </a:ext>
            </a:extLst>
          </p:cNvPr>
          <p:cNvSpPr txBox="1"/>
          <p:nvPr/>
        </p:nvSpPr>
        <p:spPr>
          <a:xfrm>
            <a:off x="482600" y="6451600"/>
            <a:ext cx="965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70837F"/>
                </a:solidFill>
                <a:latin typeface="Aptos" panose="020B0004020202020204" pitchFamily="34" charset="0"/>
              </a:rPr>
              <a:t>MaatriCare | MCA Project | Illustrative academic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1B2FE-F97D-EC42-70CF-474CCFFDD601}"/>
              </a:ext>
            </a:extLst>
          </p:cNvPr>
          <p:cNvSpPr txBox="1"/>
          <p:nvPr/>
        </p:nvSpPr>
        <p:spPr>
          <a:xfrm>
            <a:off x="11049000" y="64389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r"/>
            <a:r>
              <a:rPr lang="en-US" sz="900" b="1">
                <a:solidFill>
                  <a:srgbClr val="357A70"/>
                </a:solidFill>
                <a:latin typeface="Aptos" panose="020B0004020202020204" pitchFamily="34" charset="0"/>
              </a:rPr>
              <a:t>06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191370-2B08-1E09-89C7-AE46BD629095}"/>
              </a:ext>
            </a:extLst>
          </p:cNvPr>
          <p:cNvSpPr/>
          <p:nvPr/>
        </p:nvSpPr>
        <p:spPr>
          <a:xfrm>
            <a:off x="584200" y="2578100"/>
            <a:ext cx="21590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6AF41F-4FB5-4EAF-5907-D7C2A33694D4}"/>
              </a:ext>
            </a:extLst>
          </p:cNvPr>
          <p:cNvSpPr/>
          <p:nvPr/>
        </p:nvSpPr>
        <p:spPr>
          <a:xfrm>
            <a:off x="762000" y="2768600"/>
            <a:ext cx="63500" cy="1219200"/>
          </a:xfrm>
          <a:prstGeom prst="rect">
            <a:avLst/>
          </a:prstGeom>
          <a:solidFill>
            <a:srgbClr val="D889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47A8F1-C1D2-E7C8-01DE-1BB5161680A9}"/>
              </a:ext>
            </a:extLst>
          </p:cNvPr>
          <p:cNvSpPr txBox="1"/>
          <p:nvPr/>
        </p:nvSpPr>
        <p:spPr>
          <a:xfrm>
            <a:off x="965200" y="2717800"/>
            <a:ext cx="1587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Pregnant user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F5169F-A7CC-CD18-E406-A3D4ABF3DBA3}"/>
              </a:ext>
            </a:extLst>
          </p:cNvPr>
          <p:cNvSpPr txBox="1"/>
          <p:nvPr/>
        </p:nvSpPr>
        <p:spPr>
          <a:xfrm>
            <a:off x="965200" y="3035300"/>
            <a:ext cx="15494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Enters records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Reviews reminders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Chooses report data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02F778-809D-F46F-9832-51A6A0DF8A05}"/>
              </a:ext>
            </a:extLst>
          </p:cNvPr>
          <p:cNvSpPr txBox="1"/>
          <p:nvPr/>
        </p:nvSpPr>
        <p:spPr>
          <a:xfrm>
            <a:off x="2819400" y="3162300"/>
            <a:ext cx="5842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2200" b="1">
                <a:solidFill>
                  <a:srgbClr val="28796F"/>
                </a:solidFill>
                <a:latin typeface="Aptos" panose="020B0004020202020204" pitchFamily="34" charset="0"/>
              </a:rPr>
              <a:t>-&gt;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75513BA-9A19-E771-AEBA-7698D40E9130}"/>
              </a:ext>
            </a:extLst>
          </p:cNvPr>
          <p:cNvSpPr/>
          <p:nvPr/>
        </p:nvSpPr>
        <p:spPr>
          <a:xfrm>
            <a:off x="3479800" y="1981200"/>
            <a:ext cx="2667000" cy="266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CA88A7-B240-AAA3-6EC9-D69CE988A253}"/>
              </a:ext>
            </a:extLst>
          </p:cNvPr>
          <p:cNvSpPr/>
          <p:nvPr/>
        </p:nvSpPr>
        <p:spPr>
          <a:xfrm>
            <a:off x="3657600" y="2171700"/>
            <a:ext cx="63500" cy="2286000"/>
          </a:xfrm>
          <a:prstGeom prst="rect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CFF339-860D-285E-02BB-2D2FEF192DB2}"/>
              </a:ext>
            </a:extLst>
          </p:cNvPr>
          <p:cNvSpPr txBox="1"/>
          <p:nvPr/>
        </p:nvSpPr>
        <p:spPr>
          <a:xfrm>
            <a:off x="3860800" y="2120900"/>
            <a:ext cx="2095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MaatriCare UI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524441-988B-C8B5-D92A-ADA9AD51C725}"/>
              </a:ext>
            </a:extLst>
          </p:cNvPr>
          <p:cNvSpPr txBox="1"/>
          <p:nvPr/>
        </p:nvSpPr>
        <p:spPr>
          <a:xfrm>
            <a:off x="3860800" y="2438400"/>
            <a:ext cx="20574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Profile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Daily care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Appointments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Journal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Guides / reports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B211EB-4567-2E58-6C05-3A67BD16801F}"/>
              </a:ext>
            </a:extLst>
          </p:cNvPr>
          <p:cNvSpPr txBox="1"/>
          <p:nvPr/>
        </p:nvSpPr>
        <p:spPr>
          <a:xfrm>
            <a:off x="6223000" y="3162300"/>
            <a:ext cx="5842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2200" b="1">
                <a:solidFill>
                  <a:srgbClr val="28796F"/>
                </a:solidFill>
                <a:latin typeface="Aptos" panose="020B0004020202020204" pitchFamily="34" charset="0"/>
              </a:rPr>
              <a:t>-&gt;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5E3EF21-96AF-ED4E-A8C0-11AB64F940D8}"/>
              </a:ext>
            </a:extLst>
          </p:cNvPr>
          <p:cNvSpPr/>
          <p:nvPr/>
        </p:nvSpPr>
        <p:spPr>
          <a:xfrm>
            <a:off x="6883400" y="1981200"/>
            <a:ext cx="2667000" cy="266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9069FCE-3C65-4423-7555-E0396DE554E8}"/>
              </a:ext>
            </a:extLst>
          </p:cNvPr>
          <p:cNvSpPr/>
          <p:nvPr/>
        </p:nvSpPr>
        <p:spPr>
          <a:xfrm>
            <a:off x="7061200" y="2171700"/>
            <a:ext cx="63500" cy="2286000"/>
          </a:xfrm>
          <a:prstGeom prst="rect">
            <a:avLst/>
          </a:prstGeom>
          <a:solidFill>
            <a:srgbClr val="557B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CF8440-5028-9838-39D5-463BEE4A0A09}"/>
              </a:ext>
            </a:extLst>
          </p:cNvPr>
          <p:cNvSpPr txBox="1"/>
          <p:nvPr/>
        </p:nvSpPr>
        <p:spPr>
          <a:xfrm>
            <a:off x="7264400" y="2120900"/>
            <a:ext cx="2095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Spring API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233A27-22FD-3CE8-8BA0-5F86B1E8F08C}"/>
              </a:ext>
            </a:extLst>
          </p:cNvPr>
          <p:cNvSpPr txBox="1"/>
          <p:nvPr/>
        </p:nvSpPr>
        <p:spPr>
          <a:xfrm>
            <a:off x="7264400" y="2438400"/>
            <a:ext cx="20574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JWT access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Validation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Ownership checks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Reminder scheduler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Report services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4C79AF-1CB1-B441-81EF-A8EDB5CBF1DB}"/>
              </a:ext>
            </a:extLst>
          </p:cNvPr>
          <p:cNvSpPr txBox="1"/>
          <p:nvPr/>
        </p:nvSpPr>
        <p:spPr>
          <a:xfrm>
            <a:off x="9499600" y="3162300"/>
            <a:ext cx="355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800" b="1">
                <a:solidFill>
                  <a:srgbClr val="28796F"/>
                </a:solidFill>
                <a:latin typeface="Aptos" panose="020B0004020202020204" pitchFamily="34" charset="0"/>
              </a:rPr>
              <a:t>-&gt;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CBDCF14-482B-C2D9-5233-AD0B6FAC31B8}"/>
              </a:ext>
            </a:extLst>
          </p:cNvPr>
          <p:cNvSpPr/>
          <p:nvPr/>
        </p:nvSpPr>
        <p:spPr>
          <a:xfrm>
            <a:off x="9931400" y="2578100"/>
            <a:ext cx="17272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FEA4566-9E9A-B4A3-FBD5-BE91DE275051}"/>
              </a:ext>
            </a:extLst>
          </p:cNvPr>
          <p:cNvSpPr/>
          <p:nvPr/>
        </p:nvSpPr>
        <p:spPr>
          <a:xfrm>
            <a:off x="10109200" y="2768600"/>
            <a:ext cx="63500" cy="1219200"/>
          </a:xfrm>
          <a:prstGeom prst="rect">
            <a:avLst/>
          </a:prstGeom>
          <a:solidFill>
            <a:srgbClr val="D889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BCA814E-83E2-E8FD-19C5-21E2213F248B}"/>
              </a:ext>
            </a:extLst>
          </p:cNvPr>
          <p:cNvSpPr txBox="1"/>
          <p:nvPr/>
        </p:nvSpPr>
        <p:spPr>
          <a:xfrm>
            <a:off x="10312400" y="2717800"/>
            <a:ext cx="11557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Database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6B53A5-BC0C-1673-7BE5-708CD415CC3B}"/>
              </a:ext>
            </a:extLst>
          </p:cNvPr>
          <p:cNvSpPr txBox="1"/>
          <p:nvPr/>
        </p:nvSpPr>
        <p:spPr>
          <a:xfrm>
            <a:off x="10312400" y="3035300"/>
            <a:ext cx="1117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Users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Profiles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Tracking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Reminders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362E085-E354-28DF-EE6F-BD05A82C69A5}"/>
              </a:ext>
            </a:extLst>
          </p:cNvPr>
          <p:cNvSpPr txBox="1"/>
          <p:nvPr/>
        </p:nvSpPr>
        <p:spPr>
          <a:xfrm>
            <a:off x="3302000" y="5054600"/>
            <a:ext cx="8445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200" b="1">
                <a:solidFill>
                  <a:srgbClr val="5C716D"/>
                </a:solidFill>
                <a:latin typeface="Aptos" panose="020B0004020202020204" pitchFamily="34" charset="0"/>
              </a:rPr>
              <a:t>Optional outbound flow: scheduler -&gt; encrypted Web Push -&gt; subscribed browser</a:t>
            </a:r>
          </a:p>
        </p:txBody>
      </p:sp>
    </p:spTree>
    <p:extLst>
      <p:ext uri="{BB962C8B-B14F-4D97-AF65-F5344CB8AC3E}">
        <p14:creationId xmlns:p14="http://schemas.microsoft.com/office/powerpoint/2010/main" val="1276083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A5AA34C-AEEB-0525-95AB-D438FA9529DD}"/>
              </a:ext>
            </a:extLst>
          </p:cNvPr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D70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3CD256-937B-1446-4F9C-6278315BBBAF}"/>
              </a:ext>
            </a:extLst>
          </p:cNvPr>
          <p:cNvSpPr txBox="1"/>
          <p:nvPr/>
        </p:nvSpPr>
        <p:spPr>
          <a:xfrm>
            <a:off x="482600" y="2540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63817B"/>
                </a:solidFill>
                <a:latin typeface="Aptos" panose="020B0004020202020204" pitchFamily="34" charset="0"/>
              </a:rPr>
              <a:t>06 | SYSTEM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2E5108-53BF-824D-EA33-6C4FBEE2E830}"/>
              </a:ext>
            </a:extLst>
          </p:cNvPr>
          <p:cNvSpPr txBox="1"/>
          <p:nvPr/>
        </p:nvSpPr>
        <p:spPr>
          <a:xfrm>
            <a:off x="482600" y="5715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700" b="1">
                <a:solidFill>
                  <a:srgbClr val="163E3A"/>
                </a:solidFill>
                <a:latin typeface="Aptos" panose="020B0004020202020204" pitchFamily="34" charset="0"/>
              </a:rPr>
              <a:t>UML Use-Case 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C84915-B785-F360-2FA3-8868E5C93C67}"/>
              </a:ext>
            </a:extLst>
          </p:cNvPr>
          <p:cNvSpPr/>
          <p:nvPr/>
        </p:nvSpPr>
        <p:spPr>
          <a:xfrm>
            <a:off x="482600" y="6375400"/>
            <a:ext cx="11226800" cy="12700"/>
          </a:xfrm>
          <a:prstGeom prst="rect">
            <a:avLst/>
          </a:prstGeom>
          <a:solidFill>
            <a:srgbClr val="D6E2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EF5FD2-A5A9-351F-B009-461943CC2A6A}"/>
              </a:ext>
            </a:extLst>
          </p:cNvPr>
          <p:cNvSpPr txBox="1"/>
          <p:nvPr/>
        </p:nvSpPr>
        <p:spPr>
          <a:xfrm>
            <a:off x="482600" y="6451600"/>
            <a:ext cx="965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70837F"/>
                </a:solidFill>
                <a:latin typeface="Aptos" panose="020B0004020202020204" pitchFamily="34" charset="0"/>
              </a:rPr>
              <a:t>MaatriCare | MCA Project | Illustrative academic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55316A-A786-4F5C-EB52-C8E71C6D4720}"/>
              </a:ext>
            </a:extLst>
          </p:cNvPr>
          <p:cNvSpPr txBox="1"/>
          <p:nvPr/>
        </p:nvSpPr>
        <p:spPr>
          <a:xfrm>
            <a:off x="11049000" y="64389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r"/>
            <a:r>
              <a:rPr lang="en-US" sz="900" b="1">
                <a:solidFill>
                  <a:srgbClr val="357A70"/>
                </a:solidFill>
                <a:latin typeface="Aptos" panose="020B0004020202020204" pitchFamily="34" charset="0"/>
              </a:rPr>
              <a:t>07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7EF4286-C424-D57A-E372-C9DFCA3FE84F}"/>
              </a:ext>
            </a:extLst>
          </p:cNvPr>
          <p:cNvSpPr/>
          <p:nvPr/>
        </p:nvSpPr>
        <p:spPr>
          <a:xfrm>
            <a:off x="3022600" y="1524000"/>
            <a:ext cx="8255000" cy="414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FC6B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D32358-482E-9F19-7C1C-F2334C1809AE}"/>
              </a:ext>
            </a:extLst>
          </p:cNvPr>
          <p:cNvSpPr txBox="1"/>
          <p:nvPr/>
        </p:nvSpPr>
        <p:spPr>
          <a:xfrm>
            <a:off x="3276600" y="1651000"/>
            <a:ext cx="7747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200" b="1">
                <a:solidFill>
                  <a:srgbClr val="28796F"/>
                </a:solidFill>
                <a:latin typeface="Aptos" panose="020B0004020202020204" pitchFamily="34" charset="0"/>
              </a:rPr>
              <a:t>MaatriCare system boundary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BA254E-8C6A-FABF-2FAB-84996709A3FC}"/>
              </a:ext>
            </a:extLst>
          </p:cNvPr>
          <p:cNvSpPr txBox="1"/>
          <p:nvPr/>
        </p:nvSpPr>
        <p:spPr>
          <a:xfrm>
            <a:off x="812800" y="2844800"/>
            <a:ext cx="18034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500" b="1">
                <a:solidFill>
                  <a:srgbClr val="203A3A"/>
                </a:solidFill>
                <a:latin typeface="Aptos" panose="020B0004020202020204" pitchFamily="34" charset="0"/>
              </a:rPr>
              <a:t>USER</a:t>
            </a:r>
          </a:p>
          <a:p>
            <a:pPr algn="ctr"/>
            <a:r>
              <a:rPr lang="en-US" sz="1500" b="1">
                <a:solidFill>
                  <a:srgbClr val="203A3A"/>
                </a:solidFill>
                <a:latin typeface="Aptos" panose="020B0004020202020204" pitchFamily="34" charset="0"/>
              </a:rPr>
              <a:t>(pregnant person)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4C79A76-5C04-D7CD-9E83-9138E87BE3F5}"/>
              </a:ext>
            </a:extLst>
          </p:cNvPr>
          <p:cNvSpPr/>
          <p:nvPr/>
        </p:nvSpPr>
        <p:spPr>
          <a:xfrm>
            <a:off x="3429000" y="2235200"/>
            <a:ext cx="2921000" cy="635000"/>
          </a:xfrm>
          <a:prstGeom prst="ellipse">
            <a:avLst/>
          </a:prstGeom>
          <a:solidFill>
            <a:srgbClr val="E8F2EE"/>
          </a:solidFill>
          <a:ln w="12700">
            <a:solidFill>
              <a:srgbClr val="8CB2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50DA7F-67CE-08CB-8641-BDC2DF033090}"/>
              </a:ext>
            </a:extLst>
          </p:cNvPr>
          <p:cNvSpPr txBox="1"/>
          <p:nvPr/>
        </p:nvSpPr>
        <p:spPr>
          <a:xfrm>
            <a:off x="3556000" y="2413000"/>
            <a:ext cx="2667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>
                <a:solidFill>
                  <a:srgbClr val="203A3A"/>
                </a:solidFill>
                <a:latin typeface="Aptos" panose="020B0004020202020204" pitchFamily="34" charset="0"/>
              </a:rPr>
              <a:t>Manage profile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312C9EC-E14D-89DB-70D5-2749B3A156F6}"/>
              </a:ext>
            </a:extLst>
          </p:cNvPr>
          <p:cNvSpPr/>
          <p:nvPr/>
        </p:nvSpPr>
        <p:spPr>
          <a:xfrm>
            <a:off x="6350000" y="2235200"/>
            <a:ext cx="2921000" cy="635000"/>
          </a:xfrm>
          <a:prstGeom prst="ellipse">
            <a:avLst/>
          </a:prstGeom>
          <a:solidFill>
            <a:srgbClr val="E8F2EE"/>
          </a:solidFill>
          <a:ln w="12700">
            <a:solidFill>
              <a:srgbClr val="8CB2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3A6E49-84A2-8ABB-5D94-7A55F6536A87}"/>
              </a:ext>
            </a:extLst>
          </p:cNvPr>
          <p:cNvSpPr txBox="1"/>
          <p:nvPr/>
        </p:nvSpPr>
        <p:spPr>
          <a:xfrm>
            <a:off x="6477000" y="2413000"/>
            <a:ext cx="2667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>
                <a:solidFill>
                  <a:srgbClr val="203A3A"/>
                </a:solidFill>
                <a:latin typeface="Aptos" panose="020B0004020202020204" pitchFamily="34" charset="0"/>
              </a:rPr>
              <a:t>Track care &amp; wellbeing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43D030B-1F79-F481-0B51-D7032923CB5D}"/>
              </a:ext>
            </a:extLst>
          </p:cNvPr>
          <p:cNvSpPr/>
          <p:nvPr/>
        </p:nvSpPr>
        <p:spPr>
          <a:xfrm>
            <a:off x="3429000" y="3175000"/>
            <a:ext cx="2921000" cy="635000"/>
          </a:xfrm>
          <a:prstGeom prst="ellipse">
            <a:avLst/>
          </a:prstGeom>
          <a:solidFill>
            <a:srgbClr val="E8F2EE"/>
          </a:solidFill>
          <a:ln w="12700">
            <a:solidFill>
              <a:srgbClr val="8CB2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45609-DE3D-663E-8325-763DA68CD718}"/>
              </a:ext>
            </a:extLst>
          </p:cNvPr>
          <p:cNvSpPr txBox="1"/>
          <p:nvPr/>
        </p:nvSpPr>
        <p:spPr>
          <a:xfrm>
            <a:off x="3556000" y="3352800"/>
            <a:ext cx="2667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>
                <a:solidFill>
                  <a:srgbClr val="203A3A"/>
                </a:solidFill>
                <a:latin typeface="Aptos" panose="020B0004020202020204" pitchFamily="34" charset="0"/>
              </a:rPr>
              <a:t>Manage appointments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D8D6B0E-B2F1-5E58-CB0F-0E3170C9A48E}"/>
              </a:ext>
            </a:extLst>
          </p:cNvPr>
          <p:cNvSpPr/>
          <p:nvPr/>
        </p:nvSpPr>
        <p:spPr>
          <a:xfrm>
            <a:off x="6350000" y="3175000"/>
            <a:ext cx="2921000" cy="635000"/>
          </a:xfrm>
          <a:prstGeom prst="ellipse">
            <a:avLst/>
          </a:prstGeom>
          <a:solidFill>
            <a:srgbClr val="E8F2EE"/>
          </a:solidFill>
          <a:ln w="12700">
            <a:solidFill>
              <a:srgbClr val="8CB2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D96DBA-E653-9D30-22B3-2189E131EEA8}"/>
              </a:ext>
            </a:extLst>
          </p:cNvPr>
          <p:cNvSpPr txBox="1"/>
          <p:nvPr/>
        </p:nvSpPr>
        <p:spPr>
          <a:xfrm>
            <a:off x="6477000" y="3352800"/>
            <a:ext cx="2667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>
                <a:solidFill>
                  <a:srgbClr val="203A3A"/>
                </a:solidFill>
                <a:latin typeface="Aptos" panose="020B0004020202020204" pitchFamily="34" charset="0"/>
              </a:rPr>
              <a:t>Record private journal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4879D53-4D4E-F4FD-78C3-7AE85EA5B80C}"/>
              </a:ext>
            </a:extLst>
          </p:cNvPr>
          <p:cNvSpPr/>
          <p:nvPr/>
        </p:nvSpPr>
        <p:spPr>
          <a:xfrm>
            <a:off x="3429000" y="4114800"/>
            <a:ext cx="2921000" cy="635000"/>
          </a:xfrm>
          <a:prstGeom prst="ellipse">
            <a:avLst/>
          </a:prstGeom>
          <a:solidFill>
            <a:srgbClr val="E8F2EE"/>
          </a:solidFill>
          <a:ln w="12700">
            <a:solidFill>
              <a:srgbClr val="8CB2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2939CC-0E1E-84C4-2837-89B74AE46B88}"/>
              </a:ext>
            </a:extLst>
          </p:cNvPr>
          <p:cNvSpPr txBox="1"/>
          <p:nvPr/>
        </p:nvSpPr>
        <p:spPr>
          <a:xfrm>
            <a:off x="3556000" y="4292600"/>
            <a:ext cx="2667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>
                <a:solidFill>
                  <a:srgbClr val="203A3A"/>
                </a:solidFill>
                <a:latin typeface="Aptos" panose="020B0004020202020204" pitchFamily="34" charset="0"/>
              </a:rPr>
              <a:t>Prepare visit brief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5A11A09-45FD-6C00-1661-79F05FF68D3F}"/>
              </a:ext>
            </a:extLst>
          </p:cNvPr>
          <p:cNvSpPr/>
          <p:nvPr/>
        </p:nvSpPr>
        <p:spPr>
          <a:xfrm>
            <a:off x="6350000" y="4114800"/>
            <a:ext cx="2921000" cy="635000"/>
          </a:xfrm>
          <a:prstGeom prst="ellipse">
            <a:avLst/>
          </a:prstGeom>
          <a:solidFill>
            <a:srgbClr val="E8F2EE"/>
          </a:solidFill>
          <a:ln w="12700">
            <a:solidFill>
              <a:srgbClr val="8CB2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D448E1-642C-7357-04FB-DB059A48DB32}"/>
              </a:ext>
            </a:extLst>
          </p:cNvPr>
          <p:cNvSpPr txBox="1"/>
          <p:nvPr/>
        </p:nvSpPr>
        <p:spPr>
          <a:xfrm>
            <a:off x="6477000" y="4292600"/>
            <a:ext cx="2667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>
                <a:solidFill>
                  <a:srgbClr val="203A3A"/>
                </a:solidFill>
                <a:latin typeface="Aptos" panose="020B0004020202020204" pitchFamily="34" charset="0"/>
              </a:rPr>
              <a:t>View guides / reports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970131-D14E-60F5-FCF6-61A7AF808B15}"/>
              </a:ext>
            </a:extLst>
          </p:cNvPr>
          <p:cNvSpPr txBox="1"/>
          <p:nvPr/>
        </p:nvSpPr>
        <p:spPr>
          <a:xfrm>
            <a:off x="9245600" y="4800600"/>
            <a:ext cx="18542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5C716D"/>
                </a:solidFill>
                <a:latin typeface="Aptos" panose="020B0004020202020204" pitchFamily="34" charset="0"/>
              </a:rPr>
              <a:t>Optional: enable push</a:t>
            </a:r>
          </a:p>
          <a:p>
            <a:r>
              <a:rPr lang="en-US" sz="800">
                <a:solidFill>
                  <a:srgbClr val="5C716D"/>
                </a:solidFill>
                <a:latin typeface="Aptos" panose="020B0004020202020204" pitchFamily="34" charset="0"/>
              </a:rPr>
              <a:t>and share a report link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67F4965-C2E5-1DFB-552F-D60083E110EF}"/>
              </a:ext>
            </a:extLst>
          </p:cNvPr>
          <p:cNvSpPr txBox="1"/>
          <p:nvPr/>
        </p:nvSpPr>
        <p:spPr>
          <a:xfrm>
            <a:off x="660400" y="5168900"/>
            <a:ext cx="203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5C716D"/>
                </a:solidFill>
                <a:latin typeface="Aptos" panose="020B0004020202020204" pitchFamily="34" charset="0"/>
              </a:rPr>
              <a:t>Actor uses authenticated workflows.</a:t>
            </a:r>
          </a:p>
        </p:txBody>
      </p:sp>
    </p:spTree>
    <p:extLst>
      <p:ext uri="{BB962C8B-B14F-4D97-AF65-F5344CB8AC3E}">
        <p14:creationId xmlns:p14="http://schemas.microsoft.com/office/powerpoint/2010/main" val="1735686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8B3BBB1-E8EC-EEE3-C4DB-3EDD46677EB2}"/>
              </a:ext>
            </a:extLst>
          </p:cNvPr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D70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3CBA1E-AD77-EF88-8B73-0F323FA140D3}"/>
              </a:ext>
            </a:extLst>
          </p:cNvPr>
          <p:cNvSpPr txBox="1"/>
          <p:nvPr/>
        </p:nvSpPr>
        <p:spPr>
          <a:xfrm>
            <a:off x="482600" y="2540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63817B"/>
                </a:solidFill>
                <a:latin typeface="Aptos" panose="020B0004020202020204" pitchFamily="34" charset="0"/>
              </a:rPr>
              <a:t>07 | SYSTEM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FF592-CF99-F55B-411F-49216EBE2D3B}"/>
              </a:ext>
            </a:extLst>
          </p:cNvPr>
          <p:cNvSpPr txBox="1"/>
          <p:nvPr/>
        </p:nvSpPr>
        <p:spPr>
          <a:xfrm>
            <a:off x="482600" y="5715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700" b="1">
                <a:solidFill>
                  <a:srgbClr val="163E3A"/>
                </a:solidFill>
                <a:latin typeface="Aptos" panose="020B0004020202020204" pitchFamily="34" charset="0"/>
              </a:rPr>
              <a:t>UML Class View (Core Domain)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751F6D-8F60-D867-2A53-F8154E5993A9}"/>
              </a:ext>
            </a:extLst>
          </p:cNvPr>
          <p:cNvSpPr/>
          <p:nvPr/>
        </p:nvSpPr>
        <p:spPr>
          <a:xfrm>
            <a:off x="482600" y="6375400"/>
            <a:ext cx="11226800" cy="12700"/>
          </a:xfrm>
          <a:prstGeom prst="rect">
            <a:avLst/>
          </a:prstGeom>
          <a:solidFill>
            <a:srgbClr val="D6E2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C68F73-1F55-5459-B141-F56A92C572B2}"/>
              </a:ext>
            </a:extLst>
          </p:cNvPr>
          <p:cNvSpPr txBox="1"/>
          <p:nvPr/>
        </p:nvSpPr>
        <p:spPr>
          <a:xfrm>
            <a:off x="482600" y="6451600"/>
            <a:ext cx="965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70837F"/>
                </a:solidFill>
                <a:latin typeface="Aptos" panose="020B0004020202020204" pitchFamily="34" charset="0"/>
              </a:rPr>
              <a:t>MaatriCare | MCA Project | Illustrative academic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5EFA34-2FFD-7F3F-E262-F3ED0F6E5A77}"/>
              </a:ext>
            </a:extLst>
          </p:cNvPr>
          <p:cNvSpPr txBox="1"/>
          <p:nvPr/>
        </p:nvSpPr>
        <p:spPr>
          <a:xfrm>
            <a:off x="11049000" y="64389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r"/>
            <a:r>
              <a:rPr lang="en-US" sz="900" b="1">
                <a:solidFill>
                  <a:srgbClr val="357A70"/>
                </a:solidFill>
                <a:latin typeface="Aptos" panose="020B0004020202020204" pitchFamily="34" charset="0"/>
              </a:rPr>
              <a:t>08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7A83C2-C5F1-2AFA-E2B3-7E85C3462B22}"/>
              </a:ext>
            </a:extLst>
          </p:cNvPr>
          <p:cNvSpPr/>
          <p:nvPr/>
        </p:nvSpPr>
        <p:spPr>
          <a:xfrm>
            <a:off x="660400" y="1803400"/>
            <a:ext cx="26035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AAE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A226B3-3DF2-6B77-A9EE-46E4B0C9AE67}"/>
              </a:ext>
            </a:extLst>
          </p:cNvPr>
          <p:cNvSpPr/>
          <p:nvPr/>
        </p:nvSpPr>
        <p:spPr>
          <a:xfrm>
            <a:off x="660400" y="1803400"/>
            <a:ext cx="2603500" cy="368300"/>
          </a:xfrm>
          <a:prstGeom prst="rect">
            <a:avLst/>
          </a:prstGeom>
          <a:solidFill>
            <a:srgbClr val="DCECE6"/>
          </a:solidFill>
          <a:ln w="12700">
            <a:solidFill>
              <a:srgbClr val="8AAE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B3DF5C-B534-72E0-C1E4-9C29756CCE1D}"/>
              </a:ext>
            </a:extLst>
          </p:cNvPr>
          <p:cNvSpPr txBox="1"/>
          <p:nvPr/>
        </p:nvSpPr>
        <p:spPr>
          <a:xfrm>
            <a:off x="749300" y="1892300"/>
            <a:ext cx="24257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>
                <a:solidFill>
                  <a:srgbClr val="174A46"/>
                </a:solidFill>
                <a:latin typeface="Aptos" panose="020B0004020202020204" pitchFamily="34" charset="0"/>
              </a:rPr>
              <a:t>User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E989C7-A4AE-5749-EE9E-A8D4A995BF4E}"/>
              </a:ext>
            </a:extLst>
          </p:cNvPr>
          <p:cNvSpPr txBox="1"/>
          <p:nvPr/>
        </p:nvSpPr>
        <p:spPr>
          <a:xfrm>
            <a:off x="774700" y="2260600"/>
            <a:ext cx="23749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id: UUID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email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displayName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timezoneId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A83198-8841-786C-FB9D-7AD25BE291AE}"/>
              </a:ext>
            </a:extLst>
          </p:cNvPr>
          <p:cNvSpPr/>
          <p:nvPr/>
        </p:nvSpPr>
        <p:spPr>
          <a:xfrm>
            <a:off x="3619500" y="1803400"/>
            <a:ext cx="26035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AAE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187B50-BDC1-06B4-179C-2D2DC7C148CB}"/>
              </a:ext>
            </a:extLst>
          </p:cNvPr>
          <p:cNvSpPr/>
          <p:nvPr/>
        </p:nvSpPr>
        <p:spPr>
          <a:xfrm>
            <a:off x="3619500" y="1803400"/>
            <a:ext cx="2603500" cy="368300"/>
          </a:xfrm>
          <a:prstGeom prst="rect">
            <a:avLst/>
          </a:prstGeom>
          <a:solidFill>
            <a:srgbClr val="DCECE6"/>
          </a:solidFill>
          <a:ln w="12700">
            <a:solidFill>
              <a:srgbClr val="8AAE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2DC7BD-8E5E-BBAD-5836-C2917587D1F3}"/>
              </a:ext>
            </a:extLst>
          </p:cNvPr>
          <p:cNvSpPr txBox="1"/>
          <p:nvPr/>
        </p:nvSpPr>
        <p:spPr>
          <a:xfrm>
            <a:off x="3708400" y="1892300"/>
            <a:ext cx="24257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>
                <a:solidFill>
                  <a:srgbClr val="174A46"/>
                </a:solidFill>
                <a:latin typeface="Aptos" panose="020B0004020202020204" pitchFamily="34" charset="0"/>
              </a:rPr>
              <a:t>PregnancyProfile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39EA9F1-4DF9-67B5-4250-BF97AD9DDAB9}"/>
              </a:ext>
            </a:extLst>
          </p:cNvPr>
          <p:cNvSpPr txBox="1"/>
          <p:nvPr/>
        </p:nvSpPr>
        <p:spPr>
          <a:xfrm>
            <a:off x="3733800" y="2260600"/>
            <a:ext cx="23749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lastMenstrualPeriod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dueDate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healthDetails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C1012D-DB56-E761-89FF-A6021A45CCD8}"/>
              </a:ext>
            </a:extLst>
          </p:cNvPr>
          <p:cNvSpPr/>
          <p:nvPr/>
        </p:nvSpPr>
        <p:spPr>
          <a:xfrm>
            <a:off x="6578600" y="1803400"/>
            <a:ext cx="26035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AAE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DA19942-EF12-C039-4ECB-CADE0EAC7E4B}"/>
              </a:ext>
            </a:extLst>
          </p:cNvPr>
          <p:cNvSpPr/>
          <p:nvPr/>
        </p:nvSpPr>
        <p:spPr>
          <a:xfrm>
            <a:off x="6578600" y="1803400"/>
            <a:ext cx="2603500" cy="368300"/>
          </a:xfrm>
          <a:prstGeom prst="rect">
            <a:avLst/>
          </a:prstGeom>
          <a:solidFill>
            <a:srgbClr val="DCECE6"/>
          </a:solidFill>
          <a:ln w="12700">
            <a:solidFill>
              <a:srgbClr val="8AAE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B555C2-412E-7BAA-34D9-7AE47BFE568E}"/>
              </a:ext>
            </a:extLst>
          </p:cNvPr>
          <p:cNvSpPr txBox="1"/>
          <p:nvPr/>
        </p:nvSpPr>
        <p:spPr>
          <a:xfrm>
            <a:off x="6667500" y="1892300"/>
            <a:ext cx="24257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>
                <a:solidFill>
                  <a:srgbClr val="174A46"/>
                </a:solidFill>
                <a:latin typeface="Aptos" panose="020B0004020202020204" pitchFamily="34" charset="0"/>
              </a:rPr>
              <a:t>Appointment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EE3672-65C0-872A-440F-0BF374E0422B}"/>
              </a:ext>
            </a:extLst>
          </p:cNvPr>
          <p:cNvSpPr txBox="1"/>
          <p:nvPr/>
        </p:nvSpPr>
        <p:spPr>
          <a:xfrm>
            <a:off x="6692900" y="2260600"/>
            <a:ext cx="23749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startsAt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provider / clinic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reminderMinutesBefore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7B1F79-79FA-EE7F-C514-EB913B9822B8}"/>
              </a:ext>
            </a:extLst>
          </p:cNvPr>
          <p:cNvSpPr/>
          <p:nvPr/>
        </p:nvSpPr>
        <p:spPr>
          <a:xfrm>
            <a:off x="9537700" y="1803400"/>
            <a:ext cx="19685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AAE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B132888-714E-70F9-DE3C-316DC3924172}"/>
              </a:ext>
            </a:extLst>
          </p:cNvPr>
          <p:cNvSpPr/>
          <p:nvPr/>
        </p:nvSpPr>
        <p:spPr>
          <a:xfrm>
            <a:off x="9537700" y="1803400"/>
            <a:ext cx="1968500" cy="368300"/>
          </a:xfrm>
          <a:prstGeom prst="rect">
            <a:avLst/>
          </a:prstGeom>
          <a:solidFill>
            <a:srgbClr val="DCECE6"/>
          </a:solidFill>
          <a:ln w="12700">
            <a:solidFill>
              <a:srgbClr val="8AAE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114246F-E7E0-35E5-EF52-6B098B5EB41D}"/>
              </a:ext>
            </a:extLst>
          </p:cNvPr>
          <p:cNvSpPr txBox="1"/>
          <p:nvPr/>
        </p:nvSpPr>
        <p:spPr>
          <a:xfrm>
            <a:off x="9626600" y="1892300"/>
            <a:ext cx="17907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>
                <a:solidFill>
                  <a:srgbClr val="174A46"/>
                </a:solidFill>
                <a:latin typeface="Aptos" panose="020B0004020202020204" pitchFamily="34" charset="0"/>
              </a:rPr>
              <a:t>CareTask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1515F7-7529-7DF9-38A0-37529812FB8A}"/>
              </a:ext>
            </a:extLst>
          </p:cNvPr>
          <p:cNvSpPr txBox="1"/>
          <p:nvPr/>
        </p:nvSpPr>
        <p:spPr>
          <a:xfrm>
            <a:off x="9652000" y="2260600"/>
            <a:ext cx="17399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taskDate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completed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TaskDetail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D9CA488-7A14-6070-7932-B29AED93F7DE}"/>
              </a:ext>
            </a:extLst>
          </p:cNvPr>
          <p:cNvSpPr/>
          <p:nvPr/>
        </p:nvSpPr>
        <p:spPr>
          <a:xfrm>
            <a:off x="2159000" y="3987800"/>
            <a:ext cx="26670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AAE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784B9D-9631-361B-0904-B8B3630E8472}"/>
              </a:ext>
            </a:extLst>
          </p:cNvPr>
          <p:cNvSpPr/>
          <p:nvPr/>
        </p:nvSpPr>
        <p:spPr>
          <a:xfrm>
            <a:off x="2159000" y="3987800"/>
            <a:ext cx="2667000" cy="368300"/>
          </a:xfrm>
          <a:prstGeom prst="rect">
            <a:avLst/>
          </a:prstGeom>
          <a:solidFill>
            <a:srgbClr val="DCECE6"/>
          </a:solidFill>
          <a:ln w="12700">
            <a:solidFill>
              <a:srgbClr val="8AAE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7D37F7-8D61-AEDE-1A13-561076A43E28}"/>
              </a:ext>
            </a:extLst>
          </p:cNvPr>
          <p:cNvSpPr txBox="1"/>
          <p:nvPr/>
        </p:nvSpPr>
        <p:spPr>
          <a:xfrm>
            <a:off x="2247900" y="4076700"/>
            <a:ext cx="24892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>
                <a:solidFill>
                  <a:srgbClr val="174A46"/>
                </a:solidFill>
                <a:latin typeface="Aptos" panose="020B0004020202020204" pitchFamily="34" charset="0"/>
              </a:rPr>
              <a:t>SymptomEntry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FF9F09-AB40-BF4E-3EEB-8F81A020A87E}"/>
              </a:ext>
            </a:extLst>
          </p:cNvPr>
          <p:cNvSpPr txBox="1"/>
          <p:nvPr/>
        </p:nvSpPr>
        <p:spPr>
          <a:xfrm>
            <a:off x="2273300" y="4445000"/>
            <a:ext cx="24384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symptom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severity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occurredAt / notes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1AED343-68EC-C7C0-79CE-07C80CCAA018}"/>
              </a:ext>
            </a:extLst>
          </p:cNvPr>
          <p:cNvSpPr/>
          <p:nvPr/>
        </p:nvSpPr>
        <p:spPr>
          <a:xfrm>
            <a:off x="5143500" y="3987800"/>
            <a:ext cx="26670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AAE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9098B66-D243-A305-A5E5-A0840C2EA174}"/>
              </a:ext>
            </a:extLst>
          </p:cNvPr>
          <p:cNvSpPr/>
          <p:nvPr/>
        </p:nvSpPr>
        <p:spPr>
          <a:xfrm>
            <a:off x="5143500" y="3987800"/>
            <a:ext cx="2667000" cy="368300"/>
          </a:xfrm>
          <a:prstGeom prst="rect">
            <a:avLst/>
          </a:prstGeom>
          <a:solidFill>
            <a:srgbClr val="DCECE6"/>
          </a:solidFill>
          <a:ln w="12700">
            <a:solidFill>
              <a:srgbClr val="8AAE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2229FCE-F7E0-31ED-1F37-01C91299DA6E}"/>
              </a:ext>
            </a:extLst>
          </p:cNvPr>
          <p:cNvSpPr txBox="1"/>
          <p:nvPr/>
        </p:nvSpPr>
        <p:spPr>
          <a:xfrm>
            <a:off x="5232400" y="4076700"/>
            <a:ext cx="24892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>
                <a:solidFill>
                  <a:srgbClr val="174A46"/>
                </a:solidFill>
                <a:latin typeface="Aptos" panose="020B0004020202020204" pitchFamily="34" charset="0"/>
              </a:rPr>
              <a:t>PushReminder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8ACE53F-7665-4699-D9CD-A4E1F87BF167}"/>
              </a:ext>
            </a:extLst>
          </p:cNvPr>
          <p:cNvSpPr txBox="1"/>
          <p:nvPr/>
        </p:nvSpPr>
        <p:spPr>
          <a:xfrm>
            <a:off x="5257800" y="4445000"/>
            <a:ext cx="24384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key / type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scheduledAt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status / attempts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F1A9919-292B-F360-CD41-3797E204155D}"/>
              </a:ext>
            </a:extLst>
          </p:cNvPr>
          <p:cNvSpPr/>
          <p:nvPr/>
        </p:nvSpPr>
        <p:spPr>
          <a:xfrm>
            <a:off x="8128000" y="3987800"/>
            <a:ext cx="31115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AAE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97B761B-E854-AD65-B7AB-87C75A194890}"/>
              </a:ext>
            </a:extLst>
          </p:cNvPr>
          <p:cNvSpPr/>
          <p:nvPr/>
        </p:nvSpPr>
        <p:spPr>
          <a:xfrm>
            <a:off x="8128000" y="3987800"/>
            <a:ext cx="3111500" cy="368300"/>
          </a:xfrm>
          <a:prstGeom prst="rect">
            <a:avLst/>
          </a:prstGeom>
          <a:solidFill>
            <a:srgbClr val="DCECE6"/>
          </a:solidFill>
          <a:ln w="12700">
            <a:solidFill>
              <a:srgbClr val="8AAE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E57078-7B95-5AAA-6288-F8738F60A761}"/>
              </a:ext>
            </a:extLst>
          </p:cNvPr>
          <p:cNvSpPr txBox="1"/>
          <p:nvPr/>
        </p:nvSpPr>
        <p:spPr>
          <a:xfrm>
            <a:off x="8216900" y="4076700"/>
            <a:ext cx="29337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>
                <a:solidFill>
                  <a:srgbClr val="174A46"/>
                </a:solidFill>
                <a:latin typeface="Aptos" panose="020B0004020202020204" pitchFamily="34" charset="0"/>
              </a:rPr>
              <a:t>AppointmentQuestion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F1706F8-53B9-49C9-F2FA-EEFC05E37A7B}"/>
              </a:ext>
            </a:extLst>
          </p:cNvPr>
          <p:cNvSpPr txBox="1"/>
          <p:nvPr/>
        </p:nvSpPr>
        <p:spPr>
          <a:xfrm>
            <a:off x="8242300" y="4445000"/>
            <a:ext cx="28829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question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answered / answer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2A03EDA-4CF4-7C86-6B38-F4A15A35F9E2}"/>
              </a:ext>
            </a:extLst>
          </p:cNvPr>
          <p:cNvSpPr txBox="1"/>
          <p:nvPr/>
        </p:nvSpPr>
        <p:spPr>
          <a:xfrm>
            <a:off x="1054100" y="5702300"/>
            <a:ext cx="10096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000" b="1">
                <a:solidFill>
                  <a:srgbClr val="5C716D"/>
                </a:solidFill>
                <a:latin typeface="Aptos" panose="020B0004020202020204" pitchFamily="34" charset="0"/>
              </a:rPr>
              <a:t>Ownership: user 1-to-many appointments, tasks, symptoms, questions, subscriptions, and reminders.</a:t>
            </a:r>
          </a:p>
        </p:txBody>
      </p:sp>
    </p:spTree>
    <p:extLst>
      <p:ext uri="{BB962C8B-B14F-4D97-AF65-F5344CB8AC3E}">
        <p14:creationId xmlns:p14="http://schemas.microsoft.com/office/powerpoint/2010/main" val="854526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CCC276D-ADA8-66D6-E171-D9BF200BA1E4}"/>
              </a:ext>
            </a:extLst>
          </p:cNvPr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D70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F571A-9E3E-7BB6-2CE0-B28B570BE7BA}"/>
              </a:ext>
            </a:extLst>
          </p:cNvPr>
          <p:cNvSpPr txBox="1"/>
          <p:nvPr/>
        </p:nvSpPr>
        <p:spPr>
          <a:xfrm>
            <a:off x="482600" y="2540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63817B"/>
                </a:solidFill>
                <a:latin typeface="Aptos" panose="020B0004020202020204" pitchFamily="34" charset="0"/>
              </a:rPr>
              <a:t>08 | DATA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1769FB-C968-3496-41CD-EC4701544246}"/>
              </a:ext>
            </a:extLst>
          </p:cNvPr>
          <p:cNvSpPr txBox="1"/>
          <p:nvPr/>
        </p:nvSpPr>
        <p:spPr>
          <a:xfrm>
            <a:off x="482600" y="5715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700" b="1">
                <a:solidFill>
                  <a:srgbClr val="163E3A"/>
                </a:solidFill>
                <a:latin typeface="Aptos" panose="020B0004020202020204" pitchFamily="34" charset="0"/>
              </a:rPr>
              <a:t>ER Model (Simplified)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FC94F2-C0A0-5328-6437-9AF91296DB63}"/>
              </a:ext>
            </a:extLst>
          </p:cNvPr>
          <p:cNvSpPr/>
          <p:nvPr/>
        </p:nvSpPr>
        <p:spPr>
          <a:xfrm>
            <a:off x="482600" y="6375400"/>
            <a:ext cx="11226800" cy="12700"/>
          </a:xfrm>
          <a:prstGeom prst="rect">
            <a:avLst/>
          </a:prstGeom>
          <a:solidFill>
            <a:srgbClr val="D6E2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8DEB9A-F2B0-69D7-6337-77F92271A4EE}"/>
              </a:ext>
            </a:extLst>
          </p:cNvPr>
          <p:cNvSpPr txBox="1"/>
          <p:nvPr/>
        </p:nvSpPr>
        <p:spPr>
          <a:xfrm>
            <a:off x="482600" y="6451600"/>
            <a:ext cx="965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70837F"/>
                </a:solidFill>
                <a:latin typeface="Aptos" panose="020B0004020202020204" pitchFamily="34" charset="0"/>
              </a:rPr>
              <a:t>MaatriCare | MCA Project | Illustrative academic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8A1B70-EE8E-0D1A-143B-232837FBF92C}"/>
              </a:ext>
            </a:extLst>
          </p:cNvPr>
          <p:cNvSpPr txBox="1"/>
          <p:nvPr/>
        </p:nvSpPr>
        <p:spPr>
          <a:xfrm>
            <a:off x="11049000" y="64389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r"/>
            <a:r>
              <a:rPr lang="en-US" sz="900" b="1">
                <a:solidFill>
                  <a:srgbClr val="357A70"/>
                </a:solidFill>
                <a:latin typeface="Aptos" panose="020B0004020202020204" pitchFamily="34" charset="0"/>
              </a:rPr>
              <a:t>09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03E69E2-35D4-C6D4-824E-ABE99227B6D2}"/>
              </a:ext>
            </a:extLst>
          </p:cNvPr>
          <p:cNvSpPr/>
          <p:nvPr/>
        </p:nvSpPr>
        <p:spPr>
          <a:xfrm>
            <a:off x="571500" y="1854200"/>
            <a:ext cx="2349500" cy="133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C3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A6D7F9-CDB1-C3A1-222D-8CC41B2CF874}"/>
              </a:ext>
            </a:extLst>
          </p:cNvPr>
          <p:cNvSpPr txBox="1"/>
          <p:nvPr/>
        </p:nvSpPr>
        <p:spPr>
          <a:xfrm>
            <a:off x="698500" y="1968500"/>
            <a:ext cx="2095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 b="1">
                <a:solidFill>
                  <a:srgbClr val="28796F"/>
                </a:solidFill>
                <a:latin typeface="Aptos" panose="020B0004020202020204" pitchFamily="34" charset="0"/>
              </a:rPr>
              <a:t>users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D5CE63-78ED-D01D-8050-D3AA11A7B6BB}"/>
              </a:ext>
            </a:extLst>
          </p:cNvPr>
          <p:cNvSpPr txBox="1"/>
          <p:nvPr/>
        </p:nvSpPr>
        <p:spPr>
          <a:xfrm>
            <a:off x="698500" y="2311400"/>
            <a:ext cx="2095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fr-FR" sz="900">
                <a:solidFill>
                  <a:srgbClr val="203A3A"/>
                </a:solidFill>
                <a:latin typeface="Aptos" panose="020B0004020202020204" pitchFamily="34" charset="0"/>
              </a:rPr>
              <a:t>id PK</a:t>
            </a:r>
          </a:p>
          <a:p>
            <a:r>
              <a:rPr lang="fr-FR" sz="900">
                <a:solidFill>
                  <a:srgbClr val="203A3A"/>
                </a:solidFill>
                <a:latin typeface="Aptos" panose="020B0004020202020204" pitchFamily="34" charset="0"/>
              </a:rPr>
              <a:t>email UNIQUE</a:t>
            </a:r>
          </a:p>
          <a:p>
            <a:r>
              <a:rPr lang="fr-FR" sz="900">
                <a:solidFill>
                  <a:srgbClr val="203A3A"/>
                </a:solidFill>
                <a:latin typeface="Aptos" panose="020B0004020202020204" pitchFamily="34" charset="0"/>
              </a:rPr>
              <a:t>timezone_id</a:t>
            </a:r>
            <a:endParaRPr lang="en-US" sz="900">
              <a:solidFill>
                <a:srgbClr val="203A3A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03BEC5F-6952-4FC7-A647-B10883B8E825}"/>
              </a:ext>
            </a:extLst>
          </p:cNvPr>
          <p:cNvSpPr/>
          <p:nvPr/>
        </p:nvSpPr>
        <p:spPr>
          <a:xfrm>
            <a:off x="3429000" y="1854200"/>
            <a:ext cx="2603500" cy="133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C3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B4B001-DECA-0FF1-BE2C-A40A1051F95B}"/>
              </a:ext>
            </a:extLst>
          </p:cNvPr>
          <p:cNvSpPr txBox="1"/>
          <p:nvPr/>
        </p:nvSpPr>
        <p:spPr>
          <a:xfrm>
            <a:off x="3556000" y="1968500"/>
            <a:ext cx="2349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 b="1">
                <a:solidFill>
                  <a:srgbClr val="28796F"/>
                </a:solidFill>
                <a:latin typeface="Aptos" panose="020B0004020202020204" pitchFamily="34" charset="0"/>
              </a:rPr>
              <a:t>pregnancy_profiles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A2862B-6977-DEB3-071A-7484F3E098BB}"/>
              </a:ext>
            </a:extLst>
          </p:cNvPr>
          <p:cNvSpPr txBox="1"/>
          <p:nvPr/>
        </p:nvSpPr>
        <p:spPr>
          <a:xfrm>
            <a:off x="3556000" y="2311400"/>
            <a:ext cx="2349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id PK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user_id FK UNIQUE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LMP, due_date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7F70BB9-BE7A-44C5-0678-6D8698DBE8F7}"/>
              </a:ext>
            </a:extLst>
          </p:cNvPr>
          <p:cNvSpPr/>
          <p:nvPr/>
        </p:nvSpPr>
        <p:spPr>
          <a:xfrm>
            <a:off x="6477000" y="1854200"/>
            <a:ext cx="2413000" cy="133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C3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BC5499-0F8E-E4F4-BDF8-E939903E3303}"/>
              </a:ext>
            </a:extLst>
          </p:cNvPr>
          <p:cNvSpPr txBox="1"/>
          <p:nvPr/>
        </p:nvSpPr>
        <p:spPr>
          <a:xfrm>
            <a:off x="6604000" y="1968500"/>
            <a:ext cx="2159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 b="1">
                <a:solidFill>
                  <a:srgbClr val="28796F"/>
                </a:solidFill>
                <a:latin typeface="Aptos" panose="020B0004020202020204" pitchFamily="34" charset="0"/>
              </a:rPr>
              <a:t>appointments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4C350B-0E4D-F940-2D31-014C4528A718}"/>
              </a:ext>
            </a:extLst>
          </p:cNvPr>
          <p:cNvSpPr txBox="1"/>
          <p:nvPr/>
        </p:nvSpPr>
        <p:spPr>
          <a:xfrm>
            <a:off x="6604000" y="2311400"/>
            <a:ext cx="2159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id PK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user_id FK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starts_at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B4F421E-C452-8FB2-271E-17B9C8622DEF}"/>
              </a:ext>
            </a:extLst>
          </p:cNvPr>
          <p:cNvSpPr/>
          <p:nvPr/>
        </p:nvSpPr>
        <p:spPr>
          <a:xfrm>
            <a:off x="9334500" y="1854200"/>
            <a:ext cx="2413000" cy="133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C3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E3EF24-A2A6-0B3C-00BE-F63F6B341464}"/>
              </a:ext>
            </a:extLst>
          </p:cNvPr>
          <p:cNvSpPr txBox="1"/>
          <p:nvPr/>
        </p:nvSpPr>
        <p:spPr>
          <a:xfrm>
            <a:off x="9461500" y="1968500"/>
            <a:ext cx="2159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 b="1">
                <a:solidFill>
                  <a:srgbClr val="28796F"/>
                </a:solidFill>
                <a:latin typeface="Aptos" panose="020B0004020202020204" pitchFamily="34" charset="0"/>
              </a:rPr>
              <a:t>care_tasks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9FA3EE-4361-779C-F68F-2E8D6DFE0705}"/>
              </a:ext>
            </a:extLst>
          </p:cNvPr>
          <p:cNvSpPr txBox="1"/>
          <p:nvPr/>
        </p:nvSpPr>
        <p:spPr>
          <a:xfrm>
            <a:off x="9461500" y="2311400"/>
            <a:ext cx="2159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id PK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user_id FK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task_detail_id FK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BD48691-742B-228F-5BA9-1613F7F30A50}"/>
              </a:ext>
            </a:extLst>
          </p:cNvPr>
          <p:cNvSpPr/>
          <p:nvPr/>
        </p:nvSpPr>
        <p:spPr>
          <a:xfrm>
            <a:off x="571500" y="3987800"/>
            <a:ext cx="2349500" cy="133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C3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B21A8C-8B1D-4853-5AE0-2DE8B958AB55}"/>
              </a:ext>
            </a:extLst>
          </p:cNvPr>
          <p:cNvSpPr txBox="1"/>
          <p:nvPr/>
        </p:nvSpPr>
        <p:spPr>
          <a:xfrm>
            <a:off x="698500" y="4102100"/>
            <a:ext cx="2095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 b="1">
                <a:solidFill>
                  <a:srgbClr val="28796F"/>
                </a:solidFill>
                <a:latin typeface="Aptos" panose="020B0004020202020204" pitchFamily="34" charset="0"/>
              </a:rPr>
              <a:t>symptom_entries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2384CF0-C09E-1386-E3E4-6821A7955162}"/>
              </a:ext>
            </a:extLst>
          </p:cNvPr>
          <p:cNvSpPr txBox="1"/>
          <p:nvPr/>
        </p:nvSpPr>
        <p:spPr>
          <a:xfrm>
            <a:off x="698500" y="4445000"/>
            <a:ext cx="2095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id PK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user_id FK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severity, occurred_at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71AA20D-C952-01BF-1595-DED634584AB2}"/>
              </a:ext>
            </a:extLst>
          </p:cNvPr>
          <p:cNvSpPr/>
          <p:nvPr/>
        </p:nvSpPr>
        <p:spPr>
          <a:xfrm>
            <a:off x="3429000" y="3987800"/>
            <a:ext cx="2603500" cy="133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C3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D69DF0-53FE-41FB-73DC-6BACD1D3587C}"/>
              </a:ext>
            </a:extLst>
          </p:cNvPr>
          <p:cNvSpPr txBox="1"/>
          <p:nvPr/>
        </p:nvSpPr>
        <p:spPr>
          <a:xfrm>
            <a:off x="3556000" y="4102100"/>
            <a:ext cx="2349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 b="1">
                <a:solidFill>
                  <a:srgbClr val="28796F"/>
                </a:solidFill>
                <a:latin typeface="Aptos" panose="020B0004020202020204" pitchFamily="34" charset="0"/>
              </a:rPr>
              <a:t>daily_wellbeing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9F7B422-07EB-DFC1-F8D4-6725D38011F9}"/>
              </a:ext>
            </a:extLst>
          </p:cNvPr>
          <p:cNvSpPr txBox="1"/>
          <p:nvPr/>
        </p:nvSpPr>
        <p:spPr>
          <a:xfrm>
            <a:off x="3556000" y="4445000"/>
            <a:ext cx="2349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id PK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user_id FK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entry_date UNIQUE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DD1588-227C-AD25-78D3-09C15F11F0AB}"/>
              </a:ext>
            </a:extLst>
          </p:cNvPr>
          <p:cNvSpPr/>
          <p:nvPr/>
        </p:nvSpPr>
        <p:spPr>
          <a:xfrm>
            <a:off x="6477000" y="3987800"/>
            <a:ext cx="2413000" cy="133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C3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36F2C0-FBEF-5D25-1289-8F0D95A37BEC}"/>
              </a:ext>
            </a:extLst>
          </p:cNvPr>
          <p:cNvSpPr txBox="1"/>
          <p:nvPr/>
        </p:nvSpPr>
        <p:spPr>
          <a:xfrm>
            <a:off x="6604000" y="4102100"/>
            <a:ext cx="2159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 b="1">
                <a:solidFill>
                  <a:srgbClr val="28796F"/>
                </a:solidFill>
                <a:latin typeface="Aptos" panose="020B0004020202020204" pitchFamily="34" charset="0"/>
              </a:rPr>
              <a:t>push_subscriptions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744225-823F-81A3-B0B1-B7301995E952}"/>
              </a:ext>
            </a:extLst>
          </p:cNvPr>
          <p:cNvSpPr txBox="1"/>
          <p:nvPr/>
        </p:nvSpPr>
        <p:spPr>
          <a:xfrm>
            <a:off x="6604000" y="4445000"/>
            <a:ext cx="2159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id PK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user_id FK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endpoint_hash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F3532B9-8349-B0CF-AAE5-F0612B25FA88}"/>
              </a:ext>
            </a:extLst>
          </p:cNvPr>
          <p:cNvSpPr/>
          <p:nvPr/>
        </p:nvSpPr>
        <p:spPr>
          <a:xfrm>
            <a:off x="9334500" y="3987800"/>
            <a:ext cx="2413000" cy="133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C3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126BC7-EC4E-0124-64BF-6496B06C969C}"/>
              </a:ext>
            </a:extLst>
          </p:cNvPr>
          <p:cNvSpPr txBox="1"/>
          <p:nvPr/>
        </p:nvSpPr>
        <p:spPr>
          <a:xfrm>
            <a:off x="9461500" y="4102100"/>
            <a:ext cx="2159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 b="1">
                <a:solidFill>
                  <a:srgbClr val="28796F"/>
                </a:solidFill>
                <a:latin typeface="Aptos" panose="020B0004020202020204" pitchFamily="34" charset="0"/>
              </a:rPr>
              <a:t>push_reminders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6FCA58-5F84-7EFB-8545-E9A63F013807}"/>
              </a:ext>
            </a:extLst>
          </p:cNvPr>
          <p:cNvSpPr txBox="1"/>
          <p:nvPr/>
        </p:nvSpPr>
        <p:spPr>
          <a:xfrm>
            <a:off x="9461500" y="4445000"/>
            <a:ext cx="2159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id PK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user_id FK</a:t>
            </a:r>
          </a:p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deduplication_key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CA23C40-7C13-44F5-6523-59011D760EA0}"/>
              </a:ext>
            </a:extLst>
          </p:cNvPr>
          <p:cNvSpPr txBox="1"/>
          <p:nvPr/>
        </p:nvSpPr>
        <p:spPr>
          <a:xfrm>
            <a:off x="1397000" y="5638800"/>
            <a:ext cx="9398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000" b="1">
                <a:solidFill>
                  <a:srgbClr val="5C716D"/>
                </a:solidFill>
                <a:latin typeface="Aptos" panose="020B0004020202020204" pitchFamily="34" charset="0"/>
              </a:rPr>
              <a:t>All sensitive records are user-owned; user deletion removes subscriptions and scheduled reminders.</a:t>
            </a:r>
          </a:p>
        </p:txBody>
      </p:sp>
    </p:spTree>
    <p:extLst>
      <p:ext uri="{BB962C8B-B14F-4D97-AF65-F5344CB8AC3E}">
        <p14:creationId xmlns:p14="http://schemas.microsoft.com/office/powerpoint/2010/main" val="25509621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7FFAC5B-ADBF-8AD8-1B40-44CC28DCCD36}"/>
              </a:ext>
            </a:extLst>
          </p:cNvPr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D70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42D295-A315-C1AD-853C-2A9098855DFB}"/>
              </a:ext>
            </a:extLst>
          </p:cNvPr>
          <p:cNvSpPr txBox="1"/>
          <p:nvPr/>
        </p:nvSpPr>
        <p:spPr>
          <a:xfrm>
            <a:off x="482600" y="2540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63817B"/>
                </a:solidFill>
                <a:latin typeface="Aptos" panose="020B0004020202020204" pitchFamily="34" charset="0"/>
              </a:rPr>
              <a:t>09 | BACKGROUND DELIVERY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07174E-B34A-DDC5-DECC-BD8DA1D119AE}"/>
              </a:ext>
            </a:extLst>
          </p:cNvPr>
          <p:cNvSpPr txBox="1"/>
          <p:nvPr/>
        </p:nvSpPr>
        <p:spPr>
          <a:xfrm>
            <a:off x="482600" y="5715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700" b="1">
                <a:solidFill>
                  <a:srgbClr val="163E3A"/>
                </a:solidFill>
                <a:latin typeface="Aptos" panose="020B0004020202020204" pitchFamily="34" charset="0"/>
              </a:rPr>
              <a:t>Scheduled Reminder Flow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A464CA-1A82-A4D0-0CD3-F2C87BB91D11}"/>
              </a:ext>
            </a:extLst>
          </p:cNvPr>
          <p:cNvSpPr/>
          <p:nvPr/>
        </p:nvSpPr>
        <p:spPr>
          <a:xfrm>
            <a:off x="482600" y="6375400"/>
            <a:ext cx="11226800" cy="12700"/>
          </a:xfrm>
          <a:prstGeom prst="rect">
            <a:avLst/>
          </a:prstGeom>
          <a:solidFill>
            <a:srgbClr val="D6E2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26556A-019F-CAC2-7926-75F34C2DB06B}"/>
              </a:ext>
            </a:extLst>
          </p:cNvPr>
          <p:cNvSpPr txBox="1"/>
          <p:nvPr/>
        </p:nvSpPr>
        <p:spPr>
          <a:xfrm>
            <a:off x="482600" y="6451600"/>
            <a:ext cx="965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70837F"/>
                </a:solidFill>
                <a:latin typeface="Aptos" panose="020B0004020202020204" pitchFamily="34" charset="0"/>
              </a:rPr>
              <a:t>MaatriCare | MCA Project | Illustrative academic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C2478F-B6EF-F140-84CD-942D19D95A62}"/>
              </a:ext>
            </a:extLst>
          </p:cNvPr>
          <p:cNvSpPr txBox="1"/>
          <p:nvPr/>
        </p:nvSpPr>
        <p:spPr>
          <a:xfrm>
            <a:off x="11049000" y="64389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r"/>
            <a:r>
              <a:rPr lang="en-US" sz="900" b="1">
                <a:solidFill>
                  <a:srgbClr val="357A70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24C55CD-F0EA-27B4-BFA3-FBF2FCCF93E0}"/>
              </a:ext>
            </a:extLst>
          </p:cNvPr>
          <p:cNvSpPr/>
          <p:nvPr/>
        </p:nvSpPr>
        <p:spPr>
          <a:xfrm>
            <a:off x="571500" y="2413000"/>
            <a:ext cx="1905000" cy="104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FC6B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BF2277-8AB3-C066-5135-B6A9986DB5FB}"/>
              </a:ext>
            </a:extLst>
          </p:cNvPr>
          <p:cNvSpPr txBox="1"/>
          <p:nvPr/>
        </p:nvSpPr>
        <p:spPr>
          <a:xfrm>
            <a:off x="698500" y="2679700"/>
            <a:ext cx="1651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>
                <a:solidFill>
                  <a:srgbClr val="203A3A"/>
                </a:solidFill>
                <a:latin typeface="Aptos" panose="020B0004020202020204" pitchFamily="34" charset="0"/>
              </a:rPr>
              <a:t>Preferences</a:t>
            </a:r>
          </a:p>
          <a:p>
            <a:pPr algn="ctr"/>
            <a:r>
              <a:rPr lang="en-US" sz="1100" b="1">
                <a:solidFill>
                  <a:srgbClr val="203A3A"/>
                </a:solidFill>
                <a:latin typeface="Aptos" panose="020B0004020202020204" pitchFamily="34" charset="0"/>
              </a:rPr>
              <a:t>Asia/Kolkata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B4CC0E1-C16F-DD0A-CB90-00A73B7CE1B5}"/>
              </a:ext>
            </a:extLst>
          </p:cNvPr>
          <p:cNvSpPr/>
          <p:nvPr/>
        </p:nvSpPr>
        <p:spPr>
          <a:xfrm>
            <a:off x="2857500" y="2413000"/>
            <a:ext cx="1905000" cy="104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FC6B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6C4051-6388-BF09-2C93-75B23D3E8065}"/>
              </a:ext>
            </a:extLst>
          </p:cNvPr>
          <p:cNvSpPr txBox="1"/>
          <p:nvPr/>
        </p:nvSpPr>
        <p:spPr>
          <a:xfrm>
            <a:off x="2984500" y="2679700"/>
            <a:ext cx="1651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>
                <a:solidFill>
                  <a:srgbClr val="203A3A"/>
                </a:solidFill>
                <a:latin typeface="Aptos" panose="020B0004020202020204" pitchFamily="34" charset="0"/>
              </a:rPr>
              <a:t>Build occurrence</a:t>
            </a:r>
          </a:p>
          <a:p>
            <a:pPr algn="ctr"/>
            <a:r>
              <a:rPr lang="en-US" sz="1100" b="1">
                <a:solidFill>
                  <a:srgbClr val="203A3A"/>
                </a:solidFill>
                <a:latin typeface="Aptos" panose="020B0004020202020204" pitchFamily="34" charset="0"/>
              </a:rPr>
              <a:t>from records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71E2A5F-9EC2-6B0C-4522-7FBF1A1BA992}"/>
              </a:ext>
            </a:extLst>
          </p:cNvPr>
          <p:cNvSpPr/>
          <p:nvPr/>
        </p:nvSpPr>
        <p:spPr>
          <a:xfrm>
            <a:off x="5143500" y="2413000"/>
            <a:ext cx="1905000" cy="104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FC6B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6B8430-D518-F1F0-A29F-342B5A67D202}"/>
              </a:ext>
            </a:extLst>
          </p:cNvPr>
          <p:cNvSpPr txBox="1"/>
          <p:nvPr/>
        </p:nvSpPr>
        <p:spPr>
          <a:xfrm>
            <a:off x="5270500" y="2679700"/>
            <a:ext cx="1651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>
                <a:solidFill>
                  <a:srgbClr val="203A3A"/>
                </a:solidFill>
                <a:latin typeface="Aptos" panose="020B0004020202020204" pitchFamily="34" charset="0"/>
              </a:rPr>
              <a:t>Deduplicate</a:t>
            </a:r>
          </a:p>
          <a:p>
            <a:pPr algn="ctr"/>
            <a:r>
              <a:rPr lang="en-US" sz="1100" b="1">
                <a:solidFill>
                  <a:srgbClr val="203A3A"/>
                </a:solidFill>
                <a:latin typeface="Aptos" panose="020B0004020202020204" pitchFamily="34" charset="0"/>
              </a:rPr>
              <a:t>&amp; persist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828FC7F-F377-1744-419D-0F1F13F4AABF}"/>
              </a:ext>
            </a:extLst>
          </p:cNvPr>
          <p:cNvSpPr/>
          <p:nvPr/>
        </p:nvSpPr>
        <p:spPr>
          <a:xfrm>
            <a:off x="7429500" y="2413000"/>
            <a:ext cx="1905000" cy="104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FC6B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AB398-2B9F-ACF0-B18D-95BE929C4901}"/>
              </a:ext>
            </a:extLst>
          </p:cNvPr>
          <p:cNvSpPr txBox="1"/>
          <p:nvPr/>
        </p:nvSpPr>
        <p:spPr>
          <a:xfrm>
            <a:off x="7556500" y="2679700"/>
            <a:ext cx="1651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>
                <a:solidFill>
                  <a:srgbClr val="203A3A"/>
                </a:solidFill>
                <a:latin typeface="Aptos" panose="020B0004020202020204" pitchFamily="34" charset="0"/>
              </a:rPr>
              <a:t>Due? Claim</a:t>
            </a:r>
          </a:p>
          <a:p>
            <a:pPr algn="ctr"/>
            <a:r>
              <a:rPr lang="en-US" sz="1100" b="1">
                <a:solidFill>
                  <a:srgbClr val="203A3A"/>
                </a:solidFill>
                <a:latin typeface="Aptos" panose="020B0004020202020204" pitchFamily="34" charset="0"/>
              </a:rPr>
              <a:t>atomically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0008B77-F7F2-CED2-C708-6474C9A3BE01}"/>
              </a:ext>
            </a:extLst>
          </p:cNvPr>
          <p:cNvSpPr/>
          <p:nvPr/>
        </p:nvSpPr>
        <p:spPr>
          <a:xfrm>
            <a:off x="9715500" y="2413000"/>
            <a:ext cx="1905000" cy="104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FC6B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3855AF-6594-45F5-57B7-326B5E5089F1}"/>
              </a:ext>
            </a:extLst>
          </p:cNvPr>
          <p:cNvSpPr txBox="1"/>
          <p:nvPr/>
        </p:nvSpPr>
        <p:spPr>
          <a:xfrm>
            <a:off x="9842500" y="2679700"/>
            <a:ext cx="1651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>
                <a:solidFill>
                  <a:srgbClr val="203A3A"/>
                </a:solidFill>
                <a:latin typeface="Aptos" panose="020B0004020202020204" pitchFamily="34" charset="0"/>
              </a:rPr>
              <a:t>VAPID push</a:t>
            </a:r>
          </a:p>
          <a:p>
            <a:pPr algn="ctr"/>
            <a:r>
              <a:rPr lang="en-US" sz="1100" b="1">
                <a:solidFill>
                  <a:srgbClr val="203A3A"/>
                </a:solidFill>
                <a:latin typeface="Aptos" panose="020B0004020202020204" pitchFamily="34" charset="0"/>
              </a:rPr>
              <a:t>to browser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8FF28F-FEEF-7B23-DC59-3F2CE4316172}"/>
              </a:ext>
            </a:extLst>
          </p:cNvPr>
          <p:cNvSpPr txBox="1"/>
          <p:nvPr/>
        </p:nvSpPr>
        <p:spPr>
          <a:xfrm>
            <a:off x="2476500" y="2717800"/>
            <a:ext cx="355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2000" b="1">
                <a:solidFill>
                  <a:srgbClr val="D88968"/>
                </a:solidFill>
                <a:latin typeface="Aptos" panose="020B0004020202020204" pitchFamily="34" charset="0"/>
              </a:rPr>
              <a:t>-&gt;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980092-4723-3E13-C4B5-8B646EAF6498}"/>
              </a:ext>
            </a:extLst>
          </p:cNvPr>
          <p:cNvSpPr txBox="1"/>
          <p:nvPr/>
        </p:nvSpPr>
        <p:spPr>
          <a:xfrm>
            <a:off x="4762500" y="2717800"/>
            <a:ext cx="355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2000" b="1">
                <a:solidFill>
                  <a:srgbClr val="D88968"/>
                </a:solidFill>
                <a:latin typeface="Aptos" panose="020B0004020202020204" pitchFamily="34" charset="0"/>
              </a:rPr>
              <a:t>-&gt;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C2604B-FD11-B71B-9C5B-E2F68C5CED27}"/>
              </a:ext>
            </a:extLst>
          </p:cNvPr>
          <p:cNvSpPr txBox="1"/>
          <p:nvPr/>
        </p:nvSpPr>
        <p:spPr>
          <a:xfrm>
            <a:off x="7048500" y="2717800"/>
            <a:ext cx="355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2000" b="1">
                <a:solidFill>
                  <a:srgbClr val="D88968"/>
                </a:solidFill>
                <a:latin typeface="Aptos" panose="020B0004020202020204" pitchFamily="34" charset="0"/>
              </a:rPr>
              <a:t>-&gt;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032EE88-3E52-40A8-3A44-5083AEEBD881}"/>
              </a:ext>
            </a:extLst>
          </p:cNvPr>
          <p:cNvSpPr txBox="1"/>
          <p:nvPr/>
        </p:nvSpPr>
        <p:spPr>
          <a:xfrm>
            <a:off x="9334500" y="2717800"/>
            <a:ext cx="355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2000" b="1">
                <a:solidFill>
                  <a:srgbClr val="D88968"/>
                </a:solidFill>
                <a:latin typeface="Aptos" panose="020B0004020202020204" pitchFamily="34" charset="0"/>
              </a:rPr>
              <a:t>-&gt;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BC2B3E8-B1F5-7DAA-DD7E-C54C51B152E1}"/>
              </a:ext>
            </a:extLst>
          </p:cNvPr>
          <p:cNvSpPr/>
          <p:nvPr/>
        </p:nvSpPr>
        <p:spPr>
          <a:xfrm>
            <a:off x="1689100" y="4076700"/>
            <a:ext cx="3937000" cy="1295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431547-2B3C-7610-E5E4-11C826AFD886}"/>
              </a:ext>
            </a:extLst>
          </p:cNvPr>
          <p:cNvSpPr/>
          <p:nvPr/>
        </p:nvSpPr>
        <p:spPr>
          <a:xfrm>
            <a:off x="1866900" y="4267200"/>
            <a:ext cx="63500" cy="914400"/>
          </a:xfrm>
          <a:prstGeom prst="rect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DB3EB3A-A20D-28D7-22FE-B0B53F0BF2A9}"/>
              </a:ext>
            </a:extLst>
          </p:cNvPr>
          <p:cNvSpPr txBox="1"/>
          <p:nvPr/>
        </p:nvSpPr>
        <p:spPr>
          <a:xfrm>
            <a:off x="2070100" y="4216400"/>
            <a:ext cx="3365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Success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B8B5A8-899D-8B8B-BEA0-81DBCC28C2F4}"/>
              </a:ext>
            </a:extLst>
          </p:cNvPr>
          <p:cNvSpPr txBox="1"/>
          <p:nvPr/>
        </p:nvSpPr>
        <p:spPr>
          <a:xfrm>
            <a:off x="2070100" y="4533900"/>
            <a:ext cx="33274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Mark sent; ignore duplicates on subsequent scheduler runs.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6AD08C7-8E7A-09DF-2B4F-9774BAA3EEF4}"/>
              </a:ext>
            </a:extLst>
          </p:cNvPr>
          <p:cNvSpPr/>
          <p:nvPr/>
        </p:nvSpPr>
        <p:spPr>
          <a:xfrm>
            <a:off x="6489700" y="4076700"/>
            <a:ext cx="3937000" cy="1295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8C2EC6-5BC0-5422-C884-3D8117D24F8B}"/>
              </a:ext>
            </a:extLst>
          </p:cNvPr>
          <p:cNvSpPr/>
          <p:nvPr/>
        </p:nvSpPr>
        <p:spPr>
          <a:xfrm>
            <a:off x="6667500" y="4267200"/>
            <a:ext cx="63500" cy="914400"/>
          </a:xfrm>
          <a:prstGeom prst="rect">
            <a:avLst/>
          </a:prstGeom>
          <a:solidFill>
            <a:srgbClr val="D889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7EE04D-3133-A47B-AE1C-585D1A716E41}"/>
              </a:ext>
            </a:extLst>
          </p:cNvPr>
          <p:cNvSpPr txBox="1"/>
          <p:nvPr/>
        </p:nvSpPr>
        <p:spPr>
          <a:xfrm>
            <a:off x="6870700" y="4216400"/>
            <a:ext cx="3365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Failure / snooze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FE5A236-0C0F-C7C0-C6BC-504A1B952C38}"/>
              </a:ext>
            </a:extLst>
          </p:cNvPr>
          <p:cNvSpPr txBox="1"/>
          <p:nvPr/>
        </p:nvSpPr>
        <p:spPr>
          <a:xfrm>
            <a:off x="6870700" y="4533900"/>
            <a:ext cx="33274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Retry with backoff; snooze for one hour using an expiring, one-time capability.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2BA1D23-BC15-38CD-F7B9-AA65AEC12E16}"/>
              </a:ext>
            </a:extLst>
          </p:cNvPr>
          <p:cNvSpPr txBox="1"/>
          <p:nvPr/>
        </p:nvSpPr>
        <p:spPr>
          <a:xfrm>
            <a:off x="2413000" y="5613400"/>
            <a:ext cx="711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000" b="1">
                <a:solidFill>
                  <a:srgbClr val="5C716D"/>
                </a:solidFill>
                <a:latin typeface="Aptos" panose="020B0004020202020204" pitchFamily="34" charset="0"/>
              </a:rPr>
              <a:t>Generic lock-screen text; no symptoms or health details in push payload.</a:t>
            </a:r>
          </a:p>
        </p:txBody>
      </p:sp>
    </p:spTree>
    <p:extLst>
      <p:ext uri="{BB962C8B-B14F-4D97-AF65-F5344CB8AC3E}">
        <p14:creationId xmlns:p14="http://schemas.microsoft.com/office/powerpoint/2010/main" val="25689302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CB49E8D-E2AF-75C7-4475-1749A1A1D478}"/>
              </a:ext>
            </a:extLst>
          </p:cNvPr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D70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80789C-A032-2E7A-E6A8-6C21C6F8E0C3}"/>
              </a:ext>
            </a:extLst>
          </p:cNvPr>
          <p:cNvSpPr txBox="1"/>
          <p:nvPr/>
        </p:nvSpPr>
        <p:spPr>
          <a:xfrm>
            <a:off x="482600" y="2540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63817B"/>
                </a:solidFill>
                <a:latin typeface="Aptos" panose="020B0004020202020204" pitchFamily="34" charset="0"/>
              </a:rPr>
              <a:t>10 | IMPLEMENTATION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34FF35-2C1C-5E14-AE88-585AE7D2B893}"/>
              </a:ext>
            </a:extLst>
          </p:cNvPr>
          <p:cNvSpPr txBox="1"/>
          <p:nvPr/>
        </p:nvSpPr>
        <p:spPr>
          <a:xfrm>
            <a:off x="482600" y="5715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700" b="1">
                <a:solidFill>
                  <a:srgbClr val="163E3A"/>
                </a:solidFill>
                <a:latin typeface="Aptos" panose="020B0004020202020204" pitchFamily="34" charset="0"/>
              </a:rPr>
              <a:t>Hardware &amp; Software Requirements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64B3C8-EF3E-B441-13C9-D05B96508512}"/>
              </a:ext>
            </a:extLst>
          </p:cNvPr>
          <p:cNvSpPr/>
          <p:nvPr/>
        </p:nvSpPr>
        <p:spPr>
          <a:xfrm>
            <a:off x="482600" y="6375400"/>
            <a:ext cx="11226800" cy="12700"/>
          </a:xfrm>
          <a:prstGeom prst="rect">
            <a:avLst/>
          </a:prstGeom>
          <a:solidFill>
            <a:srgbClr val="D6E2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6EA48F-0A4B-21DA-24F8-E541A848AC16}"/>
              </a:ext>
            </a:extLst>
          </p:cNvPr>
          <p:cNvSpPr txBox="1"/>
          <p:nvPr/>
        </p:nvSpPr>
        <p:spPr>
          <a:xfrm>
            <a:off x="482600" y="6451600"/>
            <a:ext cx="965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70837F"/>
                </a:solidFill>
                <a:latin typeface="Aptos" panose="020B0004020202020204" pitchFamily="34" charset="0"/>
              </a:rPr>
              <a:t>MaatriCare | MCA Project | Illustrative academic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7D7E7D-017D-CDDD-B3E9-1CA0EEDDE00E}"/>
              </a:ext>
            </a:extLst>
          </p:cNvPr>
          <p:cNvSpPr txBox="1"/>
          <p:nvPr/>
        </p:nvSpPr>
        <p:spPr>
          <a:xfrm>
            <a:off x="11049000" y="64389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r"/>
            <a:r>
              <a:rPr lang="en-US" sz="900" b="1">
                <a:solidFill>
                  <a:srgbClr val="357A70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981264B-9811-78ED-AB3A-6198535435DD}"/>
              </a:ext>
            </a:extLst>
          </p:cNvPr>
          <p:cNvSpPr/>
          <p:nvPr/>
        </p:nvSpPr>
        <p:spPr>
          <a:xfrm>
            <a:off x="660400" y="1701800"/>
            <a:ext cx="5143500" cy="3771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4277FF7-53A8-52B6-3BBE-87BA9A2FBB27}"/>
              </a:ext>
            </a:extLst>
          </p:cNvPr>
          <p:cNvSpPr/>
          <p:nvPr/>
        </p:nvSpPr>
        <p:spPr>
          <a:xfrm>
            <a:off x="838200" y="1892300"/>
            <a:ext cx="63500" cy="3390900"/>
          </a:xfrm>
          <a:prstGeom prst="rect">
            <a:avLst/>
          </a:prstGeom>
          <a:solidFill>
            <a:srgbClr val="D889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A7948A-264B-F478-0138-32A96C1F05FB}"/>
              </a:ext>
            </a:extLst>
          </p:cNvPr>
          <p:cNvSpPr txBox="1"/>
          <p:nvPr/>
        </p:nvSpPr>
        <p:spPr>
          <a:xfrm>
            <a:off x="1041400" y="1841500"/>
            <a:ext cx="457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Suggested development machine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D32C87-83ED-7C7E-0F19-510770BD5C76}"/>
              </a:ext>
            </a:extLst>
          </p:cNvPr>
          <p:cNvSpPr txBox="1"/>
          <p:nvPr/>
        </p:nvSpPr>
        <p:spPr>
          <a:xfrm>
            <a:off x="1041400" y="2159000"/>
            <a:ext cx="45339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Minimum: dual-core CPU, 8 GB RAM, 10 GB available storage.</a:t>
            </a:r>
          </a:p>
          <a:p>
            <a:endParaRPr lang="en-US" sz="1100">
              <a:solidFill>
                <a:srgbClr val="4C6260"/>
              </a:solidFill>
              <a:latin typeface="Aptos" panose="020B0004020202020204" pitchFamily="34" charset="0"/>
            </a:endParaRP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Recommended: quad-core CPU, 16 GB RAM, SSD, stable internet.</a:t>
            </a:r>
          </a:p>
          <a:p>
            <a:endParaRPr lang="en-US" sz="1100">
              <a:solidFill>
                <a:srgbClr val="4C6260"/>
              </a:solidFill>
              <a:latin typeface="Aptos" panose="020B0004020202020204" pitchFamily="34" charset="0"/>
            </a:endParaRP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These are project setup recommendations, not benchmarked minimums.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2159C47-2313-0861-0188-2751C84F4953}"/>
              </a:ext>
            </a:extLst>
          </p:cNvPr>
          <p:cNvSpPr/>
          <p:nvPr/>
        </p:nvSpPr>
        <p:spPr>
          <a:xfrm>
            <a:off x="6324600" y="1701800"/>
            <a:ext cx="5207000" cy="3771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754954-3E5A-5F09-B312-492996862B94}"/>
              </a:ext>
            </a:extLst>
          </p:cNvPr>
          <p:cNvSpPr/>
          <p:nvPr/>
        </p:nvSpPr>
        <p:spPr>
          <a:xfrm>
            <a:off x="6502400" y="1892300"/>
            <a:ext cx="63500" cy="3390900"/>
          </a:xfrm>
          <a:prstGeom prst="rect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31741C-53D9-42C6-56AA-C8F233231FE8}"/>
              </a:ext>
            </a:extLst>
          </p:cNvPr>
          <p:cNvSpPr txBox="1"/>
          <p:nvPr/>
        </p:nvSpPr>
        <p:spPr>
          <a:xfrm>
            <a:off x="6705600" y="1841500"/>
            <a:ext cx="4635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Software stack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0AFF50-B909-B8D8-DA1E-BBAF2C432461}"/>
              </a:ext>
            </a:extLst>
          </p:cNvPr>
          <p:cNvSpPr txBox="1"/>
          <p:nvPr/>
        </p:nvSpPr>
        <p:spPr>
          <a:xfrm>
            <a:off x="6705600" y="2159000"/>
            <a:ext cx="45974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Windows / Linux / macOS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Java 25; Maven 3.9+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Node.js 26; npm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MySQL local profile; PostgreSQL config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Modern Chrome / Edge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Optional Ollama local model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VAPID keys + HTTPS for deployed push</a:t>
            </a:r>
          </a:p>
        </p:txBody>
      </p:sp>
    </p:spTree>
    <p:extLst>
      <p:ext uri="{BB962C8B-B14F-4D97-AF65-F5344CB8AC3E}">
        <p14:creationId xmlns:p14="http://schemas.microsoft.com/office/powerpoint/2010/main" val="2582464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AB1EFA-2404-D5CD-CA82-FBFBB706C49E}"/>
              </a:ext>
            </a:extLst>
          </p:cNvPr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D70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1179A0-3CC8-2F46-A0C1-51D6750806B6}"/>
              </a:ext>
            </a:extLst>
          </p:cNvPr>
          <p:cNvSpPr txBox="1"/>
          <p:nvPr/>
        </p:nvSpPr>
        <p:spPr>
          <a:xfrm>
            <a:off x="482600" y="2540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63817B"/>
                </a:solidFill>
                <a:latin typeface="Aptos" panose="020B0004020202020204" pitchFamily="34" charset="0"/>
              </a:rPr>
              <a:t>11 | IMPLEMENTED FUNCTIONALITY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5EA156-0460-2F65-9782-51952C3FFEFD}"/>
              </a:ext>
            </a:extLst>
          </p:cNvPr>
          <p:cNvSpPr txBox="1"/>
          <p:nvPr/>
        </p:nvSpPr>
        <p:spPr>
          <a:xfrm>
            <a:off x="482600" y="5715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700" b="1">
                <a:solidFill>
                  <a:srgbClr val="163E3A"/>
                </a:solidFill>
                <a:latin typeface="Aptos" panose="020B0004020202020204" pitchFamily="34" charset="0"/>
              </a:rPr>
              <a:t>Modules Developed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CC686C-10CD-A405-05DF-0E5BCAA6A241}"/>
              </a:ext>
            </a:extLst>
          </p:cNvPr>
          <p:cNvSpPr/>
          <p:nvPr/>
        </p:nvSpPr>
        <p:spPr>
          <a:xfrm>
            <a:off x="482600" y="6375400"/>
            <a:ext cx="11226800" cy="12700"/>
          </a:xfrm>
          <a:prstGeom prst="rect">
            <a:avLst/>
          </a:prstGeom>
          <a:solidFill>
            <a:srgbClr val="D6E2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C86FBB-771A-433B-4FA7-636D958C8B30}"/>
              </a:ext>
            </a:extLst>
          </p:cNvPr>
          <p:cNvSpPr txBox="1"/>
          <p:nvPr/>
        </p:nvSpPr>
        <p:spPr>
          <a:xfrm>
            <a:off x="482600" y="6451600"/>
            <a:ext cx="965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70837F"/>
                </a:solidFill>
                <a:latin typeface="Aptos" panose="020B0004020202020204" pitchFamily="34" charset="0"/>
              </a:rPr>
              <a:t>MaatriCare | MCA Project | Illustrative academic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321315-5CB5-45F9-9CBC-9461ED0C9661}"/>
              </a:ext>
            </a:extLst>
          </p:cNvPr>
          <p:cNvSpPr txBox="1"/>
          <p:nvPr/>
        </p:nvSpPr>
        <p:spPr>
          <a:xfrm>
            <a:off x="11049000" y="64389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r"/>
            <a:r>
              <a:rPr lang="en-US" sz="900" b="1">
                <a:solidFill>
                  <a:srgbClr val="357A70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65E0B1-0963-D5CD-FE2E-36EFE7AB6905}"/>
              </a:ext>
            </a:extLst>
          </p:cNvPr>
          <p:cNvSpPr/>
          <p:nvPr/>
        </p:nvSpPr>
        <p:spPr>
          <a:xfrm>
            <a:off x="660400" y="1625600"/>
            <a:ext cx="5207000" cy="66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B7E97D6-6681-64F5-884A-8DCA76C7D39E}"/>
              </a:ext>
            </a:extLst>
          </p:cNvPr>
          <p:cNvSpPr/>
          <p:nvPr/>
        </p:nvSpPr>
        <p:spPr>
          <a:xfrm>
            <a:off x="863600" y="1841500"/>
            <a:ext cx="228600" cy="228600"/>
          </a:xfrm>
          <a:prstGeom prst="ellipse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3A11EA-89DD-B34B-0EBF-7DEB66767364}"/>
              </a:ext>
            </a:extLst>
          </p:cNvPr>
          <p:cNvSpPr txBox="1"/>
          <p:nvPr/>
        </p:nvSpPr>
        <p:spPr>
          <a:xfrm>
            <a:off x="1244600" y="1816100"/>
            <a:ext cx="4368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200" b="1">
                <a:solidFill>
                  <a:srgbClr val="203A3A"/>
                </a:solidFill>
                <a:latin typeface="Aptos" panose="020B0004020202020204" pitchFamily="34" charset="0"/>
              </a:rPr>
              <a:t>Authentication &amp; profile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DB23CB3-9D9E-3F56-6AD4-C244E52458B5}"/>
              </a:ext>
            </a:extLst>
          </p:cNvPr>
          <p:cNvSpPr/>
          <p:nvPr/>
        </p:nvSpPr>
        <p:spPr>
          <a:xfrm>
            <a:off x="6223000" y="1625600"/>
            <a:ext cx="5207000" cy="66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3654C1B-FB02-1D40-925F-AEA8370D5C77}"/>
              </a:ext>
            </a:extLst>
          </p:cNvPr>
          <p:cNvSpPr/>
          <p:nvPr/>
        </p:nvSpPr>
        <p:spPr>
          <a:xfrm>
            <a:off x="6426200" y="1841500"/>
            <a:ext cx="228600" cy="228600"/>
          </a:xfrm>
          <a:prstGeom prst="ellipse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F2E8D6-33ED-5E5C-7542-B6DE163A713E}"/>
              </a:ext>
            </a:extLst>
          </p:cNvPr>
          <p:cNvSpPr txBox="1"/>
          <p:nvPr/>
        </p:nvSpPr>
        <p:spPr>
          <a:xfrm>
            <a:off x="6807200" y="1816100"/>
            <a:ext cx="4368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200" b="1">
                <a:solidFill>
                  <a:srgbClr val="203A3A"/>
                </a:solidFill>
                <a:latin typeface="Aptos" panose="020B0004020202020204" pitchFamily="34" charset="0"/>
              </a:rPr>
              <a:t>Pregnancy status &amp; milestones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C35FB61-3838-A8E6-E49A-93920AFDC3D4}"/>
              </a:ext>
            </a:extLst>
          </p:cNvPr>
          <p:cNvSpPr/>
          <p:nvPr/>
        </p:nvSpPr>
        <p:spPr>
          <a:xfrm>
            <a:off x="660400" y="2476500"/>
            <a:ext cx="5207000" cy="66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950E987-7251-B8D5-9C0E-C010D42BCF65}"/>
              </a:ext>
            </a:extLst>
          </p:cNvPr>
          <p:cNvSpPr/>
          <p:nvPr/>
        </p:nvSpPr>
        <p:spPr>
          <a:xfrm>
            <a:off x="863600" y="2692400"/>
            <a:ext cx="228600" cy="228600"/>
          </a:xfrm>
          <a:prstGeom prst="ellipse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1B16CE-E7D5-EDCF-6345-78739BBDD0CA}"/>
              </a:ext>
            </a:extLst>
          </p:cNvPr>
          <p:cNvSpPr txBox="1"/>
          <p:nvPr/>
        </p:nvSpPr>
        <p:spPr>
          <a:xfrm>
            <a:off x="1244600" y="2667000"/>
            <a:ext cx="4368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200" b="1">
                <a:solidFill>
                  <a:srgbClr val="203A3A"/>
                </a:solidFill>
                <a:latin typeface="Aptos" panose="020B0004020202020204" pitchFamily="34" charset="0"/>
              </a:rPr>
              <a:t>Daily care &amp; Gentle Day Planner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63FBEC8-0AB7-CDCC-1E60-1E6941037126}"/>
              </a:ext>
            </a:extLst>
          </p:cNvPr>
          <p:cNvSpPr/>
          <p:nvPr/>
        </p:nvSpPr>
        <p:spPr>
          <a:xfrm>
            <a:off x="6223000" y="2476500"/>
            <a:ext cx="5207000" cy="66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0F49D14-E5AF-40CE-1AF6-6EC7E64BC5F2}"/>
              </a:ext>
            </a:extLst>
          </p:cNvPr>
          <p:cNvSpPr/>
          <p:nvPr/>
        </p:nvSpPr>
        <p:spPr>
          <a:xfrm>
            <a:off x="6426200" y="2692400"/>
            <a:ext cx="228600" cy="228600"/>
          </a:xfrm>
          <a:prstGeom prst="ellipse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7E2680-4790-0758-6E77-7C7A3D06F652}"/>
              </a:ext>
            </a:extLst>
          </p:cNvPr>
          <p:cNvSpPr txBox="1"/>
          <p:nvPr/>
        </p:nvSpPr>
        <p:spPr>
          <a:xfrm>
            <a:off x="6807200" y="2667000"/>
            <a:ext cx="4368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200" b="1">
                <a:solidFill>
                  <a:srgbClr val="203A3A"/>
                </a:solidFill>
                <a:latin typeface="Aptos" panose="020B0004020202020204" pitchFamily="34" charset="0"/>
              </a:rPr>
              <a:t>Appointments &amp; visit questions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1B4F29D-617C-085E-CAA9-7ED628DA9E63}"/>
              </a:ext>
            </a:extLst>
          </p:cNvPr>
          <p:cNvSpPr/>
          <p:nvPr/>
        </p:nvSpPr>
        <p:spPr>
          <a:xfrm>
            <a:off x="660400" y="3327400"/>
            <a:ext cx="5207000" cy="66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9CE90E2-91C5-405A-8F3B-0F10CBD91319}"/>
              </a:ext>
            </a:extLst>
          </p:cNvPr>
          <p:cNvSpPr/>
          <p:nvPr/>
        </p:nvSpPr>
        <p:spPr>
          <a:xfrm>
            <a:off x="863600" y="3543300"/>
            <a:ext cx="228600" cy="228600"/>
          </a:xfrm>
          <a:prstGeom prst="ellipse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983E900-EC37-3320-B650-577DD3351166}"/>
              </a:ext>
            </a:extLst>
          </p:cNvPr>
          <p:cNvSpPr txBox="1"/>
          <p:nvPr/>
        </p:nvSpPr>
        <p:spPr>
          <a:xfrm>
            <a:off x="1244600" y="3517900"/>
            <a:ext cx="4368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200" b="1">
                <a:solidFill>
                  <a:srgbClr val="203A3A"/>
                </a:solidFill>
                <a:latin typeface="Aptos" panose="020B0004020202020204" pitchFamily="34" charset="0"/>
              </a:rPr>
              <a:t>Private symptom journal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5E731FC-8C7E-8484-002E-8EE2BB91E6E2}"/>
              </a:ext>
            </a:extLst>
          </p:cNvPr>
          <p:cNvSpPr/>
          <p:nvPr/>
        </p:nvSpPr>
        <p:spPr>
          <a:xfrm>
            <a:off x="6223000" y="3327400"/>
            <a:ext cx="5207000" cy="66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330D7A1-17B9-1063-9536-48988C304D31}"/>
              </a:ext>
            </a:extLst>
          </p:cNvPr>
          <p:cNvSpPr/>
          <p:nvPr/>
        </p:nvSpPr>
        <p:spPr>
          <a:xfrm>
            <a:off x="6426200" y="3543300"/>
            <a:ext cx="228600" cy="228600"/>
          </a:xfrm>
          <a:prstGeom prst="ellipse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5B88AC-AA2A-7C3E-3362-CD99CADCF265}"/>
              </a:ext>
            </a:extLst>
          </p:cNvPr>
          <p:cNvSpPr txBox="1"/>
          <p:nvPr/>
        </p:nvSpPr>
        <p:spPr>
          <a:xfrm>
            <a:off x="6807200" y="3517900"/>
            <a:ext cx="4368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200" b="1">
                <a:solidFill>
                  <a:srgbClr val="203A3A"/>
                </a:solidFill>
                <a:latin typeface="Aptos" panose="020B0004020202020204" pitchFamily="34" charset="0"/>
              </a:rPr>
              <a:t>Weekly guides &amp; resources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3EA4969-2802-4D9A-361C-3E7029804127}"/>
              </a:ext>
            </a:extLst>
          </p:cNvPr>
          <p:cNvSpPr/>
          <p:nvPr/>
        </p:nvSpPr>
        <p:spPr>
          <a:xfrm>
            <a:off x="660400" y="4178300"/>
            <a:ext cx="5207000" cy="66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65EC9CE-89F2-DC87-BD99-A3F2FA0292AC}"/>
              </a:ext>
            </a:extLst>
          </p:cNvPr>
          <p:cNvSpPr/>
          <p:nvPr/>
        </p:nvSpPr>
        <p:spPr>
          <a:xfrm>
            <a:off x="863600" y="4394200"/>
            <a:ext cx="228600" cy="228600"/>
          </a:xfrm>
          <a:prstGeom prst="ellipse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60211A-4D1D-B511-536B-A5F2FD1CD337}"/>
              </a:ext>
            </a:extLst>
          </p:cNvPr>
          <p:cNvSpPr txBox="1"/>
          <p:nvPr/>
        </p:nvSpPr>
        <p:spPr>
          <a:xfrm>
            <a:off x="1244600" y="4368800"/>
            <a:ext cx="4368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200" b="1">
                <a:solidFill>
                  <a:srgbClr val="203A3A"/>
                </a:solidFill>
                <a:latin typeface="Aptos" panose="020B0004020202020204" pitchFamily="34" charset="0"/>
              </a:rPr>
              <a:t>AI assistant / visit review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25FFEBC-5635-156E-8663-763F0677D689}"/>
              </a:ext>
            </a:extLst>
          </p:cNvPr>
          <p:cNvSpPr/>
          <p:nvPr/>
        </p:nvSpPr>
        <p:spPr>
          <a:xfrm>
            <a:off x="6223000" y="4178300"/>
            <a:ext cx="5207000" cy="66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5EA32B78-DEE9-9AC0-0DF8-270A1D9ACB48}"/>
              </a:ext>
            </a:extLst>
          </p:cNvPr>
          <p:cNvSpPr/>
          <p:nvPr/>
        </p:nvSpPr>
        <p:spPr>
          <a:xfrm>
            <a:off x="6426200" y="4394200"/>
            <a:ext cx="228600" cy="228600"/>
          </a:xfrm>
          <a:prstGeom prst="ellipse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0B5579E-4322-B9A1-954E-997202AD6E0F}"/>
              </a:ext>
            </a:extLst>
          </p:cNvPr>
          <p:cNvSpPr txBox="1"/>
          <p:nvPr/>
        </p:nvSpPr>
        <p:spPr>
          <a:xfrm>
            <a:off x="6807200" y="4368800"/>
            <a:ext cx="4368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200" b="1">
                <a:solidFill>
                  <a:srgbClr val="203A3A"/>
                </a:solidFill>
                <a:latin typeface="Aptos" panose="020B0004020202020204" pitchFamily="34" charset="0"/>
              </a:rPr>
              <a:t>Reports &amp; secure sharing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1045678-82E0-C6FF-FF58-BE746F6E0806}"/>
              </a:ext>
            </a:extLst>
          </p:cNvPr>
          <p:cNvSpPr/>
          <p:nvPr/>
        </p:nvSpPr>
        <p:spPr>
          <a:xfrm>
            <a:off x="660400" y="5029200"/>
            <a:ext cx="5207000" cy="66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1A95FC7-2289-4717-F3D9-AFB4CB9EA948}"/>
              </a:ext>
            </a:extLst>
          </p:cNvPr>
          <p:cNvSpPr/>
          <p:nvPr/>
        </p:nvSpPr>
        <p:spPr>
          <a:xfrm>
            <a:off x="863600" y="5245100"/>
            <a:ext cx="228600" cy="228600"/>
          </a:xfrm>
          <a:prstGeom prst="ellipse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8C247E-F7C8-24AB-03A4-FABE5F2A5EE5}"/>
              </a:ext>
            </a:extLst>
          </p:cNvPr>
          <p:cNvSpPr txBox="1"/>
          <p:nvPr/>
        </p:nvSpPr>
        <p:spPr>
          <a:xfrm>
            <a:off x="1244600" y="5219700"/>
            <a:ext cx="4368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200" b="1">
                <a:solidFill>
                  <a:srgbClr val="203A3A"/>
                </a:solidFill>
                <a:latin typeface="Aptos" panose="020B0004020202020204" pitchFamily="34" charset="0"/>
              </a:rPr>
              <a:t>Emergency contacts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DD472484-A985-181C-DAF2-FD678CA4817A}"/>
              </a:ext>
            </a:extLst>
          </p:cNvPr>
          <p:cNvSpPr/>
          <p:nvPr/>
        </p:nvSpPr>
        <p:spPr>
          <a:xfrm>
            <a:off x="6223000" y="5029200"/>
            <a:ext cx="5207000" cy="66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E3582E4-8DF1-4CA6-6E6E-C79DA4F16C91}"/>
              </a:ext>
            </a:extLst>
          </p:cNvPr>
          <p:cNvSpPr/>
          <p:nvPr/>
        </p:nvSpPr>
        <p:spPr>
          <a:xfrm>
            <a:off x="6426200" y="5245100"/>
            <a:ext cx="228600" cy="228600"/>
          </a:xfrm>
          <a:prstGeom prst="ellipse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0CBA96-0219-3547-D994-484020C6D9D6}"/>
              </a:ext>
            </a:extLst>
          </p:cNvPr>
          <p:cNvSpPr txBox="1"/>
          <p:nvPr/>
        </p:nvSpPr>
        <p:spPr>
          <a:xfrm>
            <a:off x="6807200" y="5219700"/>
            <a:ext cx="4368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200" b="1">
                <a:solidFill>
                  <a:srgbClr val="203A3A"/>
                </a:solidFill>
                <a:latin typeface="Aptos" panose="020B0004020202020204" pitchFamily="34" charset="0"/>
              </a:rPr>
              <a:t>Timezone-aware reminders / Web Push</a:t>
            </a:r>
          </a:p>
        </p:txBody>
      </p:sp>
    </p:spTree>
    <p:extLst>
      <p:ext uri="{BB962C8B-B14F-4D97-AF65-F5344CB8AC3E}">
        <p14:creationId xmlns:p14="http://schemas.microsoft.com/office/powerpoint/2010/main" val="1506178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B7B8F4-7733-5808-B483-D8749165B8E7}"/>
              </a:ext>
            </a:extLst>
          </p:cNvPr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D70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3B64CE-A6D4-6029-04D4-413279A2870F}"/>
              </a:ext>
            </a:extLst>
          </p:cNvPr>
          <p:cNvSpPr txBox="1"/>
          <p:nvPr/>
        </p:nvSpPr>
        <p:spPr>
          <a:xfrm>
            <a:off x="482600" y="2540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63817B"/>
                </a:solidFill>
                <a:latin typeface="Aptos" panose="020B0004020202020204" pitchFamily="34" charset="0"/>
              </a:rPr>
              <a:t>12 | MODULE WALKTHROUGH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784610-FF7E-F8C6-20AA-59F0EA4E819A}"/>
              </a:ext>
            </a:extLst>
          </p:cNvPr>
          <p:cNvSpPr txBox="1"/>
          <p:nvPr/>
        </p:nvSpPr>
        <p:spPr>
          <a:xfrm>
            <a:off x="482600" y="5715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700" b="1">
                <a:solidFill>
                  <a:srgbClr val="163E3A"/>
                </a:solidFill>
                <a:latin typeface="Aptos" panose="020B0004020202020204" pitchFamily="34" charset="0"/>
              </a:rPr>
              <a:t>Implemented Screen: Overview &amp; Daily Care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4194D3-7617-F1EC-9B39-9E3112007287}"/>
              </a:ext>
            </a:extLst>
          </p:cNvPr>
          <p:cNvSpPr/>
          <p:nvPr/>
        </p:nvSpPr>
        <p:spPr>
          <a:xfrm>
            <a:off x="482600" y="6375400"/>
            <a:ext cx="11226800" cy="12700"/>
          </a:xfrm>
          <a:prstGeom prst="rect">
            <a:avLst/>
          </a:prstGeom>
          <a:solidFill>
            <a:srgbClr val="D6E2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68BED9-BB52-A4EC-512C-C4EA36E6AC50}"/>
              </a:ext>
            </a:extLst>
          </p:cNvPr>
          <p:cNvSpPr txBox="1"/>
          <p:nvPr/>
        </p:nvSpPr>
        <p:spPr>
          <a:xfrm>
            <a:off x="482600" y="6451600"/>
            <a:ext cx="965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70837F"/>
                </a:solidFill>
                <a:latin typeface="Aptos" panose="020B0004020202020204" pitchFamily="34" charset="0"/>
              </a:rPr>
              <a:t>MaatriCare | MCA Project | Illustrative academic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91F15E-648C-6A34-FCAC-8A77BA8955E3}"/>
              </a:ext>
            </a:extLst>
          </p:cNvPr>
          <p:cNvSpPr txBox="1"/>
          <p:nvPr/>
        </p:nvSpPr>
        <p:spPr>
          <a:xfrm>
            <a:off x="11049000" y="64389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r"/>
            <a:r>
              <a:rPr lang="en-US" sz="900" b="1">
                <a:solidFill>
                  <a:srgbClr val="357A70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A3265CE-AA70-93C0-6FBB-915213E53170}"/>
              </a:ext>
            </a:extLst>
          </p:cNvPr>
          <p:cNvSpPr/>
          <p:nvPr/>
        </p:nvSpPr>
        <p:spPr>
          <a:xfrm>
            <a:off x="685800" y="1600200"/>
            <a:ext cx="5143500" cy="4191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A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E1D9F25-01C2-2DD7-964F-7EA892EAD8BD}"/>
              </a:ext>
            </a:extLst>
          </p:cNvPr>
          <p:cNvSpPr/>
          <p:nvPr/>
        </p:nvSpPr>
        <p:spPr>
          <a:xfrm>
            <a:off x="685800" y="1600200"/>
            <a:ext cx="5143500" cy="381000"/>
          </a:xfrm>
          <a:prstGeom prst="roundRect">
            <a:avLst/>
          </a:prstGeom>
          <a:solidFill>
            <a:srgbClr val="EAF2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0F5C56-7B39-E97A-1917-699AD57FC83D}"/>
              </a:ext>
            </a:extLst>
          </p:cNvPr>
          <p:cNvSpPr txBox="1"/>
          <p:nvPr/>
        </p:nvSpPr>
        <p:spPr>
          <a:xfrm>
            <a:off x="838200" y="1689100"/>
            <a:ext cx="48387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276A61"/>
                </a:solidFill>
                <a:latin typeface="Aptos" panose="020B0004020202020204" pitchFamily="34" charset="0"/>
              </a:rPr>
              <a:t>MaatriCare   /   Pregnancy overview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F899E3-7B51-EB84-8018-CC207E394605}"/>
              </a:ext>
            </a:extLst>
          </p:cNvPr>
          <p:cNvSpPr txBox="1"/>
          <p:nvPr/>
        </p:nvSpPr>
        <p:spPr>
          <a:xfrm>
            <a:off x="876300" y="2146300"/>
            <a:ext cx="4762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400" b="1">
                <a:solidFill>
                  <a:srgbClr val="244641"/>
                </a:solidFill>
                <a:latin typeface="Aptos" panose="020B0004020202020204" pitchFamily="34" charset="0"/>
              </a:rPr>
              <a:t>Pregnancy journey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E8BAF4-943D-4A8C-2514-892ACCB81474}"/>
              </a:ext>
            </a:extLst>
          </p:cNvPr>
          <p:cNvSpPr txBox="1"/>
          <p:nvPr/>
        </p:nvSpPr>
        <p:spPr>
          <a:xfrm>
            <a:off x="876300" y="2540000"/>
            <a:ext cx="2417445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 b="1">
                <a:solidFill>
                  <a:srgbClr val="365F59"/>
                </a:solidFill>
                <a:latin typeface="Aptos" panose="020B0004020202020204" pitchFamily="34" charset="0"/>
              </a:rPr>
              <a:t>Week 32  |  Third trimester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FD7AD54-AF96-5EEF-9BA4-342F39386A37}"/>
              </a:ext>
            </a:extLst>
          </p:cNvPr>
          <p:cNvSpPr/>
          <p:nvPr/>
        </p:nvSpPr>
        <p:spPr>
          <a:xfrm>
            <a:off x="876300" y="3009900"/>
            <a:ext cx="4762500" cy="127000"/>
          </a:xfrm>
          <a:prstGeom prst="roundRect">
            <a:avLst/>
          </a:prstGeom>
          <a:solidFill>
            <a:srgbClr val="DCEB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1CFF6D9-7941-1476-6ABA-050AF7BE78D6}"/>
              </a:ext>
            </a:extLst>
          </p:cNvPr>
          <p:cNvSpPr/>
          <p:nvPr/>
        </p:nvSpPr>
        <p:spPr>
          <a:xfrm>
            <a:off x="876300" y="3009900"/>
            <a:ext cx="3810000" cy="127000"/>
          </a:xfrm>
          <a:prstGeom prst="roundRect">
            <a:avLst/>
          </a:prstGeom>
          <a:solidFill>
            <a:srgbClr val="3886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8A84B1-8AA9-84B6-7A96-C4D62D039C6E}"/>
              </a:ext>
            </a:extLst>
          </p:cNvPr>
          <p:cNvSpPr txBox="1"/>
          <p:nvPr/>
        </p:nvSpPr>
        <p:spPr>
          <a:xfrm>
            <a:off x="876300" y="3276600"/>
            <a:ext cx="4762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61736F"/>
                </a:solidFill>
                <a:latin typeface="Aptos" panose="020B0004020202020204" pitchFamily="34" charset="0"/>
              </a:rPr>
              <a:t>80% complete   |   8 weeks remaining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0698EC2-9288-D285-2BD3-17DAA661041F}"/>
              </a:ext>
            </a:extLst>
          </p:cNvPr>
          <p:cNvSpPr/>
          <p:nvPr/>
        </p:nvSpPr>
        <p:spPr>
          <a:xfrm>
            <a:off x="876300" y="3759200"/>
            <a:ext cx="2317750" cy="10541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07F6E1C-3D57-A3F2-0F5A-5DAC83626A4A}"/>
              </a:ext>
            </a:extLst>
          </p:cNvPr>
          <p:cNvSpPr/>
          <p:nvPr/>
        </p:nvSpPr>
        <p:spPr>
          <a:xfrm>
            <a:off x="1054100" y="3949700"/>
            <a:ext cx="63500" cy="673100"/>
          </a:xfrm>
          <a:prstGeom prst="rect">
            <a:avLst/>
          </a:prstGeom>
          <a:solidFill>
            <a:srgbClr val="D68A6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CB2E6A-36ED-45DF-A646-D819F4580905}"/>
              </a:ext>
            </a:extLst>
          </p:cNvPr>
          <p:cNvSpPr txBox="1"/>
          <p:nvPr/>
        </p:nvSpPr>
        <p:spPr>
          <a:xfrm>
            <a:off x="1257300" y="3898900"/>
            <a:ext cx="174625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300" b="1">
                <a:solidFill>
                  <a:srgbClr val="174A46"/>
                </a:solidFill>
                <a:latin typeface="Aptos" panose="020B0004020202020204" pitchFamily="34" charset="0"/>
              </a:rPr>
              <a:t>Daily completion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B7A11F-4415-3497-B1F5-65F121CDA030}"/>
              </a:ext>
            </a:extLst>
          </p:cNvPr>
          <p:cNvSpPr txBox="1"/>
          <p:nvPr/>
        </p:nvSpPr>
        <p:spPr>
          <a:xfrm>
            <a:off x="1257300" y="4216400"/>
            <a:ext cx="170815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4C6260"/>
                </a:solidFill>
                <a:latin typeface="Aptos" panose="020B0004020202020204" pitchFamily="34" charset="0"/>
              </a:rPr>
              <a:t>Care, water, vitamins, activity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61A5B21-8105-6B49-6F2B-3BBF1C6DBB3B}"/>
              </a:ext>
            </a:extLst>
          </p:cNvPr>
          <p:cNvSpPr/>
          <p:nvPr/>
        </p:nvSpPr>
        <p:spPr>
          <a:xfrm>
            <a:off x="3321050" y="3759200"/>
            <a:ext cx="2317750" cy="10541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374BD51-05B8-67B9-EC33-0D37DF7132CD}"/>
              </a:ext>
            </a:extLst>
          </p:cNvPr>
          <p:cNvSpPr/>
          <p:nvPr/>
        </p:nvSpPr>
        <p:spPr>
          <a:xfrm>
            <a:off x="3498850" y="3949700"/>
            <a:ext cx="63500" cy="673100"/>
          </a:xfrm>
          <a:prstGeom prst="rect">
            <a:avLst/>
          </a:prstGeom>
          <a:solidFill>
            <a:srgbClr val="3886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B423EA-718C-C4D4-9E6F-F14BDBB043BD}"/>
              </a:ext>
            </a:extLst>
          </p:cNvPr>
          <p:cNvSpPr txBox="1"/>
          <p:nvPr/>
        </p:nvSpPr>
        <p:spPr>
          <a:xfrm>
            <a:off x="3702050" y="3898900"/>
            <a:ext cx="174625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300" b="1">
                <a:solidFill>
                  <a:srgbClr val="174A46"/>
                </a:solidFill>
                <a:latin typeface="Aptos" panose="020B0004020202020204" pitchFamily="34" charset="0"/>
              </a:rPr>
              <a:t>Weekly summary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358DF8-3FB8-3E7E-C04A-A2594B57268C}"/>
              </a:ext>
            </a:extLst>
          </p:cNvPr>
          <p:cNvSpPr txBox="1"/>
          <p:nvPr/>
        </p:nvSpPr>
        <p:spPr>
          <a:xfrm>
            <a:off x="3702050" y="4216400"/>
            <a:ext cx="170815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4C6260"/>
                </a:solidFill>
                <a:latin typeface="Aptos" panose="020B0004020202020204" pitchFamily="34" charset="0"/>
              </a:rPr>
              <a:t>Recorded progress this week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64F89B7-F555-D23F-B3F0-3B4E217372C7}"/>
              </a:ext>
            </a:extLst>
          </p:cNvPr>
          <p:cNvSpPr txBox="1"/>
          <p:nvPr/>
        </p:nvSpPr>
        <p:spPr>
          <a:xfrm>
            <a:off x="812800" y="5537200"/>
            <a:ext cx="4889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700" b="1">
                <a:solidFill>
                  <a:srgbClr val="9B6E58"/>
                </a:solidFill>
                <a:latin typeface="Aptos" panose="020B0004020202020204" pitchFamily="34" charset="0"/>
              </a:rPr>
              <a:t>ILLUSTRATIVE UI MOCKUP - replace with live screenshot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E934B7F-59E3-B964-E8E8-B21D5F80A5D7}"/>
              </a:ext>
            </a:extLst>
          </p:cNvPr>
          <p:cNvSpPr/>
          <p:nvPr/>
        </p:nvSpPr>
        <p:spPr>
          <a:xfrm>
            <a:off x="6350000" y="1600200"/>
            <a:ext cx="5143500" cy="4191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A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7774F76-26F0-3A90-94CC-8E37EAE6E3D9}"/>
              </a:ext>
            </a:extLst>
          </p:cNvPr>
          <p:cNvSpPr/>
          <p:nvPr/>
        </p:nvSpPr>
        <p:spPr>
          <a:xfrm>
            <a:off x="6350000" y="1600200"/>
            <a:ext cx="5143500" cy="381000"/>
          </a:xfrm>
          <a:prstGeom prst="roundRect">
            <a:avLst/>
          </a:prstGeom>
          <a:solidFill>
            <a:srgbClr val="EAF2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DC76A2-29F2-0600-A480-5A5C3E4BC1B4}"/>
              </a:ext>
            </a:extLst>
          </p:cNvPr>
          <p:cNvSpPr txBox="1"/>
          <p:nvPr/>
        </p:nvSpPr>
        <p:spPr>
          <a:xfrm>
            <a:off x="6502400" y="1689100"/>
            <a:ext cx="48387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276A61"/>
                </a:solidFill>
                <a:latin typeface="Aptos" panose="020B0004020202020204" pitchFamily="34" charset="0"/>
              </a:rPr>
              <a:t>MaatriCare   /   Daily care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6ED34F0-A5D3-AF49-EA00-B5A76269D236}"/>
              </a:ext>
            </a:extLst>
          </p:cNvPr>
          <p:cNvSpPr txBox="1"/>
          <p:nvPr/>
        </p:nvSpPr>
        <p:spPr>
          <a:xfrm>
            <a:off x="6540500" y="2133600"/>
            <a:ext cx="4762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500" b="1">
                <a:solidFill>
                  <a:srgbClr val="244641"/>
                </a:solidFill>
                <a:latin typeface="Aptos" panose="020B0004020202020204" pitchFamily="34" charset="0"/>
              </a:rPr>
              <a:t>Your gentle day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02979E-0257-5772-1AA7-B80FA7B08B16}"/>
              </a:ext>
            </a:extLst>
          </p:cNvPr>
          <p:cNvSpPr txBox="1"/>
          <p:nvPr/>
        </p:nvSpPr>
        <p:spPr>
          <a:xfrm>
            <a:off x="6540500" y="2463800"/>
            <a:ext cx="4762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61736F"/>
                </a:solidFill>
                <a:latin typeface="Aptos" panose="020B0004020202020204" pitchFamily="34" charset="0"/>
              </a:rPr>
              <a:t>Choose what feels realistic today.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C8CA231-60CA-26FC-1C43-C9F39CA73D71}"/>
              </a:ext>
            </a:extLst>
          </p:cNvPr>
          <p:cNvSpPr/>
          <p:nvPr/>
        </p:nvSpPr>
        <p:spPr>
          <a:xfrm>
            <a:off x="6540500" y="2844800"/>
            <a:ext cx="47625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C4233E1-5B5B-E215-FC60-3B890DD0CEC1}"/>
              </a:ext>
            </a:extLst>
          </p:cNvPr>
          <p:cNvSpPr/>
          <p:nvPr/>
        </p:nvSpPr>
        <p:spPr>
          <a:xfrm>
            <a:off x="6718300" y="3035300"/>
            <a:ext cx="63500" cy="381000"/>
          </a:xfrm>
          <a:prstGeom prst="rect">
            <a:avLst/>
          </a:prstGeom>
          <a:solidFill>
            <a:srgbClr val="3886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DB7AB74-77AE-FA38-3207-FA644FB7C45B}"/>
              </a:ext>
            </a:extLst>
          </p:cNvPr>
          <p:cNvSpPr txBox="1"/>
          <p:nvPr/>
        </p:nvSpPr>
        <p:spPr>
          <a:xfrm>
            <a:off x="6921500" y="2984500"/>
            <a:ext cx="4191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300" b="1">
                <a:solidFill>
                  <a:srgbClr val="174A46"/>
                </a:solidFill>
                <a:latin typeface="Aptos" panose="020B0004020202020204" pitchFamily="34" charset="0"/>
              </a:rPr>
              <a:t>Capacity-aware plan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0E92FF1-163C-5E5A-5F8C-400345F691D0}"/>
              </a:ext>
            </a:extLst>
          </p:cNvPr>
          <p:cNvSpPr txBox="1"/>
          <p:nvPr/>
        </p:nvSpPr>
        <p:spPr>
          <a:xfrm>
            <a:off x="6921500" y="3302000"/>
            <a:ext cx="41529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4C6260"/>
                </a:solidFill>
                <a:latin typeface="Aptos" panose="020B0004020202020204" pitchFamily="34" charset="0"/>
              </a:rPr>
              <a:t>Low energy | Steady | Good energy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DF68AF8-6581-FE95-9ED9-6CE83346E74A}"/>
              </a:ext>
            </a:extLst>
          </p:cNvPr>
          <p:cNvSpPr/>
          <p:nvPr/>
        </p:nvSpPr>
        <p:spPr>
          <a:xfrm>
            <a:off x="6540500" y="3721100"/>
            <a:ext cx="4762500" cy="838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0E9BC98-B1B8-1A32-91B9-9E842FBD0400}"/>
              </a:ext>
            </a:extLst>
          </p:cNvPr>
          <p:cNvSpPr/>
          <p:nvPr/>
        </p:nvSpPr>
        <p:spPr>
          <a:xfrm>
            <a:off x="6718300" y="3911600"/>
            <a:ext cx="63500" cy="457200"/>
          </a:xfrm>
          <a:prstGeom prst="rect">
            <a:avLst/>
          </a:prstGeom>
          <a:solidFill>
            <a:srgbClr val="D68A6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86279E-5244-3350-A4AE-486997FBF4BD}"/>
              </a:ext>
            </a:extLst>
          </p:cNvPr>
          <p:cNvSpPr txBox="1"/>
          <p:nvPr/>
        </p:nvSpPr>
        <p:spPr>
          <a:xfrm>
            <a:off x="6921500" y="3860800"/>
            <a:ext cx="4191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300" b="1">
                <a:solidFill>
                  <a:srgbClr val="174A46"/>
                </a:solidFill>
                <a:latin typeface="Aptos" panose="020B0004020202020204" pitchFamily="34" charset="0"/>
              </a:rPr>
              <a:t>Care checklist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876D2A-4F2A-4251-1E06-E1E82867CB83}"/>
              </a:ext>
            </a:extLst>
          </p:cNvPr>
          <p:cNvSpPr txBox="1"/>
          <p:nvPr/>
        </p:nvSpPr>
        <p:spPr>
          <a:xfrm>
            <a:off x="6921500" y="4178300"/>
            <a:ext cx="41529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4C6260"/>
                </a:solidFill>
                <a:latin typeface="Aptos" panose="020B0004020202020204" pitchFamily="34" charset="0"/>
              </a:rPr>
              <a:t>Manage and complete daily care tasks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7278379-0554-E783-E42E-2D276BE945BF}"/>
              </a:ext>
            </a:extLst>
          </p:cNvPr>
          <p:cNvSpPr txBox="1"/>
          <p:nvPr/>
        </p:nvSpPr>
        <p:spPr>
          <a:xfrm>
            <a:off x="6477000" y="5537200"/>
            <a:ext cx="4889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700" b="1">
                <a:solidFill>
                  <a:srgbClr val="9B6E58"/>
                </a:solidFill>
                <a:latin typeface="Aptos" panose="020B0004020202020204" pitchFamily="34" charset="0"/>
              </a:rPr>
              <a:t>ILLUSTRATIVE UI MOCKUP - replace with live screenshot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374A757-DAB4-F9CE-765F-A33CB910677F}"/>
              </a:ext>
            </a:extLst>
          </p:cNvPr>
          <p:cNvSpPr txBox="1"/>
          <p:nvPr/>
        </p:nvSpPr>
        <p:spPr>
          <a:xfrm>
            <a:off x="977900" y="5918200"/>
            <a:ext cx="10223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900" b="1">
                <a:solidFill>
                  <a:srgbClr val="9B5B3C"/>
                </a:solidFill>
                <a:latin typeface="Aptos" panose="020B0004020202020204" pitchFamily="34" charset="0"/>
              </a:rPr>
              <a:t>Illustrative UI mockups based on implemented screens; replace with live screenshots before submitting.</a:t>
            </a:r>
          </a:p>
        </p:txBody>
      </p:sp>
    </p:spTree>
    <p:extLst>
      <p:ext uri="{BB962C8B-B14F-4D97-AF65-F5344CB8AC3E}">
        <p14:creationId xmlns:p14="http://schemas.microsoft.com/office/powerpoint/2010/main" val="41435932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F08AA7E-624C-9BE1-350D-C6E2CD68B9B2}"/>
              </a:ext>
            </a:extLst>
          </p:cNvPr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D70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043F34-40D8-764D-FF08-BE864E652BFE}"/>
              </a:ext>
            </a:extLst>
          </p:cNvPr>
          <p:cNvSpPr txBox="1"/>
          <p:nvPr/>
        </p:nvSpPr>
        <p:spPr>
          <a:xfrm>
            <a:off x="482600" y="2540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63817B"/>
                </a:solidFill>
                <a:latin typeface="Aptos" panose="020B0004020202020204" pitchFamily="34" charset="0"/>
              </a:rPr>
              <a:t>13 | MODULE WALKTHROUGH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C68E9-4797-9613-87A2-323054793BA4}"/>
              </a:ext>
            </a:extLst>
          </p:cNvPr>
          <p:cNvSpPr txBox="1"/>
          <p:nvPr/>
        </p:nvSpPr>
        <p:spPr>
          <a:xfrm>
            <a:off x="482600" y="5715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700" b="1">
                <a:solidFill>
                  <a:srgbClr val="163E3A"/>
                </a:solidFill>
                <a:latin typeface="Aptos" panose="020B0004020202020204" pitchFamily="34" charset="0"/>
              </a:rPr>
              <a:t>Implemented Screen: Appointments &amp; Journal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07ABD2-F2D8-D046-C113-B3DE22A6A593}"/>
              </a:ext>
            </a:extLst>
          </p:cNvPr>
          <p:cNvSpPr/>
          <p:nvPr/>
        </p:nvSpPr>
        <p:spPr>
          <a:xfrm>
            <a:off x="482600" y="6375400"/>
            <a:ext cx="11226800" cy="12700"/>
          </a:xfrm>
          <a:prstGeom prst="rect">
            <a:avLst/>
          </a:prstGeom>
          <a:solidFill>
            <a:srgbClr val="D6E2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957168-873F-FBB5-FDBA-4B60ECD5908F}"/>
              </a:ext>
            </a:extLst>
          </p:cNvPr>
          <p:cNvSpPr txBox="1"/>
          <p:nvPr/>
        </p:nvSpPr>
        <p:spPr>
          <a:xfrm>
            <a:off x="482600" y="6451600"/>
            <a:ext cx="965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70837F"/>
                </a:solidFill>
                <a:latin typeface="Aptos" panose="020B0004020202020204" pitchFamily="34" charset="0"/>
              </a:rPr>
              <a:t>MaatriCare | MCA Project | Illustrative academic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9DEB91-5E7A-A1C5-2562-0FF66D1A07CE}"/>
              </a:ext>
            </a:extLst>
          </p:cNvPr>
          <p:cNvSpPr txBox="1"/>
          <p:nvPr/>
        </p:nvSpPr>
        <p:spPr>
          <a:xfrm>
            <a:off x="11049000" y="64389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r"/>
            <a:r>
              <a:rPr lang="en-US" sz="900" b="1">
                <a:solidFill>
                  <a:srgbClr val="357A70"/>
                </a:solidFill>
                <a:latin typeface="Aptos" panose="020B0004020202020204" pitchFamily="34" charset="0"/>
              </a:rPr>
              <a:t>14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281CA23-B71E-1DB8-041C-46339F744970}"/>
              </a:ext>
            </a:extLst>
          </p:cNvPr>
          <p:cNvSpPr/>
          <p:nvPr/>
        </p:nvSpPr>
        <p:spPr>
          <a:xfrm>
            <a:off x="685800" y="1600200"/>
            <a:ext cx="5143500" cy="4191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A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2152860-A6F4-B99A-69F2-928925C08054}"/>
              </a:ext>
            </a:extLst>
          </p:cNvPr>
          <p:cNvSpPr/>
          <p:nvPr/>
        </p:nvSpPr>
        <p:spPr>
          <a:xfrm>
            <a:off x="685800" y="1600200"/>
            <a:ext cx="5143500" cy="381000"/>
          </a:xfrm>
          <a:prstGeom prst="roundRect">
            <a:avLst/>
          </a:prstGeom>
          <a:solidFill>
            <a:srgbClr val="EAF2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3B957B-06DE-8550-7C9F-87B6E5F24E80}"/>
              </a:ext>
            </a:extLst>
          </p:cNvPr>
          <p:cNvSpPr txBox="1"/>
          <p:nvPr/>
        </p:nvSpPr>
        <p:spPr>
          <a:xfrm>
            <a:off x="838200" y="1689100"/>
            <a:ext cx="48387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276A61"/>
                </a:solidFill>
                <a:latin typeface="Aptos" panose="020B0004020202020204" pitchFamily="34" charset="0"/>
              </a:rPr>
              <a:t>MaatriCare   /   Appointments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D0590B-66F7-C4F3-E91B-8E985E34DC55}"/>
              </a:ext>
            </a:extLst>
          </p:cNvPr>
          <p:cNvSpPr txBox="1"/>
          <p:nvPr/>
        </p:nvSpPr>
        <p:spPr>
          <a:xfrm>
            <a:off x="876300" y="2133600"/>
            <a:ext cx="4762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400" b="1">
                <a:solidFill>
                  <a:srgbClr val="244641"/>
                </a:solidFill>
                <a:latin typeface="Aptos" panose="020B0004020202020204" pitchFamily="34" charset="0"/>
              </a:rPr>
              <a:t>Appointment history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669C5CA-9243-B421-694E-D7918BA33FC8}"/>
              </a:ext>
            </a:extLst>
          </p:cNvPr>
          <p:cNvSpPr/>
          <p:nvPr/>
        </p:nvSpPr>
        <p:spPr>
          <a:xfrm>
            <a:off x="876300" y="2514600"/>
            <a:ext cx="1752600" cy="330200"/>
          </a:xfrm>
          <a:prstGeom prst="roundRect">
            <a:avLst/>
          </a:prstGeom>
          <a:solidFill>
            <a:srgbClr val="E2F1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CD36BA-7E90-FDD3-A494-BFAA79F20D38}"/>
              </a:ext>
            </a:extLst>
          </p:cNvPr>
          <p:cNvSpPr txBox="1"/>
          <p:nvPr/>
        </p:nvSpPr>
        <p:spPr>
          <a:xfrm>
            <a:off x="977900" y="2565400"/>
            <a:ext cx="15494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900" b="1">
                <a:solidFill>
                  <a:srgbClr val="23675F"/>
                </a:solidFill>
                <a:latin typeface="Aptos" panose="020B0004020202020204" pitchFamily="34" charset="0"/>
              </a:rPr>
              <a:t>Upcoming  |  Past  |  All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1514C86-0F0D-1535-9A90-170DE8CEC980}"/>
              </a:ext>
            </a:extLst>
          </p:cNvPr>
          <p:cNvSpPr/>
          <p:nvPr/>
        </p:nvSpPr>
        <p:spPr>
          <a:xfrm>
            <a:off x="876300" y="2971800"/>
            <a:ext cx="4762500" cy="635000"/>
          </a:xfrm>
          <a:prstGeom prst="roundRect">
            <a:avLst/>
          </a:prstGeom>
          <a:solidFill>
            <a:srgbClr val="FAFCFB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025C38-23C0-EDFA-D2B8-C5D4B22EC994}"/>
              </a:ext>
            </a:extLst>
          </p:cNvPr>
          <p:cNvSpPr txBox="1"/>
          <p:nvPr/>
        </p:nvSpPr>
        <p:spPr>
          <a:xfrm>
            <a:off x="1016000" y="3086100"/>
            <a:ext cx="4508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000" b="1">
                <a:solidFill>
                  <a:srgbClr val="244641"/>
                </a:solidFill>
                <a:latin typeface="Aptos" panose="020B0004020202020204" pitchFamily="34" charset="0"/>
              </a:rPr>
              <a:t>Routine prenatal visit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5A02DA-8A7A-1E5E-1C8C-3D944A5D2214}"/>
              </a:ext>
            </a:extLst>
          </p:cNvPr>
          <p:cNvSpPr txBox="1"/>
          <p:nvPr/>
        </p:nvSpPr>
        <p:spPr>
          <a:xfrm>
            <a:off x="1016000" y="3340100"/>
            <a:ext cx="4508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61736F"/>
                </a:solidFill>
                <a:latin typeface="Aptos" panose="020B0004020202020204" pitchFamily="34" charset="0"/>
              </a:rPr>
              <a:t>Dr. Sample  |  Community Clinic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A1D4F4-8DB5-94B8-9639-6E5AFB9F79CA}"/>
              </a:ext>
            </a:extLst>
          </p:cNvPr>
          <p:cNvSpPr txBox="1"/>
          <p:nvPr/>
        </p:nvSpPr>
        <p:spPr>
          <a:xfrm>
            <a:off x="876300" y="3810000"/>
            <a:ext cx="4762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000" b="1">
                <a:solidFill>
                  <a:srgbClr val="35675F"/>
                </a:solidFill>
                <a:latin typeface="Aptos" panose="020B0004020202020204" pitchFamily="34" charset="0"/>
              </a:rPr>
              <a:t>Prepare questions  |  Calendar export  |  Visit brief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13426F-5152-854C-9BC2-FE3A0D98FFCD}"/>
              </a:ext>
            </a:extLst>
          </p:cNvPr>
          <p:cNvSpPr txBox="1"/>
          <p:nvPr/>
        </p:nvSpPr>
        <p:spPr>
          <a:xfrm>
            <a:off x="812800" y="5537200"/>
            <a:ext cx="4889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700" b="1">
                <a:solidFill>
                  <a:srgbClr val="9B6E58"/>
                </a:solidFill>
                <a:latin typeface="Aptos" panose="020B0004020202020204" pitchFamily="34" charset="0"/>
              </a:rPr>
              <a:t>ILLUSTRATIVE UI MOCKUP - replace with live screenshot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B058F34-2BA7-3D8C-EDCD-F46DA99FC533}"/>
              </a:ext>
            </a:extLst>
          </p:cNvPr>
          <p:cNvSpPr/>
          <p:nvPr/>
        </p:nvSpPr>
        <p:spPr>
          <a:xfrm>
            <a:off x="6350000" y="1600200"/>
            <a:ext cx="5143500" cy="4191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A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1DF33FF-4DD1-4BD2-B0F5-061BB3D720C9}"/>
              </a:ext>
            </a:extLst>
          </p:cNvPr>
          <p:cNvSpPr/>
          <p:nvPr/>
        </p:nvSpPr>
        <p:spPr>
          <a:xfrm>
            <a:off x="6350000" y="1600200"/>
            <a:ext cx="5143500" cy="381000"/>
          </a:xfrm>
          <a:prstGeom prst="roundRect">
            <a:avLst/>
          </a:prstGeom>
          <a:solidFill>
            <a:srgbClr val="EAF2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702045-3EFF-1B26-2DB4-B37C783FC3A8}"/>
              </a:ext>
            </a:extLst>
          </p:cNvPr>
          <p:cNvSpPr txBox="1"/>
          <p:nvPr/>
        </p:nvSpPr>
        <p:spPr>
          <a:xfrm>
            <a:off x="6502400" y="1689100"/>
            <a:ext cx="48387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276A61"/>
                </a:solidFill>
                <a:latin typeface="Aptos" panose="020B0004020202020204" pitchFamily="34" charset="0"/>
              </a:rPr>
              <a:t>MaatriCare   /   Journal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C28318-DEFE-4855-14C9-15AE59DB9A8E}"/>
              </a:ext>
            </a:extLst>
          </p:cNvPr>
          <p:cNvSpPr txBox="1"/>
          <p:nvPr/>
        </p:nvSpPr>
        <p:spPr>
          <a:xfrm>
            <a:off x="6540500" y="2133600"/>
            <a:ext cx="4762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400" b="1">
                <a:solidFill>
                  <a:srgbClr val="244641"/>
                </a:solidFill>
                <a:latin typeface="Aptos" panose="020B0004020202020204" pitchFamily="34" charset="0"/>
              </a:rPr>
              <a:t>Private symptom journal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0F5ADA-FF05-717C-DF0F-CEE45D4F2A94}"/>
              </a:ext>
            </a:extLst>
          </p:cNvPr>
          <p:cNvSpPr txBox="1"/>
          <p:nvPr/>
        </p:nvSpPr>
        <p:spPr>
          <a:xfrm>
            <a:off x="6540500" y="2514600"/>
            <a:ext cx="4762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61736F"/>
                </a:solidFill>
                <a:latin typeface="Aptos" panose="020B0004020202020204" pitchFamily="34" charset="0"/>
              </a:rPr>
              <a:t>Search symptoms and notes  |  Filter severity and dates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8FE5005-4570-429F-EC76-D73A7174B1F5}"/>
              </a:ext>
            </a:extLst>
          </p:cNvPr>
          <p:cNvSpPr/>
          <p:nvPr/>
        </p:nvSpPr>
        <p:spPr>
          <a:xfrm>
            <a:off x="6540500" y="2946400"/>
            <a:ext cx="4762500" cy="698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A92FF9D-0AD6-7DB5-CB9E-0761419E3795}"/>
              </a:ext>
            </a:extLst>
          </p:cNvPr>
          <p:cNvSpPr/>
          <p:nvPr/>
        </p:nvSpPr>
        <p:spPr>
          <a:xfrm>
            <a:off x="6718300" y="3136900"/>
            <a:ext cx="63500" cy="317500"/>
          </a:xfrm>
          <a:prstGeom prst="rect">
            <a:avLst/>
          </a:prstGeom>
          <a:solidFill>
            <a:srgbClr val="D68A6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801116-63BE-92D2-6E4A-3A0BD1A48DDC}"/>
              </a:ext>
            </a:extLst>
          </p:cNvPr>
          <p:cNvSpPr txBox="1"/>
          <p:nvPr/>
        </p:nvSpPr>
        <p:spPr>
          <a:xfrm>
            <a:off x="6921500" y="3086100"/>
            <a:ext cx="4191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300" b="1">
                <a:solidFill>
                  <a:srgbClr val="174A46"/>
                </a:solidFill>
                <a:latin typeface="Aptos" panose="020B0004020202020204" pitchFamily="34" charset="0"/>
              </a:rPr>
              <a:t>Tired  |  Mild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E139D9-C906-76F0-9639-77F1D95AFA3E}"/>
              </a:ext>
            </a:extLst>
          </p:cNvPr>
          <p:cNvSpPr txBox="1"/>
          <p:nvPr/>
        </p:nvSpPr>
        <p:spPr>
          <a:xfrm>
            <a:off x="6921500" y="3403600"/>
            <a:ext cx="41529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4C6260"/>
                </a:solidFill>
                <a:latin typeface="Aptos" panose="020B0004020202020204" pitchFamily="34" charset="0"/>
              </a:rPr>
              <a:t>User-recorded note; not a diagnosis.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38EE5F-A3B3-FA3E-15E3-F5C5EE5EE6EE}"/>
              </a:ext>
            </a:extLst>
          </p:cNvPr>
          <p:cNvSpPr txBox="1"/>
          <p:nvPr/>
        </p:nvSpPr>
        <p:spPr>
          <a:xfrm>
            <a:off x="6540500" y="3784600"/>
            <a:ext cx="4762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61736F"/>
                </a:solidFill>
                <a:latin typeface="Aptos" panose="020B0004020202020204" pitchFamily="34" charset="0"/>
              </a:rPr>
              <a:t>Private to account. No diagnostic interpretation.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D255FA1-0555-81FA-7F66-606AE814C2B0}"/>
              </a:ext>
            </a:extLst>
          </p:cNvPr>
          <p:cNvSpPr txBox="1"/>
          <p:nvPr/>
        </p:nvSpPr>
        <p:spPr>
          <a:xfrm>
            <a:off x="6477000" y="5537200"/>
            <a:ext cx="4889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700" b="1">
                <a:solidFill>
                  <a:srgbClr val="9B6E58"/>
                </a:solidFill>
                <a:latin typeface="Aptos" panose="020B0004020202020204" pitchFamily="34" charset="0"/>
              </a:rPr>
              <a:t>ILLUSTRATIVE UI MOCKUP - replace with live screenshot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207B3C9-C2F6-A229-B7B5-44F75966FBEF}"/>
              </a:ext>
            </a:extLst>
          </p:cNvPr>
          <p:cNvSpPr txBox="1"/>
          <p:nvPr/>
        </p:nvSpPr>
        <p:spPr>
          <a:xfrm>
            <a:off x="977900" y="5918200"/>
            <a:ext cx="10223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900" b="1">
                <a:solidFill>
                  <a:srgbClr val="9B5B3C"/>
                </a:solidFill>
                <a:latin typeface="Aptos" panose="020B0004020202020204" pitchFamily="34" charset="0"/>
              </a:rPr>
              <a:t>Illustrative UI mockups based on implemented screens; replace with live screenshots before submitting.</a:t>
            </a:r>
          </a:p>
        </p:txBody>
      </p:sp>
    </p:spTree>
    <p:extLst>
      <p:ext uri="{BB962C8B-B14F-4D97-AF65-F5344CB8AC3E}">
        <p14:creationId xmlns:p14="http://schemas.microsoft.com/office/powerpoint/2010/main" val="2977191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00D2937-CBA8-9DF5-1B54-D31A2C765B47}"/>
              </a:ext>
            </a:extLst>
          </p:cNvPr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D70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B67A66-5F2D-9062-4EE8-B971F4D2861C}"/>
              </a:ext>
            </a:extLst>
          </p:cNvPr>
          <p:cNvSpPr txBox="1"/>
          <p:nvPr/>
        </p:nvSpPr>
        <p:spPr>
          <a:xfrm>
            <a:off x="482600" y="2540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63817B"/>
                </a:solidFill>
                <a:latin typeface="Aptos" panose="020B0004020202020204" pitchFamily="34" charset="0"/>
              </a:rPr>
              <a:t>14 | MODULE WALKTHROUGH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AB1974-18B7-D13A-B60E-5102C43751C7}"/>
              </a:ext>
            </a:extLst>
          </p:cNvPr>
          <p:cNvSpPr txBox="1"/>
          <p:nvPr/>
        </p:nvSpPr>
        <p:spPr>
          <a:xfrm>
            <a:off x="482600" y="5715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700" b="1">
                <a:solidFill>
                  <a:srgbClr val="163E3A"/>
                </a:solidFill>
                <a:latin typeface="Aptos" panose="020B0004020202020204" pitchFamily="34" charset="0"/>
              </a:rPr>
              <a:t>Implemented Screen: Resources, Reports &amp; Reminders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04402A-F05A-58A9-C475-9037FD13DD90}"/>
              </a:ext>
            </a:extLst>
          </p:cNvPr>
          <p:cNvSpPr/>
          <p:nvPr/>
        </p:nvSpPr>
        <p:spPr>
          <a:xfrm>
            <a:off x="482600" y="6375400"/>
            <a:ext cx="11226800" cy="12700"/>
          </a:xfrm>
          <a:prstGeom prst="rect">
            <a:avLst/>
          </a:prstGeom>
          <a:solidFill>
            <a:srgbClr val="D6E2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E4E2E2-BFA3-713F-5D20-7B26901A537B}"/>
              </a:ext>
            </a:extLst>
          </p:cNvPr>
          <p:cNvSpPr txBox="1"/>
          <p:nvPr/>
        </p:nvSpPr>
        <p:spPr>
          <a:xfrm>
            <a:off x="482600" y="6451600"/>
            <a:ext cx="965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70837F"/>
                </a:solidFill>
                <a:latin typeface="Aptos" panose="020B0004020202020204" pitchFamily="34" charset="0"/>
              </a:rPr>
              <a:t>MaatriCare | MCA Project | Illustrative academic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EE2128-6095-A22C-7C84-20B94CF35F02}"/>
              </a:ext>
            </a:extLst>
          </p:cNvPr>
          <p:cNvSpPr txBox="1"/>
          <p:nvPr/>
        </p:nvSpPr>
        <p:spPr>
          <a:xfrm>
            <a:off x="11049000" y="64389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r"/>
            <a:r>
              <a:rPr lang="en-US" sz="900" b="1">
                <a:solidFill>
                  <a:srgbClr val="357A70"/>
                </a:solidFill>
                <a:latin typeface="Aptos" panose="020B0004020202020204" pitchFamily="34" charset="0"/>
              </a:rPr>
              <a:t>15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7145AA8-9F18-49D3-CF45-C81F1F05301D}"/>
              </a:ext>
            </a:extLst>
          </p:cNvPr>
          <p:cNvSpPr/>
          <p:nvPr/>
        </p:nvSpPr>
        <p:spPr>
          <a:xfrm>
            <a:off x="660400" y="1714500"/>
            <a:ext cx="34925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A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ADBBDC-7ED8-CDE2-EBE9-70146F5833DA}"/>
              </a:ext>
            </a:extLst>
          </p:cNvPr>
          <p:cNvSpPr/>
          <p:nvPr/>
        </p:nvSpPr>
        <p:spPr>
          <a:xfrm>
            <a:off x="660400" y="1714500"/>
            <a:ext cx="3492500" cy="381000"/>
          </a:xfrm>
          <a:prstGeom prst="roundRect">
            <a:avLst/>
          </a:prstGeom>
          <a:solidFill>
            <a:srgbClr val="EAF2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03A997-AD93-597C-D009-1FC20452E144}"/>
              </a:ext>
            </a:extLst>
          </p:cNvPr>
          <p:cNvSpPr txBox="1"/>
          <p:nvPr/>
        </p:nvSpPr>
        <p:spPr>
          <a:xfrm>
            <a:off x="812800" y="1803400"/>
            <a:ext cx="31877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276A61"/>
                </a:solidFill>
                <a:latin typeface="Aptos" panose="020B0004020202020204" pitchFamily="34" charset="0"/>
              </a:rPr>
              <a:t>MaatriCare   /   Reports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D381E6-FAD6-2733-C7A1-E56704AD26D1}"/>
              </a:ext>
            </a:extLst>
          </p:cNvPr>
          <p:cNvSpPr txBox="1"/>
          <p:nvPr/>
        </p:nvSpPr>
        <p:spPr>
          <a:xfrm>
            <a:off x="850900" y="2247900"/>
            <a:ext cx="3111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400" b="1">
                <a:solidFill>
                  <a:srgbClr val="244641"/>
                </a:solidFill>
                <a:latin typeface="Aptos" panose="020B0004020202020204" pitchFamily="34" charset="0"/>
              </a:rPr>
              <a:t>Pregnancy summary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948686C-823D-CD29-CE75-3F55B4F84B8A}"/>
              </a:ext>
            </a:extLst>
          </p:cNvPr>
          <p:cNvSpPr/>
          <p:nvPr/>
        </p:nvSpPr>
        <p:spPr>
          <a:xfrm>
            <a:off x="850900" y="2679700"/>
            <a:ext cx="3111500" cy="812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44FA42-D9F2-B132-B9F3-0A239E3588E3}"/>
              </a:ext>
            </a:extLst>
          </p:cNvPr>
          <p:cNvSpPr/>
          <p:nvPr/>
        </p:nvSpPr>
        <p:spPr>
          <a:xfrm>
            <a:off x="1028700" y="2870200"/>
            <a:ext cx="63500" cy="431800"/>
          </a:xfrm>
          <a:prstGeom prst="rect">
            <a:avLst/>
          </a:prstGeom>
          <a:solidFill>
            <a:srgbClr val="3886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D8D8C0-29C8-F242-662E-61340F5FB9C8}"/>
              </a:ext>
            </a:extLst>
          </p:cNvPr>
          <p:cNvSpPr txBox="1"/>
          <p:nvPr/>
        </p:nvSpPr>
        <p:spPr>
          <a:xfrm>
            <a:off x="1231900" y="2819400"/>
            <a:ext cx="2540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300" b="1">
                <a:solidFill>
                  <a:srgbClr val="174A46"/>
                </a:solidFill>
                <a:latin typeface="Aptos" panose="020B0004020202020204" pitchFamily="34" charset="0"/>
              </a:rPr>
              <a:t>Tracking summary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AD2569-BBC5-02DF-EFED-C11DA4D1D640}"/>
              </a:ext>
            </a:extLst>
          </p:cNvPr>
          <p:cNvSpPr txBox="1"/>
          <p:nvPr/>
        </p:nvSpPr>
        <p:spPr>
          <a:xfrm>
            <a:off x="1231900" y="3136900"/>
            <a:ext cx="25019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4C6260"/>
                </a:solidFill>
                <a:latin typeface="Aptos" panose="020B0004020202020204" pitchFamily="34" charset="0"/>
              </a:rPr>
              <a:t>Tasks | water | activity | sleep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46AA220-56BD-16B7-4976-DE15D49F4D98}"/>
              </a:ext>
            </a:extLst>
          </p:cNvPr>
          <p:cNvSpPr/>
          <p:nvPr/>
        </p:nvSpPr>
        <p:spPr>
          <a:xfrm>
            <a:off x="850900" y="3632200"/>
            <a:ext cx="3111500" cy="838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452C3A5-DF3E-E7E1-2A00-47DCE9768D0D}"/>
              </a:ext>
            </a:extLst>
          </p:cNvPr>
          <p:cNvSpPr/>
          <p:nvPr/>
        </p:nvSpPr>
        <p:spPr>
          <a:xfrm>
            <a:off x="1028700" y="3822700"/>
            <a:ext cx="63500" cy="457200"/>
          </a:xfrm>
          <a:prstGeom prst="rect">
            <a:avLst/>
          </a:prstGeom>
          <a:solidFill>
            <a:srgbClr val="D68A6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22985E-3E71-F94C-955C-73180DD60875}"/>
              </a:ext>
            </a:extLst>
          </p:cNvPr>
          <p:cNvSpPr txBox="1"/>
          <p:nvPr/>
        </p:nvSpPr>
        <p:spPr>
          <a:xfrm>
            <a:off x="1231900" y="3771900"/>
            <a:ext cx="2540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300" b="1">
                <a:solidFill>
                  <a:srgbClr val="174A46"/>
                </a:solidFill>
                <a:latin typeface="Aptos" panose="020B0004020202020204" pitchFamily="34" charset="0"/>
              </a:rPr>
              <a:t>Appointments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BE733A-D62B-0466-CDF3-E88037558C94}"/>
              </a:ext>
            </a:extLst>
          </p:cNvPr>
          <p:cNvSpPr txBox="1"/>
          <p:nvPr/>
        </p:nvSpPr>
        <p:spPr>
          <a:xfrm>
            <a:off x="1231900" y="4089400"/>
            <a:ext cx="25019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4C6260"/>
                </a:solidFill>
                <a:latin typeface="Aptos" panose="020B0004020202020204" pitchFamily="34" charset="0"/>
              </a:rPr>
              <a:t>Recorded visits and selected notes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72381D-0ED2-8257-E43A-77960A856295}"/>
              </a:ext>
            </a:extLst>
          </p:cNvPr>
          <p:cNvSpPr txBox="1"/>
          <p:nvPr/>
        </p:nvSpPr>
        <p:spPr>
          <a:xfrm>
            <a:off x="850900" y="4584700"/>
            <a:ext cx="3111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61736F"/>
                </a:solidFill>
                <a:latin typeface="Aptos" panose="020B0004020202020204" pitchFamily="34" charset="0"/>
              </a:rPr>
              <a:t>Journal data is opt-in for reports.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BB0F0F-AEC7-7962-E573-7BA6A97F3E2C}"/>
              </a:ext>
            </a:extLst>
          </p:cNvPr>
          <p:cNvSpPr txBox="1"/>
          <p:nvPr/>
        </p:nvSpPr>
        <p:spPr>
          <a:xfrm>
            <a:off x="787400" y="5118100"/>
            <a:ext cx="3238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700" b="1">
                <a:solidFill>
                  <a:srgbClr val="9B6E58"/>
                </a:solidFill>
                <a:latin typeface="Aptos" panose="020B0004020202020204" pitchFamily="34" charset="0"/>
              </a:rPr>
              <a:t>ILLUSTRATIVE UI MOCKUP - replace with live screenshot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2FE6870-FFE5-BB11-3035-01650633BF4E}"/>
              </a:ext>
            </a:extLst>
          </p:cNvPr>
          <p:cNvSpPr/>
          <p:nvPr/>
        </p:nvSpPr>
        <p:spPr>
          <a:xfrm>
            <a:off x="4343400" y="1714500"/>
            <a:ext cx="34925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A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651464F-41FC-237D-2D5B-3E282E063693}"/>
              </a:ext>
            </a:extLst>
          </p:cNvPr>
          <p:cNvSpPr/>
          <p:nvPr/>
        </p:nvSpPr>
        <p:spPr>
          <a:xfrm>
            <a:off x="4343400" y="1714500"/>
            <a:ext cx="3492500" cy="381000"/>
          </a:xfrm>
          <a:prstGeom prst="roundRect">
            <a:avLst/>
          </a:prstGeom>
          <a:solidFill>
            <a:srgbClr val="EAF2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5FA8B3-8690-F881-DB98-7DFE329A9B76}"/>
              </a:ext>
            </a:extLst>
          </p:cNvPr>
          <p:cNvSpPr txBox="1"/>
          <p:nvPr/>
        </p:nvSpPr>
        <p:spPr>
          <a:xfrm>
            <a:off x="4495800" y="1803400"/>
            <a:ext cx="31877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276A61"/>
                </a:solidFill>
                <a:latin typeface="Aptos" panose="020B0004020202020204" pitchFamily="34" charset="0"/>
              </a:rPr>
              <a:t>MaatriCare   /   Visit brief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FB27719-0749-3C8D-5AC1-5B1FBEAF7BD9}"/>
              </a:ext>
            </a:extLst>
          </p:cNvPr>
          <p:cNvSpPr txBox="1"/>
          <p:nvPr/>
        </p:nvSpPr>
        <p:spPr>
          <a:xfrm>
            <a:off x="4533900" y="2247900"/>
            <a:ext cx="3111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400" b="1">
                <a:solidFill>
                  <a:srgbClr val="244641"/>
                </a:solidFill>
                <a:latin typeface="Aptos" panose="020B0004020202020204" pitchFamily="34" charset="0"/>
              </a:rPr>
              <a:t>Visit brief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7662AAC-6212-E518-07EA-DBACEE5189DF}"/>
              </a:ext>
            </a:extLst>
          </p:cNvPr>
          <p:cNvSpPr/>
          <p:nvPr/>
        </p:nvSpPr>
        <p:spPr>
          <a:xfrm>
            <a:off x="4533900" y="2679700"/>
            <a:ext cx="3111500" cy="863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A3D0A5F-FA0D-A530-7689-C0C6F85A3AA5}"/>
              </a:ext>
            </a:extLst>
          </p:cNvPr>
          <p:cNvSpPr/>
          <p:nvPr/>
        </p:nvSpPr>
        <p:spPr>
          <a:xfrm>
            <a:off x="4711700" y="2870200"/>
            <a:ext cx="63500" cy="482600"/>
          </a:xfrm>
          <a:prstGeom prst="rect">
            <a:avLst/>
          </a:prstGeom>
          <a:solidFill>
            <a:srgbClr val="3886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E4EF3C-A979-3CA7-72B8-10BDDDF9423C}"/>
              </a:ext>
            </a:extLst>
          </p:cNvPr>
          <p:cNvSpPr txBox="1"/>
          <p:nvPr/>
        </p:nvSpPr>
        <p:spPr>
          <a:xfrm>
            <a:off x="4914900" y="2819400"/>
            <a:ext cx="2540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300" b="1">
                <a:solidFill>
                  <a:srgbClr val="174A46"/>
                </a:solidFill>
                <a:latin typeface="Aptos" panose="020B0004020202020204" pitchFamily="34" charset="0"/>
              </a:rPr>
              <a:t>Questions to discuss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D78AE54-484A-58D4-7E86-2AA9236D3CB3}"/>
              </a:ext>
            </a:extLst>
          </p:cNvPr>
          <p:cNvSpPr txBox="1"/>
          <p:nvPr/>
        </p:nvSpPr>
        <p:spPr>
          <a:xfrm>
            <a:off x="4914900" y="3136900"/>
            <a:ext cx="25019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4C6260"/>
                </a:solidFill>
                <a:latin typeface="Aptos" panose="020B0004020202020204" pitchFamily="34" charset="0"/>
              </a:rPr>
              <a:t>Select saved visit questions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C78D494F-3522-EE07-8399-AE421FC93265}"/>
              </a:ext>
            </a:extLst>
          </p:cNvPr>
          <p:cNvSpPr/>
          <p:nvPr/>
        </p:nvSpPr>
        <p:spPr>
          <a:xfrm>
            <a:off x="4533900" y="3683000"/>
            <a:ext cx="3111500" cy="838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B6A665E-8614-E4EF-2385-E39C5CAC2DEC}"/>
              </a:ext>
            </a:extLst>
          </p:cNvPr>
          <p:cNvSpPr/>
          <p:nvPr/>
        </p:nvSpPr>
        <p:spPr>
          <a:xfrm>
            <a:off x="4711700" y="3873500"/>
            <a:ext cx="63500" cy="457200"/>
          </a:xfrm>
          <a:prstGeom prst="rect">
            <a:avLst/>
          </a:prstGeom>
          <a:solidFill>
            <a:srgbClr val="D68A6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86C701C-6AD5-2DAC-BFCD-B7CD227911B7}"/>
              </a:ext>
            </a:extLst>
          </p:cNvPr>
          <p:cNvSpPr txBox="1"/>
          <p:nvPr/>
        </p:nvSpPr>
        <p:spPr>
          <a:xfrm>
            <a:off x="4914900" y="3822700"/>
            <a:ext cx="2540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300" b="1">
                <a:solidFill>
                  <a:srgbClr val="174A46"/>
                </a:solidFill>
                <a:latin typeface="Aptos" panose="020B0004020202020204" pitchFamily="34" charset="0"/>
              </a:rPr>
              <a:t>Journal entries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6936C0E-3977-190D-9FC8-E6D3C9D3F6D7}"/>
              </a:ext>
            </a:extLst>
          </p:cNvPr>
          <p:cNvSpPr txBox="1"/>
          <p:nvPr/>
        </p:nvSpPr>
        <p:spPr>
          <a:xfrm>
            <a:off x="4914900" y="4140200"/>
            <a:ext cx="25019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4C6260"/>
                </a:solidFill>
                <a:latin typeface="Aptos" panose="020B0004020202020204" pitchFamily="34" charset="0"/>
              </a:rPr>
              <a:t>Explicitly choose what to include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5DFABB-1A5D-0307-5C30-52CE87895D33}"/>
              </a:ext>
            </a:extLst>
          </p:cNvPr>
          <p:cNvSpPr txBox="1"/>
          <p:nvPr/>
        </p:nvSpPr>
        <p:spPr>
          <a:xfrm>
            <a:off x="4533900" y="4635500"/>
            <a:ext cx="3111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61736F"/>
                </a:solidFill>
                <a:latin typeface="Aptos" panose="020B0004020202020204" pitchFamily="34" charset="0"/>
              </a:rPr>
              <a:t>Preview before printing or sharing.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08FF12E-1232-5EBD-16CE-CCA29AFAD4E8}"/>
              </a:ext>
            </a:extLst>
          </p:cNvPr>
          <p:cNvSpPr txBox="1"/>
          <p:nvPr/>
        </p:nvSpPr>
        <p:spPr>
          <a:xfrm>
            <a:off x="4470400" y="5118100"/>
            <a:ext cx="3238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700" b="1">
                <a:solidFill>
                  <a:srgbClr val="9B6E58"/>
                </a:solidFill>
                <a:latin typeface="Aptos" panose="020B0004020202020204" pitchFamily="34" charset="0"/>
              </a:rPr>
              <a:t>ILLUSTRATIVE UI MOCKUP - replace with live screenshot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6422D67-7704-8829-07D9-CACB15B4ADBF}"/>
              </a:ext>
            </a:extLst>
          </p:cNvPr>
          <p:cNvSpPr/>
          <p:nvPr/>
        </p:nvSpPr>
        <p:spPr>
          <a:xfrm>
            <a:off x="8026400" y="1714500"/>
            <a:ext cx="34925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A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F32BCDA-1C70-86FA-1FE1-3E22D4EA9ABA}"/>
              </a:ext>
            </a:extLst>
          </p:cNvPr>
          <p:cNvSpPr/>
          <p:nvPr/>
        </p:nvSpPr>
        <p:spPr>
          <a:xfrm>
            <a:off x="8026400" y="1714500"/>
            <a:ext cx="3492500" cy="381000"/>
          </a:xfrm>
          <a:prstGeom prst="roundRect">
            <a:avLst/>
          </a:prstGeom>
          <a:solidFill>
            <a:srgbClr val="EAF2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7A0FCC-FAD2-6B25-529E-5636361CEDA2}"/>
              </a:ext>
            </a:extLst>
          </p:cNvPr>
          <p:cNvSpPr txBox="1"/>
          <p:nvPr/>
        </p:nvSpPr>
        <p:spPr>
          <a:xfrm>
            <a:off x="8178800" y="1803400"/>
            <a:ext cx="31877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276A61"/>
                </a:solidFill>
                <a:latin typeface="Aptos" panose="020B0004020202020204" pitchFamily="34" charset="0"/>
              </a:rPr>
              <a:t>MaatriCare   /   Push settings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12A4D7-FC80-F9D9-00A9-45BAE52B23B6}"/>
              </a:ext>
            </a:extLst>
          </p:cNvPr>
          <p:cNvSpPr txBox="1"/>
          <p:nvPr/>
        </p:nvSpPr>
        <p:spPr>
          <a:xfrm>
            <a:off x="8216900" y="2247900"/>
            <a:ext cx="3111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400" b="1">
                <a:solidFill>
                  <a:srgbClr val="244641"/>
                </a:solidFill>
                <a:latin typeface="Aptos" panose="020B0004020202020204" pitchFamily="34" charset="0"/>
              </a:rPr>
              <a:t>Push delivery settings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3366D9-57E1-A753-6226-F3863D5BC995}"/>
              </a:ext>
            </a:extLst>
          </p:cNvPr>
          <p:cNvSpPr txBox="1"/>
          <p:nvPr/>
        </p:nvSpPr>
        <p:spPr>
          <a:xfrm>
            <a:off x="8216900" y="2654300"/>
            <a:ext cx="3111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000" b="1">
                <a:solidFill>
                  <a:srgbClr val="365F59"/>
                </a:solidFill>
                <a:latin typeface="Aptos" panose="020B0004020202020204" pitchFamily="34" charset="0"/>
              </a:rPr>
              <a:t>Timezone: Asia/Kolkata (Delhi)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045F00FF-1719-9BB5-54FB-838A25359AA9}"/>
              </a:ext>
            </a:extLst>
          </p:cNvPr>
          <p:cNvSpPr/>
          <p:nvPr/>
        </p:nvSpPr>
        <p:spPr>
          <a:xfrm>
            <a:off x="8216900" y="3187700"/>
            <a:ext cx="3111500" cy="78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51796E2-7D95-E543-F289-BFDF80EC6B33}"/>
              </a:ext>
            </a:extLst>
          </p:cNvPr>
          <p:cNvSpPr/>
          <p:nvPr/>
        </p:nvSpPr>
        <p:spPr>
          <a:xfrm>
            <a:off x="8394700" y="3378200"/>
            <a:ext cx="63500" cy="406400"/>
          </a:xfrm>
          <a:prstGeom prst="rect">
            <a:avLst/>
          </a:prstGeom>
          <a:solidFill>
            <a:srgbClr val="3886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E1B3FA9-337C-3B3F-391E-087C876231A6}"/>
              </a:ext>
            </a:extLst>
          </p:cNvPr>
          <p:cNvSpPr txBox="1"/>
          <p:nvPr/>
        </p:nvSpPr>
        <p:spPr>
          <a:xfrm>
            <a:off x="8597900" y="3327400"/>
            <a:ext cx="2540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300" b="1">
                <a:solidFill>
                  <a:srgbClr val="174A46"/>
                </a:solidFill>
                <a:latin typeface="Aptos" panose="020B0004020202020204" pitchFamily="34" charset="0"/>
              </a:rPr>
              <a:t>Push opt-in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60972D-16BF-B226-E70B-183A53A7BE73}"/>
              </a:ext>
            </a:extLst>
          </p:cNvPr>
          <p:cNvSpPr txBox="1"/>
          <p:nvPr/>
        </p:nvSpPr>
        <p:spPr>
          <a:xfrm>
            <a:off x="8597900" y="3644900"/>
            <a:ext cx="25019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4C6260"/>
                </a:solidFill>
                <a:latin typeface="Aptos" panose="020B0004020202020204" pitchFamily="34" charset="0"/>
              </a:rPr>
              <a:t>Device subscription and category preferences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6DFDA43-0E83-0656-5A55-DBF0D8F44E62}"/>
              </a:ext>
            </a:extLst>
          </p:cNvPr>
          <p:cNvSpPr txBox="1"/>
          <p:nvPr/>
        </p:nvSpPr>
        <p:spPr>
          <a:xfrm>
            <a:off x="8216900" y="4064000"/>
            <a:ext cx="3111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9B5B3C"/>
                </a:solidFill>
                <a:latin typeface="Aptos" panose="020B0004020202020204" pitchFamily="34" charset="0"/>
              </a:rPr>
              <a:t>Server VAPID keys required before live delivery.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316CAE7-CBD3-AA87-34C2-421B33C20058}"/>
              </a:ext>
            </a:extLst>
          </p:cNvPr>
          <p:cNvSpPr txBox="1"/>
          <p:nvPr/>
        </p:nvSpPr>
        <p:spPr>
          <a:xfrm>
            <a:off x="8153400" y="5118100"/>
            <a:ext cx="3238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700" b="1">
                <a:solidFill>
                  <a:srgbClr val="9B6E58"/>
                </a:solidFill>
                <a:latin typeface="Aptos" panose="020B0004020202020204" pitchFamily="34" charset="0"/>
              </a:rPr>
              <a:t>ILLUSTRATIVE UI MOCKUP - replace with live screenshot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78B61A-7BB3-7318-1EC2-D52DA493D240}"/>
              </a:ext>
            </a:extLst>
          </p:cNvPr>
          <p:cNvSpPr txBox="1"/>
          <p:nvPr/>
        </p:nvSpPr>
        <p:spPr>
          <a:xfrm>
            <a:off x="863600" y="5740400"/>
            <a:ext cx="10591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000" b="1">
                <a:solidFill>
                  <a:srgbClr val="8B583F"/>
                </a:solidFill>
                <a:latin typeface="Aptos" panose="020B0004020202020204" pitchFamily="34" charset="0"/>
              </a:rPr>
              <a:t>Secure report links are time-limited and revocable. Push delivery remains unavailable until server VAPID keys are configured.</a:t>
            </a:r>
          </a:p>
        </p:txBody>
      </p:sp>
    </p:spTree>
    <p:extLst>
      <p:ext uri="{BB962C8B-B14F-4D97-AF65-F5344CB8AC3E}">
        <p14:creationId xmlns:p14="http://schemas.microsoft.com/office/powerpoint/2010/main" val="1906254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DF5E1C3-6472-6E4D-BAA5-4AE3CFF7F232}"/>
              </a:ext>
            </a:extLst>
          </p:cNvPr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D70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A8603A-AB49-C284-64F5-B8F30116A7E2}"/>
              </a:ext>
            </a:extLst>
          </p:cNvPr>
          <p:cNvSpPr txBox="1"/>
          <p:nvPr/>
        </p:nvSpPr>
        <p:spPr>
          <a:xfrm>
            <a:off x="482600" y="2540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63817B"/>
                </a:solidFill>
                <a:latin typeface="Aptos" panose="020B0004020202020204" pitchFamily="34" charset="0"/>
              </a:rPr>
              <a:t>15 | DEMONSTRATION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D6C3F4-7CD9-FDE0-0342-6359009B7781}"/>
              </a:ext>
            </a:extLst>
          </p:cNvPr>
          <p:cNvSpPr txBox="1"/>
          <p:nvPr/>
        </p:nvSpPr>
        <p:spPr>
          <a:xfrm>
            <a:off x="482600" y="5715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700" b="1">
                <a:solidFill>
                  <a:srgbClr val="163E3A"/>
                </a:solidFill>
                <a:latin typeface="Aptos" panose="020B0004020202020204" pitchFamily="34" charset="0"/>
              </a:rPr>
              <a:t>Sample Input &amp; Output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FACAC1-B859-0775-BD4B-99422CF982A0}"/>
              </a:ext>
            </a:extLst>
          </p:cNvPr>
          <p:cNvSpPr/>
          <p:nvPr/>
        </p:nvSpPr>
        <p:spPr>
          <a:xfrm>
            <a:off x="482600" y="6375400"/>
            <a:ext cx="11226800" cy="12700"/>
          </a:xfrm>
          <a:prstGeom prst="rect">
            <a:avLst/>
          </a:prstGeom>
          <a:solidFill>
            <a:srgbClr val="D6E2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CCCD32-7539-0FDE-5CED-D4287DFCFDFE}"/>
              </a:ext>
            </a:extLst>
          </p:cNvPr>
          <p:cNvSpPr txBox="1"/>
          <p:nvPr/>
        </p:nvSpPr>
        <p:spPr>
          <a:xfrm>
            <a:off x="482600" y="6451600"/>
            <a:ext cx="965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70837F"/>
                </a:solidFill>
                <a:latin typeface="Aptos" panose="020B0004020202020204" pitchFamily="34" charset="0"/>
              </a:rPr>
              <a:t>MaatriCare | MCA Project | Illustrative academic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7347E3-C094-0FBE-45C9-BE907587151D}"/>
              </a:ext>
            </a:extLst>
          </p:cNvPr>
          <p:cNvSpPr txBox="1"/>
          <p:nvPr/>
        </p:nvSpPr>
        <p:spPr>
          <a:xfrm>
            <a:off x="11049000" y="64389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r"/>
            <a:r>
              <a:rPr lang="en-US" sz="900" b="1">
                <a:solidFill>
                  <a:srgbClr val="357A70"/>
                </a:solidFill>
                <a:latin typeface="Aptos" panose="020B0004020202020204" pitchFamily="34" charset="0"/>
              </a:rPr>
              <a:t>16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75E13BF-A769-B3FB-D796-665DDB812652}"/>
              </a:ext>
            </a:extLst>
          </p:cNvPr>
          <p:cNvSpPr/>
          <p:nvPr/>
        </p:nvSpPr>
        <p:spPr>
          <a:xfrm>
            <a:off x="660400" y="1816100"/>
            <a:ext cx="4826000" cy="3632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3FA957-BAC0-FDA3-3DB6-422D5612DAE5}"/>
              </a:ext>
            </a:extLst>
          </p:cNvPr>
          <p:cNvSpPr/>
          <p:nvPr/>
        </p:nvSpPr>
        <p:spPr>
          <a:xfrm>
            <a:off x="838200" y="2006600"/>
            <a:ext cx="63500" cy="3251200"/>
          </a:xfrm>
          <a:prstGeom prst="rect">
            <a:avLst/>
          </a:prstGeom>
          <a:solidFill>
            <a:srgbClr val="D889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EE998F-EE92-6517-2511-B11DB7C42A08}"/>
              </a:ext>
            </a:extLst>
          </p:cNvPr>
          <p:cNvSpPr txBox="1"/>
          <p:nvPr/>
        </p:nvSpPr>
        <p:spPr>
          <a:xfrm>
            <a:off x="1041400" y="1955800"/>
            <a:ext cx="4254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Sample input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247672-EA53-24CD-AD46-D5F31FBF5AA8}"/>
              </a:ext>
            </a:extLst>
          </p:cNvPr>
          <p:cNvSpPr txBox="1"/>
          <p:nvPr/>
        </p:nvSpPr>
        <p:spPr>
          <a:xfrm>
            <a:off x="1041400" y="2273300"/>
            <a:ext cx="42164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Appointment title: Routine prenatal visit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Start: 23 Oct 2026, 10:00 IST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Reminder: 1 day before</a:t>
            </a:r>
          </a:p>
          <a:p>
            <a:endParaRPr lang="en-US" sz="1100">
              <a:solidFill>
                <a:srgbClr val="4C6260"/>
              </a:solidFill>
              <a:latin typeface="Aptos" panose="020B0004020202020204" pitchFamily="34" charset="0"/>
            </a:endParaRP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Daily care: 09:00 Asia/Kolkata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Push: user opted in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F7FF24-495C-2DAF-C7C3-B41C14380570}"/>
              </a:ext>
            </a:extLst>
          </p:cNvPr>
          <p:cNvSpPr txBox="1"/>
          <p:nvPr/>
        </p:nvSpPr>
        <p:spPr>
          <a:xfrm>
            <a:off x="5664200" y="3111500"/>
            <a:ext cx="889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2600" b="1">
                <a:solidFill>
                  <a:srgbClr val="28796F"/>
                </a:solidFill>
                <a:latin typeface="Aptos" panose="020B0004020202020204" pitchFamily="34" charset="0"/>
              </a:rPr>
              <a:t>-&gt;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D721439-3C14-433A-C491-7521D1F998A5}"/>
              </a:ext>
            </a:extLst>
          </p:cNvPr>
          <p:cNvSpPr/>
          <p:nvPr/>
        </p:nvSpPr>
        <p:spPr>
          <a:xfrm>
            <a:off x="6731000" y="1816100"/>
            <a:ext cx="4800600" cy="3632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157A10-ACDF-4086-737F-EEDDA239809D}"/>
              </a:ext>
            </a:extLst>
          </p:cNvPr>
          <p:cNvSpPr/>
          <p:nvPr/>
        </p:nvSpPr>
        <p:spPr>
          <a:xfrm>
            <a:off x="6908800" y="2006600"/>
            <a:ext cx="63500" cy="3251200"/>
          </a:xfrm>
          <a:prstGeom prst="rect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F949A6-A0D7-EE39-6F0C-37EF6F328A37}"/>
              </a:ext>
            </a:extLst>
          </p:cNvPr>
          <p:cNvSpPr txBox="1"/>
          <p:nvPr/>
        </p:nvSpPr>
        <p:spPr>
          <a:xfrm>
            <a:off x="7112000" y="1955800"/>
            <a:ext cx="42291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Sample output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7AB0D8-3F89-7889-5BC9-C33D9C50A6C4}"/>
              </a:ext>
            </a:extLst>
          </p:cNvPr>
          <p:cNvSpPr txBox="1"/>
          <p:nvPr/>
        </p:nvSpPr>
        <p:spPr>
          <a:xfrm>
            <a:off x="7112000" y="2273300"/>
            <a:ext cx="4191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Persisted occurrence: PENDING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Scheduled at: 22 Oct 2026, 10:00 IST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Device receives generic reminder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Tap: open reminder center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Snooze: reschedule +1 hour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332918-EE04-8B53-E15B-D970F4D84A32}"/>
              </a:ext>
            </a:extLst>
          </p:cNvPr>
          <p:cNvSpPr txBox="1"/>
          <p:nvPr/>
        </p:nvSpPr>
        <p:spPr>
          <a:xfrm>
            <a:off x="977900" y="5651500"/>
            <a:ext cx="10287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000" b="1">
                <a:solidFill>
                  <a:srgbClr val="8B583F"/>
                </a:solidFill>
                <a:latin typeface="Aptos" panose="020B0004020202020204" pitchFamily="34" charset="0"/>
              </a:rPr>
              <a:t>Example uses synthetic data; actual delivery requires VAPID configuration and a subscribed device.</a:t>
            </a:r>
          </a:p>
        </p:txBody>
      </p:sp>
    </p:spTree>
    <p:extLst>
      <p:ext uri="{BB962C8B-B14F-4D97-AF65-F5344CB8AC3E}">
        <p14:creationId xmlns:p14="http://schemas.microsoft.com/office/powerpoint/2010/main" val="6560240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5D667E-265A-9735-4F4A-ED12FFA14595}"/>
              </a:ext>
            </a:extLst>
          </p:cNvPr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D70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DBF96F-EB8E-82A8-9206-F1447E0B011C}"/>
              </a:ext>
            </a:extLst>
          </p:cNvPr>
          <p:cNvSpPr txBox="1"/>
          <p:nvPr/>
        </p:nvSpPr>
        <p:spPr>
          <a:xfrm>
            <a:off x="482600" y="2540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63817B"/>
                </a:solidFill>
                <a:latin typeface="Aptos" panose="020B0004020202020204" pitchFamily="34" charset="0"/>
              </a:rPr>
              <a:t>16 | IMPLEMENTATION SAMPLE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80CBFF-76A0-9555-CDDC-FCB2E812F967}"/>
              </a:ext>
            </a:extLst>
          </p:cNvPr>
          <p:cNvSpPr txBox="1"/>
          <p:nvPr/>
        </p:nvSpPr>
        <p:spPr>
          <a:xfrm>
            <a:off x="482600" y="5715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700" b="1">
                <a:solidFill>
                  <a:srgbClr val="163E3A"/>
                </a:solidFill>
                <a:latin typeface="Aptos" panose="020B0004020202020204" pitchFamily="34" charset="0"/>
              </a:rPr>
              <a:t>Sample Program Code: Reminder Dispatch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02E4BB-7124-E799-AC31-36C85554AA9C}"/>
              </a:ext>
            </a:extLst>
          </p:cNvPr>
          <p:cNvSpPr/>
          <p:nvPr/>
        </p:nvSpPr>
        <p:spPr>
          <a:xfrm>
            <a:off x="482600" y="6375400"/>
            <a:ext cx="11226800" cy="12700"/>
          </a:xfrm>
          <a:prstGeom prst="rect">
            <a:avLst/>
          </a:prstGeom>
          <a:solidFill>
            <a:srgbClr val="D6E2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526B38-4880-DC32-5F76-77B9520E67BB}"/>
              </a:ext>
            </a:extLst>
          </p:cNvPr>
          <p:cNvSpPr txBox="1"/>
          <p:nvPr/>
        </p:nvSpPr>
        <p:spPr>
          <a:xfrm>
            <a:off x="482600" y="6451600"/>
            <a:ext cx="965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70837F"/>
                </a:solidFill>
                <a:latin typeface="Aptos" panose="020B0004020202020204" pitchFamily="34" charset="0"/>
              </a:rPr>
              <a:t>MaatriCare | MCA Project | Illustrative academic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E3021B-84DB-A45B-D92B-9BA795A54E1E}"/>
              </a:ext>
            </a:extLst>
          </p:cNvPr>
          <p:cNvSpPr txBox="1"/>
          <p:nvPr/>
        </p:nvSpPr>
        <p:spPr>
          <a:xfrm>
            <a:off x="11049000" y="64389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r"/>
            <a:r>
              <a:rPr lang="en-US" sz="900" b="1">
                <a:solidFill>
                  <a:srgbClr val="357A70"/>
                </a:solidFill>
                <a:latin typeface="Aptos" panose="020B0004020202020204" pitchFamily="34" charset="0"/>
              </a:rPr>
              <a:t>17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EF3BF59-4EAE-CCA8-2873-87DD57E22B7B}"/>
              </a:ext>
            </a:extLst>
          </p:cNvPr>
          <p:cNvSpPr/>
          <p:nvPr/>
        </p:nvSpPr>
        <p:spPr>
          <a:xfrm>
            <a:off x="736600" y="1676400"/>
            <a:ext cx="10718800" cy="3733800"/>
          </a:xfrm>
          <a:prstGeom prst="roundRect">
            <a:avLst/>
          </a:prstGeom>
          <a:solidFill>
            <a:srgbClr val="183A38"/>
          </a:solidFill>
          <a:ln w="12700">
            <a:solidFill>
              <a:srgbClr val="315B5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E103DF-AE1F-5682-0CBF-6E8B6A468084}"/>
              </a:ext>
            </a:extLst>
          </p:cNvPr>
          <p:cNvSpPr txBox="1"/>
          <p:nvPr/>
        </p:nvSpPr>
        <p:spPr>
          <a:xfrm>
            <a:off x="1041400" y="2032000"/>
            <a:ext cx="10096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500">
                <a:solidFill>
                  <a:srgbClr val="E8F2EE"/>
                </a:solidFill>
                <a:latin typeface="Consolas" panose="020B0609020204030204" pitchFamily="49" charset="0"/>
              </a:rPr>
              <a:t>@Scheduled(fixedDelayString = "${notifications.scheduler.interval-ms:30000}")</a:t>
            </a:r>
          </a:p>
          <a:p>
            <a:r>
              <a:rPr lang="en-US" sz="1500">
                <a:solidFill>
                  <a:srgbClr val="E8F2EE"/>
                </a:solidFill>
                <a:latin typeface="Consolas" panose="020B0609020204030204" pitchFamily="49" charset="0"/>
              </a:rPr>
              <a:t>public void dispatchDueReminders() {</a:t>
            </a:r>
          </a:p>
          <a:p>
            <a:r>
              <a:rPr lang="en-US" sz="1500">
                <a:solidFill>
                  <a:srgbClr val="E8F2EE"/>
                </a:solidFill>
                <a:latin typeface="Consolas" panose="020B0609020204030204" pitchFamily="49" charset="0"/>
              </a:rPr>
              <a:t>    if (!pushService.isConfigured()) return;</a:t>
            </a:r>
          </a:p>
          <a:p>
            <a:r>
              <a:rPr lang="en-US" sz="1500">
                <a:solidFill>
                  <a:srgbClr val="E8F2EE"/>
                </a:solidFill>
                <a:latin typeface="Consolas" panose="020B0609020204030204" pitchFamily="49" charset="0"/>
              </a:rPr>
              <a:t>    for (UUID id : schedulingService.synchronizeAndFindDue()) {</a:t>
            </a:r>
          </a:p>
          <a:p>
            <a:r>
              <a:rPr lang="en-US" sz="1500">
                <a:solidFill>
                  <a:srgbClr val="E8F2EE"/>
                </a:solidFill>
                <a:latin typeface="Consolas" panose="020B0609020204030204" pitchFamily="49" charset="0"/>
              </a:rPr>
              <a:t>        Delivery d = schedulingService.claim(id);</a:t>
            </a:r>
          </a:p>
          <a:p>
            <a:r>
              <a:rPr lang="en-US" sz="1500">
                <a:solidFill>
                  <a:srgbClr val="E8F2EE"/>
                </a:solidFill>
                <a:latin typeface="Consolas" panose="020B0609020204030204" pitchFamily="49" charset="0"/>
              </a:rPr>
              <a:t>        if (d == null) continue;</a:t>
            </a:r>
          </a:p>
          <a:p>
            <a:r>
              <a:rPr lang="en-US" sz="1500">
                <a:solidFill>
                  <a:srgbClr val="E8F2EE"/>
                </a:solidFill>
                <a:latin typeface="Consolas" panose="020B0609020204030204" pitchFamily="49" charset="0"/>
              </a:rPr>
              <a:t>        boolean sent = pushService.sendToUser(</a:t>
            </a:r>
          </a:p>
          <a:p>
            <a:r>
              <a:rPr lang="en-US" sz="1500">
                <a:solidFill>
                  <a:srgbClr val="E8F2EE"/>
                </a:solidFill>
                <a:latin typeface="Consolas" panose="020B0609020204030204" pitchFamily="49" charset="0"/>
              </a:rPr>
              <a:t>            d.userId(), d.key(), d.title(), d.body(), d.snoozeToken());</a:t>
            </a:r>
          </a:p>
          <a:p>
            <a:r>
              <a:rPr lang="en-US" sz="1500">
                <a:solidFill>
                  <a:srgbClr val="E8F2EE"/>
                </a:solidFill>
                <a:latin typeface="Consolas" panose="020B0609020204030204" pitchFamily="49" charset="0"/>
              </a:rPr>
              <a:t>        schedulingService.finish(id, sent);</a:t>
            </a:r>
          </a:p>
          <a:p>
            <a:r>
              <a:rPr lang="en-US" sz="1500">
                <a:solidFill>
                  <a:srgbClr val="E8F2EE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500">
                <a:solidFill>
                  <a:srgbClr val="E8F2EE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218C31-BCA7-82C2-38F2-4932A93EE64C}"/>
              </a:ext>
            </a:extLst>
          </p:cNvPr>
          <p:cNvSpPr txBox="1"/>
          <p:nvPr/>
        </p:nvSpPr>
        <p:spPr>
          <a:xfrm>
            <a:off x="1054100" y="5588000"/>
            <a:ext cx="10083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000" b="1">
                <a:solidFill>
                  <a:srgbClr val="5C716D"/>
                </a:solidFill>
                <a:latin typeface="Aptos" panose="020B0004020202020204" pitchFamily="34" charset="0"/>
              </a:rPr>
              <a:t>Server-side schedule, claim, deliver, then record success or retry state.</a:t>
            </a:r>
          </a:p>
        </p:txBody>
      </p:sp>
    </p:spTree>
    <p:extLst>
      <p:ext uri="{BB962C8B-B14F-4D97-AF65-F5344CB8AC3E}">
        <p14:creationId xmlns:p14="http://schemas.microsoft.com/office/powerpoint/2010/main" val="17059319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FBF2E3-5A3C-9F17-71C2-0D6369650314}"/>
              </a:ext>
            </a:extLst>
          </p:cNvPr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D70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761841-6553-225B-353D-42B3B3EA2B65}"/>
              </a:ext>
            </a:extLst>
          </p:cNvPr>
          <p:cNvSpPr txBox="1"/>
          <p:nvPr/>
        </p:nvSpPr>
        <p:spPr>
          <a:xfrm>
            <a:off x="482600" y="2540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63817B"/>
                </a:solidFill>
                <a:latin typeface="Aptos" panose="020B0004020202020204" pitchFamily="34" charset="0"/>
              </a:rPr>
              <a:t>17 | DATA MODEL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298C1B-278E-0593-412F-4AC4C125C6D6}"/>
              </a:ext>
            </a:extLst>
          </p:cNvPr>
          <p:cNvSpPr txBox="1"/>
          <p:nvPr/>
        </p:nvSpPr>
        <p:spPr>
          <a:xfrm>
            <a:off x="482600" y="5715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700" b="1">
                <a:solidFill>
                  <a:srgbClr val="163E3A"/>
                </a:solidFill>
                <a:latin typeface="Aptos" panose="020B0004020202020204" pitchFamily="34" charset="0"/>
              </a:rPr>
              <a:t>Sample Data Set (Synthetic)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FEB932-AB17-E87F-DC46-130824057B7D}"/>
              </a:ext>
            </a:extLst>
          </p:cNvPr>
          <p:cNvSpPr/>
          <p:nvPr/>
        </p:nvSpPr>
        <p:spPr>
          <a:xfrm>
            <a:off x="482600" y="6375400"/>
            <a:ext cx="11226800" cy="12700"/>
          </a:xfrm>
          <a:prstGeom prst="rect">
            <a:avLst/>
          </a:prstGeom>
          <a:solidFill>
            <a:srgbClr val="D6E2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CAC988-DC2A-68DB-154F-4AEBBACF097B}"/>
              </a:ext>
            </a:extLst>
          </p:cNvPr>
          <p:cNvSpPr txBox="1"/>
          <p:nvPr/>
        </p:nvSpPr>
        <p:spPr>
          <a:xfrm>
            <a:off x="482600" y="6451600"/>
            <a:ext cx="965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70837F"/>
                </a:solidFill>
                <a:latin typeface="Aptos" panose="020B0004020202020204" pitchFamily="34" charset="0"/>
              </a:rPr>
              <a:t>MaatriCare | MCA Project | Illustrative academic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B09AAA-73F8-7286-6788-4234261FB490}"/>
              </a:ext>
            </a:extLst>
          </p:cNvPr>
          <p:cNvSpPr txBox="1"/>
          <p:nvPr/>
        </p:nvSpPr>
        <p:spPr>
          <a:xfrm>
            <a:off x="11049000" y="64389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r"/>
            <a:r>
              <a:rPr lang="en-US" sz="900" b="1">
                <a:solidFill>
                  <a:srgbClr val="357A70"/>
                </a:solidFill>
                <a:latin typeface="Aptos" panose="020B0004020202020204" pitchFamily="34" charset="0"/>
              </a:rPr>
              <a:t>18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237B39-AB74-24C1-4B9D-D8A5FCDFE8C0}"/>
              </a:ext>
            </a:extLst>
          </p:cNvPr>
          <p:cNvSpPr txBox="1"/>
          <p:nvPr/>
        </p:nvSpPr>
        <p:spPr>
          <a:xfrm>
            <a:off x="736600" y="1600200"/>
            <a:ext cx="10414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 b="1">
                <a:solidFill>
                  <a:srgbClr val="9B5B3C"/>
                </a:solidFill>
                <a:latin typeface="Aptos" panose="020B0004020202020204" pitchFamily="34" charset="0"/>
              </a:rPr>
              <a:t>Example only - no real account or health information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42C509-9BDC-7129-50FF-6AD7A67A9DB6}"/>
              </a:ext>
            </a:extLst>
          </p:cNvPr>
          <p:cNvSpPr/>
          <p:nvPr/>
        </p:nvSpPr>
        <p:spPr>
          <a:xfrm>
            <a:off x="698500" y="2070100"/>
            <a:ext cx="1905000" cy="393700"/>
          </a:xfrm>
          <a:prstGeom prst="rect">
            <a:avLst/>
          </a:prstGeom>
          <a:solidFill>
            <a:srgbClr val="DCECE6"/>
          </a:solidFill>
          <a:ln w="12700">
            <a:solidFill>
              <a:srgbClr val="9AB8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453E20-A188-8A75-BE00-857B5F9614B3}"/>
              </a:ext>
            </a:extLst>
          </p:cNvPr>
          <p:cNvSpPr txBox="1"/>
          <p:nvPr/>
        </p:nvSpPr>
        <p:spPr>
          <a:xfrm>
            <a:off x="800100" y="2159000"/>
            <a:ext cx="1701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000" b="1">
                <a:solidFill>
                  <a:srgbClr val="203A3A"/>
                </a:solidFill>
                <a:latin typeface="Aptos" panose="020B0004020202020204" pitchFamily="34" charset="0"/>
              </a:rPr>
              <a:t>Table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D05980-896A-958E-7655-FCE0E57FF30F}"/>
              </a:ext>
            </a:extLst>
          </p:cNvPr>
          <p:cNvSpPr/>
          <p:nvPr/>
        </p:nvSpPr>
        <p:spPr>
          <a:xfrm>
            <a:off x="2730500" y="2070100"/>
            <a:ext cx="5334000" cy="393700"/>
          </a:xfrm>
          <a:prstGeom prst="rect">
            <a:avLst/>
          </a:prstGeom>
          <a:solidFill>
            <a:srgbClr val="DCECE6"/>
          </a:solidFill>
          <a:ln w="12700">
            <a:solidFill>
              <a:srgbClr val="9AB8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E8CE26-3ADF-BD8C-71DE-00B5F8CB4BCB}"/>
              </a:ext>
            </a:extLst>
          </p:cNvPr>
          <p:cNvSpPr txBox="1"/>
          <p:nvPr/>
        </p:nvSpPr>
        <p:spPr>
          <a:xfrm>
            <a:off x="2832100" y="2159000"/>
            <a:ext cx="5130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000" b="1">
                <a:solidFill>
                  <a:srgbClr val="203A3A"/>
                </a:solidFill>
                <a:latin typeface="Aptos" panose="020B0004020202020204" pitchFamily="34" charset="0"/>
              </a:rPr>
              <a:t>Sample row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4AEDF2-30FC-8D22-9EE7-10A38979C272}"/>
              </a:ext>
            </a:extLst>
          </p:cNvPr>
          <p:cNvSpPr/>
          <p:nvPr/>
        </p:nvSpPr>
        <p:spPr>
          <a:xfrm>
            <a:off x="8318500" y="2070100"/>
            <a:ext cx="3111500" cy="393700"/>
          </a:xfrm>
          <a:prstGeom prst="rect">
            <a:avLst/>
          </a:prstGeom>
          <a:solidFill>
            <a:srgbClr val="DCECE6"/>
          </a:solidFill>
          <a:ln w="12700">
            <a:solidFill>
              <a:srgbClr val="9AB8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48C969-7A51-5D1C-E29B-383F4AB87339}"/>
              </a:ext>
            </a:extLst>
          </p:cNvPr>
          <p:cNvSpPr txBox="1"/>
          <p:nvPr/>
        </p:nvSpPr>
        <p:spPr>
          <a:xfrm>
            <a:off x="8420100" y="2159000"/>
            <a:ext cx="29083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000" b="1">
                <a:solidFill>
                  <a:srgbClr val="203A3A"/>
                </a:solidFill>
                <a:latin typeface="Aptos" panose="020B0004020202020204" pitchFamily="34" charset="0"/>
              </a:rPr>
              <a:t>Purpose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69FDEC-AC7D-865C-2F6F-E5C97851A635}"/>
              </a:ext>
            </a:extLst>
          </p:cNvPr>
          <p:cNvSpPr/>
          <p:nvPr/>
        </p:nvSpPr>
        <p:spPr>
          <a:xfrm>
            <a:off x="698500" y="2527300"/>
            <a:ext cx="1905000" cy="46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9C7F9C-5D97-F7C2-8BB7-809B0F6F19E3}"/>
              </a:ext>
            </a:extLst>
          </p:cNvPr>
          <p:cNvSpPr txBox="1"/>
          <p:nvPr/>
        </p:nvSpPr>
        <p:spPr>
          <a:xfrm>
            <a:off x="800100" y="2641600"/>
            <a:ext cx="1701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203A3A"/>
                </a:solidFill>
                <a:latin typeface="Aptos" panose="020B0004020202020204" pitchFamily="34" charset="0"/>
              </a:rPr>
              <a:t>users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BB5A15-E051-CB2D-413F-4759A5CDEE06}"/>
              </a:ext>
            </a:extLst>
          </p:cNvPr>
          <p:cNvSpPr/>
          <p:nvPr/>
        </p:nvSpPr>
        <p:spPr>
          <a:xfrm>
            <a:off x="2730500" y="2527300"/>
            <a:ext cx="5334000" cy="46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437AB9-B8FA-C0D2-E8D2-3C04DD89A7D4}"/>
              </a:ext>
            </a:extLst>
          </p:cNvPr>
          <p:cNvSpPr txBox="1"/>
          <p:nvPr/>
        </p:nvSpPr>
        <p:spPr>
          <a:xfrm>
            <a:off x="2832100" y="2641600"/>
            <a:ext cx="5130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demo-01 | timezone=Asia/Kolkata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F5A2517-0B27-C10E-5BB0-85DAC8F91659}"/>
              </a:ext>
            </a:extLst>
          </p:cNvPr>
          <p:cNvSpPr/>
          <p:nvPr/>
        </p:nvSpPr>
        <p:spPr>
          <a:xfrm>
            <a:off x="8318500" y="2527300"/>
            <a:ext cx="3111500" cy="46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08319D-4639-9EAC-68D6-898D3749F1A9}"/>
              </a:ext>
            </a:extLst>
          </p:cNvPr>
          <p:cNvSpPr txBox="1"/>
          <p:nvPr/>
        </p:nvSpPr>
        <p:spPr>
          <a:xfrm>
            <a:off x="8420100" y="2641600"/>
            <a:ext cx="29083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account settings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FB0DA93-1EEE-A98D-7961-0BD25E347BEC}"/>
              </a:ext>
            </a:extLst>
          </p:cNvPr>
          <p:cNvSpPr/>
          <p:nvPr/>
        </p:nvSpPr>
        <p:spPr>
          <a:xfrm>
            <a:off x="698500" y="3035300"/>
            <a:ext cx="1905000" cy="46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8F4163-1AE5-A44C-D33B-D8C47938242D}"/>
              </a:ext>
            </a:extLst>
          </p:cNvPr>
          <p:cNvSpPr txBox="1"/>
          <p:nvPr/>
        </p:nvSpPr>
        <p:spPr>
          <a:xfrm>
            <a:off x="800100" y="3149600"/>
            <a:ext cx="1701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203A3A"/>
                </a:solidFill>
                <a:latin typeface="Aptos" panose="020B0004020202020204" pitchFamily="34" charset="0"/>
              </a:rPr>
              <a:t>appointments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0AACE1F-9B5E-B0AA-3915-F7266998689A}"/>
              </a:ext>
            </a:extLst>
          </p:cNvPr>
          <p:cNvSpPr/>
          <p:nvPr/>
        </p:nvSpPr>
        <p:spPr>
          <a:xfrm>
            <a:off x="2730500" y="3035300"/>
            <a:ext cx="5334000" cy="46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555E8-4257-FA88-AA5A-12FE2846230B}"/>
              </a:ext>
            </a:extLst>
          </p:cNvPr>
          <p:cNvSpPr txBox="1"/>
          <p:nvPr/>
        </p:nvSpPr>
        <p:spPr>
          <a:xfrm>
            <a:off x="2832100" y="3149600"/>
            <a:ext cx="5130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sv-SE" sz="900">
                <a:solidFill>
                  <a:srgbClr val="203A3A"/>
                </a:solidFill>
                <a:latin typeface="Aptos" panose="020B0004020202020204" pitchFamily="34" charset="0"/>
              </a:rPr>
              <a:t>appt-01 | 23 Oct 2026 | 1440 min</a:t>
            </a:r>
            <a:endParaRPr lang="en-US" sz="900">
              <a:solidFill>
                <a:srgbClr val="203A3A"/>
              </a:solidFill>
              <a:latin typeface="Aptos" panose="020B00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2287678-2A93-5856-8A1A-12199B40B7B4}"/>
              </a:ext>
            </a:extLst>
          </p:cNvPr>
          <p:cNvSpPr/>
          <p:nvPr/>
        </p:nvSpPr>
        <p:spPr>
          <a:xfrm>
            <a:off x="8318500" y="3035300"/>
            <a:ext cx="3111500" cy="46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6438DA-4DBE-C2CF-20D9-1BB44C4C33DB}"/>
              </a:ext>
            </a:extLst>
          </p:cNvPr>
          <p:cNvSpPr txBox="1"/>
          <p:nvPr/>
        </p:nvSpPr>
        <p:spPr>
          <a:xfrm>
            <a:off x="8420100" y="3149600"/>
            <a:ext cx="29083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scheduled reminder source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8EE7D3D-D62D-FE16-2A59-0F31E5D63888}"/>
              </a:ext>
            </a:extLst>
          </p:cNvPr>
          <p:cNvSpPr/>
          <p:nvPr/>
        </p:nvSpPr>
        <p:spPr>
          <a:xfrm>
            <a:off x="698500" y="3543300"/>
            <a:ext cx="1905000" cy="46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4AA571-0C4A-2576-C0ED-15515F4E9F02}"/>
              </a:ext>
            </a:extLst>
          </p:cNvPr>
          <p:cNvSpPr txBox="1"/>
          <p:nvPr/>
        </p:nvSpPr>
        <p:spPr>
          <a:xfrm>
            <a:off x="800100" y="3657600"/>
            <a:ext cx="1701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203A3A"/>
                </a:solidFill>
                <a:latin typeface="Aptos" panose="020B0004020202020204" pitchFamily="34" charset="0"/>
              </a:rPr>
              <a:t>daily_wellbeing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953EB9-355D-B1D6-7C2A-C027F8D1BFE1}"/>
              </a:ext>
            </a:extLst>
          </p:cNvPr>
          <p:cNvSpPr/>
          <p:nvPr/>
        </p:nvSpPr>
        <p:spPr>
          <a:xfrm>
            <a:off x="2730500" y="3543300"/>
            <a:ext cx="5334000" cy="46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67C5B-5021-33A1-F753-053CD3FB1039}"/>
              </a:ext>
            </a:extLst>
          </p:cNvPr>
          <p:cNvSpPr txBox="1"/>
          <p:nvPr/>
        </p:nvSpPr>
        <p:spPr>
          <a:xfrm>
            <a:off x="2832100" y="3657600"/>
            <a:ext cx="5130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demo-01 | 18 Oct | 5 glasses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9009A68-794D-D951-38BA-DCA38910A75F}"/>
              </a:ext>
            </a:extLst>
          </p:cNvPr>
          <p:cNvSpPr/>
          <p:nvPr/>
        </p:nvSpPr>
        <p:spPr>
          <a:xfrm>
            <a:off x="8318500" y="3543300"/>
            <a:ext cx="3111500" cy="46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B3FA8D-4AC4-82EB-FD71-84312339DAA7}"/>
              </a:ext>
            </a:extLst>
          </p:cNvPr>
          <p:cNvSpPr txBox="1"/>
          <p:nvPr/>
        </p:nvSpPr>
        <p:spPr>
          <a:xfrm>
            <a:off x="8420100" y="3657600"/>
            <a:ext cx="29083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daily tracking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27522CC-A746-32AA-31DE-DA6D9C10AC1F}"/>
              </a:ext>
            </a:extLst>
          </p:cNvPr>
          <p:cNvSpPr/>
          <p:nvPr/>
        </p:nvSpPr>
        <p:spPr>
          <a:xfrm>
            <a:off x="698500" y="4051300"/>
            <a:ext cx="1905000" cy="46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1E9206-1ACD-6CCC-774B-92303BC80CFD}"/>
              </a:ext>
            </a:extLst>
          </p:cNvPr>
          <p:cNvSpPr txBox="1"/>
          <p:nvPr/>
        </p:nvSpPr>
        <p:spPr>
          <a:xfrm>
            <a:off x="800100" y="4165600"/>
            <a:ext cx="1701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203A3A"/>
                </a:solidFill>
                <a:latin typeface="Aptos" panose="020B0004020202020204" pitchFamily="34" charset="0"/>
              </a:rPr>
              <a:t>symptom_entries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1ECBE21-CEE0-7387-2FF9-A6E224258BFE}"/>
              </a:ext>
            </a:extLst>
          </p:cNvPr>
          <p:cNvSpPr/>
          <p:nvPr/>
        </p:nvSpPr>
        <p:spPr>
          <a:xfrm>
            <a:off x="2730500" y="4051300"/>
            <a:ext cx="5334000" cy="46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FF4D1D-3D63-66D4-A346-CB5AB4B596EE}"/>
              </a:ext>
            </a:extLst>
          </p:cNvPr>
          <p:cNvSpPr txBox="1"/>
          <p:nvPr/>
        </p:nvSpPr>
        <p:spPr>
          <a:xfrm>
            <a:off x="2832100" y="4165600"/>
            <a:ext cx="5130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demo-01 | Tired | MILD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91832DC-F6AC-5368-06B6-21315B91D7AF}"/>
              </a:ext>
            </a:extLst>
          </p:cNvPr>
          <p:cNvSpPr/>
          <p:nvPr/>
        </p:nvSpPr>
        <p:spPr>
          <a:xfrm>
            <a:off x="8318500" y="4051300"/>
            <a:ext cx="3111500" cy="46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95EFF6-D826-D6C9-14BC-6BE60544B97A}"/>
              </a:ext>
            </a:extLst>
          </p:cNvPr>
          <p:cNvSpPr txBox="1"/>
          <p:nvPr/>
        </p:nvSpPr>
        <p:spPr>
          <a:xfrm>
            <a:off x="8420100" y="4165600"/>
            <a:ext cx="29083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private journal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E2CDB2E-4144-5E55-AE8A-20026CFB3FBF}"/>
              </a:ext>
            </a:extLst>
          </p:cNvPr>
          <p:cNvSpPr/>
          <p:nvPr/>
        </p:nvSpPr>
        <p:spPr>
          <a:xfrm>
            <a:off x="698500" y="4559300"/>
            <a:ext cx="1905000" cy="46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389359C-042D-2093-0F93-A71A56121298}"/>
              </a:ext>
            </a:extLst>
          </p:cNvPr>
          <p:cNvSpPr txBox="1"/>
          <p:nvPr/>
        </p:nvSpPr>
        <p:spPr>
          <a:xfrm>
            <a:off x="800100" y="4673600"/>
            <a:ext cx="1701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203A3A"/>
                </a:solidFill>
                <a:latin typeface="Aptos" panose="020B0004020202020204" pitchFamily="34" charset="0"/>
              </a:rPr>
              <a:t>push_reminders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04ABC6A-1BEE-D6D8-9013-6897511EF58B}"/>
              </a:ext>
            </a:extLst>
          </p:cNvPr>
          <p:cNvSpPr/>
          <p:nvPr/>
        </p:nvSpPr>
        <p:spPr>
          <a:xfrm>
            <a:off x="2730500" y="4559300"/>
            <a:ext cx="5334000" cy="46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2336270-9323-C866-085D-CF7316F62388}"/>
              </a:ext>
            </a:extLst>
          </p:cNvPr>
          <p:cNvSpPr txBox="1"/>
          <p:nvPr/>
        </p:nvSpPr>
        <p:spPr>
          <a:xfrm>
            <a:off x="2832100" y="4673600"/>
            <a:ext cx="5130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key=appointment:... | PENDING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B10AE6D-6B96-0A85-F8B5-2ED4E9413E69}"/>
              </a:ext>
            </a:extLst>
          </p:cNvPr>
          <p:cNvSpPr/>
          <p:nvPr/>
        </p:nvSpPr>
        <p:spPr>
          <a:xfrm>
            <a:off x="8318500" y="4559300"/>
            <a:ext cx="3111500" cy="46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91C042A-282A-4532-E437-E4C61A37D223}"/>
              </a:ext>
            </a:extLst>
          </p:cNvPr>
          <p:cNvSpPr txBox="1"/>
          <p:nvPr/>
        </p:nvSpPr>
        <p:spPr>
          <a:xfrm>
            <a:off x="8420100" y="4673600"/>
            <a:ext cx="29083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deduped delivery state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6D04079-DE6C-2769-AA52-19EBEC194764}"/>
              </a:ext>
            </a:extLst>
          </p:cNvPr>
          <p:cNvSpPr/>
          <p:nvPr/>
        </p:nvSpPr>
        <p:spPr>
          <a:xfrm>
            <a:off x="698500" y="5067300"/>
            <a:ext cx="1905000" cy="46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E4F043D-D358-38E8-39B5-0EB14901E759}"/>
              </a:ext>
            </a:extLst>
          </p:cNvPr>
          <p:cNvSpPr txBox="1"/>
          <p:nvPr/>
        </p:nvSpPr>
        <p:spPr>
          <a:xfrm>
            <a:off x="800100" y="5181600"/>
            <a:ext cx="1701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203A3A"/>
                </a:solidFill>
                <a:latin typeface="Aptos" panose="020B0004020202020204" pitchFamily="34" charset="0"/>
              </a:rPr>
              <a:t>push_subscriptions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C70EE3A-6F41-53E2-50B3-EBC60C627D4D}"/>
              </a:ext>
            </a:extLst>
          </p:cNvPr>
          <p:cNvSpPr/>
          <p:nvPr/>
        </p:nvSpPr>
        <p:spPr>
          <a:xfrm>
            <a:off x="2730500" y="5067300"/>
            <a:ext cx="5334000" cy="46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344C69-FC0C-AF54-254D-0B192394903D}"/>
              </a:ext>
            </a:extLst>
          </p:cNvPr>
          <p:cNvSpPr txBox="1"/>
          <p:nvPr/>
        </p:nvSpPr>
        <p:spPr>
          <a:xfrm>
            <a:off x="2832100" y="5181600"/>
            <a:ext cx="5130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endpoint_hash=sha256(...)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6F0BEC0-D95A-BFD7-7F5C-02DF5AE2AAED}"/>
              </a:ext>
            </a:extLst>
          </p:cNvPr>
          <p:cNvSpPr/>
          <p:nvPr/>
        </p:nvSpPr>
        <p:spPr>
          <a:xfrm>
            <a:off x="8318500" y="5067300"/>
            <a:ext cx="3111500" cy="46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B2FD446-B7F8-AC6D-8E6F-E92833A61DB6}"/>
              </a:ext>
            </a:extLst>
          </p:cNvPr>
          <p:cNvSpPr txBox="1"/>
          <p:nvPr/>
        </p:nvSpPr>
        <p:spPr>
          <a:xfrm>
            <a:off x="8420100" y="5181600"/>
            <a:ext cx="29083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03A3A"/>
                </a:solidFill>
                <a:latin typeface="Aptos" panose="020B0004020202020204" pitchFamily="34" charset="0"/>
              </a:rPr>
              <a:t>per-device opt-in</a:t>
            </a:r>
          </a:p>
        </p:txBody>
      </p:sp>
    </p:spTree>
    <p:extLst>
      <p:ext uri="{BB962C8B-B14F-4D97-AF65-F5344CB8AC3E}">
        <p14:creationId xmlns:p14="http://schemas.microsoft.com/office/powerpoint/2010/main" val="39000022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645A9A-9197-65DE-899C-E10E9C28A99F}"/>
              </a:ext>
            </a:extLst>
          </p:cNvPr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D70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CF90EB-FCFE-184B-AE07-77417162CFCC}"/>
              </a:ext>
            </a:extLst>
          </p:cNvPr>
          <p:cNvSpPr txBox="1"/>
          <p:nvPr/>
        </p:nvSpPr>
        <p:spPr>
          <a:xfrm>
            <a:off x="482600" y="2540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63817B"/>
                </a:solidFill>
                <a:latin typeface="Aptos" panose="020B0004020202020204" pitchFamily="34" charset="0"/>
              </a:rPr>
              <a:t>18 | VALIDATION AND STATUS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9FD812-5C15-6ED8-1F13-DDA1F7084C4A}"/>
              </a:ext>
            </a:extLst>
          </p:cNvPr>
          <p:cNvSpPr txBox="1"/>
          <p:nvPr/>
        </p:nvSpPr>
        <p:spPr>
          <a:xfrm>
            <a:off x="482600" y="5715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700" b="1">
                <a:solidFill>
                  <a:srgbClr val="163E3A"/>
                </a:solidFill>
                <a:latin typeface="Aptos" panose="020B0004020202020204" pitchFamily="34" charset="0"/>
              </a:rPr>
              <a:t>Testing, Results &amp; Next 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5C8CDF-11BE-B0E9-2D29-D9C85D018CAA}"/>
              </a:ext>
            </a:extLst>
          </p:cNvPr>
          <p:cNvSpPr/>
          <p:nvPr/>
        </p:nvSpPr>
        <p:spPr>
          <a:xfrm>
            <a:off x="482600" y="6375400"/>
            <a:ext cx="11226800" cy="12700"/>
          </a:xfrm>
          <a:prstGeom prst="rect">
            <a:avLst/>
          </a:prstGeom>
          <a:solidFill>
            <a:srgbClr val="D6E2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370C60-91AC-1C7D-6F3E-1199F09EF666}"/>
              </a:ext>
            </a:extLst>
          </p:cNvPr>
          <p:cNvSpPr txBox="1"/>
          <p:nvPr/>
        </p:nvSpPr>
        <p:spPr>
          <a:xfrm>
            <a:off x="482600" y="6451600"/>
            <a:ext cx="965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70837F"/>
                </a:solidFill>
                <a:latin typeface="Aptos" panose="020B0004020202020204" pitchFamily="34" charset="0"/>
              </a:rPr>
              <a:t>MaatriCare | MCA Project | Illustrative academic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D147F0-EF73-9C60-98B2-162662F30A19}"/>
              </a:ext>
            </a:extLst>
          </p:cNvPr>
          <p:cNvSpPr txBox="1"/>
          <p:nvPr/>
        </p:nvSpPr>
        <p:spPr>
          <a:xfrm>
            <a:off x="11049000" y="64389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r"/>
            <a:r>
              <a:rPr lang="en-US" sz="900" b="1">
                <a:solidFill>
                  <a:srgbClr val="357A70"/>
                </a:solidFill>
                <a:latin typeface="Aptos" panose="020B0004020202020204" pitchFamily="34" charset="0"/>
              </a:rPr>
              <a:t>19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073270A-D401-F7B4-5521-3C77610ACAA0}"/>
              </a:ext>
            </a:extLst>
          </p:cNvPr>
          <p:cNvSpPr/>
          <p:nvPr/>
        </p:nvSpPr>
        <p:spPr>
          <a:xfrm>
            <a:off x="635000" y="1676400"/>
            <a:ext cx="5105400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7FC44B-4D68-7B95-FCE5-428B6484D18D}"/>
              </a:ext>
            </a:extLst>
          </p:cNvPr>
          <p:cNvSpPr/>
          <p:nvPr/>
        </p:nvSpPr>
        <p:spPr>
          <a:xfrm>
            <a:off x="812800" y="1866900"/>
            <a:ext cx="63500" cy="3429000"/>
          </a:xfrm>
          <a:prstGeom prst="rect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6C7AD4-960F-704A-DB92-962F5F030893}"/>
              </a:ext>
            </a:extLst>
          </p:cNvPr>
          <p:cNvSpPr txBox="1"/>
          <p:nvPr/>
        </p:nvSpPr>
        <p:spPr>
          <a:xfrm>
            <a:off x="1016000" y="1816100"/>
            <a:ext cx="45339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Verified now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D41B2-7BAF-4222-9D75-70D770C0833E}"/>
              </a:ext>
            </a:extLst>
          </p:cNvPr>
          <p:cNvSpPr txBox="1"/>
          <p:nvPr/>
        </p:nvSpPr>
        <p:spPr>
          <a:xfrm>
            <a:off x="1016000" y="2133600"/>
            <a:ext cx="44958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4 focused push tests pass: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- Asia/Kolkata default and validation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- Local-time schedule + category preferences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- One-time expiring snooze capability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- 90-day terminal-record pruning</a:t>
            </a:r>
          </a:p>
          <a:p>
            <a:endParaRPr lang="en-US" sz="1100">
              <a:solidFill>
                <a:srgbClr val="4C6260"/>
              </a:solidFill>
              <a:latin typeface="Aptos" panose="020B0004020202020204" pitchFamily="34" charset="0"/>
            </a:endParaRP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Frontend production build passes.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C628198-5842-C574-64D8-1673D14696B3}"/>
              </a:ext>
            </a:extLst>
          </p:cNvPr>
          <p:cNvSpPr/>
          <p:nvPr/>
        </p:nvSpPr>
        <p:spPr>
          <a:xfrm>
            <a:off x="6273800" y="1676400"/>
            <a:ext cx="5257800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D8ADDF-9677-4991-0B9D-10C6884AD7CC}"/>
              </a:ext>
            </a:extLst>
          </p:cNvPr>
          <p:cNvSpPr/>
          <p:nvPr/>
        </p:nvSpPr>
        <p:spPr>
          <a:xfrm>
            <a:off x="6451600" y="1866900"/>
            <a:ext cx="63500" cy="3429000"/>
          </a:xfrm>
          <a:prstGeom prst="rect">
            <a:avLst/>
          </a:prstGeom>
          <a:solidFill>
            <a:srgbClr val="D889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F1383D-4E8D-C244-7655-F32281D93915}"/>
              </a:ext>
            </a:extLst>
          </p:cNvPr>
          <p:cNvSpPr txBox="1"/>
          <p:nvPr/>
        </p:nvSpPr>
        <p:spPr>
          <a:xfrm>
            <a:off x="6654800" y="1816100"/>
            <a:ext cx="46863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Conclusion &amp; future work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CB7F74-F8C4-A9B3-80EF-BF6D74F4962B}"/>
              </a:ext>
            </a:extLst>
          </p:cNvPr>
          <p:cNvSpPr txBox="1"/>
          <p:nvPr/>
        </p:nvSpPr>
        <p:spPr>
          <a:xfrm>
            <a:off x="6654800" y="2133600"/>
            <a:ext cx="46482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Implemented modules support tracking, coordination, education, reports, and reminders.</a:t>
            </a:r>
          </a:p>
          <a:p>
            <a:endParaRPr lang="en-US" sz="1100">
              <a:solidFill>
                <a:srgbClr val="4C6260"/>
              </a:solidFill>
              <a:latin typeface="Aptos" panose="020B0004020202020204" pitchFamily="34" charset="0"/>
            </a:endParaRP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Next: configure VAPID + HTTPS, run real-device push test, replace mockup panels with screenshots, complete accessibility/security review, prepare KARE-format report.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224C42-07D6-FADE-C537-4C543617D83D}"/>
              </a:ext>
            </a:extLst>
          </p:cNvPr>
          <p:cNvSpPr txBox="1"/>
          <p:nvPr/>
        </p:nvSpPr>
        <p:spPr>
          <a:xfrm>
            <a:off x="952500" y="5727700"/>
            <a:ext cx="10287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000" b="1">
                <a:solidFill>
                  <a:srgbClr val="9B5B3C"/>
                </a:solidFill>
                <a:latin typeface="Aptos" panose="020B0004020202020204" pitchFamily="34" charset="0"/>
              </a:rPr>
              <a:t>Live push delivery was not demonstrated because VAPID keys are not configured.</a:t>
            </a:r>
          </a:p>
        </p:txBody>
      </p:sp>
    </p:spTree>
    <p:extLst>
      <p:ext uri="{BB962C8B-B14F-4D97-AF65-F5344CB8AC3E}">
        <p14:creationId xmlns:p14="http://schemas.microsoft.com/office/powerpoint/2010/main" val="24033691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A5523DE-35F2-49FB-D86B-1E6826133D0C}"/>
              </a:ext>
            </a:extLst>
          </p:cNvPr>
          <p:cNvSpPr/>
          <p:nvPr/>
        </p:nvSpPr>
        <p:spPr>
          <a:xfrm>
            <a:off x="0" y="0"/>
            <a:ext cx="12192000" cy="88900"/>
          </a:xfrm>
          <a:prstGeom prst="rect">
            <a:avLst/>
          </a:prstGeom>
          <a:solidFill>
            <a:srgbClr val="1D70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F0BFD3-3359-DBCD-2C29-5A0A25F6A653}"/>
              </a:ext>
            </a:extLst>
          </p:cNvPr>
          <p:cNvSpPr txBox="1"/>
          <p:nvPr/>
        </p:nvSpPr>
        <p:spPr>
          <a:xfrm>
            <a:off x="482600" y="2540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63817B"/>
                </a:solidFill>
                <a:latin typeface="Aptos" panose="020B0004020202020204" pitchFamily="34" charset="0"/>
              </a:rPr>
              <a:t>19 | CLOSE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C63A59-12F7-FA0D-36F5-06AE28B76BC9}"/>
              </a:ext>
            </a:extLst>
          </p:cNvPr>
          <p:cNvSpPr txBox="1"/>
          <p:nvPr/>
        </p:nvSpPr>
        <p:spPr>
          <a:xfrm>
            <a:off x="482600" y="571500"/>
            <a:ext cx="11176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2700" b="1">
                <a:solidFill>
                  <a:srgbClr val="163E3A"/>
                </a:solidFill>
                <a:latin typeface="Aptos" panose="020B0004020202020204" pitchFamily="34" charset="0"/>
              </a:rPr>
              <a:t>References &amp; Thank You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E43847-F96C-9508-DEB3-75AEC5615148}"/>
              </a:ext>
            </a:extLst>
          </p:cNvPr>
          <p:cNvSpPr/>
          <p:nvPr/>
        </p:nvSpPr>
        <p:spPr>
          <a:xfrm>
            <a:off x="482600" y="6375400"/>
            <a:ext cx="11226800" cy="12700"/>
          </a:xfrm>
          <a:prstGeom prst="rect">
            <a:avLst/>
          </a:prstGeom>
          <a:solidFill>
            <a:srgbClr val="D6E2D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05297F-1348-E717-E47A-60F89E097F51}"/>
              </a:ext>
            </a:extLst>
          </p:cNvPr>
          <p:cNvSpPr txBox="1"/>
          <p:nvPr/>
        </p:nvSpPr>
        <p:spPr>
          <a:xfrm>
            <a:off x="482600" y="6451600"/>
            <a:ext cx="9652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>
                <a:solidFill>
                  <a:srgbClr val="70837F"/>
                </a:solidFill>
                <a:latin typeface="Aptos" panose="020B0004020202020204" pitchFamily="34" charset="0"/>
              </a:rPr>
              <a:t>MaatriCare | MCA Project | Illustrative academic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442FFF-61F2-B1CC-DD4D-07CEE57E6849}"/>
              </a:ext>
            </a:extLst>
          </p:cNvPr>
          <p:cNvSpPr txBox="1"/>
          <p:nvPr/>
        </p:nvSpPr>
        <p:spPr>
          <a:xfrm>
            <a:off x="11049000" y="6438900"/>
            <a:ext cx="6096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r"/>
            <a:r>
              <a:rPr lang="en-US" sz="900" b="1">
                <a:solidFill>
                  <a:srgbClr val="357A70"/>
                </a:solidFill>
                <a:latin typeface="Aptos" panose="020B0004020202020204" pitchFamily="34" charset="0"/>
              </a:rPr>
              <a:t>20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FD4EB06-E901-F371-748D-4C7680CAF6CA}"/>
              </a:ext>
            </a:extLst>
          </p:cNvPr>
          <p:cNvSpPr/>
          <p:nvPr/>
        </p:nvSpPr>
        <p:spPr>
          <a:xfrm>
            <a:off x="673100" y="1625600"/>
            <a:ext cx="6350000" cy="3860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31E998-D89A-0C1B-51B7-577033AAF03A}"/>
              </a:ext>
            </a:extLst>
          </p:cNvPr>
          <p:cNvSpPr/>
          <p:nvPr/>
        </p:nvSpPr>
        <p:spPr>
          <a:xfrm>
            <a:off x="850900" y="1816100"/>
            <a:ext cx="63500" cy="3479800"/>
          </a:xfrm>
          <a:prstGeom prst="rect">
            <a:avLst/>
          </a:prstGeom>
          <a:solidFill>
            <a:srgbClr val="28796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496389-A89F-A569-3D4E-DFA64E685240}"/>
              </a:ext>
            </a:extLst>
          </p:cNvPr>
          <p:cNvSpPr txBox="1"/>
          <p:nvPr/>
        </p:nvSpPr>
        <p:spPr>
          <a:xfrm>
            <a:off x="1054100" y="1765300"/>
            <a:ext cx="5778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700" b="1">
                <a:solidFill>
                  <a:srgbClr val="174A46"/>
                </a:solidFill>
                <a:latin typeface="Aptos" panose="020B0004020202020204" pitchFamily="34" charset="0"/>
              </a:rPr>
              <a:t>Suggested references - verify before use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02411A-76C3-7F6A-D4AD-7A53282C9301}"/>
              </a:ext>
            </a:extLst>
          </p:cNvPr>
          <p:cNvSpPr txBox="1"/>
          <p:nvPr/>
        </p:nvSpPr>
        <p:spPr>
          <a:xfrm>
            <a:off x="1054100" y="2082800"/>
            <a:ext cx="57404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Pressman &amp; Maxim, Software Engineering (9th ed., 2019)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Sommerville, Software Engineering (10th ed., 2015)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WHO, Recommendations on Antenatal Care (2016)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React documentation - react.dev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Spring Boot / Security - docs.spring.io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PostgreSQL - postgresql.org/docs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MDN Service Worker and Push APIs - developer.mozilla.org</a:t>
            </a:r>
          </a:p>
          <a:p>
            <a:r>
              <a:rPr lang="en-US" sz="1100">
                <a:solidFill>
                  <a:srgbClr val="4C6260"/>
                </a:solidFill>
                <a:latin typeface="Aptos" panose="020B0004020202020204" pitchFamily="34" charset="0"/>
              </a:rPr>
              <a:t>Keep only sources actually consulted.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8282C0B-CF96-D16C-9D46-2DC417E8D8CE}"/>
              </a:ext>
            </a:extLst>
          </p:cNvPr>
          <p:cNvSpPr/>
          <p:nvPr/>
        </p:nvSpPr>
        <p:spPr>
          <a:xfrm>
            <a:off x="7493000" y="1752600"/>
            <a:ext cx="3937000" cy="3429000"/>
          </a:xfrm>
          <a:prstGeom prst="roundRect">
            <a:avLst/>
          </a:prstGeom>
          <a:solidFill>
            <a:srgbClr val="173B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58CC6C-2F8B-BA7F-C57A-AD57EDB5DFCA}"/>
              </a:ext>
            </a:extLst>
          </p:cNvPr>
          <p:cNvSpPr txBox="1"/>
          <p:nvPr/>
        </p:nvSpPr>
        <p:spPr>
          <a:xfrm>
            <a:off x="7874000" y="2438400"/>
            <a:ext cx="3175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Thank you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A172C6-4504-7F37-8B71-589E6DF4F86E}"/>
              </a:ext>
            </a:extLst>
          </p:cNvPr>
          <p:cNvSpPr txBox="1"/>
          <p:nvPr/>
        </p:nvSpPr>
        <p:spPr>
          <a:xfrm>
            <a:off x="7899400" y="3213100"/>
            <a:ext cx="31115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400">
                <a:solidFill>
                  <a:srgbClr val="DCEAE5"/>
                </a:solidFill>
                <a:latin typeface="Aptos" panose="020B0004020202020204" pitchFamily="34" charset="0"/>
              </a:rPr>
              <a:t>Thank you to my guide, department, college, and Review Committee.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B729CD-DF9F-0605-D244-59822796F40F}"/>
              </a:ext>
            </a:extLst>
          </p:cNvPr>
          <p:cNvSpPr txBox="1"/>
          <p:nvPr/>
        </p:nvSpPr>
        <p:spPr>
          <a:xfrm>
            <a:off x="7772400" y="4508500"/>
            <a:ext cx="3429000" cy="241733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500" b="1">
                <a:solidFill>
                  <a:srgbClr val="F0B297"/>
                </a:solidFill>
                <a:latin typeface="Aptos" panose="020B000402020202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31689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1939</Words>
  <Application>Microsoft Office PowerPoint</Application>
  <PresentationFormat>Custom</PresentationFormat>
  <Paragraphs>402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Kumar, Deepak</dc:creator>
  <cp:lastModifiedBy>Kumar, Deepak</cp:lastModifiedBy>
  <cp:revision>1</cp:revision>
  <dcterms:created xsi:type="dcterms:W3CDTF">2026-10-18T18:44:47Z</dcterms:created>
  <dcterms:modified xsi:type="dcterms:W3CDTF">2026-10-18T18:44:48Z</dcterms:modified>
</cp:coreProperties>
</file>