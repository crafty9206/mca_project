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handoutMasterIdLst>
    <p:handoutMasterId r:id="rId23"/>
  </p:handoutMasterIdLst>
  <p:sldIdLst>
    <p:sldId id="368" r:id="rId2"/>
    <p:sldId id="369" r:id="rId3"/>
    <p:sldId id="382" r:id="rId4"/>
    <p:sldId id="390" r:id="rId5"/>
    <p:sldId id="400" r:id="rId6"/>
    <p:sldId id="371" r:id="rId7"/>
    <p:sldId id="385" r:id="rId8"/>
    <p:sldId id="376" r:id="rId9"/>
    <p:sldId id="395" r:id="rId10"/>
    <p:sldId id="396" r:id="rId11"/>
    <p:sldId id="404" r:id="rId12"/>
    <p:sldId id="386" r:id="rId13"/>
    <p:sldId id="391" r:id="rId14"/>
    <p:sldId id="408" r:id="rId15"/>
    <p:sldId id="392" r:id="rId16"/>
    <p:sldId id="409" r:id="rId17"/>
    <p:sldId id="411" r:id="rId18"/>
    <p:sldId id="401" r:id="rId19"/>
    <p:sldId id="412" r:id="rId20"/>
    <p:sldId id="402" r:id="rId21"/>
  </p:sldIdLst>
  <p:sldSz cx="9144000" cy="5143500" type="screen16x9"/>
  <p:notesSz cx="6858000" cy="9144000"/>
  <p:custDataLst>
    <p:tags r:id="rId2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arrish bhagavathula" initials="hb"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E41"/>
    <a:srgbClr val="000099"/>
    <a:srgbClr val="012142"/>
    <a:srgbClr val="17375E"/>
    <a:srgbClr val="718587"/>
    <a:srgbClr val="C00000"/>
    <a:srgbClr val="ED1B24"/>
    <a:srgbClr val="75BE39"/>
    <a:srgbClr val="0067AC"/>
    <a:srgbClr val="0055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15" autoAdjust="0"/>
    <p:restoredTop sz="94671" autoAdjust="0"/>
  </p:normalViewPr>
  <p:slideViewPr>
    <p:cSldViewPr>
      <p:cViewPr varScale="1">
        <p:scale>
          <a:sx n="88" d="100"/>
          <a:sy n="88" d="100"/>
        </p:scale>
        <p:origin x="568" y="60"/>
      </p:cViewPr>
      <p:guideLst>
        <p:guide orient="horz" pos="1620"/>
        <p:guide pos="2880"/>
      </p:guideLst>
    </p:cSldViewPr>
  </p:slideViewPr>
  <p:notesTextViewPr>
    <p:cViewPr>
      <p:scale>
        <a:sx n="100" d="100"/>
        <a:sy n="100" d="100"/>
      </p:scale>
      <p:origin x="0" y="0"/>
    </p:cViewPr>
  </p:notesTextViewPr>
  <p:sorterViewPr>
    <p:cViewPr>
      <p:scale>
        <a:sx n="100" d="100"/>
        <a:sy n="100" d="100"/>
      </p:scale>
      <p:origin x="0" y="-5550"/>
    </p:cViewPr>
  </p:sorterViewPr>
  <p:notesViewPr>
    <p:cSldViewPr>
      <p:cViewPr varScale="1">
        <p:scale>
          <a:sx n="53" d="100"/>
          <a:sy n="53" d="100"/>
        </p:scale>
        <p:origin x="-2850"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2D72081-C824-4086-8F2F-2E1515CCAD09}" type="datetimeFigureOut">
              <a:rPr lang="en-US" smtClean="0"/>
              <a:pPr/>
              <a:t>10/19/2026</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FF24658-0728-4F51-80F4-3C91ECA2A4FC}" type="slidenum">
              <a:rPr lang="en-US" smtClean="0"/>
              <a:pPr/>
              <a:t>‹#›</a:t>
            </a:fld>
            <a:endParaRPr lang="en-US" dirty="0"/>
          </a:p>
        </p:txBody>
      </p:sp>
    </p:spTree>
    <p:extLst>
      <p:ext uri="{BB962C8B-B14F-4D97-AF65-F5344CB8AC3E}">
        <p14:creationId xmlns:p14="http://schemas.microsoft.com/office/powerpoint/2010/main" val="217105208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5D0174-27A0-4699-9B7D-1DF316D5B691}" type="datetimeFigureOut">
              <a:rPr lang="en-IN" smtClean="0"/>
              <a:pPr/>
              <a:t>19-10-2026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7294E0-43BA-4050-978A-B5F4E62A110E}" type="slidenum">
              <a:rPr lang="en-IN" smtClean="0"/>
              <a:pPr/>
              <a:t>‹#›</a:t>
            </a:fld>
            <a:endParaRPr lang="en-IN" dirty="0"/>
          </a:p>
        </p:txBody>
      </p:sp>
    </p:spTree>
    <p:extLst>
      <p:ext uri="{BB962C8B-B14F-4D97-AF65-F5344CB8AC3E}">
        <p14:creationId xmlns:p14="http://schemas.microsoft.com/office/powerpoint/2010/main" val="2532531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1" name="Google Shape;13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9258277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ustDataLst>
      <p:tags r:id="rId1"/>
    </p:custDataLst>
  </p:cSld>
  <p:clrMapOvr>
    <a:masterClrMapping/>
  </p:clrMapOvr>
  <p:extLst>
    <p:ext uri="{DCECCB84-F9BA-43D5-87BE-67443E8EF086}">
      <p15:sldGuideLst xmlns:p15="http://schemas.microsoft.com/office/powerpoint/2012/main">
        <p15:guide id="1" orient="horz" pos="756" userDrawn="1">
          <p15:clr>
            <a:srgbClr val="FBAE40"/>
          </p15:clr>
        </p15:guide>
        <p15:guide id="2" pos="336" userDrawn="1">
          <p15:clr>
            <a:srgbClr val="FBAE40"/>
          </p15:clr>
        </p15:guide>
        <p15:guide id="3" pos="5376" userDrawn="1">
          <p15:clr>
            <a:srgbClr val="FBAE40"/>
          </p15:clr>
        </p15:guide>
        <p15:guide id="4" orient="horz" pos="306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pic>
        <p:nvPicPr>
          <p:cNvPr id="4" name="Picture 3" descr="Shape&#10;&#10;Description automatically generated">
            <a:extLst>
              <a:ext uri="{FF2B5EF4-FFF2-40B4-BE49-F238E27FC236}">
                <a16:creationId xmlns:a16="http://schemas.microsoft.com/office/drawing/2014/main" id="{0C3BC438-8BA7-2CBA-46E9-939F92AFEE7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44" y="0"/>
            <a:ext cx="9143111" cy="5143500"/>
          </a:xfrm>
          <a:prstGeom prst="rect">
            <a:avLst/>
          </a:prstGeom>
        </p:spPr>
      </p:pic>
    </p:spTree>
    <p:custDataLst>
      <p:tags r:id="rId1"/>
    </p:custDataLst>
  </p:cSld>
  <p:clrMapOvr>
    <a:masterClrMapping/>
  </p:clrMapOvr>
  <p:extLst>
    <p:ext uri="{DCECCB84-F9BA-43D5-87BE-67443E8EF086}">
      <p15:sldGuideLst xmlns:p15="http://schemas.microsoft.com/office/powerpoint/2012/main">
        <p15:guide id="1" orient="horz" pos="756" userDrawn="1">
          <p15:clr>
            <a:srgbClr val="FBAE40"/>
          </p15:clr>
        </p15:guide>
        <p15:guide id="2" pos="336" userDrawn="1">
          <p15:clr>
            <a:srgbClr val="FBAE40"/>
          </p15:clr>
        </p15:guide>
        <p15:guide id="3" pos="5376" userDrawn="1">
          <p15:clr>
            <a:srgbClr val="FBAE40"/>
          </p15:clr>
        </p15:guide>
        <p15:guide id="4" orient="horz" pos="306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custDataLst>
      <p:tags r:id="rId1"/>
    </p:custDataLst>
  </p:cSld>
  <p:clrMapOvr>
    <a:masterClrMapping/>
  </p:clrMapOvr>
  <p:extLst>
    <p:ext uri="{DCECCB84-F9BA-43D5-87BE-67443E8EF086}">
      <p15:sldGuideLst xmlns:p15="http://schemas.microsoft.com/office/powerpoint/2012/main">
        <p15:guide id="1" orient="horz" pos="3060" userDrawn="1">
          <p15:clr>
            <a:srgbClr val="FBAE40"/>
          </p15:clr>
        </p15:guide>
        <p15:guide id="2" pos="336" userDrawn="1">
          <p15:clr>
            <a:srgbClr val="FBAE40"/>
          </p15:clr>
        </p15:guide>
        <p15:guide id="3" pos="5376" userDrawn="1">
          <p15:clr>
            <a:srgbClr val="FBAE40"/>
          </p15:clr>
        </p15:guide>
        <p15:guide id="4" orient="horz" pos="756"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67390690"/>
      </p:ext>
    </p:extLst>
  </p:cSld>
  <p:clrMapOvr>
    <a:masterClrMapping/>
  </p:clrMapOvr>
  <p:extLst>
    <p:ext uri="{DCECCB84-F9BA-43D5-87BE-67443E8EF086}">
      <p15:sldGuideLst xmlns:p15="http://schemas.microsoft.com/office/powerpoint/2012/main">
        <p15:guide id="1" orient="horz" pos="756" userDrawn="1">
          <p15:clr>
            <a:srgbClr val="FBAE40"/>
          </p15:clr>
        </p15:guide>
        <p15:guide id="2" pos="336" userDrawn="1">
          <p15:clr>
            <a:srgbClr val="FBAE40"/>
          </p15:clr>
        </p15:guide>
        <p15:guide id="3" orient="horz" pos="3060" userDrawn="1">
          <p15:clr>
            <a:srgbClr val="FBAE40"/>
          </p15:clr>
        </p15:guide>
        <p15:guide id="4" pos="5376"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Title Slide" type="title">
  <p:cSld name="1_Title Slide">
    <p:spTree>
      <p:nvGrpSpPr>
        <p:cNvPr id="1" name="Shape 18"/>
        <p:cNvGrpSpPr/>
        <p:nvPr/>
      </p:nvGrpSpPr>
      <p:grpSpPr>
        <a:xfrm>
          <a:off x="0" y="0"/>
          <a:ext cx="0" cy="0"/>
          <a:chOff x="0" y="0"/>
          <a:chExt cx="0" cy="0"/>
        </a:xfrm>
      </p:grpSpPr>
      <p:sp>
        <p:nvSpPr>
          <p:cNvPr id="19" name="Google Shape;19;p115"/>
          <p:cNvSpPr/>
          <p:nvPr/>
        </p:nvSpPr>
        <p:spPr>
          <a:xfrm>
            <a:off x="-12320" y="2655588"/>
            <a:ext cx="9153940" cy="2145012"/>
          </a:xfrm>
          <a:prstGeom prst="rect">
            <a:avLst/>
          </a:prstGeom>
          <a:solidFill>
            <a:srgbClr val="0070C0"/>
          </a:solidFill>
          <a:ln>
            <a:noFill/>
          </a:ln>
        </p:spPr>
        <p:txBody>
          <a:bodyPr spcFirstLastPara="1" wrap="square" lIns="68569" tIns="34275" rIns="68569" bIns="34275" anchor="ctr" anchorCtr="0">
            <a:noAutofit/>
          </a:bodyPr>
          <a:lstStyle/>
          <a:p>
            <a:pPr marL="0" marR="0" lvl="0" indent="0" algn="ctr" rtl="0">
              <a:spcBef>
                <a:spcPts val="0"/>
              </a:spcBef>
              <a:spcAft>
                <a:spcPts val="0"/>
              </a:spcAft>
              <a:buNone/>
            </a:pPr>
            <a:endParaRPr sz="1350">
              <a:solidFill>
                <a:schemeClr val="lt1"/>
              </a:solidFill>
              <a:latin typeface="Calibri"/>
              <a:ea typeface="Calibri"/>
              <a:cs typeface="Calibri"/>
              <a:sym typeface="Calibri"/>
            </a:endParaRPr>
          </a:p>
        </p:txBody>
      </p:sp>
      <p:sp>
        <p:nvSpPr>
          <p:cNvPr id="20" name="Google Shape;20;p115"/>
          <p:cNvSpPr/>
          <p:nvPr/>
        </p:nvSpPr>
        <p:spPr>
          <a:xfrm>
            <a:off x="2382" y="4800600"/>
            <a:ext cx="9141619" cy="342900"/>
          </a:xfrm>
          <a:prstGeom prst="rect">
            <a:avLst/>
          </a:prstGeom>
          <a:solidFill>
            <a:srgbClr val="0070C0"/>
          </a:solidFill>
          <a:ln>
            <a:noFill/>
          </a:ln>
        </p:spPr>
        <p:txBody>
          <a:bodyPr spcFirstLastPara="1" wrap="square" lIns="68569" tIns="34275" rIns="68569" bIns="34275" anchor="t" anchorCtr="0">
            <a:noAutofit/>
          </a:bodyPr>
          <a:lstStyle/>
          <a:p>
            <a:pPr marL="0" marR="0" lvl="0" indent="0" algn="l" rtl="0">
              <a:spcBef>
                <a:spcPts val="0"/>
              </a:spcBef>
              <a:spcAft>
                <a:spcPts val="0"/>
              </a:spcAft>
              <a:buNone/>
            </a:pPr>
            <a:endParaRPr sz="1350">
              <a:solidFill>
                <a:schemeClr val="lt1"/>
              </a:solidFill>
              <a:latin typeface="Calibri"/>
              <a:ea typeface="Calibri"/>
              <a:cs typeface="Calibri"/>
              <a:sym typeface="Calibri"/>
            </a:endParaRPr>
          </a:p>
        </p:txBody>
      </p:sp>
      <p:sp>
        <p:nvSpPr>
          <p:cNvPr id="21" name="Google Shape;21;p115"/>
          <p:cNvSpPr txBox="1">
            <a:spLocks noGrp="1"/>
          </p:cNvSpPr>
          <p:nvPr>
            <p:ph type="ctrTitle"/>
          </p:nvPr>
        </p:nvSpPr>
        <p:spPr>
          <a:xfrm>
            <a:off x="171528" y="3225959"/>
            <a:ext cx="5424601" cy="1096982"/>
          </a:xfrm>
          <a:prstGeom prst="rect">
            <a:avLst/>
          </a:prstGeom>
          <a:noFill/>
          <a:ln>
            <a:noFill/>
          </a:ln>
        </p:spPr>
        <p:txBody>
          <a:bodyPr spcFirstLastPara="1" wrap="square" lIns="91425" tIns="45700" rIns="91425" bIns="45700" anchor="t" anchorCtr="0">
            <a:noAutofit/>
          </a:bodyPr>
          <a:lstStyle>
            <a:lvl1pPr lvl="0" algn="r">
              <a:lnSpc>
                <a:spcPct val="90000"/>
              </a:lnSpc>
              <a:spcBef>
                <a:spcPts val="0"/>
              </a:spcBef>
              <a:spcAft>
                <a:spcPts val="0"/>
              </a:spcAft>
              <a:buClr>
                <a:schemeClr val="lt1"/>
              </a:buClr>
              <a:buSzPts val="4800"/>
              <a:buFont typeface="Calibri"/>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115"/>
          <p:cNvSpPr txBox="1">
            <a:spLocks noGrp="1"/>
          </p:cNvSpPr>
          <p:nvPr>
            <p:ph type="subTitle" idx="1"/>
          </p:nvPr>
        </p:nvSpPr>
        <p:spPr>
          <a:xfrm>
            <a:off x="6055822" y="3299469"/>
            <a:ext cx="2420663" cy="998036"/>
          </a:xfrm>
          <a:prstGeom prst="rect">
            <a:avLst/>
          </a:prstGeom>
          <a:noFill/>
          <a:ln>
            <a:noFill/>
          </a:ln>
        </p:spPr>
        <p:txBody>
          <a:bodyPr spcFirstLastPara="1" wrap="square" lIns="91425" tIns="45700" rIns="91425" bIns="45700" anchor="t" anchorCtr="0">
            <a:normAutofit/>
          </a:bodyPr>
          <a:lstStyle>
            <a:lvl1pPr lvl="0" algn="l">
              <a:lnSpc>
                <a:spcPct val="100000"/>
              </a:lnSpc>
              <a:spcBef>
                <a:spcPts val="900"/>
              </a:spcBef>
              <a:spcAft>
                <a:spcPts val="0"/>
              </a:spcAft>
              <a:buSzPts val="2400"/>
              <a:buNone/>
              <a:defRPr sz="1800" cap="none">
                <a:solidFill>
                  <a:srgbClr val="B0B0F3"/>
                </a:solidFill>
                <a:latin typeface="Calibri"/>
                <a:ea typeface="Calibri"/>
                <a:cs typeface="Calibri"/>
                <a:sym typeface="Calibri"/>
              </a:defRPr>
            </a:lvl1pPr>
            <a:lvl2pPr lvl="1" algn="ctr">
              <a:lnSpc>
                <a:spcPct val="100000"/>
              </a:lnSpc>
              <a:spcBef>
                <a:spcPts val="150"/>
              </a:spcBef>
              <a:spcAft>
                <a:spcPts val="0"/>
              </a:spcAft>
              <a:buClr>
                <a:srgbClr val="3F3F3F"/>
              </a:buClr>
              <a:buSzPts val="2400"/>
              <a:buNone/>
              <a:defRPr sz="1800"/>
            </a:lvl2pPr>
            <a:lvl3pPr lvl="2" algn="ctr">
              <a:lnSpc>
                <a:spcPct val="100000"/>
              </a:lnSpc>
              <a:spcBef>
                <a:spcPts val="300"/>
              </a:spcBef>
              <a:spcAft>
                <a:spcPts val="0"/>
              </a:spcAft>
              <a:buClr>
                <a:srgbClr val="3F3F3F"/>
              </a:buClr>
              <a:buSzPts val="2400"/>
              <a:buNone/>
              <a:defRPr sz="1800"/>
            </a:lvl3pPr>
            <a:lvl4pPr lvl="3" algn="ctr">
              <a:lnSpc>
                <a:spcPct val="100000"/>
              </a:lnSpc>
              <a:spcBef>
                <a:spcPts val="300"/>
              </a:spcBef>
              <a:spcAft>
                <a:spcPts val="0"/>
              </a:spcAft>
              <a:buClr>
                <a:srgbClr val="3F3F3F"/>
              </a:buClr>
              <a:buSzPts val="2000"/>
              <a:buNone/>
              <a:defRPr sz="1500"/>
            </a:lvl4pPr>
            <a:lvl5pPr lvl="4" algn="ctr">
              <a:lnSpc>
                <a:spcPct val="100000"/>
              </a:lnSpc>
              <a:spcBef>
                <a:spcPts val="300"/>
              </a:spcBef>
              <a:spcAft>
                <a:spcPts val="0"/>
              </a:spcAft>
              <a:buClr>
                <a:srgbClr val="3F3F3F"/>
              </a:buClr>
              <a:buSzPts val="2000"/>
              <a:buNone/>
              <a:defRPr sz="1500"/>
            </a:lvl5pPr>
            <a:lvl6pPr lvl="5" algn="ctr">
              <a:lnSpc>
                <a:spcPct val="90000"/>
              </a:lnSpc>
              <a:spcBef>
                <a:spcPts val="300"/>
              </a:spcBef>
              <a:spcAft>
                <a:spcPts val="0"/>
              </a:spcAft>
              <a:buSzPts val="2000"/>
              <a:buNone/>
              <a:defRPr sz="1500"/>
            </a:lvl6pPr>
            <a:lvl7pPr lvl="6" algn="ctr">
              <a:lnSpc>
                <a:spcPct val="90000"/>
              </a:lnSpc>
              <a:spcBef>
                <a:spcPts val="300"/>
              </a:spcBef>
              <a:spcAft>
                <a:spcPts val="0"/>
              </a:spcAft>
              <a:buSzPts val="2000"/>
              <a:buNone/>
              <a:defRPr sz="1500"/>
            </a:lvl7pPr>
            <a:lvl8pPr lvl="7" algn="ctr">
              <a:lnSpc>
                <a:spcPct val="90000"/>
              </a:lnSpc>
              <a:spcBef>
                <a:spcPts val="300"/>
              </a:spcBef>
              <a:spcAft>
                <a:spcPts val="0"/>
              </a:spcAft>
              <a:buSzPts val="2000"/>
              <a:buNone/>
              <a:defRPr sz="1500"/>
            </a:lvl8pPr>
            <a:lvl9pPr lvl="8" algn="ctr">
              <a:lnSpc>
                <a:spcPct val="90000"/>
              </a:lnSpc>
              <a:spcBef>
                <a:spcPts val="300"/>
              </a:spcBef>
              <a:spcAft>
                <a:spcPts val="300"/>
              </a:spcAft>
              <a:buSzPts val="2000"/>
              <a:buNone/>
              <a:defRPr sz="1500"/>
            </a:lvl9pPr>
          </a:lstStyle>
          <a:p>
            <a:endParaRPr/>
          </a:p>
        </p:txBody>
      </p:sp>
      <p:pic>
        <p:nvPicPr>
          <p:cNvPr id="23" name="Google Shape;23;p115" descr="KGC-2019"/>
          <p:cNvPicPr preferRelativeResize="0"/>
          <p:nvPr/>
        </p:nvPicPr>
        <p:blipFill rotWithShape="1">
          <a:blip r:embed="rId2">
            <a:alphaModFix/>
          </a:blip>
          <a:srcRect/>
          <a:stretch/>
        </p:blipFill>
        <p:spPr>
          <a:xfrm>
            <a:off x="1903214" y="1222240"/>
            <a:ext cx="5327633" cy="930254"/>
          </a:xfrm>
          <a:prstGeom prst="rect">
            <a:avLst/>
          </a:prstGeom>
          <a:noFill/>
          <a:ln>
            <a:noFill/>
          </a:ln>
        </p:spPr>
      </p:pic>
      <p:sp>
        <p:nvSpPr>
          <p:cNvPr id="24" name="Google Shape;24;p115"/>
          <p:cNvSpPr txBox="1"/>
          <p:nvPr/>
        </p:nvSpPr>
        <p:spPr>
          <a:xfrm>
            <a:off x="-9939" y="4902476"/>
            <a:ext cx="2305879" cy="190471"/>
          </a:xfrm>
          <a:prstGeom prst="rect">
            <a:avLst/>
          </a:prstGeom>
          <a:noFill/>
          <a:ln>
            <a:noFill/>
          </a:ln>
        </p:spPr>
        <p:txBody>
          <a:bodyPr spcFirstLastPara="1" wrap="square" lIns="68569" tIns="34275" rIns="68569" bIns="34275" anchor="t" anchorCtr="0">
            <a:spAutoFit/>
          </a:bodyPr>
          <a:lstStyle/>
          <a:p>
            <a:pPr marL="0" marR="0" lvl="0" indent="0" algn="l" rtl="0">
              <a:spcBef>
                <a:spcPts val="0"/>
              </a:spcBef>
              <a:spcAft>
                <a:spcPts val="0"/>
              </a:spcAft>
              <a:buNone/>
            </a:pPr>
            <a:r>
              <a:rPr lang="en-US" sz="788">
                <a:solidFill>
                  <a:schemeClr val="lt1"/>
                </a:solidFill>
                <a:latin typeface="Calibri"/>
                <a:ea typeface="Calibri"/>
                <a:cs typeface="Calibri"/>
                <a:sym typeface="Calibri"/>
              </a:rPr>
              <a:t>© Kalasalingam academy of research and education</a:t>
            </a:r>
            <a:endParaRPr sz="1350"/>
          </a:p>
        </p:txBody>
      </p:sp>
      <p:cxnSp>
        <p:nvCxnSpPr>
          <p:cNvPr id="25" name="Google Shape;25;p115"/>
          <p:cNvCxnSpPr/>
          <p:nvPr/>
        </p:nvCxnSpPr>
        <p:spPr>
          <a:xfrm>
            <a:off x="5774436" y="2972335"/>
            <a:ext cx="0" cy="1713581"/>
          </a:xfrm>
          <a:prstGeom prst="straightConnector1">
            <a:avLst/>
          </a:prstGeom>
          <a:noFill/>
          <a:ln w="57150" cap="flat" cmpd="sng">
            <a:solidFill>
              <a:srgbClr val="00B0F0"/>
            </a:solidFill>
            <a:prstDash val="solid"/>
            <a:round/>
            <a:headEnd type="none" w="sm" len="sm"/>
            <a:tailEnd type="none" w="sm" len="sm"/>
          </a:ln>
        </p:spPr>
      </p:cxnSp>
    </p:spTree>
    <p:extLst>
      <p:ext uri="{BB962C8B-B14F-4D97-AF65-F5344CB8AC3E}">
        <p14:creationId xmlns:p14="http://schemas.microsoft.com/office/powerpoint/2010/main" val="42415045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descr="Graphical user interface&#10;&#10;Description automatically generated with low confidence">
            <a:extLst>
              <a:ext uri="{FF2B5EF4-FFF2-40B4-BE49-F238E27FC236}">
                <a16:creationId xmlns:a16="http://schemas.microsoft.com/office/drawing/2014/main" id="{F9E877FF-2708-28CB-27F6-6195A99B4E58}"/>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Tree>
    <p:custDataLst>
      <p:tags r:id="rId7"/>
    </p:custDataLst>
  </p:cSld>
  <p:clrMap bg1="lt1" tx1="dk1" bg2="lt2" tx2="dk2" accent1="accent1" accent2="accent2" accent3="accent3" accent4="accent4" accent5="accent5" accent6="accent6" hlink="hlink" folHlink="folHlink"/>
  <p:sldLayoutIdLst>
    <p:sldLayoutId id="2147483649" r:id="rId1"/>
    <p:sldLayoutId id="2147483658" r:id="rId2"/>
    <p:sldLayoutId id="2147483659" r:id="rId3"/>
    <p:sldLayoutId id="2147483660" r:id="rId4"/>
    <p:sldLayoutId id="2147483661" r:id="rId5"/>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56" userDrawn="1">
          <p15:clr>
            <a:srgbClr val="F26B43"/>
          </p15:clr>
        </p15:guide>
        <p15:guide id="2" pos="336" userDrawn="1">
          <p15:clr>
            <a:srgbClr val="F26B43"/>
          </p15:clr>
        </p15:guide>
        <p15:guide id="3" pos="5376" userDrawn="1">
          <p15:clr>
            <a:srgbClr val="F26B43"/>
          </p15:clr>
        </p15:guide>
        <p15:guide id="4" orient="horz" pos="306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
          <p:cNvSpPr txBox="1">
            <a:spLocks noGrp="1"/>
          </p:cNvSpPr>
          <p:nvPr>
            <p:ph type="ctrTitle"/>
          </p:nvPr>
        </p:nvSpPr>
        <p:spPr>
          <a:xfrm>
            <a:off x="171528" y="3225959"/>
            <a:ext cx="5424601" cy="1096982"/>
          </a:xfrm>
          <a:prstGeom prst="rect">
            <a:avLst/>
          </a:prstGeom>
          <a:noFill/>
          <a:ln>
            <a:noFill/>
          </a:ln>
        </p:spPr>
        <p:txBody>
          <a:bodyPr spcFirstLastPara="1" wrap="square" lIns="68569" tIns="34275" rIns="68569" bIns="34275" anchor="t" anchorCtr="0">
            <a:noAutofit/>
          </a:bodyPr>
          <a:lstStyle/>
          <a:p>
            <a:pPr algn="ctr"/>
            <a:r>
              <a:rPr lang="en-IN" sz="2600" b="1">
                <a:latin typeface="Times New Roman" panose="02020603050405020304" pitchFamily="18" charset="0"/>
              </a:rPr>
              <a:t>Jan -2024</a:t>
            </a:r>
            <a:endParaRPr lang="en-IN" sz="2600" b="1" dirty="0">
              <a:latin typeface="Times New Roman" panose="02020603050405020304" pitchFamily="18" charset="0"/>
            </a:endParaRPr>
          </a:p>
        </p:txBody>
      </p:sp>
      <p:sp>
        <p:nvSpPr>
          <p:cNvPr id="134" name="Google Shape;134;p1"/>
          <p:cNvSpPr txBox="1">
            <a:spLocks noGrp="1"/>
          </p:cNvSpPr>
          <p:nvPr>
            <p:ph type="subTitle" idx="1"/>
          </p:nvPr>
        </p:nvSpPr>
        <p:spPr>
          <a:xfrm>
            <a:off x="5791200" y="3224542"/>
            <a:ext cx="3352800" cy="1176007"/>
          </a:xfrm>
          <a:prstGeom prst="rect">
            <a:avLst/>
          </a:prstGeom>
          <a:noFill/>
          <a:ln>
            <a:noFill/>
          </a:ln>
        </p:spPr>
        <p:txBody>
          <a:bodyPr spcFirstLastPara="1" wrap="square" lIns="68569" tIns="34275" rIns="68569" bIns="34275" anchor="t" anchorCtr="0">
            <a:noAutofit/>
          </a:bodyPr>
          <a:lstStyle/>
          <a:p>
            <a:pPr algn="ctr"/>
            <a:r>
              <a:rPr lang="en-US" sz="2400" b="1">
                <a:solidFill>
                  <a:schemeClr val="bg1"/>
                </a:solidFill>
                <a:latin typeface="Times New Roman" panose="02020603050405020304" pitchFamily="18" charset="0"/>
                <a:cs typeface="Times New Roman" panose="02020603050405020304" pitchFamily="18" charset="0"/>
              </a:rPr>
              <a:t>IV Semester</a:t>
            </a:r>
          </a:p>
          <a:p>
            <a:pPr algn="ctr"/>
            <a:r>
              <a:rPr lang="en-US" sz="2400" b="1">
                <a:solidFill>
                  <a:schemeClr val="bg1"/>
                </a:solidFill>
                <a:latin typeface="Times New Roman" panose="02020603050405020304" pitchFamily="18" charset="0"/>
                <a:cs typeface="Times New Roman" panose="02020603050405020304" pitchFamily="18" charset="0"/>
              </a:rPr>
              <a:t>MCA</a:t>
            </a:r>
            <a:endParaRPr lang="en-US" sz="2400" b="1" dirty="0">
              <a:solidFill>
                <a:schemeClr val="bg1"/>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F0D4B5BF-7DB1-477F-8BB5-FEB8B6ED3699}"/>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905000" y="759460"/>
            <a:ext cx="5731510" cy="1431290"/>
          </a:xfrm>
          <a:prstGeom prst="rect">
            <a:avLst/>
          </a:prstGeom>
          <a:noFill/>
          <a:ln>
            <a:noFill/>
          </a:ln>
        </p:spPr>
      </p:pic>
      <p:sp>
        <p:nvSpPr>
          <p:cNvPr id="2" name="TextBox 1">
            <a:extLst>
              <a:ext uri="{FF2B5EF4-FFF2-40B4-BE49-F238E27FC236}">
                <a16:creationId xmlns:a16="http://schemas.microsoft.com/office/drawing/2014/main" id="{2DAEC255-C425-48D6-AD52-BAF53A1AC15C}"/>
              </a:ext>
            </a:extLst>
          </p:cNvPr>
          <p:cNvSpPr txBox="1"/>
          <p:nvPr/>
        </p:nvSpPr>
        <p:spPr>
          <a:xfrm>
            <a:off x="2789555" y="1930501"/>
            <a:ext cx="3962400" cy="461665"/>
          </a:xfrm>
          <a:prstGeom prst="rect">
            <a:avLst/>
          </a:prstGeom>
          <a:noFill/>
        </p:spPr>
        <p:txBody>
          <a:bodyPr wrap="square" rtlCol="0">
            <a:noAutofit/>
          </a:bodyPr>
          <a:lstStyle/>
          <a:p>
            <a:pPr algn="ctr"/>
            <a:r>
              <a:rPr lang="en-US" sz="2400" b="1">
                <a:solidFill>
                  <a:srgbClr val="000099"/>
                </a:solidFill>
                <a:latin typeface="Times New Roman" panose="02020603050405020304" pitchFamily="18" charset="0"/>
                <a:cs typeface="Times New Roman" panose="02020603050405020304" pitchFamily="18" charset="0"/>
              </a:rPr>
              <a:t>Project Work Review - 2</a:t>
            </a:r>
            <a:endParaRPr lang="en-IN" sz="2400" b="1" dirty="0">
              <a:solidFill>
                <a:srgbClr val="000099"/>
              </a:solidFill>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CAFE9BD6-2AEF-4F5D-99F0-79900C97BE19}"/>
              </a:ext>
            </a:extLst>
          </p:cNvPr>
          <p:cNvSpPr/>
          <p:nvPr/>
        </p:nvSpPr>
        <p:spPr>
          <a:xfrm>
            <a:off x="2403136" y="2276704"/>
            <a:ext cx="4337727" cy="374077"/>
          </a:xfrm>
          <a:prstGeom prst="rect">
            <a:avLst/>
          </a:prstGeom>
        </p:spPr>
        <p:txBody>
          <a:bodyPr wrap="square">
            <a:noAutofit/>
          </a:bodyPr>
          <a:lstStyle/>
          <a:p>
            <a:pPr algn="ctr">
              <a:lnSpc>
                <a:spcPct val="107000"/>
              </a:lnSpc>
              <a:spcAft>
                <a:spcPts val="800"/>
              </a:spcAft>
            </a:pPr>
            <a:r>
              <a:rPr lang="en-US" b="1">
                <a:latin typeface="Times New Roman" panose="02020603050405020304" pitchFamily="18" charset="0"/>
                <a:ea typeface="Times New Roman" panose="02020603050405020304" pitchFamily="18" charset="0"/>
                <a:cs typeface="Times New Roman" panose="02020603050405020304" pitchFamily="18" charset="0"/>
              </a:rPr>
              <a:t>Centre for Distance and Online Education</a:t>
            </a:r>
            <a:endParaRPr lang="en-IN" b="1"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874758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317A28E-1572-4B2F-AB46-2B90825978F5}"/>
              </a:ext>
            </a:extLst>
          </p:cNvPr>
          <p:cNvSpPr/>
          <p:nvPr/>
        </p:nvSpPr>
        <p:spPr>
          <a:xfrm>
            <a:off x="304800" y="514350"/>
            <a:ext cx="8763000" cy="4418967"/>
          </a:xfrm>
          <a:prstGeom prst="rect">
            <a:avLst/>
          </a:prstGeom>
        </p:spPr>
        <p:txBody>
          <a:bodyPr wrap="square">
            <a:noAutofit/>
          </a:bodyPr>
          <a:lstStyle/>
          <a:p>
            <a:pPr>
              <a:lnSpc>
                <a:spcPct val="200000"/>
              </a:lnSpc>
              <a:spcAft>
                <a:spcPts val="0"/>
              </a:spcAft>
            </a:pPr>
            <a:r>
              <a:rPr lang="en-US">
                <a:latin typeface="Times New Roman" panose="02020603050405020304" pitchFamily="18" charset="0"/>
                <a:ea typeface="Times New Roman" panose="02020603050405020304" pitchFamily="18" charset="0"/>
                <a:cs typeface="Times New Roman" panose="02020603050405020304" pitchFamily="18" charset="0"/>
              </a:rPr>
              <a:t>Name of the Learner : Deepak Kumar
Register number : 9224116032
Name of the Programme : MCA
Semester : IV
Name of the Course : Project Work
Batch : Jan 2024
Course Code : 223MCA4201
Regulation : 2022
Faculty Advisor : Mr. M. GOVINDARAJ</a:t>
            </a:r>
            <a:endParaRPr lang="en-IN" dirty="0">
              <a:solidFill>
                <a:srgbClr val="000000"/>
              </a:solidFill>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306ADDB6-EC90-4C9E-B247-954741439B5B}"/>
              </a:ext>
            </a:extLst>
          </p:cNvPr>
          <p:cNvSpPr/>
          <p:nvPr/>
        </p:nvSpPr>
        <p:spPr>
          <a:xfrm>
            <a:off x="218661" y="86783"/>
            <a:ext cx="8839200" cy="579967"/>
          </a:xfrm>
          <a:prstGeom prst="rect">
            <a:avLst/>
          </a:prstGeom>
        </p:spPr>
        <p:txBody>
          <a:bodyPr wrap="square">
            <a:noAutofit/>
          </a:bodyPr>
          <a:lstStyle/>
          <a:p>
            <a:pPr>
              <a:lnSpc>
                <a:spcPct val="150000"/>
              </a:lnSpc>
              <a:spcAft>
                <a:spcPts val="0"/>
              </a:spcAft>
            </a:pPr>
            <a:r>
              <a:rPr lang="en-IN" sz="2200" b="1">
                <a:solidFill>
                  <a:srgbClr val="000099"/>
                </a:solidFill>
                <a:latin typeface="Times New Roman" panose="02020603050405020304" pitchFamily="18" charset="0"/>
                <a:ea typeface="Times New Roman" panose="02020603050405020304" pitchFamily="18" charset="0"/>
              </a:rPr>
              <a:t>Project Title : MaatriCare</a:t>
            </a:r>
            <a:endParaRPr lang="en-IN" sz="2200" b="1" dirty="0">
              <a:solidFill>
                <a:srgbClr val="000099"/>
              </a:solidFill>
              <a:latin typeface="Times New Roman" panose="02020603050405020304" pitchFamily="18" charset="0"/>
            </a:endParaRPr>
          </a:p>
        </p:txBody>
      </p:sp>
    </p:spTree>
    <p:extLst>
      <p:ext uri="{BB962C8B-B14F-4D97-AF65-F5344CB8AC3E}">
        <p14:creationId xmlns:p14="http://schemas.microsoft.com/office/powerpoint/2010/main" val="37176758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B36BD41-AA31-446B-AF03-E04A9D35F390}"/>
              </a:ext>
            </a:extLst>
          </p:cNvPr>
          <p:cNvSpPr/>
          <p:nvPr/>
        </p:nvSpPr>
        <p:spPr>
          <a:xfrm>
            <a:off x="304800" y="209550"/>
            <a:ext cx="1863011" cy="461665"/>
          </a:xfrm>
          <a:prstGeom prst="rect">
            <a:avLst/>
          </a:prstGeom>
        </p:spPr>
        <p:txBody>
          <a:bodyPr wrap="square">
            <a:noAutofit/>
          </a:bodyPr>
          <a:lstStyle/>
          <a:p>
            <a:pPr algn="ctr"/>
            <a:r>
              <a:rPr lang="en-US" sz="2200" b="1">
                <a:solidFill>
                  <a:srgbClr val="000099"/>
                </a:solidFill>
                <a:latin typeface="Times New Roman" panose="02020603050405020304" pitchFamily="18" charset="0"/>
                <a:cs typeface="Times New Roman" panose="02020603050405020304" pitchFamily="18" charset="0"/>
              </a:rPr>
              <a:t>ABSTRACT</a:t>
            </a:r>
            <a:endParaRPr lang="en-IN" sz="2200" b="1" dirty="0">
              <a:solidFill>
                <a:srgbClr val="000099"/>
              </a:solidFill>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F1899A73-A892-4AA1-B496-D9261B159AC8}"/>
              </a:ext>
            </a:extLst>
          </p:cNvPr>
          <p:cNvSpPr/>
          <p:nvPr/>
        </p:nvSpPr>
        <p:spPr>
          <a:xfrm>
            <a:off x="304800" y="678669"/>
            <a:ext cx="8229600" cy="4480073"/>
          </a:xfrm>
          <a:prstGeom prst="rect">
            <a:avLst/>
          </a:prstGeom>
        </p:spPr>
        <p:txBody>
          <a:bodyPr wrap="square">
            <a:noAutofit/>
          </a:bodyPr>
          <a:lstStyle/>
          <a:p>
            <a:pPr>
              <a:lnSpc>
                <a:spcPct val="150000"/>
              </a:lnSpc>
            </a:pPr>
            <a:r>
              <a:rPr lang="en-US">
                <a:latin typeface="Times New Roman" panose="02020603050405020304" pitchFamily="18" charset="0"/>
                <a:cs typeface="Times New Roman" panose="02020603050405020304" pitchFamily="18" charset="0"/>
              </a:rPr>
              <a:t>MaatriCare is a pregnancy support and care-coordination web application that organizes pregnancy profiles, appointments, daily care, wellbeing records, symptom journals, milestones, learning resources, reports, and reminders in one authenticated system. Users can prepare questions for healthcare visits, create a printable visit brief, and choose which records to include in a report.</a:t>
            </a:r>
          </a:p>
          <a:p>
            <a:pPr>
              <a:lnSpc>
                <a:spcPct val="150000"/>
              </a:lnSpc>
            </a:pPr>
            <a:endParaRPr lang="en-US">
              <a:latin typeface="Times New Roman" panose="02020603050405020304" pitchFamily="18" charset="0"/>
              <a:cs typeface="Times New Roman" panose="02020603050405020304" pitchFamily="18" charset="0"/>
            </a:endParaRPr>
          </a:p>
          <a:p>
            <a:pPr>
              <a:lnSpc>
                <a:spcPct val="150000"/>
              </a:lnSpc>
            </a:pPr>
            <a:r>
              <a:rPr lang="en-US">
                <a:latin typeface="Times New Roman" panose="02020603050405020304" pitchFamily="18" charset="0"/>
                <a:cs typeface="Times New Roman" panose="02020603050405020304" pitchFamily="18" charset="0"/>
              </a:rPr>
              <a:t>The frontend is implemented with React, TypeScript, and Vite. The backend uses Java Spring Boot REST APIs, Spring Security with JWT authentication, request validation, and Spring Data JPA. MySQL supports local development, with PostgreSQL configured for production. Relational data includes user profiles, appointments, care tasks, wellbeing entries, symptoms, milestones, emergency contacts, report shares, push subscriptions, and scheduled reminders.</a:t>
            </a:r>
          </a:p>
          <a:p>
            <a:pPr>
              <a:lnSpc>
                <a:spcPct val="150000"/>
              </a:lnSpc>
            </a:pPr>
            <a:endParaRPr lang="en-US">
              <a:latin typeface="Times New Roman" panose="02020603050405020304" pitchFamily="18" charset="0"/>
              <a:cs typeface="Times New Roman" panose="02020603050405020304" pitchFamily="18" charset="0"/>
            </a:endParaRPr>
          </a:p>
          <a:p>
            <a:pPr>
              <a:lnSpc>
                <a:spcPct val="150000"/>
              </a:lnSpc>
            </a:pPr>
            <a:r>
              <a:rPr lang="en-US">
                <a:latin typeface="Times New Roman" panose="02020603050405020304" pitchFamily="18" charset="0"/>
                <a:cs typeface="Times New Roman" panose="02020603050405020304" pitchFamily="18" charset="0"/>
              </a:rPr>
              <a:t>Reminder scheduling defaults to Asia/Kolkata time. Optional Web Push uses server-side deduplication, retries, and one-hour snooze actions. Live push requires VAPID credentials and HTTPS. Focused backend tests validate timezone defaults, reminder preferences, deduplication, snooze capabilities, and retention; the frontend production build passes.</a:t>
            </a:r>
          </a:p>
          <a:p>
            <a:pPr>
              <a:lnSpc>
                <a:spcPct val="150000"/>
              </a:lnSpc>
            </a:pPr>
            <a:endParaRPr lang="en-US">
              <a:latin typeface="Times New Roman" panose="02020603050405020304" pitchFamily="18" charset="0"/>
              <a:cs typeface="Times New Roman" panose="02020603050405020304" pitchFamily="18" charset="0"/>
            </a:endParaRPr>
          </a:p>
          <a:p>
            <a:pPr>
              <a:lnSpc>
                <a:spcPct val="150000"/>
              </a:lnSpc>
            </a:pPr>
            <a:r>
              <a:rPr lang="en-US">
                <a:latin typeface="Times New Roman" panose="02020603050405020304" pitchFamily="18" charset="0"/>
                <a:cs typeface="Times New Roman" panose="02020603050405020304" pitchFamily="18" charset="0"/>
              </a:rPr>
              <a:t>MaatriCare is an organizational and educational aid. It does not diagnose conditions, recommend treatment, or replace a healthcare professional or emergency services.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722208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a:extLst>
              <a:ext uri="{FF2B5EF4-FFF2-40B4-BE49-F238E27FC236}">
                <a16:creationId xmlns:a16="http://schemas.microsoft.com/office/drawing/2014/main" id="{DCAB1EF9-DC87-4E4A-BF3E-65E325AE2895}"/>
              </a:ext>
            </a:extLst>
          </p:cNvPr>
          <p:cNvSpPr>
            <a:spLocks noChangeArrowheads="1"/>
          </p:cNvSpPr>
          <p:nvPr/>
        </p:nvSpPr>
        <p:spPr bwMode="auto">
          <a:xfrm>
            <a:off x="38100" y="1004069"/>
            <a:ext cx="9067800" cy="41088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noAutofit/>
          </a:bodyPr>
          <a:lstStyle/>
          <a:p>
            <a:pPr marL="0" marR="0" lvl="0" indent="0" defTabSz="914400" rtl="0" eaLnBrk="0" fontAlgn="base" latinLnBrk="0" hangingPunct="0">
              <a:lnSpc>
                <a:spcPct val="150000"/>
              </a:lnSpc>
              <a:spcBef>
                <a:spcPct val="0"/>
              </a:spcBef>
              <a:spcAft>
                <a:spcPct val="0"/>
              </a:spcAft>
              <a:buClrTx/>
              <a:buSzTx/>
              <a:buFontTx/>
              <a:buAutoNum type="arabicPeriod"/>
              <a:tabLst/>
            </a:pPr>
            <a:r>
              <a:rPr kumimoji="0" lang="en-US" altLang="en-US" sz="15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Project Overview</a:t>
            </a:r>
          </a:p>
          <a:p>
            <a:pPr marL="0" marR="0" lvl="0" indent="0" defTabSz="914400" rtl="0" eaLnBrk="0" fontAlgn="base" latinLnBrk="0" hangingPunct="0">
              <a:lnSpc>
                <a:spcPct val="150000"/>
              </a:lnSpc>
              <a:spcBef>
                <a:spcPct val="0"/>
              </a:spcBef>
              <a:spcAft>
                <a:spcPct val="0"/>
              </a:spcAft>
              <a:buClrTx/>
              <a:buSzTx/>
              <a:buFontTx/>
              <a:buAutoNum type="arabicPeriod"/>
              <a:tabLst/>
            </a:pPr>
            <a:r>
              <a:rPr kumimoji="0" lang="en-US" altLang="en-US" sz="15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MaatriCare is a private workspace for pregnancy-related organization and care coordination.</a:t>
            </a:r>
          </a:p>
          <a:p>
            <a:pPr marL="0" marR="0" lvl="0" indent="0" defTabSz="914400" rtl="0" eaLnBrk="0" fontAlgn="base" latinLnBrk="0" hangingPunct="0">
              <a:lnSpc>
                <a:spcPct val="150000"/>
              </a:lnSpc>
              <a:spcBef>
                <a:spcPct val="0"/>
              </a:spcBef>
              <a:spcAft>
                <a:spcPct val="0"/>
              </a:spcAft>
              <a:buClrTx/>
              <a:buSzTx/>
              <a:buFontTx/>
              <a:buAutoNum type="arabicPeriod"/>
              <a:tabLst/>
            </a:pPr>
            <a:endParaRPr kumimoji="0" lang="en-US" altLang="en-US" sz="15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50000"/>
              </a:lnSpc>
              <a:spcBef>
                <a:spcPct val="0"/>
              </a:spcBef>
              <a:spcAft>
                <a:spcPct val="0"/>
              </a:spcAft>
              <a:buClrTx/>
              <a:buSzTx/>
              <a:buFontTx/>
              <a:buAutoNum type="arabicPeriod"/>
              <a:tabLst/>
            </a:pPr>
            <a:r>
              <a:rPr kumimoji="0" lang="en-US" altLang="en-US" sz="15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Objectives</a:t>
            </a:r>
          </a:p>
          <a:p>
            <a:pPr marL="0" marR="0" lvl="0" indent="0" defTabSz="914400" rtl="0" eaLnBrk="0" fontAlgn="base" latinLnBrk="0" hangingPunct="0">
              <a:lnSpc>
                <a:spcPct val="150000"/>
              </a:lnSpc>
              <a:spcBef>
                <a:spcPct val="0"/>
              </a:spcBef>
              <a:spcAft>
                <a:spcPct val="0"/>
              </a:spcAft>
              <a:buClrTx/>
              <a:buSzTx/>
              <a:buFontTx/>
              <a:buAutoNum type="arabicPeriod"/>
              <a:tabLst/>
            </a:pPr>
            <a:r>
              <a:rPr kumimoji="0" lang="en-US" altLang="en-US" sz="15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Keep pregnancy profile and progress information together.</a:t>
            </a:r>
          </a:p>
          <a:p>
            <a:pPr marL="0" marR="0" lvl="0" indent="0" defTabSz="914400" rtl="0" eaLnBrk="0" fontAlgn="base" latinLnBrk="0" hangingPunct="0">
              <a:lnSpc>
                <a:spcPct val="150000"/>
              </a:lnSpc>
              <a:spcBef>
                <a:spcPct val="0"/>
              </a:spcBef>
              <a:spcAft>
                <a:spcPct val="0"/>
              </a:spcAft>
              <a:buClrTx/>
              <a:buSzTx/>
              <a:buFontTx/>
              <a:buAutoNum type="arabicPeriod"/>
              <a:tabLst/>
            </a:pPr>
            <a:r>
              <a:rPr kumimoji="0" lang="en-US" altLang="en-US" sz="15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Track daily care and wellbeing entries.</a:t>
            </a:r>
          </a:p>
          <a:p>
            <a:pPr marL="0" marR="0" lvl="0" indent="0" defTabSz="914400" rtl="0" eaLnBrk="0" fontAlgn="base" latinLnBrk="0" hangingPunct="0">
              <a:lnSpc>
                <a:spcPct val="150000"/>
              </a:lnSpc>
              <a:spcBef>
                <a:spcPct val="0"/>
              </a:spcBef>
              <a:spcAft>
                <a:spcPct val="0"/>
              </a:spcAft>
              <a:buClrTx/>
              <a:buSzTx/>
              <a:buFontTx/>
              <a:buAutoNum type="arabicPeriod"/>
              <a:tabLst/>
            </a:pPr>
            <a:r>
              <a:rPr kumimoji="0" lang="en-US" altLang="en-US" sz="15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Manage appointments, questions, and visit briefs.</a:t>
            </a:r>
          </a:p>
          <a:p>
            <a:pPr marL="0" marR="0" lvl="0" indent="0" defTabSz="914400" rtl="0" eaLnBrk="0" fontAlgn="base" latinLnBrk="0" hangingPunct="0">
              <a:lnSpc>
                <a:spcPct val="150000"/>
              </a:lnSpc>
              <a:spcBef>
                <a:spcPct val="0"/>
              </a:spcBef>
              <a:spcAft>
                <a:spcPct val="0"/>
              </a:spcAft>
              <a:buClrTx/>
              <a:buSzTx/>
              <a:buFontTx/>
              <a:buAutoNum type="arabicPeriod"/>
              <a:tabLst/>
            </a:pPr>
            <a:r>
              <a:rPr kumimoji="0" lang="en-US" altLang="en-US" sz="15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Provide educational resources, summaries, and configurable reminders.</a:t>
            </a:r>
          </a:p>
          <a:p>
            <a:pPr marL="0" marR="0" lvl="0" indent="0" defTabSz="914400" rtl="0" eaLnBrk="0" fontAlgn="base" latinLnBrk="0" hangingPunct="0">
              <a:lnSpc>
                <a:spcPct val="150000"/>
              </a:lnSpc>
              <a:spcBef>
                <a:spcPct val="0"/>
              </a:spcBef>
              <a:spcAft>
                <a:spcPct val="0"/>
              </a:spcAft>
              <a:buClrTx/>
              <a:buSzTx/>
              <a:buFontTx/>
              <a:buAutoNum type="arabicPeriod"/>
              <a:tabLst/>
            </a:pPr>
            <a:endParaRPr kumimoji="0" lang="en-US" altLang="en-US" sz="15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50000"/>
              </a:lnSpc>
              <a:spcBef>
                <a:spcPct val="0"/>
              </a:spcBef>
              <a:spcAft>
                <a:spcPct val="0"/>
              </a:spcAft>
              <a:buClrTx/>
              <a:buSzTx/>
              <a:buFontTx/>
              <a:buAutoNum type="arabicPeriod"/>
              <a:tabLst/>
            </a:pPr>
            <a:r>
              <a:rPr kumimoji="0" lang="en-US" altLang="en-US" sz="15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Scope and Safety</a:t>
            </a:r>
          </a:p>
          <a:p>
            <a:pPr marL="0" marR="0" lvl="0" indent="0" defTabSz="914400" rtl="0" eaLnBrk="0" fontAlgn="base" latinLnBrk="0" hangingPunct="0">
              <a:lnSpc>
                <a:spcPct val="150000"/>
              </a:lnSpc>
              <a:spcBef>
                <a:spcPct val="0"/>
              </a:spcBef>
              <a:spcAft>
                <a:spcPct val="0"/>
              </a:spcAft>
              <a:buClrTx/>
              <a:buSzTx/>
              <a:buFontTx/>
              <a:buAutoNum type="arabicPeriod"/>
              <a:tabLst/>
            </a:pPr>
            <a:r>
              <a:rPr kumimoji="0" lang="en-US" altLang="en-US" sz="15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The system supports user-entered records and healthcare conversations. It does not diagnose, prescribe, or provide emergency triage.</a:t>
            </a:r>
            <a:endParaRPr kumimoji="0" lang="en-US" altLang="en-US" sz="1500" i="0" u="none" strike="noStrike" cap="none" normalizeH="0" baseline="0" dirty="0">
              <a:ln>
                <a:noFill/>
              </a:ln>
              <a:solidFill>
                <a:schemeClr val="tx1"/>
              </a:solidFill>
              <a:effectLst/>
              <a:latin typeface="Times New Roman" panose="02020603050405020304" pitchFamily="18" charset="0"/>
            </a:endParaRPr>
          </a:p>
        </p:txBody>
      </p:sp>
      <p:sp>
        <p:nvSpPr>
          <p:cNvPr id="6" name="Rectangle 5">
            <a:extLst>
              <a:ext uri="{FF2B5EF4-FFF2-40B4-BE49-F238E27FC236}">
                <a16:creationId xmlns:a16="http://schemas.microsoft.com/office/drawing/2014/main" id="{606FF737-0BA0-41F4-BC58-449A66B0CED8}"/>
              </a:ext>
            </a:extLst>
          </p:cNvPr>
          <p:cNvSpPr/>
          <p:nvPr/>
        </p:nvSpPr>
        <p:spPr>
          <a:xfrm>
            <a:off x="228600" y="133350"/>
            <a:ext cx="2133600" cy="461665"/>
          </a:xfrm>
          <a:prstGeom prst="rect">
            <a:avLst/>
          </a:prstGeom>
        </p:spPr>
        <p:txBody>
          <a:bodyPr wrap="square">
            <a:noAutofit/>
          </a:bodyPr>
          <a:lstStyle/>
          <a:p>
            <a:r>
              <a:rPr lang="en-IN" sz="2200" b="1">
                <a:solidFill>
                  <a:srgbClr val="000099"/>
                </a:solidFill>
                <a:latin typeface="Times New Roman" panose="02020603050405020304" pitchFamily="18" charset="0"/>
                <a:cs typeface="Times New Roman" panose="02020603050405020304" pitchFamily="18" charset="0"/>
              </a:rPr>
              <a:t>Introduction</a:t>
            </a:r>
            <a:endParaRPr lang="en-IN" sz="2200" b="1" dirty="0">
              <a:solidFill>
                <a:srgbClr val="000099"/>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210402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06FF737-0BA0-41F4-BC58-449A66B0CED8}"/>
              </a:ext>
            </a:extLst>
          </p:cNvPr>
          <p:cNvSpPr/>
          <p:nvPr/>
        </p:nvSpPr>
        <p:spPr>
          <a:xfrm>
            <a:off x="228600" y="133350"/>
            <a:ext cx="7112000" cy="457200"/>
          </a:xfrm>
          <a:prstGeom prst="rect">
            <a:avLst/>
          </a:prstGeom>
        </p:spPr>
        <p:txBody>
          <a:bodyPr wrap="square">
            <a:noAutofit/>
          </a:bodyPr>
          <a:lstStyle/>
          <a:p>
            <a:r>
              <a:rPr lang="en-US" b="1">
                <a:solidFill>
                  <a:srgbClr val="000099"/>
                </a:solidFill>
                <a:latin typeface="Times New Roman" panose="02020603050405020304" pitchFamily="18" charset="0"/>
                <a:cs typeface="Times New Roman" panose="02020603050405020304" pitchFamily="18" charset="0"/>
              </a:rPr>
              <a:t>System Design: Architecture and DFD</a:t>
            </a:r>
            <a:endParaRPr lang="en-IN" b="1" dirty="0">
              <a:solidFill>
                <a:srgbClr val="000099"/>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303B1541-9859-8239-D7A5-FE6E4CF4E0C9}"/>
              </a:ext>
            </a:extLst>
          </p:cNvPr>
          <p:cNvSpPr txBox="1"/>
          <p:nvPr/>
        </p:nvSpPr>
        <p:spPr>
          <a:xfrm>
            <a:off x="254000" y="889000"/>
            <a:ext cx="1549400" cy="369332"/>
          </a:xfrm>
          <a:prstGeom prst="rect">
            <a:avLst/>
          </a:prstGeom>
          <a:noFill/>
        </p:spPr>
        <p:txBody>
          <a:bodyPr vert="horz" wrap="square" lIns="25400" tIns="12700" rIns="25400" bIns="12700" rtlCol="0">
            <a:noAutofit/>
          </a:bodyPr>
          <a:lstStyle/>
          <a:p>
            <a:r>
              <a:rPr lang="en-US" sz="1200" b="1">
                <a:solidFill>
                  <a:srgbClr val="173E79"/>
                </a:solidFill>
                <a:latin typeface="Times New Roman" panose="02020603050405020304" pitchFamily="18" charset="0"/>
              </a:rPr>
              <a:t>USER</a:t>
            </a:r>
          </a:p>
          <a:p>
            <a:r>
              <a:rPr lang="en-US" sz="1200" b="1">
                <a:solidFill>
                  <a:srgbClr val="173E79"/>
                </a:solidFill>
                <a:latin typeface="Times New Roman" panose="02020603050405020304" pitchFamily="18" charset="0"/>
              </a:rPr>
              <a:t>Profile / tracking</a:t>
            </a:r>
          </a:p>
        </p:txBody>
      </p:sp>
      <p:sp>
        <p:nvSpPr>
          <p:cNvPr id="3" name="TextBox 2">
            <a:extLst>
              <a:ext uri="{FF2B5EF4-FFF2-40B4-BE49-F238E27FC236}">
                <a16:creationId xmlns:a16="http://schemas.microsoft.com/office/drawing/2014/main" id="{75363868-C276-CEF5-6537-B21C1C934FEA}"/>
              </a:ext>
            </a:extLst>
          </p:cNvPr>
          <p:cNvSpPr txBox="1"/>
          <p:nvPr/>
        </p:nvSpPr>
        <p:spPr>
          <a:xfrm>
            <a:off x="2032000" y="889000"/>
            <a:ext cx="1905000" cy="369332"/>
          </a:xfrm>
          <a:prstGeom prst="rect">
            <a:avLst/>
          </a:prstGeom>
          <a:noFill/>
        </p:spPr>
        <p:txBody>
          <a:bodyPr vert="horz" wrap="square" lIns="25400" tIns="12700" rIns="25400" bIns="12700" rtlCol="0">
            <a:noAutofit/>
          </a:bodyPr>
          <a:lstStyle/>
          <a:p>
            <a:r>
              <a:rPr lang="en-US" sz="1200" b="1">
                <a:solidFill>
                  <a:srgbClr val="173E79"/>
                </a:solidFill>
                <a:latin typeface="Times New Roman" panose="02020603050405020304" pitchFamily="18" charset="0"/>
              </a:rPr>
              <a:t>REACT FRONTEND</a:t>
            </a:r>
          </a:p>
          <a:p>
            <a:r>
              <a:rPr lang="en-US" sz="1200" b="1">
                <a:solidFill>
                  <a:srgbClr val="173E79"/>
                </a:solidFill>
                <a:latin typeface="Times New Roman" panose="02020603050405020304" pitchFamily="18" charset="0"/>
              </a:rPr>
              <a:t>Forms / dashboard</a:t>
            </a:r>
          </a:p>
        </p:txBody>
      </p:sp>
      <p:sp>
        <p:nvSpPr>
          <p:cNvPr id="4" name="TextBox 3">
            <a:extLst>
              <a:ext uri="{FF2B5EF4-FFF2-40B4-BE49-F238E27FC236}">
                <a16:creationId xmlns:a16="http://schemas.microsoft.com/office/drawing/2014/main" id="{CEF96157-E065-69AE-ADDB-29A255D9AA06}"/>
              </a:ext>
            </a:extLst>
          </p:cNvPr>
          <p:cNvSpPr txBox="1"/>
          <p:nvPr/>
        </p:nvSpPr>
        <p:spPr>
          <a:xfrm>
            <a:off x="4191000" y="889000"/>
            <a:ext cx="2032000" cy="369332"/>
          </a:xfrm>
          <a:prstGeom prst="rect">
            <a:avLst/>
          </a:prstGeom>
          <a:noFill/>
        </p:spPr>
        <p:txBody>
          <a:bodyPr vert="horz" wrap="square" lIns="25400" tIns="12700" rIns="25400" bIns="12700" rtlCol="0">
            <a:noAutofit/>
          </a:bodyPr>
          <a:lstStyle/>
          <a:p>
            <a:r>
              <a:rPr lang="en-US" sz="1200" b="1">
                <a:solidFill>
                  <a:srgbClr val="173E79"/>
                </a:solidFill>
                <a:latin typeface="Times New Roman" panose="02020603050405020304" pitchFamily="18" charset="0"/>
              </a:rPr>
              <a:t>SPRING BOOT API</a:t>
            </a:r>
          </a:p>
          <a:p>
            <a:r>
              <a:rPr lang="en-US" sz="1200" b="1">
                <a:solidFill>
                  <a:srgbClr val="173E79"/>
                </a:solidFill>
                <a:latin typeface="Times New Roman" panose="02020603050405020304" pitchFamily="18" charset="0"/>
              </a:rPr>
              <a:t>JWT / validation</a:t>
            </a:r>
          </a:p>
        </p:txBody>
      </p:sp>
      <p:sp>
        <p:nvSpPr>
          <p:cNvPr id="7" name="TextBox 6">
            <a:extLst>
              <a:ext uri="{FF2B5EF4-FFF2-40B4-BE49-F238E27FC236}">
                <a16:creationId xmlns:a16="http://schemas.microsoft.com/office/drawing/2014/main" id="{D93DA91E-8609-81B3-9856-86012A6DE645}"/>
              </a:ext>
            </a:extLst>
          </p:cNvPr>
          <p:cNvSpPr txBox="1"/>
          <p:nvPr/>
        </p:nvSpPr>
        <p:spPr>
          <a:xfrm>
            <a:off x="6477000" y="889000"/>
            <a:ext cx="2159000" cy="369332"/>
          </a:xfrm>
          <a:prstGeom prst="rect">
            <a:avLst/>
          </a:prstGeom>
          <a:noFill/>
        </p:spPr>
        <p:txBody>
          <a:bodyPr vert="horz" wrap="square" lIns="25400" tIns="12700" rIns="25400" bIns="12700" rtlCol="0">
            <a:noAutofit/>
          </a:bodyPr>
          <a:lstStyle/>
          <a:p>
            <a:r>
              <a:rPr lang="en-US" sz="1200" b="1">
                <a:solidFill>
                  <a:srgbClr val="173E79"/>
                </a:solidFill>
                <a:latin typeface="Times New Roman" panose="02020603050405020304" pitchFamily="18" charset="0"/>
              </a:rPr>
              <a:t>RELATIONAL DATA</a:t>
            </a:r>
          </a:p>
          <a:p>
            <a:r>
              <a:rPr lang="en-US" sz="1200" b="1">
                <a:solidFill>
                  <a:srgbClr val="173E79"/>
                </a:solidFill>
                <a:latin typeface="Times New Roman" panose="02020603050405020304" pitchFamily="18" charset="0"/>
              </a:rPr>
              <a:t>MySQL / PostgreSQL</a:t>
            </a:r>
          </a:p>
        </p:txBody>
      </p:sp>
      <p:cxnSp>
        <p:nvCxnSpPr>
          <p:cNvPr id="8" name="Straight Arrow Connector 7">
            <a:extLst>
              <a:ext uri="{FF2B5EF4-FFF2-40B4-BE49-F238E27FC236}">
                <a16:creationId xmlns:a16="http://schemas.microsoft.com/office/drawing/2014/main" id="{8C05A3D2-D467-662A-C323-C41E98AA3B99}"/>
              </a:ext>
            </a:extLst>
          </p:cNvPr>
          <p:cNvCxnSpPr/>
          <p:nvPr/>
        </p:nvCxnSpPr>
        <p:spPr>
          <a:xfrm>
            <a:off x="1803400" y="1206500"/>
            <a:ext cx="228600" cy="0"/>
          </a:xfrm>
          <a:prstGeom prst="straightConnector1">
            <a:avLst/>
          </a:prstGeom>
          <a:ln w="13970">
            <a:solidFill>
              <a:srgbClr val="365F99"/>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77CE96C2-56AA-B1DD-9CFC-070C51EF6B89}"/>
              </a:ext>
            </a:extLst>
          </p:cNvPr>
          <p:cNvCxnSpPr/>
          <p:nvPr/>
        </p:nvCxnSpPr>
        <p:spPr>
          <a:xfrm>
            <a:off x="3937000" y="1206500"/>
            <a:ext cx="254000" cy="0"/>
          </a:xfrm>
          <a:prstGeom prst="straightConnector1">
            <a:avLst/>
          </a:prstGeom>
          <a:ln w="13970">
            <a:solidFill>
              <a:srgbClr val="365F99"/>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F07B195D-5C16-F8AD-D821-0C144ACB948E}"/>
              </a:ext>
            </a:extLst>
          </p:cNvPr>
          <p:cNvCxnSpPr/>
          <p:nvPr/>
        </p:nvCxnSpPr>
        <p:spPr>
          <a:xfrm>
            <a:off x="6223000" y="1206500"/>
            <a:ext cx="254000" cy="0"/>
          </a:xfrm>
          <a:prstGeom prst="straightConnector1">
            <a:avLst/>
          </a:prstGeom>
          <a:ln w="13970">
            <a:solidFill>
              <a:srgbClr val="365F99"/>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CAA0DEF-4C51-0036-E2FF-D94974AC8209}"/>
              </a:ext>
            </a:extLst>
          </p:cNvPr>
          <p:cNvSpPr txBox="1"/>
          <p:nvPr/>
        </p:nvSpPr>
        <p:spPr>
          <a:xfrm>
            <a:off x="800100" y="2006600"/>
            <a:ext cx="3048000" cy="369332"/>
          </a:xfrm>
          <a:prstGeom prst="rect">
            <a:avLst/>
          </a:prstGeom>
          <a:noFill/>
        </p:spPr>
        <p:txBody>
          <a:bodyPr vert="horz" wrap="square" lIns="25400" tIns="12700" rIns="25400" bIns="12700" rtlCol="0">
            <a:noAutofit/>
          </a:bodyPr>
          <a:lstStyle/>
          <a:p>
            <a:r>
              <a:rPr lang="en-US" sz="1300">
                <a:solidFill>
                  <a:srgbClr val="222222"/>
                </a:solidFill>
                <a:latin typeface="Times New Roman" panose="02020603050405020304" pitchFamily="18" charset="0"/>
              </a:rPr>
              <a:t>Modules</a:t>
            </a:r>
          </a:p>
          <a:p>
            <a:r>
              <a:rPr lang="en-US" sz="1300">
                <a:solidFill>
                  <a:srgbClr val="222222"/>
                </a:solidFill>
                <a:latin typeface="Times New Roman" panose="02020603050405020304" pitchFamily="18" charset="0"/>
              </a:rPr>
              <a:t>Daily Care | Appointments</a:t>
            </a:r>
          </a:p>
          <a:p>
            <a:r>
              <a:rPr lang="en-US" sz="1300">
                <a:solidFill>
                  <a:srgbClr val="222222"/>
                </a:solidFill>
                <a:latin typeface="Times New Roman" panose="02020603050405020304" pitchFamily="18" charset="0"/>
              </a:rPr>
              <a:t>Journal | Guides | Reports</a:t>
            </a:r>
          </a:p>
        </p:txBody>
      </p:sp>
      <p:sp>
        <p:nvSpPr>
          <p:cNvPr id="12" name="TextBox 11">
            <a:extLst>
              <a:ext uri="{FF2B5EF4-FFF2-40B4-BE49-F238E27FC236}">
                <a16:creationId xmlns:a16="http://schemas.microsoft.com/office/drawing/2014/main" id="{C740BA55-8A12-D1B9-4C1E-5094647A1A06}"/>
              </a:ext>
            </a:extLst>
          </p:cNvPr>
          <p:cNvSpPr txBox="1"/>
          <p:nvPr/>
        </p:nvSpPr>
        <p:spPr>
          <a:xfrm>
            <a:off x="4368800" y="2006600"/>
            <a:ext cx="3810000" cy="369332"/>
          </a:xfrm>
          <a:prstGeom prst="rect">
            <a:avLst/>
          </a:prstGeom>
          <a:noFill/>
        </p:spPr>
        <p:txBody>
          <a:bodyPr vert="horz" wrap="square" lIns="25400" tIns="12700" rIns="25400" bIns="12700" rtlCol="0">
            <a:noAutofit/>
          </a:bodyPr>
          <a:lstStyle/>
          <a:p>
            <a:r>
              <a:rPr lang="en-US" sz="1300">
                <a:solidFill>
                  <a:srgbClr val="222222"/>
                </a:solidFill>
                <a:latin typeface="Times New Roman" panose="02020603050405020304" pitchFamily="18" charset="0"/>
              </a:rPr>
              <a:t>Services</a:t>
            </a:r>
          </a:p>
          <a:p>
            <a:r>
              <a:rPr lang="en-US" sz="1300">
                <a:solidFill>
                  <a:srgbClr val="222222"/>
                </a:solidFill>
                <a:latin typeface="Times New Roman" panose="02020603050405020304" pitchFamily="18" charset="0"/>
              </a:rPr>
              <a:t>User ownership checks | JPA repositories</a:t>
            </a:r>
          </a:p>
          <a:p>
            <a:r>
              <a:rPr lang="en-US" sz="1300">
                <a:solidFill>
                  <a:srgbClr val="222222"/>
                </a:solidFill>
                <a:latin typeface="Times New Roman" panose="02020603050405020304" pitchFamily="18" charset="0"/>
              </a:rPr>
              <a:t>Scheduled reminder processor</a:t>
            </a:r>
          </a:p>
        </p:txBody>
      </p:sp>
      <p:sp>
        <p:nvSpPr>
          <p:cNvPr id="13" name="TextBox 12">
            <a:extLst>
              <a:ext uri="{FF2B5EF4-FFF2-40B4-BE49-F238E27FC236}">
                <a16:creationId xmlns:a16="http://schemas.microsoft.com/office/drawing/2014/main" id="{CE312D72-6AFA-C0CB-B5D1-A740C6FA3C3B}"/>
              </a:ext>
            </a:extLst>
          </p:cNvPr>
          <p:cNvSpPr txBox="1"/>
          <p:nvPr/>
        </p:nvSpPr>
        <p:spPr>
          <a:xfrm>
            <a:off x="1460500" y="3530600"/>
            <a:ext cx="6350000" cy="369332"/>
          </a:xfrm>
          <a:prstGeom prst="rect">
            <a:avLst/>
          </a:prstGeom>
          <a:noFill/>
        </p:spPr>
        <p:txBody>
          <a:bodyPr vert="horz" wrap="square" lIns="25400" tIns="12700" rIns="25400" bIns="12700" rtlCol="0">
            <a:noAutofit/>
          </a:bodyPr>
          <a:lstStyle/>
          <a:p>
            <a:pPr algn="ctr"/>
            <a:r>
              <a:rPr lang="en-US" sz="1300" b="1">
                <a:solidFill>
                  <a:srgbClr val="173E79"/>
                </a:solidFill>
                <a:latin typeface="Times New Roman" panose="02020603050405020304" pitchFamily="18" charset="0"/>
              </a:rPr>
              <a:t>Optional outbound flow: Scheduler -&gt; encrypted Web Push -&gt; subscribed browser</a:t>
            </a:r>
          </a:p>
        </p:txBody>
      </p:sp>
      <p:sp>
        <p:nvSpPr>
          <p:cNvPr id="14" name="TextBox 13">
            <a:extLst>
              <a:ext uri="{FF2B5EF4-FFF2-40B4-BE49-F238E27FC236}">
                <a16:creationId xmlns:a16="http://schemas.microsoft.com/office/drawing/2014/main" id="{6A69C1CD-58E7-5A25-7101-69FA31FF0A9F}"/>
              </a:ext>
            </a:extLst>
          </p:cNvPr>
          <p:cNvSpPr txBox="1"/>
          <p:nvPr/>
        </p:nvSpPr>
        <p:spPr>
          <a:xfrm>
            <a:off x="952500" y="4318000"/>
            <a:ext cx="7493000" cy="369332"/>
          </a:xfrm>
          <a:prstGeom prst="rect">
            <a:avLst/>
          </a:prstGeom>
          <a:noFill/>
        </p:spPr>
        <p:txBody>
          <a:bodyPr vert="horz" wrap="square" lIns="25400" tIns="12700" rIns="25400" bIns="12700" rtlCol="0">
            <a:noAutofit/>
          </a:bodyPr>
          <a:lstStyle/>
          <a:p>
            <a:pPr algn="ctr"/>
            <a:r>
              <a:rPr lang="en-US" sz="1100">
                <a:solidFill>
                  <a:srgbClr val="333333"/>
                </a:solidFill>
                <a:latin typeface="Times New Roman" panose="02020603050405020304" pitchFamily="18" charset="0"/>
              </a:rPr>
              <a:t>Local push delivery requires VAPID credentials; deployed service workers require HTTPS.</a:t>
            </a:r>
          </a:p>
        </p:txBody>
      </p:sp>
    </p:spTree>
    <p:extLst>
      <p:ext uri="{BB962C8B-B14F-4D97-AF65-F5344CB8AC3E}">
        <p14:creationId xmlns:p14="http://schemas.microsoft.com/office/powerpoint/2010/main" val="38837741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7FCF714-1514-45C0-9533-8E83BBABFF6C}"/>
              </a:ext>
            </a:extLst>
          </p:cNvPr>
          <p:cNvSpPr/>
          <p:nvPr/>
        </p:nvSpPr>
        <p:spPr>
          <a:xfrm>
            <a:off x="228600" y="133350"/>
            <a:ext cx="8509000" cy="457200"/>
          </a:xfrm>
          <a:prstGeom prst="rect">
            <a:avLst/>
          </a:prstGeom>
        </p:spPr>
        <p:txBody>
          <a:bodyPr wrap="square">
            <a:noAutofit/>
          </a:bodyPr>
          <a:lstStyle/>
          <a:p>
            <a:r>
              <a:rPr lang="en-US" b="1">
                <a:solidFill>
                  <a:srgbClr val="000099"/>
                </a:solidFill>
                <a:latin typeface="Times New Roman" panose="02020603050405020304" pitchFamily="18" charset="0"/>
                <a:cs typeface="Times New Roman" panose="02020603050405020304" pitchFamily="18" charset="0"/>
              </a:rPr>
              <a:t>ER (Entity Relationship) Diagram</a:t>
            </a:r>
            <a:endParaRPr lang="en-IN" b="1" dirty="0">
              <a:solidFill>
                <a:srgbClr val="000099"/>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731E49CC-9C72-4E2B-8F49-A074C6EB4B62}"/>
              </a:ext>
            </a:extLst>
          </p:cNvPr>
          <p:cNvPicPr/>
          <p:nvPr/>
        </p:nvPicPr>
        <p:blipFill>
          <a:blip r:embed="rId2"/>
          <a:stretch>
            <a:fillRect/>
          </a:stretch>
        </p:blipFill>
        <p:spPr>
          <a:xfrm>
            <a:off x="152400" y="713105"/>
            <a:ext cx="8229600" cy="4297045"/>
          </a:xfrm>
          <a:prstGeom prst="rect">
            <a:avLst/>
          </a:prstGeom>
        </p:spPr>
      </p:pic>
      <p:cxnSp>
        <p:nvCxnSpPr>
          <p:cNvPr id="3" name="Straight Arrow Connector 2">
            <a:extLst>
              <a:ext uri="{FF2B5EF4-FFF2-40B4-BE49-F238E27FC236}">
                <a16:creationId xmlns:a16="http://schemas.microsoft.com/office/drawing/2014/main" id="{DAF11055-BCCE-55A2-864D-31C7D747506A}"/>
              </a:ext>
            </a:extLst>
          </p:cNvPr>
          <p:cNvCxnSpPr/>
          <p:nvPr/>
        </p:nvCxnSpPr>
        <p:spPr>
          <a:xfrm>
            <a:off x="4572000" y="1308100"/>
            <a:ext cx="0" cy="114300"/>
          </a:xfrm>
          <a:prstGeom prst="straightConnector1">
            <a:avLst/>
          </a:prstGeom>
          <a:ln w="13970">
            <a:solidFill>
              <a:srgbClr val="365F99"/>
            </a:solidFill>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92D06147-2907-C124-A4EE-C4DF21C76149}"/>
              </a:ext>
            </a:extLst>
          </p:cNvPr>
          <p:cNvCxnSpPr/>
          <p:nvPr/>
        </p:nvCxnSpPr>
        <p:spPr>
          <a:xfrm>
            <a:off x="1651000" y="1422400"/>
            <a:ext cx="5842000" cy="0"/>
          </a:xfrm>
          <a:prstGeom prst="straightConnector1">
            <a:avLst/>
          </a:prstGeom>
          <a:ln w="13970">
            <a:solidFill>
              <a:srgbClr val="365F99"/>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045C228B-7679-8012-961E-699D941FB00F}"/>
              </a:ext>
            </a:extLst>
          </p:cNvPr>
          <p:cNvCxnSpPr/>
          <p:nvPr/>
        </p:nvCxnSpPr>
        <p:spPr>
          <a:xfrm>
            <a:off x="1651000" y="1422400"/>
            <a:ext cx="0" cy="88900"/>
          </a:xfrm>
          <a:prstGeom prst="straightConnector1">
            <a:avLst/>
          </a:prstGeom>
          <a:ln w="13970">
            <a:solidFill>
              <a:srgbClr val="365F99"/>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9C91E582-15F9-8858-7C1E-C70B8AC5A28B}"/>
              </a:ext>
            </a:extLst>
          </p:cNvPr>
          <p:cNvCxnSpPr/>
          <p:nvPr/>
        </p:nvCxnSpPr>
        <p:spPr>
          <a:xfrm>
            <a:off x="1651000" y="2095500"/>
            <a:ext cx="0" cy="190500"/>
          </a:xfrm>
          <a:prstGeom prst="straightConnector1">
            <a:avLst/>
          </a:prstGeom>
          <a:ln w="13970">
            <a:solidFill>
              <a:srgbClr val="365F99"/>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110E29E5-FFAD-5D30-FB8E-DBF5C1BDE99B}"/>
              </a:ext>
            </a:extLst>
          </p:cNvPr>
          <p:cNvCxnSpPr/>
          <p:nvPr/>
        </p:nvCxnSpPr>
        <p:spPr>
          <a:xfrm>
            <a:off x="1651000" y="2870200"/>
            <a:ext cx="0" cy="190500"/>
          </a:xfrm>
          <a:prstGeom prst="straightConnector1">
            <a:avLst/>
          </a:prstGeom>
          <a:ln w="13970">
            <a:solidFill>
              <a:srgbClr val="365F99"/>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B3254D51-01D2-2F4E-9BA3-1DFCB938F60A}"/>
              </a:ext>
            </a:extLst>
          </p:cNvPr>
          <p:cNvCxnSpPr/>
          <p:nvPr/>
        </p:nvCxnSpPr>
        <p:spPr>
          <a:xfrm>
            <a:off x="1651000" y="3644900"/>
            <a:ext cx="0" cy="190500"/>
          </a:xfrm>
          <a:prstGeom prst="straightConnector1">
            <a:avLst/>
          </a:prstGeom>
          <a:ln w="13970">
            <a:solidFill>
              <a:srgbClr val="365F99"/>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FC254190-139B-A9A2-25DD-4AC92CCC7BFA}"/>
              </a:ext>
            </a:extLst>
          </p:cNvPr>
          <p:cNvCxnSpPr/>
          <p:nvPr/>
        </p:nvCxnSpPr>
        <p:spPr>
          <a:xfrm>
            <a:off x="4572000" y="1422400"/>
            <a:ext cx="0" cy="88900"/>
          </a:xfrm>
          <a:prstGeom prst="straightConnector1">
            <a:avLst/>
          </a:prstGeom>
          <a:ln w="13970">
            <a:solidFill>
              <a:srgbClr val="365F99"/>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8E93735B-1B56-C066-9825-C63F855DC423}"/>
              </a:ext>
            </a:extLst>
          </p:cNvPr>
          <p:cNvCxnSpPr/>
          <p:nvPr/>
        </p:nvCxnSpPr>
        <p:spPr>
          <a:xfrm>
            <a:off x="4572000" y="2095500"/>
            <a:ext cx="0" cy="190500"/>
          </a:xfrm>
          <a:prstGeom prst="straightConnector1">
            <a:avLst/>
          </a:prstGeom>
          <a:ln w="13970">
            <a:solidFill>
              <a:srgbClr val="365F99"/>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6BF7C9C7-06A8-2411-7E3C-AE145BD670ED}"/>
              </a:ext>
            </a:extLst>
          </p:cNvPr>
          <p:cNvCxnSpPr/>
          <p:nvPr/>
        </p:nvCxnSpPr>
        <p:spPr>
          <a:xfrm>
            <a:off x="4572000" y="2870200"/>
            <a:ext cx="0" cy="190500"/>
          </a:xfrm>
          <a:prstGeom prst="straightConnector1">
            <a:avLst/>
          </a:prstGeom>
          <a:ln w="13970">
            <a:solidFill>
              <a:srgbClr val="365F99"/>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AF260E26-21A8-CDDD-83B0-502CE1158612}"/>
              </a:ext>
            </a:extLst>
          </p:cNvPr>
          <p:cNvCxnSpPr/>
          <p:nvPr/>
        </p:nvCxnSpPr>
        <p:spPr>
          <a:xfrm>
            <a:off x="4572000" y="3644900"/>
            <a:ext cx="0" cy="190500"/>
          </a:xfrm>
          <a:prstGeom prst="straightConnector1">
            <a:avLst/>
          </a:prstGeom>
          <a:ln w="13970">
            <a:solidFill>
              <a:srgbClr val="365F99"/>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55F58F39-E2BA-4B01-82A1-E0DA3363899F}"/>
              </a:ext>
            </a:extLst>
          </p:cNvPr>
          <p:cNvCxnSpPr/>
          <p:nvPr/>
        </p:nvCxnSpPr>
        <p:spPr>
          <a:xfrm>
            <a:off x="7493000" y="1422400"/>
            <a:ext cx="0" cy="88900"/>
          </a:xfrm>
          <a:prstGeom prst="straightConnector1">
            <a:avLst/>
          </a:prstGeom>
          <a:ln w="13970">
            <a:solidFill>
              <a:srgbClr val="365F99"/>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D500F3C6-3FFA-6F21-0E2D-B17354C5B16F}"/>
              </a:ext>
            </a:extLst>
          </p:cNvPr>
          <p:cNvCxnSpPr/>
          <p:nvPr/>
        </p:nvCxnSpPr>
        <p:spPr>
          <a:xfrm>
            <a:off x="7493000" y="2095500"/>
            <a:ext cx="0" cy="190500"/>
          </a:xfrm>
          <a:prstGeom prst="straightConnector1">
            <a:avLst/>
          </a:prstGeom>
          <a:ln w="13970">
            <a:solidFill>
              <a:srgbClr val="365F99"/>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5AA38449-286B-923D-75D6-254C665603B3}"/>
              </a:ext>
            </a:extLst>
          </p:cNvPr>
          <p:cNvCxnSpPr/>
          <p:nvPr/>
        </p:nvCxnSpPr>
        <p:spPr>
          <a:xfrm>
            <a:off x="7493000" y="2870200"/>
            <a:ext cx="0" cy="190500"/>
          </a:xfrm>
          <a:prstGeom prst="straightConnector1">
            <a:avLst/>
          </a:prstGeom>
          <a:ln w="13970">
            <a:solidFill>
              <a:srgbClr val="365F99"/>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BB6156D1-10EB-8C2D-67EC-611755F3FCD8}"/>
              </a:ext>
            </a:extLst>
          </p:cNvPr>
          <p:cNvCxnSpPr/>
          <p:nvPr/>
        </p:nvCxnSpPr>
        <p:spPr>
          <a:xfrm>
            <a:off x="7493000" y="3644900"/>
            <a:ext cx="0" cy="190500"/>
          </a:xfrm>
          <a:prstGeom prst="straightConnector1">
            <a:avLst/>
          </a:prstGeom>
          <a:ln w="13970">
            <a:solidFill>
              <a:srgbClr val="365F99"/>
            </a:solidFill>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3C718386-35B1-4706-FC0A-79DE33381B54}"/>
              </a:ext>
            </a:extLst>
          </p:cNvPr>
          <p:cNvSpPr/>
          <p:nvPr/>
        </p:nvSpPr>
        <p:spPr>
          <a:xfrm>
            <a:off x="3175000" y="698500"/>
            <a:ext cx="2794000" cy="584200"/>
          </a:xfrm>
          <a:prstGeom prst="rect">
            <a:avLst/>
          </a:prstGeom>
          <a:solidFill>
            <a:srgbClr val="FFFFFF"/>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246E3EA7-712B-55AE-B669-53A0454FE9A7}"/>
              </a:ext>
            </a:extLst>
          </p:cNvPr>
          <p:cNvSpPr/>
          <p:nvPr/>
        </p:nvSpPr>
        <p:spPr>
          <a:xfrm>
            <a:off x="3175000" y="698500"/>
            <a:ext cx="2794000" cy="215900"/>
          </a:xfrm>
          <a:prstGeom prst="rect">
            <a:avLst/>
          </a:prstGeom>
          <a:solidFill>
            <a:srgbClr val="DDE8F3"/>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740AB4D-0F41-1556-11CB-5DB595F22099}"/>
              </a:ext>
            </a:extLst>
          </p:cNvPr>
          <p:cNvSpPr txBox="1"/>
          <p:nvPr/>
        </p:nvSpPr>
        <p:spPr>
          <a:xfrm>
            <a:off x="3225800" y="711200"/>
            <a:ext cx="2692400" cy="369332"/>
          </a:xfrm>
          <a:prstGeom prst="rect">
            <a:avLst/>
          </a:prstGeom>
          <a:noFill/>
        </p:spPr>
        <p:txBody>
          <a:bodyPr vert="horz" wrap="square" lIns="25400" tIns="12700" rIns="25400" bIns="12700" rtlCol="0">
            <a:noAutofit/>
          </a:bodyPr>
          <a:lstStyle/>
          <a:p>
            <a:r>
              <a:rPr lang="en-US" sz="800" b="1">
                <a:solidFill>
                  <a:srgbClr val="173E79"/>
                </a:solidFill>
                <a:latin typeface="Times New Roman" panose="02020603050405020304" pitchFamily="18" charset="0"/>
              </a:rPr>
              <a:t>users</a:t>
            </a:r>
          </a:p>
        </p:txBody>
      </p:sp>
      <p:sp>
        <p:nvSpPr>
          <p:cNvPr id="21" name="TextBox 20">
            <a:extLst>
              <a:ext uri="{FF2B5EF4-FFF2-40B4-BE49-F238E27FC236}">
                <a16:creationId xmlns:a16="http://schemas.microsoft.com/office/drawing/2014/main" id="{6224BBB0-611C-D87E-8B70-D34C99CCD0F9}"/>
              </a:ext>
            </a:extLst>
          </p:cNvPr>
          <p:cNvSpPr txBox="1"/>
          <p:nvPr/>
        </p:nvSpPr>
        <p:spPr>
          <a:xfrm>
            <a:off x="3225800" y="939800"/>
            <a:ext cx="2692400" cy="369332"/>
          </a:xfrm>
          <a:prstGeom prst="rect">
            <a:avLst/>
          </a:prstGeom>
          <a:noFill/>
        </p:spPr>
        <p:txBody>
          <a:bodyPr vert="horz" wrap="square" lIns="25400" tIns="12700" rIns="25400" bIns="12700" rtlCol="0">
            <a:noAutofit/>
          </a:bodyPr>
          <a:lstStyle/>
          <a:p>
            <a:r>
              <a:rPr lang="fr-FR" sz="700">
                <a:solidFill>
                  <a:srgbClr val="222222"/>
                </a:solidFill>
                <a:latin typeface="Times New Roman" panose="02020603050405020304" pitchFamily="18" charset="0"/>
              </a:rPr>
              <a:t>id PK | email UNIQUE | timezone</a:t>
            </a:r>
            <a:endParaRPr lang="en-US" sz="700">
              <a:solidFill>
                <a:srgbClr val="222222"/>
              </a:solidFill>
              <a:latin typeface="Times New Roman" panose="02020603050405020304" pitchFamily="18" charset="0"/>
            </a:endParaRPr>
          </a:p>
        </p:txBody>
      </p:sp>
      <p:sp>
        <p:nvSpPr>
          <p:cNvPr id="22" name="Rectangle 21">
            <a:extLst>
              <a:ext uri="{FF2B5EF4-FFF2-40B4-BE49-F238E27FC236}">
                <a16:creationId xmlns:a16="http://schemas.microsoft.com/office/drawing/2014/main" id="{2C5B2C71-9B88-FEC0-DB44-EDF3635CFF7C}"/>
              </a:ext>
            </a:extLst>
          </p:cNvPr>
          <p:cNvSpPr/>
          <p:nvPr/>
        </p:nvSpPr>
        <p:spPr>
          <a:xfrm>
            <a:off x="317500" y="1511300"/>
            <a:ext cx="2667000" cy="584200"/>
          </a:xfrm>
          <a:prstGeom prst="rect">
            <a:avLst/>
          </a:prstGeom>
          <a:solidFill>
            <a:srgbClr val="FFFFFF"/>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47120705-2958-F938-F0F4-77622B1C357C}"/>
              </a:ext>
            </a:extLst>
          </p:cNvPr>
          <p:cNvSpPr/>
          <p:nvPr/>
        </p:nvSpPr>
        <p:spPr>
          <a:xfrm>
            <a:off x="317500" y="1511300"/>
            <a:ext cx="2667000" cy="215900"/>
          </a:xfrm>
          <a:prstGeom prst="rect">
            <a:avLst/>
          </a:prstGeom>
          <a:solidFill>
            <a:srgbClr val="DDE8F3"/>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2BDC8F0A-3A2F-E2AB-3A36-EA0E049655CF}"/>
              </a:ext>
            </a:extLst>
          </p:cNvPr>
          <p:cNvSpPr txBox="1"/>
          <p:nvPr/>
        </p:nvSpPr>
        <p:spPr>
          <a:xfrm>
            <a:off x="368300" y="1524000"/>
            <a:ext cx="2565400" cy="369332"/>
          </a:xfrm>
          <a:prstGeom prst="rect">
            <a:avLst/>
          </a:prstGeom>
          <a:noFill/>
        </p:spPr>
        <p:txBody>
          <a:bodyPr vert="horz" wrap="square" lIns="25400" tIns="12700" rIns="25400" bIns="12700" rtlCol="0">
            <a:noAutofit/>
          </a:bodyPr>
          <a:lstStyle/>
          <a:p>
            <a:r>
              <a:rPr lang="en-US" sz="800" b="1">
                <a:solidFill>
                  <a:srgbClr val="173E79"/>
                </a:solidFill>
                <a:latin typeface="Times New Roman" panose="02020603050405020304" pitchFamily="18" charset="0"/>
              </a:rPr>
              <a:t>pregnancy_profiles</a:t>
            </a:r>
          </a:p>
        </p:txBody>
      </p:sp>
      <p:sp>
        <p:nvSpPr>
          <p:cNvPr id="25" name="TextBox 24">
            <a:extLst>
              <a:ext uri="{FF2B5EF4-FFF2-40B4-BE49-F238E27FC236}">
                <a16:creationId xmlns:a16="http://schemas.microsoft.com/office/drawing/2014/main" id="{FDBB9E35-5012-E2C2-0E9F-B6E9D2BDB9A5}"/>
              </a:ext>
            </a:extLst>
          </p:cNvPr>
          <p:cNvSpPr txBox="1"/>
          <p:nvPr/>
        </p:nvSpPr>
        <p:spPr>
          <a:xfrm>
            <a:off x="368300" y="1752600"/>
            <a:ext cx="2565400" cy="369332"/>
          </a:xfrm>
          <a:prstGeom prst="rect">
            <a:avLst/>
          </a:prstGeom>
          <a:noFill/>
        </p:spPr>
        <p:txBody>
          <a:bodyPr vert="horz" wrap="square" lIns="25400" tIns="12700" rIns="25400" bIns="12700" rtlCol="0">
            <a:noAutofit/>
          </a:bodyPr>
          <a:lstStyle/>
          <a:p>
            <a:r>
              <a:rPr lang="en-US" sz="700">
                <a:solidFill>
                  <a:srgbClr val="222222"/>
                </a:solidFill>
                <a:latin typeface="Times New Roman" panose="02020603050405020304" pitchFamily="18" charset="0"/>
              </a:rPr>
              <a:t>id PK | user_id FK UNIQUE</a:t>
            </a:r>
          </a:p>
        </p:txBody>
      </p:sp>
      <p:sp>
        <p:nvSpPr>
          <p:cNvPr id="26" name="Rectangle 25">
            <a:extLst>
              <a:ext uri="{FF2B5EF4-FFF2-40B4-BE49-F238E27FC236}">
                <a16:creationId xmlns:a16="http://schemas.microsoft.com/office/drawing/2014/main" id="{ACBEFBB4-C9C1-AD2D-B3C5-201D11CA3447}"/>
              </a:ext>
            </a:extLst>
          </p:cNvPr>
          <p:cNvSpPr/>
          <p:nvPr/>
        </p:nvSpPr>
        <p:spPr>
          <a:xfrm>
            <a:off x="3238500" y="1511300"/>
            <a:ext cx="2667000" cy="584200"/>
          </a:xfrm>
          <a:prstGeom prst="rect">
            <a:avLst/>
          </a:prstGeom>
          <a:solidFill>
            <a:srgbClr val="FFFFFF"/>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3E8BBF97-37EB-E66B-FD56-A441763594CC}"/>
              </a:ext>
            </a:extLst>
          </p:cNvPr>
          <p:cNvSpPr/>
          <p:nvPr/>
        </p:nvSpPr>
        <p:spPr>
          <a:xfrm>
            <a:off x="3238500" y="1511300"/>
            <a:ext cx="2667000" cy="215900"/>
          </a:xfrm>
          <a:prstGeom prst="rect">
            <a:avLst/>
          </a:prstGeom>
          <a:solidFill>
            <a:srgbClr val="DDE8F3"/>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3530C35D-B024-AC6C-304A-7D2C3FAFA6CB}"/>
              </a:ext>
            </a:extLst>
          </p:cNvPr>
          <p:cNvSpPr txBox="1"/>
          <p:nvPr/>
        </p:nvSpPr>
        <p:spPr>
          <a:xfrm>
            <a:off x="3289300" y="1524000"/>
            <a:ext cx="2565400" cy="369332"/>
          </a:xfrm>
          <a:prstGeom prst="rect">
            <a:avLst/>
          </a:prstGeom>
          <a:noFill/>
        </p:spPr>
        <p:txBody>
          <a:bodyPr vert="horz" wrap="square" lIns="25400" tIns="12700" rIns="25400" bIns="12700" rtlCol="0">
            <a:noAutofit/>
          </a:bodyPr>
          <a:lstStyle/>
          <a:p>
            <a:r>
              <a:rPr lang="en-US" sz="800" b="1">
                <a:solidFill>
                  <a:srgbClr val="173E79"/>
                </a:solidFill>
                <a:latin typeface="Times New Roman" panose="02020603050405020304" pitchFamily="18" charset="0"/>
              </a:rPr>
              <a:t>appointments</a:t>
            </a:r>
          </a:p>
        </p:txBody>
      </p:sp>
      <p:sp>
        <p:nvSpPr>
          <p:cNvPr id="29" name="TextBox 28">
            <a:extLst>
              <a:ext uri="{FF2B5EF4-FFF2-40B4-BE49-F238E27FC236}">
                <a16:creationId xmlns:a16="http://schemas.microsoft.com/office/drawing/2014/main" id="{95479E76-870F-28CA-3F5E-6A28A16EF5E7}"/>
              </a:ext>
            </a:extLst>
          </p:cNvPr>
          <p:cNvSpPr txBox="1"/>
          <p:nvPr/>
        </p:nvSpPr>
        <p:spPr>
          <a:xfrm>
            <a:off x="3289300" y="1752600"/>
            <a:ext cx="2565400" cy="369332"/>
          </a:xfrm>
          <a:prstGeom prst="rect">
            <a:avLst/>
          </a:prstGeom>
          <a:noFill/>
        </p:spPr>
        <p:txBody>
          <a:bodyPr vert="horz" wrap="square" lIns="25400" tIns="12700" rIns="25400" bIns="12700" rtlCol="0">
            <a:noAutofit/>
          </a:bodyPr>
          <a:lstStyle/>
          <a:p>
            <a:r>
              <a:rPr lang="en-US" sz="700">
                <a:solidFill>
                  <a:srgbClr val="222222"/>
                </a:solidFill>
                <a:latin typeface="Times New Roman" panose="02020603050405020304" pitchFamily="18" charset="0"/>
              </a:rPr>
              <a:t>id PK | user_id FK | starts_at</a:t>
            </a:r>
          </a:p>
        </p:txBody>
      </p:sp>
      <p:sp>
        <p:nvSpPr>
          <p:cNvPr id="30" name="Rectangle 29">
            <a:extLst>
              <a:ext uri="{FF2B5EF4-FFF2-40B4-BE49-F238E27FC236}">
                <a16:creationId xmlns:a16="http://schemas.microsoft.com/office/drawing/2014/main" id="{C9D8FB0F-EC97-C3E8-6948-9F0BBB142860}"/>
              </a:ext>
            </a:extLst>
          </p:cNvPr>
          <p:cNvSpPr/>
          <p:nvPr/>
        </p:nvSpPr>
        <p:spPr>
          <a:xfrm>
            <a:off x="6159500" y="1511300"/>
            <a:ext cx="2667000" cy="584200"/>
          </a:xfrm>
          <a:prstGeom prst="rect">
            <a:avLst/>
          </a:prstGeom>
          <a:solidFill>
            <a:srgbClr val="FFFFFF"/>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FF6D0726-BF15-4B4B-C6BB-1C624CE7E235}"/>
              </a:ext>
            </a:extLst>
          </p:cNvPr>
          <p:cNvSpPr/>
          <p:nvPr/>
        </p:nvSpPr>
        <p:spPr>
          <a:xfrm>
            <a:off x="6159500" y="1511300"/>
            <a:ext cx="2667000" cy="215900"/>
          </a:xfrm>
          <a:prstGeom prst="rect">
            <a:avLst/>
          </a:prstGeom>
          <a:solidFill>
            <a:srgbClr val="DDE8F3"/>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9990CCB8-855C-0713-3CAB-F7711CAC4788}"/>
              </a:ext>
            </a:extLst>
          </p:cNvPr>
          <p:cNvSpPr txBox="1"/>
          <p:nvPr/>
        </p:nvSpPr>
        <p:spPr>
          <a:xfrm>
            <a:off x="6210300" y="1524000"/>
            <a:ext cx="2565400" cy="369332"/>
          </a:xfrm>
          <a:prstGeom prst="rect">
            <a:avLst/>
          </a:prstGeom>
          <a:noFill/>
        </p:spPr>
        <p:txBody>
          <a:bodyPr vert="horz" wrap="square" lIns="25400" tIns="12700" rIns="25400" bIns="12700" rtlCol="0">
            <a:noAutofit/>
          </a:bodyPr>
          <a:lstStyle/>
          <a:p>
            <a:r>
              <a:rPr lang="en-US" sz="800" b="1">
                <a:solidFill>
                  <a:srgbClr val="173E79"/>
                </a:solidFill>
                <a:latin typeface="Times New Roman" panose="02020603050405020304" pitchFamily="18" charset="0"/>
              </a:rPr>
              <a:t>care_tasks</a:t>
            </a:r>
          </a:p>
        </p:txBody>
      </p:sp>
      <p:sp>
        <p:nvSpPr>
          <p:cNvPr id="33" name="TextBox 32">
            <a:extLst>
              <a:ext uri="{FF2B5EF4-FFF2-40B4-BE49-F238E27FC236}">
                <a16:creationId xmlns:a16="http://schemas.microsoft.com/office/drawing/2014/main" id="{713044F0-F1DF-F0AC-551B-5B91CF9BBB58}"/>
              </a:ext>
            </a:extLst>
          </p:cNvPr>
          <p:cNvSpPr txBox="1"/>
          <p:nvPr/>
        </p:nvSpPr>
        <p:spPr>
          <a:xfrm>
            <a:off x="6210300" y="1752600"/>
            <a:ext cx="2565400" cy="369332"/>
          </a:xfrm>
          <a:prstGeom prst="rect">
            <a:avLst/>
          </a:prstGeom>
          <a:noFill/>
        </p:spPr>
        <p:txBody>
          <a:bodyPr vert="horz" wrap="square" lIns="25400" tIns="12700" rIns="25400" bIns="12700" rtlCol="0">
            <a:noAutofit/>
          </a:bodyPr>
          <a:lstStyle/>
          <a:p>
            <a:r>
              <a:rPr lang="en-US" sz="700">
                <a:solidFill>
                  <a:srgbClr val="222222"/>
                </a:solidFill>
                <a:latin typeface="Times New Roman" panose="02020603050405020304" pitchFamily="18" charset="0"/>
              </a:rPr>
              <a:t>id PK | user_id FK | task_detail_id FK</a:t>
            </a:r>
          </a:p>
        </p:txBody>
      </p:sp>
      <p:sp>
        <p:nvSpPr>
          <p:cNvPr id="34" name="Rectangle 33">
            <a:extLst>
              <a:ext uri="{FF2B5EF4-FFF2-40B4-BE49-F238E27FC236}">
                <a16:creationId xmlns:a16="http://schemas.microsoft.com/office/drawing/2014/main" id="{764737CC-3B8B-7B3A-69D9-420CACBFBF63}"/>
              </a:ext>
            </a:extLst>
          </p:cNvPr>
          <p:cNvSpPr/>
          <p:nvPr/>
        </p:nvSpPr>
        <p:spPr>
          <a:xfrm>
            <a:off x="317500" y="2286000"/>
            <a:ext cx="2667000" cy="584200"/>
          </a:xfrm>
          <a:prstGeom prst="rect">
            <a:avLst/>
          </a:prstGeom>
          <a:solidFill>
            <a:srgbClr val="FFFFFF"/>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C074D78-B5F6-B789-EA45-6469C0716307}"/>
              </a:ext>
            </a:extLst>
          </p:cNvPr>
          <p:cNvSpPr/>
          <p:nvPr/>
        </p:nvSpPr>
        <p:spPr>
          <a:xfrm>
            <a:off x="317500" y="2286000"/>
            <a:ext cx="2667000" cy="215900"/>
          </a:xfrm>
          <a:prstGeom prst="rect">
            <a:avLst/>
          </a:prstGeom>
          <a:solidFill>
            <a:srgbClr val="DDE8F3"/>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1A3B42AE-68AE-C5F4-8D71-4006D86E681D}"/>
              </a:ext>
            </a:extLst>
          </p:cNvPr>
          <p:cNvSpPr txBox="1"/>
          <p:nvPr/>
        </p:nvSpPr>
        <p:spPr>
          <a:xfrm>
            <a:off x="368300" y="2298700"/>
            <a:ext cx="2565400" cy="369332"/>
          </a:xfrm>
          <a:prstGeom prst="rect">
            <a:avLst/>
          </a:prstGeom>
          <a:noFill/>
        </p:spPr>
        <p:txBody>
          <a:bodyPr vert="horz" wrap="square" lIns="25400" tIns="12700" rIns="25400" bIns="12700" rtlCol="0">
            <a:noAutofit/>
          </a:bodyPr>
          <a:lstStyle/>
          <a:p>
            <a:r>
              <a:rPr lang="en-US" sz="800" b="1">
                <a:solidFill>
                  <a:srgbClr val="173E79"/>
                </a:solidFill>
                <a:latin typeface="Times New Roman" panose="02020603050405020304" pitchFamily="18" charset="0"/>
              </a:rPr>
              <a:t>daily_wellbeing</a:t>
            </a:r>
          </a:p>
        </p:txBody>
      </p:sp>
      <p:sp>
        <p:nvSpPr>
          <p:cNvPr id="37" name="TextBox 36">
            <a:extLst>
              <a:ext uri="{FF2B5EF4-FFF2-40B4-BE49-F238E27FC236}">
                <a16:creationId xmlns:a16="http://schemas.microsoft.com/office/drawing/2014/main" id="{0EEFD7BE-6125-A005-BA6C-24CE250FCAA6}"/>
              </a:ext>
            </a:extLst>
          </p:cNvPr>
          <p:cNvSpPr txBox="1"/>
          <p:nvPr/>
        </p:nvSpPr>
        <p:spPr>
          <a:xfrm>
            <a:off x="368300" y="2527300"/>
            <a:ext cx="2565400" cy="369332"/>
          </a:xfrm>
          <a:prstGeom prst="rect">
            <a:avLst/>
          </a:prstGeom>
          <a:noFill/>
        </p:spPr>
        <p:txBody>
          <a:bodyPr vert="horz" wrap="square" lIns="25400" tIns="12700" rIns="25400" bIns="12700" rtlCol="0">
            <a:noAutofit/>
          </a:bodyPr>
          <a:lstStyle/>
          <a:p>
            <a:r>
              <a:rPr lang="en-US" sz="700">
                <a:solidFill>
                  <a:srgbClr val="222222"/>
                </a:solidFill>
                <a:latin typeface="Times New Roman" panose="02020603050405020304" pitchFamily="18" charset="0"/>
              </a:rPr>
              <a:t>user_id FK | entry_date UNIQUE</a:t>
            </a:r>
          </a:p>
        </p:txBody>
      </p:sp>
      <p:sp>
        <p:nvSpPr>
          <p:cNvPr id="38" name="Rectangle 37">
            <a:extLst>
              <a:ext uri="{FF2B5EF4-FFF2-40B4-BE49-F238E27FC236}">
                <a16:creationId xmlns:a16="http://schemas.microsoft.com/office/drawing/2014/main" id="{A61FF4F1-0BD9-497C-80F1-5A5F9590D7F3}"/>
              </a:ext>
            </a:extLst>
          </p:cNvPr>
          <p:cNvSpPr/>
          <p:nvPr/>
        </p:nvSpPr>
        <p:spPr>
          <a:xfrm>
            <a:off x="3238500" y="2286000"/>
            <a:ext cx="2667000" cy="584200"/>
          </a:xfrm>
          <a:prstGeom prst="rect">
            <a:avLst/>
          </a:prstGeom>
          <a:solidFill>
            <a:srgbClr val="FFFFFF"/>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9976D7A3-AAD4-428C-671A-E3CB4676D01E}"/>
              </a:ext>
            </a:extLst>
          </p:cNvPr>
          <p:cNvSpPr/>
          <p:nvPr/>
        </p:nvSpPr>
        <p:spPr>
          <a:xfrm>
            <a:off x="3238500" y="2286000"/>
            <a:ext cx="2667000" cy="215900"/>
          </a:xfrm>
          <a:prstGeom prst="rect">
            <a:avLst/>
          </a:prstGeom>
          <a:solidFill>
            <a:srgbClr val="DDE8F3"/>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54437BA7-595F-6F9C-96D4-F0206521C3DE}"/>
              </a:ext>
            </a:extLst>
          </p:cNvPr>
          <p:cNvSpPr txBox="1"/>
          <p:nvPr/>
        </p:nvSpPr>
        <p:spPr>
          <a:xfrm>
            <a:off x="3289300" y="2298700"/>
            <a:ext cx="2565400" cy="369332"/>
          </a:xfrm>
          <a:prstGeom prst="rect">
            <a:avLst/>
          </a:prstGeom>
          <a:noFill/>
        </p:spPr>
        <p:txBody>
          <a:bodyPr vert="horz" wrap="square" lIns="25400" tIns="12700" rIns="25400" bIns="12700" rtlCol="0">
            <a:noAutofit/>
          </a:bodyPr>
          <a:lstStyle/>
          <a:p>
            <a:r>
              <a:rPr lang="en-US" sz="800" b="1">
                <a:solidFill>
                  <a:srgbClr val="173E79"/>
                </a:solidFill>
                <a:latin typeface="Times New Roman" panose="02020603050405020304" pitchFamily="18" charset="0"/>
              </a:rPr>
              <a:t>symptom_entries</a:t>
            </a:r>
          </a:p>
        </p:txBody>
      </p:sp>
      <p:sp>
        <p:nvSpPr>
          <p:cNvPr id="41" name="TextBox 40">
            <a:extLst>
              <a:ext uri="{FF2B5EF4-FFF2-40B4-BE49-F238E27FC236}">
                <a16:creationId xmlns:a16="http://schemas.microsoft.com/office/drawing/2014/main" id="{540C8A0D-15C8-95E4-962C-7A0C2A510CCA}"/>
              </a:ext>
            </a:extLst>
          </p:cNvPr>
          <p:cNvSpPr txBox="1"/>
          <p:nvPr/>
        </p:nvSpPr>
        <p:spPr>
          <a:xfrm>
            <a:off x="3289300" y="2527300"/>
            <a:ext cx="2565400" cy="369332"/>
          </a:xfrm>
          <a:prstGeom prst="rect">
            <a:avLst/>
          </a:prstGeom>
          <a:noFill/>
        </p:spPr>
        <p:txBody>
          <a:bodyPr vert="horz" wrap="square" lIns="25400" tIns="12700" rIns="25400" bIns="12700" rtlCol="0">
            <a:noAutofit/>
          </a:bodyPr>
          <a:lstStyle/>
          <a:p>
            <a:r>
              <a:rPr lang="en-US" sz="700">
                <a:solidFill>
                  <a:srgbClr val="222222"/>
                </a:solidFill>
                <a:latin typeface="Times New Roman" panose="02020603050405020304" pitchFamily="18" charset="0"/>
              </a:rPr>
              <a:t>id PK | user_id FK | severity</a:t>
            </a:r>
          </a:p>
        </p:txBody>
      </p:sp>
      <p:sp>
        <p:nvSpPr>
          <p:cNvPr id="42" name="Rectangle 41">
            <a:extLst>
              <a:ext uri="{FF2B5EF4-FFF2-40B4-BE49-F238E27FC236}">
                <a16:creationId xmlns:a16="http://schemas.microsoft.com/office/drawing/2014/main" id="{95CF91B5-0C89-0695-F40A-368BBA487FD3}"/>
              </a:ext>
            </a:extLst>
          </p:cNvPr>
          <p:cNvSpPr/>
          <p:nvPr/>
        </p:nvSpPr>
        <p:spPr>
          <a:xfrm>
            <a:off x="6159500" y="2286000"/>
            <a:ext cx="2667000" cy="584200"/>
          </a:xfrm>
          <a:prstGeom prst="rect">
            <a:avLst/>
          </a:prstGeom>
          <a:solidFill>
            <a:srgbClr val="FFFFFF"/>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68A38715-B9F4-8E0E-9163-EF6C5CC3A28B}"/>
              </a:ext>
            </a:extLst>
          </p:cNvPr>
          <p:cNvSpPr/>
          <p:nvPr/>
        </p:nvSpPr>
        <p:spPr>
          <a:xfrm>
            <a:off x="6159500" y="2286000"/>
            <a:ext cx="2667000" cy="215900"/>
          </a:xfrm>
          <a:prstGeom prst="rect">
            <a:avLst/>
          </a:prstGeom>
          <a:solidFill>
            <a:srgbClr val="DDE8F3"/>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49B0B6FF-EE2A-4363-2FD8-68DB592C4F88}"/>
              </a:ext>
            </a:extLst>
          </p:cNvPr>
          <p:cNvSpPr txBox="1"/>
          <p:nvPr/>
        </p:nvSpPr>
        <p:spPr>
          <a:xfrm>
            <a:off x="6210300" y="2298700"/>
            <a:ext cx="2565400" cy="369332"/>
          </a:xfrm>
          <a:prstGeom prst="rect">
            <a:avLst/>
          </a:prstGeom>
          <a:noFill/>
        </p:spPr>
        <p:txBody>
          <a:bodyPr vert="horz" wrap="square" lIns="25400" tIns="12700" rIns="25400" bIns="12700" rtlCol="0">
            <a:noAutofit/>
          </a:bodyPr>
          <a:lstStyle/>
          <a:p>
            <a:r>
              <a:rPr lang="en-US" sz="800" b="1">
                <a:solidFill>
                  <a:srgbClr val="173E79"/>
                </a:solidFill>
                <a:latin typeface="Times New Roman" panose="02020603050405020304" pitchFamily="18" charset="0"/>
              </a:rPr>
              <a:t>pregnancy_milestones</a:t>
            </a:r>
          </a:p>
        </p:txBody>
      </p:sp>
      <p:sp>
        <p:nvSpPr>
          <p:cNvPr id="45" name="TextBox 44">
            <a:extLst>
              <a:ext uri="{FF2B5EF4-FFF2-40B4-BE49-F238E27FC236}">
                <a16:creationId xmlns:a16="http://schemas.microsoft.com/office/drawing/2014/main" id="{A18FDC79-A9FD-E1F8-A70F-CF88267E5FB8}"/>
              </a:ext>
            </a:extLst>
          </p:cNvPr>
          <p:cNvSpPr txBox="1"/>
          <p:nvPr/>
        </p:nvSpPr>
        <p:spPr>
          <a:xfrm>
            <a:off x="6210300" y="2527300"/>
            <a:ext cx="2565400" cy="369332"/>
          </a:xfrm>
          <a:prstGeom prst="rect">
            <a:avLst/>
          </a:prstGeom>
          <a:noFill/>
        </p:spPr>
        <p:txBody>
          <a:bodyPr vert="horz" wrap="square" lIns="25400" tIns="12700" rIns="25400" bIns="12700" rtlCol="0">
            <a:noAutofit/>
          </a:bodyPr>
          <a:lstStyle/>
          <a:p>
            <a:r>
              <a:rPr lang="en-US" sz="700">
                <a:solidFill>
                  <a:srgbClr val="222222"/>
                </a:solidFill>
                <a:latin typeface="Times New Roman" panose="02020603050405020304" pitchFamily="18" charset="0"/>
              </a:rPr>
              <a:t>id PK | user_id FK | week_number</a:t>
            </a:r>
          </a:p>
        </p:txBody>
      </p:sp>
      <p:sp>
        <p:nvSpPr>
          <p:cNvPr id="46" name="Rectangle 45">
            <a:extLst>
              <a:ext uri="{FF2B5EF4-FFF2-40B4-BE49-F238E27FC236}">
                <a16:creationId xmlns:a16="http://schemas.microsoft.com/office/drawing/2014/main" id="{978C723C-B4BC-1DFF-56C6-A731C180E8C0}"/>
              </a:ext>
            </a:extLst>
          </p:cNvPr>
          <p:cNvSpPr/>
          <p:nvPr/>
        </p:nvSpPr>
        <p:spPr>
          <a:xfrm>
            <a:off x="317500" y="3060700"/>
            <a:ext cx="2667000" cy="584200"/>
          </a:xfrm>
          <a:prstGeom prst="rect">
            <a:avLst/>
          </a:prstGeom>
          <a:solidFill>
            <a:srgbClr val="FFFFFF"/>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1ED60617-A823-DF23-13BA-244DF228E93D}"/>
              </a:ext>
            </a:extLst>
          </p:cNvPr>
          <p:cNvSpPr/>
          <p:nvPr/>
        </p:nvSpPr>
        <p:spPr>
          <a:xfrm>
            <a:off x="317500" y="3060700"/>
            <a:ext cx="2667000" cy="215900"/>
          </a:xfrm>
          <a:prstGeom prst="rect">
            <a:avLst/>
          </a:prstGeom>
          <a:solidFill>
            <a:srgbClr val="DDE8F3"/>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4FFADF26-8D12-3442-8A2D-AF6A59E42606}"/>
              </a:ext>
            </a:extLst>
          </p:cNvPr>
          <p:cNvSpPr txBox="1"/>
          <p:nvPr/>
        </p:nvSpPr>
        <p:spPr>
          <a:xfrm>
            <a:off x="368300" y="3073400"/>
            <a:ext cx="2565400" cy="369332"/>
          </a:xfrm>
          <a:prstGeom prst="rect">
            <a:avLst/>
          </a:prstGeom>
          <a:noFill/>
        </p:spPr>
        <p:txBody>
          <a:bodyPr vert="horz" wrap="square" lIns="25400" tIns="12700" rIns="25400" bIns="12700" rtlCol="0">
            <a:noAutofit/>
          </a:bodyPr>
          <a:lstStyle/>
          <a:p>
            <a:r>
              <a:rPr lang="en-US" sz="800" b="1">
                <a:solidFill>
                  <a:srgbClr val="173E79"/>
                </a:solidFill>
                <a:latin typeface="Times New Roman" panose="02020603050405020304" pitchFamily="18" charset="0"/>
              </a:rPr>
              <a:t>emergency_contacts</a:t>
            </a:r>
          </a:p>
        </p:txBody>
      </p:sp>
      <p:sp>
        <p:nvSpPr>
          <p:cNvPr id="49" name="TextBox 48">
            <a:extLst>
              <a:ext uri="{FF2B5EF4-FFF2-40B4-BE49-F238E27FC236}">
                <a16:creationId xmlns:a16="http://schemas.microsoft.com/office/drawing/2014/main" id="{C696C055-2BCA-55E7-E284-E88B59B1AA5A}"/>
              </a:ext>
            </a:extLst>
          </p:cNvPr>
          <p:cNvSpPr txBox="1"/>
          <p:nvPr/>
        </p:nvSpPr>
        <p:spPr>
          <a:xfrm>
            <a:off x="368300" y="3302000"/>
            <a:ext cx="2565400" cy="369332"/>
          </a:xfrm>
          <a:prstGeom prst="rect">
            <a:avLst/>
          </a:prstGeom>
          <a:noFill/>
        </p:spPr>
        <p:txBody>
          <a:bodyPr vert="horz" wrap="square" lIns="25400" tIns="12700" rIns="25400" bIns="12700" rtlCol="0">
            <a:noAutofit/>
          </a:bodyPr>
          <a:lstStyle/>
          <a:p>
            <a:r>
              <a:rPr lang="en-US" sz="700">
                <a:solidFill>
                  <a:srgbClr val="222222"/>
                </a:solidFill>
                <a:latin typeface="Times New Roman" panose="02020603050405020304" pitchFamily="18" charset="0"/>
              </a:rPr>
              <a:t>id PK | user_id FK | type</a:t>
            </a:r>
          </a:p>
        </p:txBody>
      </p:sp>
      <p:sp>
        <p:nvSpPr>
          <p:cNvPr id="50" name="Rectangle 49">
            <a:extLst>
              <a:ext uri="{FF2B5EF4-FFF2-40B4-BE49-F238E27FC236}">
                <a16:creationId xmlns:a16="http://schemas.microsoft.com/office/drawing/2014/main" id="{8F64F757-F98C-21FB-7ADF-41872B37D80C}"/>
              </a:ext>
            </a:extLst>
          </p:cNvPr>
          <p:cNvSpPr/>
          <p:nvPr/>
        </p:nvSpPr>
        <p:spPr>
          <a:xfrm>
            <a:off x="3238500" y="3060700"/>
            <a:ext cx="2667000" cy="584200"/>
          </a:xfrm>
          <a:prstGeom prst="rect">
            <a:avLst/>
          </a:prstGeom>
          <a:solidFill>
            <a:srgbClr val="FFFFFF"/>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FC34570A-1379-2183-A55D-79A74D1DC1AE}"/>
              </a:ext>
            </a:extLst>
          </p:cNvPr>
          <p:cNvSpPr/>
          <p:nvPr/>
        </p:nvSpPr>
        <p:spPr>
          <a:xfrm>
            <a:off x="3238500" y="3060700"/>
            <a:ext cx="2667000" cy="215900"/>
          </a:xfrm>
          <a:prstGeom prst="rect">
            <a:avLst/>
          </a:prstGeom>
          <a:solidFill>
            <a:srgbClr val="DDE8F3"/>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1D8BFBEA-0A7C-E7CF-34EC-8BBE4EF7900A}"/>
              </a:ext>
            </a:extLst>
          </p:cNvPr>
          <p:cNvSpPr txBox="1"/>
          <p:nvPr/>
        </p:nvSpPr>
        <p:spPr>
          <a:xfrm>
            <a:off x="3289300" y="3073400"/>
            <a:ext cx="2565400" cy="369332"/>
          </a:xfrm>
          <a:prstGeom prst="rect">
            <a:avLst/>
          </a:prstGeom>
          <a:noFill/>
        </p:spPr>
        <p:txBody>
          <a:bodyPr vert="horz" wrap="square" lIns="25400" tIns="12700" rIns="25400" bIns="12700" rtlCol="0">
            <a:noAutofit/>
          </a:bodyPr>
          <a:lstStyle/>
          <a:p>
            <a:r>
              <a:rPr lang="en-US" sz="800" b="1">
                <a:solidFill>
                  <a:srgbClr val="173E79"/>
                </a:solidFill>
                <a:latin typeface="Times New Roman" panose="02020603050405020304" pitchFamily="18" charset="0"/>
              </a:rPr>
              <a:t>report_shares</a:t>
            </a:r>
          </a:p>
        </p:txBody>
      </p:sp>
      <p:sp>
        <p:nvSpPr>
          <p:cNvPr id="53" name="TextBox 52">
            <a:extLst>
              <a:ext uri="{FF2B5EF4-FFF2-40B4-BE49-F238E27FC236}">
                <a16:creationId xmlns:a16="http://schemas.microsoft.com/office/drawing/2014/main" id="{CD4B9F89-9B37-C03E-22E5-4E8E7EB3A954}"/>
              </a:ext>
            </a:extLst>
          </p:cNvPr>
          <p:cNvSpPr txBox="1"/>
          <p:nvPr/>
        </p:nvSpPr>
        <p:spPr>
          <a:xfrm>
            <a:off x="3289300" y="3302000"/>
            <a:ext cx="2565400" cy="369332"/>
          </a:xfrm>
          <a:prstGeom prst="rect">
            <a:avLst/>
          </a:prstGeom>
          <a:noFill/>
        </p:spPr>
        <p:txBody>
          <a:bodyPr vert="horz" wrap="square" lIns="25400" tIns="12700" rIns="25400" bIns="12700" rtlCol="0">
            <a:noAutofit/>
          </a:bodyPr>
          <a:lstStyle/>
          <a:p>
            <a:r>
              <a:rPr lang="da-DK" sz="700">
                <a:solidFill>
                  <a:srgbClr val="222222"/>
                </a:solidFill>
                <a:latin typeface="Times New Roman" panose="02020603050405020304" pitchFamily="18" charset="0"/>
              </a:rPr>
              <a:t>id PK | user_id FK | expires_at</a:t>
            </a:r>
            <a:endParaRPr lang="en-US" sz="700">
              <a:solidFill>
                <a:srgbClr val="222222"/>
              </a:solidFill>
              <a:latin typeface="Times New Roman" panose="02020603050405020304" pitchFamily="18" charset="0"/>
            </a:endParaRPr>
          </a:p>
        </p:txBody>
      </p:sp>
      <p:sp>
        <p:nvSpPr>
          <p:cNvPr id="54" name="Rectangle 53">
            <a:extLst>
              <a:ext uri="{FF2B5EF4-FFF2-40B4-BE49-F238E27FC236}">
                <a16:creationId xmlns:a16="http://schemas.microsoft.com/office/drawing/2014/main" id="{12EAA18B-598A-0019-340E-E4DD94AF989F}"/>
              </a:ext>
            </a:extLst>
          </p:cNvPr>
          <p:cNvSpPr/>
          <p:nvPr/>
        </p:nvSpPr>
        <p:spPr>
          <a:xfrm>
            <a:off x="6159500" y="3060700"/>
            <a:ext cx="2667000" cy="584200"/>
          </a:xfrm>
          <a:prstGeom prst="rect">
            <a:avLst/>
          </a:prstGeom>
          <a:solidFill>
            <a:srgbClr val="FFFFFF"/>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FC15D344-AC16-CDD1-08B8-0CC24CDE992E}"/>
              </a:ext>
            </a:extLst>
          </p:cNvPr>
          <p:cNvSpPr/>
          <p:nvPr/>
        </p:nvSpPr>
        <p:spPr>
          <a:xfrm>
            <a:off x="6159500" y="3060700"/>
            <a:ext cx="2667000" cy="215900"/>
          </a:xfrm>
          <a:prstGeom prst="rect">
            <a:avLst/>
          </a:prstGeom>
          <a:solidFill>
            <a:srgbClr val="DDE8F3"/>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TextBox 55">
            <a:extLst>
              <a:ext uri="{FF2B5EF4-FFF2-40B4-BE49-F238E27FC236}">
                <a16:creationId xmlns:a16="http://schemas.microsoft.com/office/drawing/2014/main" id="{AA5F61D6-B1BC-C65E-7D1A-F4597D810C62}"/>
              </a:ext>
            </a:extLst>
          </p:cNvPr>
          <p:cNvSpPr txBox="1"/>
          <p:nvPr/>
        </p:nvSpPr>
        <p:spPr>
          <a:xfrm>
            <a:off x="6210300" y="3073400"/>
            <a:ext cx="2565400" cy="369332"/>
          </a:xfrm>
          <a:prstGeom prst="rect">
            <a:avLst/>
          </a:prstGeom>
          <a:noFill/>
        </p:spPr>
        <p:txBody>
          <a:bodyPr vert="horz" wrap="square" lIns="25400" tIns="12700" rIns="25400" bIns="12700" rtlCol="0">
            <a:noAutofit/>
          </a:bodyPr>
          <a:lstStyle/>
          <a:p>
            <a:r>
              <a:rPr lang="en-US" sz="800" b="1">
                <a:solidFill>
                  <a:srgbClr val="173E79"/>
                </a:solidFill>
                <a:latin typeface="Times New Roman" panose="02020603050405020304" pitchFamily="18" charset="0"/>
              </a:rPr>
              <a:t>push_subscriptions</a:t>
            </a:r>
          </a:p>
        </p:txBody>
      </p:sp>
      <p:sp>
        <p:nvSpPr>
          <p:cNvPr id="57" name="TextBox 56">
            <a:extLst>
              <a:ext uri="{FF2B5EF4-FFF2-40B4-BE49-F238E27FC236}">
                <a16:creationId xmlns:a16="http://schemas.microsoft.com/office/drawing/2014/main" id="{1F4606FD-4D5F-8592-BCDC-B75922C6FD13}"/>
              </a:ext>
            </a:extLst>
          </p:cNvPr>
          <p:cNvSpPr txBox="1"/>
          <p:nvPr/>
        </p:nvSpPr>
        <p:spPr>
          <a:xfrm>
            <a:off x="6210300" y="3302000"/>
            <a:ext cx="2565400" cy="369332"/>
          </a:xfrm>
          <a:prstGeom prst="rect">
            <a:avLst/>
          </a:prstGeom>
          <a:noFill/>
        </p:spPr>
        <p:txBody>
          <a:bodyPr vert="horz" wrap="square" lIns="25400" tIns="12700" rIns="25400" bIns="12700" rtlCol="0">
            <a:noAutofit/>
          </a:bodyPr>
          <a:lstStyle/>
          <a:p>
            <a:r>
              <a:rPr lang="en-US" sz="700">
                <a:solidFill>
                  <a:srgbClr val="222222"/>
                </a:solidFill>
                <a:latin typeface="Times New Roman" panose="02020603050405020304" pitchFamily="18" charset="0"/>
              </a:rPr>
              <a:t>id PK | user_id FK | endpoint_hash</a:t>
            </a:r>
          </a:p>
        </p:txBody>
      </p:sp>
      <p:sp>
        <p:nvSpPr>
          <p:cNvPr id="58" name="Rectangle 57">
            <a:extLst>
              <a:ext uri="{FF2B5EF4-FFF2-40B4-BE49-F238E27FC236}">
                <a16:creationId xmlns:a16="http://schemas.microsoft.com/office/drawing/2014/main" id="{1A008F93-228C-36A9-5EEE-736363F9C540}"/>
              </a:ext>
            </a:extLst>
          </p:cNvPr>
          <p:cNvSpPr/>
          <p:nvPr/>
        </p:nvSpPr>
        <p:spPr>
          <a:xfrm>
            <a:off x="317500" y="3835400"/>
            <a:ext cx="2667000" cy="584200"/>
          </a:xfrm>
          <a:prstGeom prst="rect">
            <a:avLst/>
          </a:prstGeom>
          <a:solidFill>
            <a:srgbClr val="FFFFFF"/>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8E15E3DF-C3FE-C19C-8C0C-3CF2840A9F4B}"/>
              </a:ext>
            </a:extLst>
          </p:cNvPr>
          <p:cNvSpPr/>
          <p:nvPr/>
        </p:nvSpPr>
        <p:spPr>
          <a:xfrm>
            <a:off x="317500" y="3835400"/>
            <a:ext cx="2667000" cy="215900"/>
          </a:xfrm>
          <a:prstGeom prst="rect">
            <a:avLst/>
          </a:prstGeom>
          <a:solidFill>
            <a:srgbClr val="DDE8F3"/>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extBox 59">
            <a:extLst>
              <a:ext uri="{FF2B5EF4-FFF2-40B4-BE49-F238E27FC236}">
                <a16:creationId xmlns:a16="http://schemas.microsoft.com/office/drawing/2014/main" id="{50445150-58BE-0E48-D25A-FA175556181E}"/>
              </a:ext>
            </a:extLst>
          </p:cNvPr>
          <p:cNvSpPr txBox="1"/>
          <p:nvPr/>
        </p:nvSpPr>
        <p:spPr>
          <a:xfrm>
            <a:off x="368300" y="3848100"/>
            <a:ext cx="2565400" cy="369332"/>
          </a:xfrm>
          <a:prstGeom prst="rect">
            <a:avLst/>
          </a:prstGeom>
          <a:noFill/>
        </p:spPr>
        <p:txBody>
          <a:bodyPr vert="horz" wrap="square" lIns="25400" tIns="12700" rIns="25400" bIns="12700" rtlCol="0">
            <a:noAutofit/>
          </a:bodyPr>
          <a:lstStyle/>
          <a:p>
            <a:r>
              <a:rPr lang="en-US" sz="800" b="1">
                <a:solidFill>
                  <a:srgbClr val="173E79"/>
                </a:solidFill>
                <a:latin typeface="Times New Roman" panose="02020603050405020304" pitchFamily="18" charset="0"/>
              </a:rPr>
              <a:t>push_reminders</a:t>
            </a:r>
          </a:p>
        </p:txBody>
      </p:sp>
      <p:sp>
        <p:nvSpPr>
          <p:cNvPr id="61" name="TextBox 60">
            <a:extLst>
              <a:ext uri="{FF2B5EF4-FFF2-40B4-BE49-F238E27FC236}">
                <a16:creationId xmlns:a16="http://schemas.microsoft.com/office/drawing/2014/main" id="{4F0B1B63-48A0-A76A-74D3-4CFB77D50F97}"/>
              </a:ext>
            </a:extLst>
          </p:cNvPr>
          <p:cNvSpPr txBox="1"/>
          <p:nvPr/>
        </p:nvSpPr>
        <p:spPr>
          <a:xfrm>
            <a:off x="368300" y="4076700"/>
            <a:ext cx="2565400" cy="369332"/>
          </a:xfrm>
          <a:prstGeom prst="rect">
            <a:avLst/>
          </a:prstGeom>
          <a:noFill/>
        </p:spPr>
        <p:txBody>
          <a:bodyPr vert="horz" wrap="square" lIns="25400" tIns="12700" rIns="25400" bIns="12700" rtlCol="0">
            <a:noAutofit/>
          </a:bodyPr>
          <a:lstStyle/>
          <a:p>
            <a:r>
              <a:rPr lang="en-US" sz="700">
                <a:solidFill>
                  <a:srgbClr val="222222"/>
                </a:solidFill>
                <a:latin typeface="Times New Roman" panose="02020603050405020304" pitchFamily="18" charset="0"/>
              </a:rPr>
              <a:t>id PK | user_id FK | scheduled_at</a:t>
            </a:r>
          </a:p>
        </p:txBody>
      </p:sp>
      <p:sp>
        <p:nvSpPr>
          <p:cNvPr id="62" name="Rectangle 61">
            <a:extLst>
              <a:ext uri="{FF2B5EF4-FFF2-40B4-BE49-F238E27FC236}">
                <a16:creationId xmlns:a16="http://schemas.microsoft.com/office/drawing/2014/main" id="{E2E44032-F3B3-A60B-4FE6-697F995925B5}"/>
              </a:ext>
            </a:extLst>
          </p:cNvPr>
          <p:cNvSpPr/>
          <p:nvPr/>
        </p:nvSpPr>
        <p:spPr>
          <a:xfrm>
            <a:off x="3238500" y="3835400"/>
            <a:ext cx="2667000" cy="584200"/>
          </a:xfrm>
          <a:prstGeom prst="rect">
            <a:avLst/>
          </a:prstGeom>
          <a:solidFill>
            <a:srgbClr val="FFFFFF"/>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210C41F7-7759-3B74-A77F-AEDFD1C958D6}"/>
              </a:ext>
            </a:extLst>
          </p:cNvPr>
          <p:cNvSpPr/>
          <p:nvPr/>
        </p:nvSpPr>
        <p:spPr>
          <a:xfrm>
            <a:off x="3238500" y="3835400"/>
            <a:ext cx="2667000" cy="215900"/>
          </a:xfrm>
          <a:prstGeom prst="rect">
            <a:avLst/>
          </a:prstGeom>
          <a:solidFill>
            <a:srgbClr val="DDE8F3"/>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TextBox 63">
            <a:extLst>
              <a:ext uri="{FF2B5EF4-FFF2-40B4-BE49-F238E27FC236}">
                <a16:creationId xmlns:a16="http://schemas.microsoft.com/office/drawing/2014/main" id="{49D57482-B1C4-49F3-26BC-80587F696F5F}"/>
              </a:ext>
            </a:extLst>
          </p:cNvPr>
          <p:cNvSpPr txBox="1"/>
          <p:nvPr/>
        </p:nvSpPr>
        <p:spPr>
          <a:xfrm>
            <a:off x="3289300" y="3848100"/>
            <a:ext cx="2565400" cy="369332"/>
          </a:xfrm>
          <a:prstGeom prst="rect">
            <a:avLst/>
          </a:prstGeom>
          <a:noFill/>
        </p:spPr>
        <p:txBody>
          <a:bodyPr vert="horz" wrap="square" lIns="25400" tIns="12700" rIns="25400" bIns="12700" rtlCol="0">
            <a:noAutofit/>
          </a:bodyPr>
          <a:lstStyle/>
          <a:p>
            <a:r>
              <a:rPr lang="en-US" sz="800" b="1">
                <a:solidFill>
                  <a:srgbClr val="173E79"/>
                </a:solidFill>
                <a:latin typeface="Times New Roman" panose="02020603050405020304" pitchFamily="18" charset="0"/>
              </a:rPr>
              <a:t>appointment_questions</a:t>
            </a:r>
          </a:p>
        </p:txBody>
      </p:sp>
      <p:sp>
        <p:nvSpPr>
          <p:cNvPr id="65" name="TextBox 64">
            <a:extLst>
              <a:ext uri="{FF2B5EF4-FFF2-40B4-BE49-F238E27FC236}">
                <a16:creationId xmlns:a16="http://schemas.microsoft.com/office/drawing/2014/main" id="{A598C484-5AD5-3681-0355-AAFF94E763B1}"/>
              </a:ext>
            </a:extLst>
          </p:cNvPr>
          <p:cNvSpPr txBox="1"/>
          <p:nvPr/>
        </p:nvSpPr>
        <p:spPr>
          <a:xfrm>
            <a:off x="3289300" y="4076700"/>
            <a:ext cx="2565400" cy="369332"/>
          </a:xfrm>
          <a:prstGeom prst="rect">
            <a:avLst/>
          </a:prstGeom>
          <a:noFill/>
        </p:spPr>
        <p:txBody>
          <a:bodyPr vert="horz" wrap="square" lIns="25400" tIns="12700" rIns="25400" bIns="12700" rtlCol="0">
            <a:noAutofit/>
          </a:bodyPr>
          <a:lstStyle/>
          <a:p>
            <a:r>
              <a:rPr lang="en-US" sz="700">
                <a:solidFill>
                  <a:srgbClr val="222222"/>
                </a:solidFill>
                <a:latin typeface="Times New Roman" panose="02020603050405020304" pitchFamily="18" charset="0"/>
              </a:rPr>
              <a:t>id PK | appointment_id FK</a:t>
            </a:r>
          </a:p>
        </p:txBody>
      </p:sp>
      <p:sp>
        <p:nvSpPr>
          <p:cNvPr id="66" name="Rectangle 65">
            <a:extLst>
              <a:ext uri="{FF2B5EF4-FFF2-40B4-BE49-F238E27FC236}">
                <a16:creationId xmlns:a16="http://schemas.microsoft.com/office/drawing/2014/main" id="{EEF64476-7F43-7250-09AC-0FED678D5795}"/>
              </a:ext>
            </a:extLst>
          </p:cNvPr>
          <p:cNvSpPr/>
          <p:nvPr/>
        </p:nvSpPr>
        <p:spPr>
          <a:xfrm>
            <a:off x="6159500" y="3835400"/>
            <a:ext cx="2667000" cy="584200"/>
          </a:xfrm>
          <a:prstGeom prst="rect">
            <a:avLst/>
          </a:prstGeom>
          <a:solidFill>
            <a:srgbClr val="FFFFFF"/>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BE3BED4A-4CAF-DDCC-2946-A50221935C28}"/>
              </a:ext>
            </a:extLst>
          </p:cNvPr>
          <p:cNvSpPr/>
          <p:nvPr/>
        </p:nvSpPr>
        <p:spPr>
          <a:xfrm>
            <a:off x="6159500" y="3835400"/>
            <a:ext cx="2667000" cy="215900"/>
          </a:xfrm>
          <a:prstGeom prst="rect">
            <a:avLst/>
          </a:prstGeom>
          <a:solidFill>
            <a:srgbClr val="DDE8F3"/>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TextBox 67">
            <a:extLst>
              <a:ext uri="{FF2B5EF4-FFF2-40B4-BE49-F238E27FC236}">
                <a16:creationId xmlns:a16="http://schemas.microsoft.com/office/drawing/2014/main" id="{2ECA0BFD-8630-CE31-BE6A-3652F4E404A9}"/>
              </a:ext>
            </a:extLst>
          </p:cNvPr>
          <p:cNvSpPr txBox="1"/>
          <p:nvPr/>
        </p:nvSpPr>
        <p:spPr>
          <a:xfrm>
            <a:off x="6210300" y="3848100"/>
            <a:ext cx="2565400" cy="369332"/>
          </a:xfrm>
          <a:prstGeom prst="rect">
            <a:avLst/>
          </a:prstGeom>
          <a:noFill/>
        </p:spPr>
        <p:txBody>
          <a:bodyPr vert="horz" wrap="square" lIns="25400" tIns="12700" rIns="25400" bIns="12700" rtlCol="0">
            <a:noAutofit/>
          </a:bodyPr>
          <a:lstStyle/>
          <a:p>
            <a:r>
              <a:rPr lang="en-US" sz="800" b="1">
                <a:solidFill>
                  <a:srgbClr val="173E79"/>
                </a:solidFill>
                <a:latin typeface="Times New Roman" panose="02020603050405020304" pitchFamily="18" charset="0"/>
              </a:rPr>
              <a:t>task_details</a:t>
            </a:r>
          </a:p>
        </p:txBody>
      </p:sp>
      <p:sp>
        <p:nvSpPr>
          <p:cNvPr id="69" name="TextBox 68">
            <a:extLst>
              <a:ext uri="{FF2B5EF4-FFF2-40B4-BE49-F238E27FC236}">
                <a16:creationId xmlns:a16="http://schemas.microsoft.com/office/drawing/2014/main" id="{F5AB355C-16C0-BC45-3739-F7B2A7676CDD}"/>
              </a:ext>
            </a:extLst>
          </p:cNvPr>
          <p:cNvSpPr txBox="1"/>
          <p:nvPr/>
        </p:nvSpPr>
        <p:spPr>
          <a:xfrm>
            <a:off x="6210300" y="4076700"/>
            <a:ext cx="2565400" cy="369332"/>
          </a:xfrm>
          <a:prstGeom prst="rect">
            <a:avLst/>
          </a:prstGeom>
          <a:noFill/>
        </p:spPr>
        <p:txBody>
          <a:bodyPr vert="horz" wrap="square" lIns="25400" tIns="12700" rIns="25400" bIns="12700" rtlCol="0">
            <a:noAutofit/>
          </a:bodyPr>
          <a:lstStyle/>
          <a:p>
            <a:r>
              <a:rPr lang="en-US" sz="700">
                <a:solidFill>
                  <a:srgbClr val="222222"/>
                </a:solidFill>
                <a:latin typeface="Times New Roman" panose="02020603050405020304" pitchFamily="18" charset="0"/>
              </a:rPr>
              <a:t>id PK | title | is_shared</a:t>
            </a:r>
          </a:p>
        </p:txBody>
      </p:sp>
      <p:sp>
        <p:nvSpPr>
          <p:cNvPr id="70" name="TextBox 69">
            <a:extLst>
              <a:ext uri="{FF2B5EF4-FFF2-40B4-BE49-F238E27FC236}">
                <a16:creationId xmlns:a16="http://schemas.microsoft.com/office/drawing/2014/main" id="{FAB00398-27EF-166A-9B7D-88126A922A0D}"/>
              </a:ext>
            </a:extLst>
          </p:cNvPr>
          <p:cNvSpPr txBox="1"/>
          <p:nvPr/>
        </p:nvSpPr>
        <p:spPr>
          <a:xfrm>
            <a:off x="508000" y="4495800"/>
            <a:ext cx="8128000" cy="381000"/>
          </a:xfrm>
          <a:prstGeom prst="rect">
            <a:avLst/>
          </a:prstGeom>
          <a:noFill/>
        </p:spPr>
        <p:txBody>
          <a:bodyPr vert="horz" wrap="square" lIns="25400" tIns="12700" rIns="25400" bIns="12700" rtlCol="0">
            <a:noAutofit/>
          </a:bodyPr>
          <a:lstStyle/>
          <a:p>
            <a:pPr algn="ctr"/>
            <a:r>
              <a:rPr lang="en-US" sz="800">
                <a:solidFill>
                  <a:srgbClr val="333333"/>
                </a:solidFill>
                <a:latin typeface="Times New Roman" panose="02020603050405020304" pitchFamily="18" charset="0"/>
              </a:rPr>
              <a:t>Relationships: users 1:N to user-owned records; pregnancy_profiles 1:1. appointment_questions reference appointments; care_tasks reference task_details.</a:t>
            </a:r>
          </a:p>
        </p:txBody>
      </p:sp>
    </p:spTree>
    <p:extLst>
      <p:ext uri="{BB962C8B-B14F-4D97-AF65-F5344CB8AC3E}">
        <p14:creationId xmlns:p14="http://schemas.microsoft.com/office/powerpoint/2010/main" val="19815633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7FCF714-1514-45C0-9533-8E83BBABFF6C}"/>
              </a:ext>
            </a:extLst>
          </p:cNvPr>
          <p:cNvSpPr/>
          <p:nvPr/>
        </p:nvSpPr>
        <p:spPr>
          <a:xfrm>
            <a:off x="228600" y="209550"/>
            <a:ext cx="6604000" cy="457200"/>
          </a:xfrm>
          <a:prstGeom prst="rect">
            <a:avLst/>
          </a:prstGeom>
        </p:spPr>
        <p:txBody>
          <a:bodyPr wrap="square">
            <a:noAutofit/>
          </a:bodyPr>
          <a:lstStyle/>
          <a:p>
            <a:r>
              <a:rPr lang="en-US" b="1">
                <a:latin typeface="Times New Roman" panose="02020603050405020304" pitchFamily="18" charset="0"/>
              </a:rPr>
              <a:t>UML Use-Case and Class Diagrams</a:t>
            </a:r>
            <a:endParaRPr lang="en-IN" b="1" dirty="0">
              <a:solidFill>
                <a:srgbClr val="000099"/>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1C888E18-9419-A2A2-6990-29DE04A47A1B}"/>
              </a:ext>
            </a:extLst>
          </p:cNvPr>
          <p:cNvSpPr txBox="1"/>
          <p:nvPr/>
        </p:nvSpPr>
        <p:spPr>
          <a:xfrm>
            <a:off x="355600" y="787400"/>
            <a:ext cx="3746500" cy="369332"/>
          </a:xfrm>
          <a:prstGeom prst="rect">
            <a:avLst/>
          </a:prstGeom>
          <a:noFill/>
        </p:spPr>
        <p:txBody>
          <a:bodyPr vert="horz" wrap="square" lIns="25400" tIns="12700" rIns="25400" bIns="12700" rtlCol="0">
            <a:noAutofit/>
          </a:bodyPr>
          <a:lstStyle/>
          <a:p>
            <a:pPr algn="ctr"/>
            <a:r>
              <a:rPr lang="en-US" sz="1100" b="1">
                <a:solidFill>
                  <a:srgbClr val="173E79"/>
                </a:solidFill>
                <a:latin typeface="Times New Roman" panose="02020603050405020304" pitchFamily="18" charset="0"/>
              </a:rPr>
              <a:t>USE CASES</a:t>
            </a:r>
          </a:p>
        </p:txBody>
      </p:sp>
      <p:sp>
        <p:nvSpPr>
          <p:cNvPr id="4" name="TextBox 3">
            <a:extLst>
              <a:ext uri="{FF2B5EF4-FFF2-40B4-BE49-F238E27FC236}">
                <a16:creationId xmlns:a16="http://schemas.microsoft.com/office/drawing/2014/main" id="{A3193987-C757-6E11-B0D0-6540EA940E5E}"/>
              </a:ext>
            </a:extLst>
          </p:cNvPr>
          <p:cNvSpPr txBox="1"/>
          <p:nvPr/>
        </p:nvSpPr>
        <p:spPr>
          <a:xfrm>
            <a:off x="355600" y="1168400"/>
            <a:ext cx="952500" cy="369332"/>
          </a:xfrm>
          <a:prstGeom prst="rect">
            <a:avLst/>
          </a:prstGeom>
          <a:noFill/>
        </p:spPr>
        <p:txBody>
          <a:bodyPr vert="horz" wrap="square" lIns="25400" tIns="12700" rIns="25400" bIns="12700" rtlCol="0">
            <a:noAutofit/>
          </a:bodyPr>
          <a:lstStyle/>
          <a:p>
            <a:pPr algn="ctr"/>
            <a:r>
              <a:rPr lang="en-US" sz="1000" b="1">
                <a:solidFill>
                  <a:srgbClr val="222222"/>
                </a:solidFill>
                <a:latin typeface="Times New Roman" panose="02020603050405020304" pitchFamily="18" charset="0"/>
              </a:rPr>
              <a:t>USER</a:t>
            </a:r>
          </a:p>
        </p:txBody>
      </p:sp>
      <p:sp>
        <p:nvSpPr>
          <p:cNvPr id="6" name="Oval 5">
            <a:extLst>
              <a:ext uri="{FF2B5EF4-FFF2-40B4-BE49-F238E27FC236}">
                <a16:creationId xmlns:a16="http://schemas.microsoft.com/office/drawing/2014/main" id="{E6793105-BBDF-38D5-AE75-CCD4C513DDB6}"/>
              </a:ext>
            </a:extLst>
          </p:cNvPr>
          <p:cNvSpPr/>
          <p:nvPr/>
        </p:nvSpPr>
        <p:spPr>
          <a:xfrm>
            <a:off x="1574800" y="939800"/>
            <a:ext cx="2159000" cy="457200"/>
          </a:xfrm>
          <a:prstGeom prst="ellipse">
            <a:avLst/>
          </a:prstGeom>
          <a:solidFill>
            <a:srgbClr val="FFFFFF"/>
          </a:solidFill>
          <a:ln>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D1D41E02-2DCD-F59D-ABEA-120C14B95DE0}"/>
              </a:ext>
            </a:extLst>
          </p:cNvPr>
          <p:cNvSpPr txBox="1"/>
          <p:nvPr/>
        </p:nvSpPr>
        <p:spPr>
          <a:xfrm>
            <a:off x="1651000" y="1028700"/>
            <a:ext cx="2006600" cy="369332"/>
          </a:xfrm>
          <a:prstGeom prst="rect">
            <a:avLst/>
          </a:prstGeom>
          <a:noFill/>
        </p:spPr>
        <p:txBody>
          <a:bodyPr vert="horz" wrap="square" lIns="25400" tIns="12700" rIns="25400" bIns="12700" rtlCol="0">
            <a:noAutofit/>
          </a:bodyPr>
          <a:lstStyle/>
          <a:p>
            <a:pPr algn="ctr"/>
            <a:r>
              <a:rPr lang="en-US" sz="800">
                <a:solidFill>
                  <a:srgbClr val="222222"/>
                </a:solidFill>
                <a:latin typeface="Times New Roman" panose="02020603050405020304" pitchFamily="18" charset="0"/>
              </a:rPr>
              <a:t>Manage profile</a:t>
            </a:r>
          </a:p>
        </p:txBody>
      </p:sp>
      <p:cxnSp>
        <p:nvCxnSpPr>
          <p:cNvPr id="8" name="Straight Arrow Connector 7">
            <a:extLst>
              <a:ext uri="{FF2B5EF4-FFF2-40B4-BE49-F238E27FC236}">
                <a16:creationId xmlns:a16="http://schemas.microsoft.com/office/drawing/2014/main" id="{193840D7-82B1-EE91-D207-2BC40F98EC0F}"/>
              </a:ext>
            </a:extLst>
          </p:cNvPr>
          <p:cNvCxnSpPr/>
          <p:nvPr/>
        </p:nvCxnSpPr>
        <p:spPr>
          <a:xfrm>
            <a:off x="1270000" y="1168400"/>
            <a:ext cx="304800" cy="0"/>
          </a:xfrm>
          <a:prstGeom prst="straightConnector1">
            <a:avLst/>
          </a:prstGeom>
          <a:ln w="13970">
            <a:solidFill>
              <a:srgbClr val="365F99"/>
            </a:solidFill>
            <a:tailEnd type="triangle"/>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A5076FBF-55FA-FA87-F2F7-DB90E570C70A}"/>
              </a:ext>
            </a:extLst>
          </p:cNvPr>
          <p:cNvSpPr/>
          <p:nvPr/>
        </p:nvSpPr>
        <p:spPr>
          <a:xfrm>
            <a:off x="1574800" y="1625600"/>
            <a:ext cx="2159000" cy="457200"/>
          </a:xfrm>
          <a:prstGeom prst="ellipse">
            <a:avLst/>
          </a:prstGeom>
          <a:solidFill>
            <a:srgbClr val="FFFFFF"/>
          </a:solidFill>
          <a:ln>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0C792ACA-E362-EC82-E71C-2E45A80206F6}"/>
              </a:ext>
            </a:extLst>
          </p:cNvPr>
          <p:cNvSpPr txBox="1"/>
          <p:nvPr/>
        </p:nvSpPr>
        <p:spPr>
          <a:xfrm>
            <a:off x="1651000" y="1714500"/>
            <a:ext cx="2006600" cy="369332"/>
          </a:xfrm>
          <a:prstGeom prst="rect">
            <a:avLst/>
          </a:prstGeom>
          <a:noFill/>
        </p:spPr>
        <p:txBody>
          <a:bodyPr vert="horz" wrap="square" lIns="25400" tIns="12700" rIns="25400" bIns="12700" rtlCol="0">
            <a:noAutofit/>
          </a:bodyPr>
          <a:lstStyle/>
          <a:p>
            <a:pPr algn="ctr"/>
            <a:r>
              <a:rPr lang="en-US" sz="800">
                <a:solidFill>
                  <a:srgbClr val="222222"/>
                </a:solidFill>
                <a:latin typeface="Times New Roman" panose="02020603050405020304" pitchFamily="18" charset="0"/>
              </a:rPr>
              <a:t>Track daily care</a:t>
            </a:r>
          </a:p>
        </p:txBody>
      </p:sp>
      <p:cxnSp>
        <p:nvCxnSpPr>
          <p:cNvPr id="11" name="Straight Arrow Connector 10">
            <a:extLst>
              <a:ext uri="{FF2B5EF4-FFF2-40B4-BE49-F238E27FC236}">
                <a16:creationId xmlns:a16="http://schemas.microsoft.com/office/drawing/2014/main" id="{9E948ACA-2997-1930-29F3-69F46C1A61DC}"/>
              </a:ext>
            </a:extLst>
          </p:cNvPr>
          <p:cNvCxnSpPr/>
          <p:nvPr/>
        </p:nvCxnSpPr>
        <p:spPr>
          <a:xfrm>
            <a:off x="1270000" y="1854200"/>
            <a:ext cx="304800" cy="0"/>
          </a:xfrm>
          <a:prstGeom prst="straightConnector1">
            <a:avLst/>
          </a:prstGeom>
          <a:ln w="13970">
            <a:solidFill>
              <a:srgbClr val="365F99"/>
            </a:solidFill>
            <a:tailEnd type="triangle"/>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2467BB66-3ADD-5298-0608-0C7881691BE8}"/>
              </a:ext>
            </a:extLst>
          </p:cNvPr>
          <p:cNvSpPr/>
          <p:nvPr/>
        </p:nvSpPr>
        <p:spPr>
          <a:xfrm>
            <a:off x="1574800" y="2311400"/>
            <a:ext cx="2159000" cy="457200"/>
          </a:xfrm>
          <a:prstGeom prst="ellipse">
            <a:avLst/>
          </a:prstGeom>
          <a:solidFill>
            <a:srgbClr val="FFFFFF"/>
          </a:solidFill>
          <a:ln>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5DF9D8F7-C2A7-896B-3263-B5E9140600EA}"/>
              </a:ext>
            </a:extLst>
          </p:cNvPr>
          <p:cNvSpPr txBox="1"/>
          <p:nvPr/>
        </p:nvSpPr>
        <p:spPr>
          <a:xfrm>
            <a:off x="1651000" y="2400300"/>
            <a:ext cx="2006600" cy="369332"/>
          </a:xfrm>
          <a:prstGeom prst="rect">
            <a:avLst/>
          </a:prstGeom>
          <a:noFill/>
        </p:spPr>
        <p:txBody>
          <a:bodyPr vert="horz" wrap="square" lIns="25400" tIns="12700" rIns="25400" bIns="12700" rtlCol="0">
            <a:noAutofit/>
          </a:bodyPr>
          <a:lstStyle/>
          <a:p>
            <a:pPr algn="ctr"/>
            <a:r>
              <a:rPr lang="en-US" sz="800">
                <a:solidFill>
                  <a:srgbClr val="222222"/>
                </a:solidFill>
                <a:latin typeface="Times New Roman" panose="02020603050405020304" pitchFamily="18" charset="0"/>
              </a:rPr>
              <a:t>Manage appointments</a:t>
            </a:r>
          </a:p>
        </p:txBody>
      </p:sp>
      <p:cxnSp>
        <p:nvCxnSpPr>
          <p:cNvPr id="14" name="Straight Arrow Connector 13">
            <a:extLst>
              <a:ext uri="{FF2B5EF4-FFF2-40B4-BE49-F238E27FC236}">
                <a16:creationId xmlns:a16="http://schemas.microsoft.com/office/drawing/2014/main" id="{72ECEE8F-5647-848E-BD77-9BAF7BB0D8F4}"/>
              </a:ext>
            </a:extLst>
          </p:cNvPr>
          <p:cNvCxnSpPr/>
          <p:nvPr/>
        </p:nvCxnSpPr>
        <p:spPr>
          <a:xfrm>
            <a:off x="1270000" y="2540000"/>
            <a:ext cx="304800" cy="0"/>
          </a:xfrm>
          <a:prstGeom prst="straightConnector1">
            <a:avLst/>
          </a:prstGeom>
          <a:ln w="13970">
            <a:solidFill>
              <a:srgbClr val="365F99"/>
            </a:solidFill>
            <a:tailEnd type="triangle"/>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A8BA7FEA-7239-338F-611F-9BD52F82C08A}"/>
              </a:ext>
            </a:extLst>
          </p:cNvPr>
          <p:cNvSpPr/>
          <p:nvPr/>
        </p:nvSpPr>
        <p:spPr>
          <a:xfrm>
            <a:off x="1574800" y="2997200"/>
            <a:ext cx="2159000" cy="457200"/>
          </a:xfrm>
          <a:prstGeom prst="ellipse">
            <a:avLst/>
          </a:prstGeom>
          <a:solidFill>
            <a:srgbClr val="FFFFFF"/>
          </a:solidFill>
          <a:ln>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CDE9239B-358B-8B20-5ACA-31B63CFB0478}"/>
              </a:ext>
            </a:extLst>
          </p:cNvPr>
          <p:cNvSpPr txBox="1"/>
          <p:nvPr/>
        </p:nvSpPr>
        <p:spPr>
          <a:xfrm>
            <a:off x="1651000" y="3086100"/>
            <a:ext cx="2006600" cy="369332"/>
          </a:xfrm>
          <a:prstGeom prst="rect">
            <a:avLst/>
          </a:prstGeom>
          <a:noFill/>
        </p:spPr>
        <p:txBody>
          <a:bodyPr vert="horz" wrap="square" lIns="25400" tIns="12700" rIns="25400" bIns="12700" rtlCol="0">
            <a:noAutofit/>
          </a:bodyPr>
          <a:lstStyle/>
          <a:p>
            <a:pPr algn="ctr"/>
            <a:r>
              <a:rPr lang="en-US" sz="800">
                <a:solidFill>
                  <a:srgbClr val="222222"/>
                </a:solidFill>
                <a:latin typeface="Times New Roman" panose="02020603050405020304" pitchFamily="18" charset="0"/>
              </a:rPr>
              <a:t>Journal and review</a:t>
            </a:r>
          </a:p>
        </p:txBody>
      </p:sp>
      <p:cxnSp>
        <p:nvCxnSpPr>
          <p:cNvPr id="17" name="Straight Arrow Connector 16">
            <a:extLst>
              <a:ext uri="{FF2B5EF4-FFF2-40B4-BE49-F238E27FC236}">
                <a16:creationId xmlns:a16="http://schemas.microsoft.com/office/drawing/2014/main" id="{C545F54F-DC1B-6A35-5713-78793BD53D06}"/>
              </a:ext>
            </a:extLst>
          </p:cNvPr>
          <p:cNvCxnSpPr/>
          <p:nvPr/>
        </p:nvCxnSpPr>
        <p:spPr>
          <a:xfrm>
            <a:off x="1270000" y="3225800"/>
            <a:ext cx="304800" cy="0"/>
          </a:xfrm>
          <a:prstGeom prst="straightConnector1">
            <a:avLst/>
          </a:prstGeom>
          <a:ln w="13970">
            <a:solidFill>
              <a:srgbClr val="365F99"/>
            </a:solidFill>
            <a:tailEnd type="triangle"/>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B85BEFD8-ADDE-2D21-96F5-564CE6A284D5}"/>
              </a:ext>
            </a:extLst>
          </p:cNvPr>
          <p:cNvSpPr/>
          <p:nvPr/>
        </p:nvSpPr>
        <p:spPr>
          <a:xfrm>
            <a:off x="1574800" y="3683000"/>
            <a:ext cx="2159000" cy="457200"/>
          </a:xfrm>
          <a:prstGeom prst="ellipse">
            <a:avLst/>
          </a:prstGeom>
          <a:solidFill>
            <a:srgbClr val="FFFFFF"/>
          </a:solidFill>
          <a:ln>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EF964A59-D2BF-5BA3-E9B4-34CB62E00546}"/>
              </a:ext>
            </a:extLst>
          </p:cNvPr>
          <p:cNvSpPr txBox="1"/>
          <p:nvPr/>
        </p:nvSpPr>
        <p:spPr>
          <a:xfrm>
            <a:off x="1651000" y="3771900"/>
            <a:ext cx="2006600" cy="369332"/>
          </a:xfrm>
          <a:prstGeom prst="rect">
            <a:avLst/>
          </a:prstGeom>
          <a:noFill/>
        </p:spPr>
        <p:txBody>
          <a:bodyPr vert="horz" wrap="square" lIns="25400" tIns="12700" rIns="25400" bIns="12700" rtlCol="0">
            <a:noAutofit/>
          </a:bodyPr>
          <a:lstStyle/>
          <a:p>
            <a:pPr algn="ctr"/>
            <a:r>
              <a:rPr lang="en-US" sz="800">
                <a:solidFill>
                  <a:srgbClr val="222222"/>
                </a:solidFill>
                <a:latin typeface="Times New Roman" panose="02020603050405020304" pitchFamily="18" charset="0"/>
              </a:rPr>
              <a:t>Prepare reports</a:t>
            </a:r>
          </a:p>
        </p:txBody>
      </p:sp>
      <p:cxnSp>
        <p:nvCxnSpPr>
          <p:cNvPr id="20" name="Straight Arrow Connector 19">
            <a:extLst>
              <a:ext uri="{FF2B5EF4-FFF2-40B4-BE49-F238E27FC236}">
                <a16:creationId xmlns:a16="http://schemas.microsoft.com/office/drawing/2014/main" id="{FB3BDE5C-EE07-6647-EDD3-61FD75560BFA}"/>
              </a:ext>
            </a:extLst>
          </p:cNvPr>
          <p:cNvCxnSpPr/>
          <p:nvPr/>
        </p:nvCxnSpPr>
        <p:spPr>
          <a:xfrm>
            <a:off x="1270000" y="3911600"/>
            <a:ext cx="304800" cy="0"/>
          </a:xfrm>
          <a:prstGeom prst="straightConnector1">
            <a:avLst/>
          </a:prstGeom>
          <a:ln w="13970">
            <a:solidFill>
              <a:srgbClr val="365F99"/>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A12606F7-BACC-9B1E-639F-2E19AE92E075}"/>
              </a:ext>
            </a:extLst>
          </p:cNvPr>
          <p:cNvSpPr txBox="1"/>
          <p:nvPr/>
        </p:nvSpPr>
        <p:spPr>
          <a:xfrm>
            <a:off x="4495800" y="787400"/>
            <a:ext cx="4191000" cy="369332"/>
          </a:xfrm>
          <a:prstGeom prst="rect">
            <a:avLst/>
          </a:prstGeom>
          <a:noFill/>
        </p:spPr>
        <p:txBody>
          <a:bodyPr vert="horz" wrap="square" lIns="25400" tIns="12700" rIns="25400" bIns="12700" rtlCol="0">
            <a:noAutofit/>
          </a:bodyPr>
          <a:lstStyle/>
          <a:p>
            <a:pPr algn="ctr"/>
            <a:r>
              <a:rPr lang="en-US" sz="1100" b="1">
                <a:solidFill>
                  <a:srgbClr val="173E79"/>
                </a:solidFill>
                <a:latin typeface="Times New Roman" panose="02020603050405020304" pitchFamily="18" charset="0"/>
              </a:rPr>
              <a:t>CORE CLASSES</a:t>
            </a:r>
          </a:p>
        </p:txBody>
      </p:sp>
      <p:sp>
        <p:nvSpPr>
          <p:cNvPr id="22" name="Rectangle 21">
            <a:extLst>
              <a:ext uri="{FF2B5EF4-FFF2-40B4-BE49-F238E27FC236}">
                <a16:creationId xmlns:a16="http://schemas.microsoft.com/office/drawing/2014/main" id="{E9B8C032-04D6-D895-A5B6-4531D798EE6F}"/>
              </a:ext>
            </a:extLst>
          </p:cNvPr>
          <p:cNvSpPr/>
          <p:nvPr/>
        </p:nvSpPr>
        <p:spPr>
          <a:xfrm>
            <a:off x="4495800" y="1155700"/>
            <a:ext cx="4064000" cy="546100"/>
          </a:xfrm>
          <a:prstGeom prst="rect">
            <a:avLst/>
          </a:prstGeom>
          <a:solidFill>
            <a:srgbClr val="FFFFFF"/>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D757431B-3185-B2E6-A1FE-C20C262201CF}"/>
              </a:ext>
            </a:extLst>
          </p:cNvPr>
          <p:cNvSpPr txBox="1"/>
          <p:nvPr/>
        </p:nvSpPr>
        <p:spPr>
          <a:xfrm>
            <a:off x="4584700" y="1219200"/>
            <a:ext cx="3886200" cy="369332"/>
          </a:xfrm>
          <a:prstGeom prst="rect">
            <a:avLst/>
          </a:prstGeom>
          <a:noFill/>
        </p:spPr>
        <p:txBody>
          <a:bodyPr vert="horz" wrap="square" lIns="25400" tIns="12700" rIns="25400" bIns="12700" rtlCol="0">
            <a:noAutofit/>
          </a:bodyPr>
          <a:lstStyle/>
          <a:p>
            <a:r>
              <a:rPr lang="en-US" sz="900" b="1">
                <a:solidFill>
                  <a:srgbClr val="173E79"/>
                </a:solidFill>
                <a:latin typeface="Times New Roman" panose="02020603050405020304" pitchFamily="18" charset="0"/>
              </a:rPr>
              <a:t>User</a:t>
            </a:r>
          </a:p>
        </p:txBody>
      </p:sp>
      <p:sp>
        <p:nvSpPr>
          <p:cNvPr id="24" name="TextBox 23">
            <a:extLst>
              <a:ext uri="{FF2B5EF4-FFF2-40B4-BE49-F238E27FC236}">
                <a16:creationId xmlns:a16="http://schemas.microsoft.com/office/drawing/2014/main" id="{654D4FDD-7420-4C14-FB9C-43B5961FA23D}"/>
              </a:ext>
            </a:extLst>
          </p:cNvPr>
          <p:cNvSpPr txBox="1"/>
          <p:nvPr/>
        </p:nvSpPr>
        <p:spPr>
          <a:xfrm>
            <a:off x="4584700" y="1435100"/>
            <a:ext cx="3886200" cy="369332"/>
          </a:xfrm>
          <a:prstGeom prst="rect">
            <a:avLst/>
          </a:prstGeom>
          <a:noFill/>
        </p:spPr>
        <p:txBody>
          <a:bodyPr vert="horz" wrap="square" lIns="25400" tIns="12700" rIns="25400" bIns="12700" rtlCol="0">
            <a:noAutofit/>
          </a:bodyPr>
          <a:lstStyle/>
          <a:p>
            <a:r>
              <a:rPr lang="en-US" sz="700">
                <a:solidFill>
                  <a:srgbClr val="222222"/>
                </a:solidFill>
                <a:latin typeface="Times New Roman" panose="02020603050405020304" pitchFamily="18" charset="0"/>
              </a:rPr>
              <a:t>id | email | timezone</a:t>
            </a:r>
          </a:p>
        </p:txBody>
      </p:sp>
      <p:sp>
        <p:nvSpPr>
          <p:cNvPr id="25" name="Rectangle 24">
            <a:extLst>
              <a:ext uri="{FF2B5EF4-FFF2-40B4-BE49-F238E27FC236}">
                <a16:creationId xmlns:a16="http://schemas.microsoft.com/office/drawing/2014/main" id="{CC017AD8-9CB9-9D2D-FEE7-F70089ED7CCE}"/>
              </a:ext>
            </a:extLst>
          </p:cNvPr>
          <p:cNvSpPr/>
          <p:nvPr/>
        </p:nvSpPr>
        <p:spPr>
          <a:xfrm>
            <a:off x="4495800" y="1917700"/>
            <a:ext cx="4064000" cy="546100"/>
          </a:xfrm>
          <a:prstGeom prst="rect">
            <a:avLst/>
          </a:prstGeom>
          <a:solidFill>
            <a:srgbClr val="FFFFFF"/>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299C15E8-7DAD-A623-1C9B-C9FF547B029A}"/>
              </a:ext>
            </a:extLst>
          </p:cNvPr>
          <p:cNvSpPr txBox="1"/>
          <p:nvPr/>
        </p:nvSpPr>
        <p:spPr>
          <a:xfrm>
            <a:off x="4584700" y="1981200"/>
            <a:ext cx="3886200" cy="369332"/>
          </a:xfrm>
          <a:prstGeom prst="rect">
            <a:avLst/>
          </a:prstGeom>
          <a:noFill/>
        </p:spPr>
        <p:txBody>
          <a:bodyPr vert="horz" wrap="square" lIns="25400" tIns="12700" rIns="25400" bIns="12700" rtlCol="0">
            <a:noAutofit/>
          </a:bodyPr>
          <a:lstStyle/>
          <a:p>
            <a:r>
              <a:rPr lang="en-US" sz="900" b="1">
                <a:solidFill>
                  <a:srgbClr val="173E79"/>
                </a:solidFill>
                <a:latin typeface="Times New Roman" panose="02020603050405020304" pitchFamily="18" charset="0"/>
              </a:rPr>
              <a:t>Appointment</a:t>
            </a:r>
          </a:p>
        </p:txBody>
      </p:sp>
      <p:sp>
        <p:nvSpPr>
          <p:cNvPr id="27" name="TextBox 26">
            <a:extLst>
              <a:ext uri="{FF2B5EF4-FFF2-40B4-BE49-F238E27FC236}">
                <a16:creationId xmlns:a16="http://schemas.microsoft.com/office/drawing/2014/main" id="{23A7A22A-2CE9-92E6-4212-BD2795C310CF}"/>
              </a:ext>
            </a:extLst>
          </p:cNvPr>
          <p:cNvSpPr txBox="1"/>
          <p:nvPr/>
        </p:nvSpPr>
        <p:spPr>
          <a:xfrm>
            <a:off x="4584700" y="2197100"/>
            <a:ext cx="3886200" cy="369332"/>
          </a:xfrm>
          <a:prstGeom prst="rect">
            <a:avLst/>
          </a:prstGeom>
          <a:noFill/>
        </p:spPr>
        <p:txBody>
          <a:bodyPr vert="horz" wrap="square" lIns="25400" tIns="12700" rIns="25400" bIns="12700" rtlCol="0">
            <a:noAutofit/>
          </a:bodyPr>
          <a:lstStyle/>
          <a:p>
            <a:r>
              <a:rPr lang="da-DK" sz="700">
                <a:solidFill>
                  <a:srgbClr val="222222"/>
                </a:solidFill>
                <a:latin typeface="Times New Roman" panose="02020603050405020304" pitchFamily="18" charset="0"/>
              </a:rPr>
              <a:t>user_id | starts_at | reminder</a:t>
            </a:r>
            <a:endParaRPr lang="en-US" sz="700">
              <a:solidFill>
                <a:srgbClr val="222222"/>
              </a:solidFill>
              <a:latin typeface="Times New Roman" panose="02020603050405020304" pitchFamily="18" charset="0"/>
            </a:endParaRPr>
          </a:p>
        </p:txBody>
      </p:sp>
      <p:sp>
        <p:nvSpPr>
          <p:cNvPr id="28" name="Rectangle 27">
            <a:extLst>
              <a:ext uri="{FF2B5EF4-FFF2-40B4-BE49-F238E27FC236}">
                <a16:creationId xmlns:a16="http://schemas.microsoft.com/office/drawing/2014/main" id="{EE5C4279-8126-7DFD-2A40-F9E8F403368F}"/>
              </a:ext>
            </a:extLst>
          </p:cNvPr>
          <p:cNvSpPr/>
          <p:nvPr/>
        </p:nvSpPr>
        <p:spPr>
          <a:xfrm>
            <a:off x="4495800" y="2679700"/>
            <a:ext cx="4064000" cy="546100"/>
          </a:xfrm>
          <a:prstGeom prst="rect">
            <a:avLst/>
          </a:prstGeom>
          <a:solidFill>
            <a:srgbClr val="FFFFFF"/>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B655997E-E066-A55E-9DBB-35D926DA4386}"/>
              </a:ext>
            </a:extLst>
          </p:cNvPr>
          <p:cNvSpPr txBox="1"/>
          <p:nvPr/>
        </p:nvSpPr>
        <p:spPr>
          <a:xfrm>
            <a:off x="4584700" y="2743200"/>
            <a:ext cx="3886200" cy="369332"/>
          </a:xfrm>
          <a:prstGeom prst="rect">
            <a:avLst/>
          </a:prstGeom>
          <a:noFill/>
        </p:spPr>
        <p:txBody>
          <a:bodyPr vert="horz" wrap="square" lIns="25400" tIns="12700" rIns="25400" bIns="12700" rtlCol="0">
            <a:noAutofit/>
          </a:bodyPr>
          <a:lstStyle/>
          <a:p>
            <a:r>
              <a:rPr lang="en-US" sz="900" b="1">
                <a:solidFill>
                  <a:srgbClr val="173E79"/>
                </a:solidFill>
                <a:latin typeface="Times New Roman" panose="02020603050405020304" pitchFamily="18" charset="0"/>
              </a:rPr>
              <a:t>CareTask</a:t>
            </a:r>
          </a:p>
        </p:txBody>
      </p:sp>
      <p:sp>
        <p:nvSpPr>
          <p:cNvPr id="30" name="TextBox 29">
            <a:extLst>
              <a:ext uri="{FF2B5EF4-FFF2-40B4-BE49-F238E27FC236}">
                <a16:creationId xmlns:a16="http://schemas.microsoft.com/office/drawing/2014/main" id="{6F2410D0-2984-2904-FBB3-E45031554059}"/>
              </a:ext>
            </a:extLst>
          </p:cNvPr>
          <p:cNvSpPr txBox="1"/>
          <p:nvPr/>
        </p:nvSpPr>
        <p:spPr>
          <a:xfrm>
            <a:off x="4584700" y="2959100"/>
            <a:ext cx="3886200" cy="369332"/>
          </a:xfrm>
          <a:prstGeom prst="rect">
            <a:avLst/>
          </a:prstGeom>
          <a:noFill/>
        </p:spPr>
        <p:txBody>
          <a:bodyPr vert="horz" wrap="square" lIns="25400" tIns="12700" rIns="25400" bIns="12700" rtlCol="0">
            <a:noAutofit/>
          </a:bodyPr>
          <a:lstStyle/>
          <a:p>
            <a:r>
              <a:rPr lang="en-US" sz="700">
                <a:solidFill>
                  <a:srgbClr val="222222"/>
                </a:solidFill>
                <a:latin typeface="Times New Roman" panose="02020603050405020304" pitchFamily="18" charset="0"/>
              </a:rPr>
              <a:t>user_id | date | completed</a:t>
            </a:r>
          </a:p>
        </p:txBody>
      </p:sp>
      <p:sp>
        <p:nvSpPr>
          <p:cNvPr id="31" name="Rectangle 30">
            <a:extLst>
              <a:ext uri="{FF2B5EF4-FFF2-40B4-BE49-F238E27FC236}">
                <a16:creationId xmlns:a16="http://schemas.microsoft.com/office/drawing/2014/main" id="{7517B516-87CD-3155-2E8C-6ADBC262356F}"/>
              </a:ext>
            </a:extLst>
          </p:cNvPr>
          <p:cNvSpPr/>
          <p:nvPr/>
        </p:nvSpPr>
        <p:spPr>
          <a:xfrm>
            <a:off x="4495800" y="3441700"/>
            <a:ext cx="4064000" cy="546100"/>
          </a:xfrm>
          <a:prstGeom prst="rect">
            <a:avLst/>
          </a:prstGeom>
          <a:solidFill>
            <a:srgbClr val="FFFFFF"/>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949CF93D-B4D2-9EE5-FBCB-E7A950E91CEF}"/>
              </a:ext>
            </a:extLst>
          </p:cNvPr>
          <p:cNvSpPr txBox="1"/>
          <p:nvPr/>
        </p:nvSpPr>
        <p:spPr>
          <a:xfrm>
            <a:off x="4584700" y="3505200"/>
            <a:ext cx="3886200" cy="369332"/>
          </a:xfrm>
          <a:prstGeom prst="rect">
            <a:avLst/>
          </a:prstGeom>
          <a:noFill/>
        </p:spPr>
        <p:txBody>
          <a:bodyPr vert="horz" wrap="square" lIns="25400" tIns="12700" rIns="25400" bIns="12700" rtlCol="0">
            <a:noAutofit/>
          </a:bodyPr>
          <a:lstStyle/>
          <a:p>
            <a:r>
              <a:rPr lang="en-US" sz="900" b="1">
                <a:solidFill>
                  <a:srgbClr val="173E79"/>
                </a:solidFill>
                <a:latin typeface="Times New Roman" panose="02020603050405020304" pitchFamily="18" charset="0"/>
              </a:rPr>
              <a:t>SymptomEntry</a:t>
            </a:r>
          </a:p>
        </p:txBody>
      </p:sp>
      <p:sp>
        <p:nvSpPr>
          <p:cNvPr id="33" name="TextBox 32">
            <a:extLst>
              <a:ext uri="{FF2B5EF4-FFF2-40B4-BE49-F238E27FC236}">
                <a16:creationId xmlns:a16="http://schemas.microsoft.com/office/drawing/2014/main" id="{A07C1929-0B96-9511-DC4E-B3DD6CBA8FDA}"/>
              </a:ext>
            </a:extLst>
          </p:cNvPr>
          <p:cNvSpPr txBox="1"/>
          <p:nvPr/>
        </p:nvSpPr>
        <p:spPr>
          <a:xfrm>
            <a:off x="4584700" y="3721100"/>
            <a:ext cx="3886200" cy="369332"/>
          </a:xfrm>
          <a:prstGeom prst="rect">
            <a:avLst/>
          </a:prstGeom>
          <a:noFill/>
        </p:spPr>
        <p:txBody>
          <a:bodyPr vert="horz" wrap="square" lIns="25400" tIns="12700" rIns="25400" bIns="12700" rtlCol="0">
            <a:noAutofit/>
          </a:bodyPr>
          <a:lstStyle/>
          <a:p>
            <a:r>
              <a:rPr lang="en-US" sz="700">
                <a:solidFill>
                  <a:srgbClr val="222222"/>
                </a:solidFill>
                <a:latin typeface="Times New Roman" panose="02020603050405020304" pitchFamily="18" charset="0"/>
              </a:rPr>
              <a:t>user_id | symptom | severity</a:t>
            </a:r>
          </a:p>
        </p:txBody>
      </p:sp>
      <p:sp>
        <p:nvSpPr>
          <p:cNvPr id="34" name="Rectangle 33">
            <a:extLst>
              <a:ext uri="{FF2B5EF4-FFF2-40B4-BE49-F238E27FC236}">
                <a16:creationId xmlns:a16="http://schemas.microsoft.com/office/drawing/2014/main" id="{E0C92CB1-F28D-7FCE-5DD3-08A3A9D7163F}"/>
              </a:ext>
            </a:extLst>
          </p:cNvPr>
          <p:cNvSpPr/>
          <p:nvPr/>
        </p:nvSpPr>
        <p:spPr>
          <a:xfrm>
            <a:off x="4495800" y="4203700"/>
            <a:ext cx="4064000" cy="546100"/>
          </a:xfrm>
          <a:prstGeom prst="rect">
            <a:avLst/>
          </a:prstGeom>
          <a:solidFill>
            <a:srgbClr val="FFFFFF"/>
          </a:solidFill>
          <a:ln w="12700">
            <a:solidFill>
              <a:srgbClr val="3564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8C7E07AF-2A58-94F5-A7C5-3FD89AD85A03}"/>
              </a:ext>
            </a:extLst>
          </p:cNvPr>
          <p:cNvSpPr txBox="1"/>
          <p:nvPr/>
        </p:nvSpPr>
        <p:spPr>
          <a:xfrm>
            <a:off x="4584700" y="4267200"/>
            <a:ext cx="3886200" cy="369332"/>
          </a:xfrm>
          <a:prstGeom prst="rect">
            <a:avLst/>
          </a:prstGeom>
          <a:noFill/>
        </p:spPr>
        <p:txBody>
          <a:bodyPr vert="horz" wrap="square" lIns="25400" tIns="12700" rIns="25400" bIns="12700" rtlCol="0">
            <a:noAutofit/>
          </a:bodyPr>
          <a:lstStyle/>
          <a:p>
            <a:r>
              <a:rPr lang="en-US" sz="900" b="1">
                <a:solidFill>
                  <a:srgbClr val="173E79"/>
                </a:solidFill>
                <a:latin typeface="Times New Roman" panose="02020603050405020304" pitchFamily="18" charset="0"/>
              </a:rPr>
              <a:t>PushReminder</a:t>
            </a:r>
          </a:p>
        </p:txBody>
      </p:sp>
      <p:sp>
        <p:nvSpPr>
          <p:cNvPr id="36" name="TextBox 35">
            <a:extLst>
              <a:ext uri="{FF2B5EF4-FFF2-40B4-BE49-F238E27FC236}">
                <a16:creationId xmlns:a16="http://schemas.microsoft.com/office/drawing/2014/main" id="{2FFFFF3E-0FCB-563B-0FEF-59EEA1F53F44}"/>
              </a:ext>
            </a:extLst>
          </p:cNvPr>
          <p:cNvSpPr txBox="1"/>
          <p:nvPr/>
        </p:nvSpPr>
        <p:spPr>
          <a:xfrm>
            <a:off x="4584700" y="4483100"/>
            <a:ext cx="3886200" cy="369332"/>
          </a:xfrm>
          <a:prstGeom prst="rect">
            <a:avLst/>
          </a:prstGeom>
          <a:noFill/>
        </p:spPr>
        <p:txBody>
          <a:bodyPr vert="horz" wrap="square" lIns="25400" tIns="12700" rIns="25400" bIns="12700" rtlCol="0">
            <a:noAutofit/>
          </a:bodyPr>
          <a:lstStyle/>
          <a:p>
            <a:r>
              <a:rPr lang="en-US" sz="700">
                <a:solidFill>
                  <a:srgbClr val="222222"/>
                </a:solidFill>
                <a:latin typeface="Times New Roman" panose="02020603050405020304" pitchFamily="18" charset="0"/>
              </a:rPr>
              <a:t>user_id | scheduled_at | status</a:t>
            </a:r>
          </a:p>
        </p:txBody>
      </p:sp>
    </p:spTree>
    <p:extLst>
      <p:ext uri="{BB962C8B-B14F-4D97-AF65-F5344CB8AC3E}">
        <p14:creationId xmlns:p14="http://schemas.microsoft.com/office/powerpoint/2010/main" val="38549765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CC078B2-2193-4225-B51A-BF4658177DC5}"/>
              </a:ext>
            </a:extLst>
          </p:cNvPr>
          <p:cNvSpPr/>
          <p:nvPr/>
        </p:nvSpPr>
        <p:spPr>
          <a:xfrm>
            <a:off x="304800" y="209550"/>
            <a:ext cx="8255000" cy="457200"/>
          </a:xfrm>
          <a:prstGeom prst="rect">
            <a:avLst/>
          </a:prstGeom>
        </p:spPr>
        <p:txBody>
          <a:bodyPr wrap="square">
            <a:noAutofit/>
          </a:bodyPr>
          <a:lstStyle/>
          <a:p>
            <a:pPr marL="342900" indent="-342900">
              <a:tabLst>
                <a:tab pos="457200" algn="l"/>
              </a:tabLst>
            </a:pPr>
            <a:r>
              <a:rPr lang="en-IN" b="1">
                <a:solidFill>
                  <a:srgbClr val="000099"/>
                </a:solidFill>
                <a:latin typeface="Times New Roman" panose="02020603050405020304" pitchFamily="18" charset="0"/>
                <a:ea typeface="Calibri" panose="020F0502020204030204" pitchFamily="34" charset="0"/>
                <a:cs typeface="Times New Roman" panose="02020603050405020304" pitchFamily="18" charset="0"/>
              </a:rPr>
              <a:t>Hardware and Software Requirements</a:t>
            </a:r>
            <a:endParaRPr lang="en-IN" b="1" dirty="0">
              <a:solidFill>
                <a:srgbClr val="000099"/>
              </a:solidFill>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E74FF4FF-CC6A-45CF-9635-81F4BB07693B}"/>
              </a:ext>
            </a:extLst>
          </p:cNvPr>
          <p:cNvSpPr/>
          <p:nvPr/>
        </p:nvSpPr>
        <p:spPr>
          <a:xfrm>
            <a:off x="533400" y="590550"/>
            <a:ext cx="6889054" cy="2951064"/>
          </a:xfrm>
          <a:prstGeom prst="rect">
            <a:avLst/>
          </a:prstGeom>
        </p:spPr>
        <p:txBody>
          <a:bodyPr wrap="square">
            <a:spAutoFit/>
          </a:bodyPr>
          <a:lstStyle/>
          <a:p>
            <a:pPr>
              <a:lnSpc>
                <a:spcPct val="150000"/>
              </a:lnSpc>
            </a:pPr>
            <a:r>
              <a:rPr lang="en-US" b="1" dirty="0">
                <a:latin typeface="Times New Roman" panose="02020603050405020304" pitchFamily="18" charset="0"/>
                <a:cs typeface="Times New Roman" panose="02020603050405020304" pitchFamily="18" charset="0"/>
              </a:rPr>
              <a:t>HARDWARE REQUIREMENTS</a:t>
            </a:r>
          </a:p>
          <a:p>
            <a:pPr lvl="2">
              <a:lnSpc>
                <a:spcPct val="150000"/>
              </a:lnSpc>
            </a:pPr>
            <a:r>
              <a:rPr lang="en-US" dirty="0">
                <a:latin typeface="Times New Roman" panose="02020603050405020304" pitchFamily="18" charset="0"/>
                <a:cs typeface="Times New Roman" panose="02020603050405020304" pitchFamily="18" charset="0"/>
              </a:rPr>
              <a:t>PROCESSOR             : Above i3    @2.3 GHz</a:t>
            </a:r>
          </a:p>
          <a:p>
            <a:pPr lvl="2">
              <a:lnSpc>
                <a:spcPct val="150000"/>
              </a:lnSpc>
            </a:pPr>
            <a:r>
              <a:rPr lang="en-US" dirty="0">
                <a:latin typeface="Times New Roman" panose="02020603050405020304" pitchFamily="18" charset="0"/>
                <a:cs typeface="Times New Roman" panose="02020603050405020304" pitchFamily="18" charset="0"/>
              </a:rPr>
              <a:t>RAM                           : 16 GB min</a:t>
            </a:r>
          </a:p>
          <a:p>
            <a:pPr lvl="2">
              <a:lnSpc>
                <a:spcPct val="150000"/>
              </a:lnSpc>
            </a:pPr>
            <a:r>
              <a:rPr lang="en-US" dirty="0">
                <a:latin typeface="Times New Roman" panose="02020603050405020304" pitchFamily="18" charset="0"/>
                <a:cs typeface="Times New Roman" panose="02020603050405020304" pitchFamily="18" charset="0"/>
              </a:rPr>
              <a:t>LAN                            : On Board 10/100 Mbps SIS LAN</a:t>
            </a:r>
          </a:p>
          <a:p>
            <a:pPr lvl="2">
              <a:lnSpc>
                <a:spcPct val="150000"/>
              </a:lnSpc>
            </a:pPr>
            <a:r>
              <a:rPr lang="en-US" dirty="0">
                <a:latin typeface="Times New Roman" panose="02020603050405020304" pitchFamily="18" charset="0"/>
                <a:cs typeface="Times New Roman" panose="02020603050405020304" pitchFamily="18" charset="0"/>
              </a:rPr>
              <a:t>HARD DISK              : 100 GB min</a:t>
            </a:r>
          </a:p>
          <a:p>
            <a:pPr lvl="2">
              <a:lnSpc>
                <a:spcPct val="150000"/>
              </a:lnSpc>
            </a:pPr>
            <a:r>
              <a:rPr lang="en-US" dirty="0">
                <a:latin typeface="Times New Roman" panose="02020603050405020304" pitchFamily="18" charset="0"/>
                <a:cs typeface="Times New Roman" panose="02020603050405020304" pitchFamily="18" charset="0"/>
              </a:rPr>
              <a:t>DISPLAY	    : 1024 x 768 VGA</a:t>
            </a:r>
          </a:p>
          <a:p>
            <a:pPr lvl="2">
              <a:lnSpc>
                <a:spcPct val="150000"/>
              </a:lnSpc>
            </a:pPr>
            <a:r>
              <a:rPr lang="en-US" dirty="0">
                <a:latin typeface="Times New Roman" panose="02020603050405020304" pitchFamily="18" charset="0"/>
                <a:cs typeface="Times New Roman" panose="02020603050405020304" pitchFamily="18" charset="0"/>
              </a:rPr>
              <a:t>KEYBOARD              : At  extended  104  Keyboard</a:t>
            </a:r>
          </a:p>
        </p:txBody>
      </p:sp>
      <p:sp>
        <p:nvSpPr>
          <p:cNvPr id="5" name="Rectangle 4">
            <a:extLst>
              <a:ext uri="{FF2B5EF4-FFF2-40B4-BE49-F238E27FC236}">
                <a16:creationId xmlns:a16="http://schemas.microsoft.com/office/drawing/2014/main" id="{7D9198E9-4EE1-4EF1-803D-681FDEAC73A6}"/>
              </a:ext>
            </a:extLst>
          </p:cNvPr>
          <p:cNvSpPr/>
          <p:nvPr/>
        </p:nvSpPr>
        <p:spPr>
          <a:xfrm>
            <a:off x="546652" y="3486150"/>
            <a:ext cx="7162800" cy="1571584"/>
          </a:xfrm>
          <a:prstGeom prst="rect">
            <a:avLst/>
          </a:prstGeom>
        </p:spPr>
        <p:txBody>
          <a:bodyPr wrap="square">
            <a:noAutofit/>
          </a:bodyPr>
          <a:lstStyle/>
          <a:p>
            <a:pPr>
              <a:lnSpc>
                <a:spcPct val="150000"/>
              </a:lnSpc>
            </a:pPr>
            <a:r>
              <a:rPr lang="en-US" sz="1400">
                <a:latin typeface="Times New Roman" panose="02020603050405020304" pitchFamily="18" charset="0"/>
                <a:cs typeface="Times New Roman" panose="02020603050405020304" pitchFamily="18" charset="0"/>
              </a:rPr>
              <a:t>SOFTWARE REQUIREMENTS</a:t>
            </a:r>
          </a:p>
          <a:p>
            <a:pPr>
              <a:lnSpc>
                <a:spcPct val="150000"/>
              </a:lnSpc>
            </a:pPr>
            <a:r>
              <a:rPr lang="en-US" sz="1400">
                <a:latin typeface="Times New Roman" panose="02020603050405020304" pitchFamily="18" charset="0"/>
                <a:cs typeface="Times New Roman" panose="02020603050405020304" pitchFamily="18" charset="0"/>
              </a:rPr>
              <a:t>OPERATING SYSTEM: Windows 10/11 or Linux</a:t>
            </a:r>
          </a:p>
          <a:p>
            <a:pPr>
              <a:lnSpc>
                <a:spcPct val="150000"/>
              </a:lnSpc>
            </a:pPr>
            <a:r>
              <a:rPr lang="en-US" sz="1400">
                <a:latin typeface="Times New Roman" panose="02020603050405020304" pitchFamily="18" charset="0"/>
                <a:cs typeface="Times New Roman" panose="02020603050405020304" pitchFamily="18" charset="0"/>
              </a:rPr>
              <a:t>FRONT END: React, TypeScript, Vite</a:t>
            </a:r>
          </a:p>
          <a:p>
            <a:pPr>
              <a:lnSpc>
                <a:spcPct val="150000"/>
              </a:lnSpc>
            </a:pPr>
            <a:r>
              <a:rPr lang="en-US" sz="1400">
                <a:latin typeface="Times New Roman" panose="02020603050405020304" pitchFamily="18" charset="0"/>
                <a:cs typeface="Times New Roman" panose="02020603050405020304" pitchFamily="18" charset="0"/>
              </a:rPr>
              <a:t>BACK END: Java 25, Spring Boot 3.5.5, Maven</a:t>
            </a:r>
          </a:p>
          <a:p>
            <a:pPr>
              <a:lnSpc>
                <a:spcPct val="150000"/>
              </a:lnSpc>
            </a:pPr>
            <a:r>
              <a:rPr lang="en-US" sz="1400">
                <a:latin typeface="Times New Roman" panose="02020603050405020304" pitchFamily="18" charset="0"/>
                <a:cs typeface="Times New Roman" panose="02020603050405020304" pitchFamily="18" charset="0"/>
              </a:rPr>
              <a:t>DATABASE: MySQL local; PostgreSQL configuration; H2 tests</a:t>
            </a:r>
          </a:p>
          <a:p>
            <a:pPr>
              <a:lnSpc>
                <a:spcPct val="150000"/>
              </a:lnSpc>
            </a:pPr>
            <a:r>
              <a:rPr lang="en-US" sz="1400">
                <a:latin typeface="Times New Roman" panose="02020603050405020304" pitchFamily="18" charset="0"/>
                <a:cs typeface="Times New Roman" panose="02020603050405020304" pitchFamily="18" charset="0"/>
              </a:rPr>
              <a:t>TOOLS: Node.js/npm, Git, modern browser</a:t>
            </a:r>
          </a:p>
          <a:p>
            <a:pPr>
              <a:lnSpc>
                <a:spcPct val="150000"/>
              </a:lnSpc>
            </a:pPr>
            <a:r>
              <a:rPr lang="en-US" sz="1400">
                <a:latin typeface="Times New Roman" panose="02020603050405020304" pitchFamily="18" charset="0"/>
                <a:cs typeface="Times New Roman" panose="02020603050405020304" pitchFamily="18" charset="0"/>
              </a:rPr>
              <a:t>OPTIONAL: Ollama; VAPID configuration for Web Push</a:t>
            </a: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583935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872B7ED-C78F-40F9-946B-24B47A43DB26}"/>
              </a:ext>
            </a:extLst>
          </p:cNvPr>
          <p:cNvSpPr/>
          <p:nvPr/>
        </p:nvSpPr>
        <p:spPr>
          <a:xfrm>
            <a:off x="304799" y="209550"/>
            <a:ext cx="6350000" cy="457200"/>
          </a:xfrm>
          <a:prstGeom prst="rect">
            <a:avLst/>
          </a:prstGeom>
        </p:spPr>
        <p:txBody>
          <a:bodyPr wrap="square">
            <a:noAutofit/>
          </a:bodyPr>
          <a:lstStyle/>
          <a:p>
            <a:pPr marL="342900" indent="-342900">
              <a:tabLst>
                <a:tab pos="457200" algn="l"/>
              </a:tabLst>
            </a:pPr>
            <a:r>
              <a:rPr lang="en-IN" b="1">
                <a:solidFill>
                  <a:srgbClr val="000099"/>
                </a:solidFill>
                <a:latin typeface="Times New Roman" panose="02020603050405020304" pitchFamily="18" charset="0"/>
                <a:ea typeface="Calibri" panose="020F0502020204030204" pitchFamily="34" charset="0"/>
                <a:cs typeface="Times New Roman" panose="02020603050405020304" pitchFamily="18" charset="0"/>
              </a:rPr>
              <a:t>Module Name</a:t>
            </a:r>
            <a:endParaRPr lang="en-IN" b="1" dirty="0">
              <a:solidFill>
                <a:srgbClr val="000099"/>
              </a:solidFill>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1B50DC80-934D-41AD-9AD4-1E3649CE8552}"/>
              </a:ext>
            </a:extLst>
          </p:cNvPr>
          <p:cNvSpPr/>
          <p:nvPr/>
        </p:nvSpPr>
        <p:spPr>
          <a:xfrm>
            <a:off x="457200" y="971550"/>
            <a:ext cx="5410200" cy="2535566"/>
          </a:xfrm>
          <a:prstGeom prst="rect">
            <a:avLst/>
          </a:prstGeom>
        </p:spPr>
        <p:txBody>
          <a:bodyPr wrap="square">
            <a:noAutofit/>
          </a:bodyPr>
          <a:lstStyle/>
          <a:p>
            <a:pPr indent="457200">
              <a:lnSpc>
                <a:spcPct val="150000"/>
              </a:lnSpc>
              <a:spcAft>
                <a:spcPts val="0"/>
              </a:spcAft>
            </a:pPr>
            <a:r>
              <a:rPr lang="en-US" sz="1400">
                <a:latin typeface="Times New Roman" panose="02020603050405020304" pitchFamily="18" charset="0"/>
                <a:ea typeface="Times New Roman" panose="02020603050405020304" pitchFamily="18" charset="0"/>
              </a:rPr>
              <a:t>Implemented modules include:</a:t>
            </a:r>
          </a:p>
          <a:p>
            <a:pPr indent="457200">
              <a:lnSpc>
                <a:spcPct val="150000"/>
              </a:lnSpc>
              <a:spcAft>
                <a:spcPts val="0"/>
              </a:spcAft>
            </a:pPr>
            <a:r>
              <a:rPr lang="en-US" sz="1400">
                <a:latin typeface="Times New Roman" panose="02020603050405020304" pitchFamily="18" charset="0"/>
                <a:ea typeface="Times New Roman" panose="02020603050405020304" pitchFamily="18" charset="0"/>
              </a:rPr>
              <a:t>1) Authentication and pregnancy profile</a:t>
            </a:r>
          </a:p>
          <a:p>
            <a:pPr indent="457200">
              <a:lnSpc>
                <a:spcPct val="150000"/>
              </a:lnSpc>
              <a:spcAft>
                <a:spcPts val="0"/>
              </a:spcAft>
            </a:pPr>
            <a:r>
              <a:rPr lang="en-US" sz="1400">
                <a:latin typeface="Times New Roman" panose="02020603050405020304" pitchFamily="18" charset="0"/>
                <a:ea typeface="Times New Roman" panose="02020603050405020304" pitchFamily="18" charset="0"/>
              </a:rPr>
              <a:t>2) Pregnancy progress and milestones</a:t>
            </a:r>
          </a:p>
          <a:p>
            <a:pPr indent="457200">
              <a:lnSpc>
                <a:spcPct val="150000"/>
              </a:lnSpc>
              <a:spcAft>
                <a:spcPts val="0"/>
              </a:spcAft>
            </a:pPr>
            <a:r>
              <a:rPr lang="en-US" sz="1400">
                <a:latin typeface="Times New Roman" panose="02020603050405020304" pitchFamily="18" charset="0"/>
                <a:ea typeface="Times New Roman" panose="02020603050405020304" pitchFamily="18" charset="0"/>
              </a:rPr>
              <a:t>3) Daily care and Gentle Day Planner</a:t>
            </a:r>
          </a:p>
          <a:p>
            <a:pPr indent="457200">
              <a:lnSpc>
                <a:spcPct val="150000"/>
              </a:lnSpc>
              <a:spcAft>
                <a:spcPts val="0"/>
              </a:spcAft>
            </a:pPr>
            <a:r>
              <a:rPr lang="en-US" sz="1400">
                <a:latin typeface="Times New Roman" panose="02020603050405020304" pitchFamily="18" charset="0"/>
                <a:ea typeface="Times New Roman" panose="02020603050405020304" pitchFamily="18" charset="0"/>
              </a:rPr>
              <a:t>4) Appointment and visit-question management</a:t>
            </a:r>
          </a:p>
          <a:p>
            <a:pPr indent="457200">
              <a:lnSpc>
                <a:spcPct val="150000"/>
              </a:lnSpc>
              <a:spcAft>
                <a:spcPts val="0"/>
              </a:spcAft>
            </a:pPr>
            <a:r>
              <a:rPr lang="en-US" sz="1400">
                <a:latin typeface="Times New Roman" panose="02020603050405020304" pitchFamily="18" charset="0"/>
                <a:ea typeface="Times New Roman" panose="02020603050405020304" pitchFamily="18" charset="0"/>
              </a:rPr>
              <a:t>5) Private symptom journal</a:t>
            </a:r>
          </a:p>
          <a:p>
            <a:pPr indent="457200">
              <a:lnSpc>
                <a:spcPct val="150000"/>
              </a:lnSpc>
              <a:spcAft>
                <a:spcPts val="0"/>
              </a:spcAft>
            </a:pPr>
            <a:r>
              <a:rPr lang="en-US" sz="1400">
                <a:latin typeface="Times New Roman" panose="02020603050405020304" pitchFamily="18" charset="0"/>
                <a:ea typeface="Times New Roman" panose="02020603050405020304" pitchFamily="18" charset="0"/>
              </a:rPr>
              <a:t>6) Guides and resource library</a:t>
            </a:r>
          </a:p>
          <a:p>
            <a:pPr indent="457200">
              <a:lnSpc>
                <a:spcPct val="150000"/>
              </a:lnSpc>
              <a:spcAft>
                <a:spcPts val="0"/>
              </a:spcAft>
            </a:pPr>
            <a:r>
              <a:rPr lang="en-US" sz="1400">
                <a:latin typeface="Times New Roman" panose="02020603050405020304" pitchFamily="18" charset="0"/>
                <a:ea typeface="Times New Roman" panose="02020603050405020304" pitchFamily="18" charset="0"/>
              </a:rPr>
              <a:t>7) Reports and secure sharing</a:t>
            </a:r>
          </a:p>
          <a:p>
            <a:pPr indent="457200">
              <a:lnSpc>
                <a:spcPct val="150000"/>
              </a:lnSpc>
              <a:spcAft>
                <a:spcPts val="0"/>
              </a:spcAft>
            </a:pPr>
            <a:r>
              <a:rPr lang="en-US" sz="1400">
                <a:latin typeface="Times New Roman" panose="02020603050405020304" pitchFamily="18" charset="0"/>
                <a:ea typeface="Times New Roman" panose="02020603050405020304" pitchFamily="18" charset="0"/>
              </a:rPr>
              <a:t>8) Emergency contacts</a:t>
            </a:r>
          </a:p>
          <a:p>
            <a:pPr indent="457200">
              <a:lnSpc>
                <a:spcPct val="150000"/>
              </a:lnSpc>
              <a:spcAft>
                <a:spcPts val="0"/>
              </a:spcAft>
            </a:pPr>
            <a:r>
              <a:rPr lang="en-US" sz="1400">
                <a:latin typeface="Times New Roman" panose="02020603050405020304" pitchFamily="18" charset="0"/>
                <a:ea typeface="Times New Roman" panose="02020603050405020304" pitchFamily="18" charset="0"/>
              </a:rPr>
              <a:t>9) Reminder preferences and Web Push</a:t>
            </a:r>
            <a:endParaRPr lang="en-IN" sz="1400"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9835668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32F6DF4-26B5-40DF-A90E-FA2136BD1555}"/>
              </a:ext>
            </a:extLst>
          </p:cNvPr>
          <p:cNvSpPr/>
          <p:nvPr/>
        </p:nvSpPr>
        <p:spPr>
          <a:xfrm>
            <a:off x="304799" y="209550"/>
            <a:ext cx="8255000" cy="457200"/>
          </a:xfrm>
          <a:prstGeom prst="rect">
            <a:avLst/>
          </a:prstGeom>
        </p:spPr>
        <p:txBody>
          <a:bodyPr wrap="square">
            <a:noAutofit/>
          </a:bodyPr>
          <a:lstStyle/>
          <a:p>
            <a:pPr marL="342900" indent="-342900">
              <a:tabLst>
                <a:tab pos="457200" algn="l"/>
              </a:tabLst>
            </a:pPr>
            <a:r>
              <a:rPr lang="en-US" sz="1700" b="1">
                <a:solidFill>
                  <a:srgbClr val="000099"/>
                </a:solidFill>
                <a:latin typeface="Times New Roman" panose="02020603050405020304" pitchFamily="18" charset="0"/>
                <a:ea typeface="Calibri" panose="020F0502020204030204" pitchFamily="34" charset="0"/>
                <a:cs typeface="Times New Roman" panose="02020603050405020304" pitchFamily="18" charset="0"/>
              </a:rPr>
              <a:t>Daily Care and Gentle Day Planner</a:t>
            </a:r>
            <a:endParaRPr lang="en-IN" sz="1700" b="1" dirty="0">
              <a:solidFill>
                <a:srgbClr val="000099"/>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608EE021-2ACA-4584-B165-B9649AE5E798}"/>
              </a:ext>
            </a:extLst>
          </p:cNvPr>
          <p:cNvSpPr txBox="1"/>
          <p:nvPr/>
        </p:nvSpPr>
        <p:spPr>
          <a:xfrm>
            <a:off x="381000" y="590550"/>
            <a:ext cx="7543800" cy="1800493"/>
          </a:xfrm>
          <a:prstGeom prst="rect">
            <a:avLst/>
          </a:prstGeom>
          <a:noFill/>
        </p:spPr>
        <p:txBody>
          <a:bodyPr wrap="square" rtlCol="0">
            <a:noAutofit/>
          </a:bodyPr>
          <a:lstStyle/>
          <a:p>
            <a:pPr>
              <a:lnSpc>
                <a:spcPct val="150000"/>
              </a:lnSpc>
            </a:pPr>
            <a:r>
              <a:rPr lang="en-US" sz="1300">
                <a:latin typeface="Times New Roman" panose="02020603050405020304" pitchFamily="18" charset="0"/>
                <a:cs typeface="Times New Roman" panose="02020603050405020304" pitchFamily="18" charset="0"/>
              </a:rPr>
              <a:t>The daily care module tracks user-selected routines, including hydration, vitamins, activity, sleep, and mood. The Gentle Day Planner lets a user choose an energy level and a manageable focus list. Completion updates are saved to the account.</a:t>
            </a:r>
          </a:p>
          <a:p>
            <a:pPr>
              <a:lnSpc>
                <a:spcPct val="150000"/>
              </a:lnSpc>
            </a:pPr>
            <a:endParaRPr lang="en-US" sz="1300">
              <a:latin typeface="Times New Roman" panose="02020603050405020304" pitchFamily="18" charset="0"/>
              <a:cs typeface="Times New Roman" panose="02020603050405020304" pitchFamily="18" charset="0"/>
            </a:endParaRPr>
          </a:p>
          <a:p>
            <a:pPr>
              <a:lnSpc>
                <a:spcPct val="150000"/>
              </a:lnSpc>
            </a:pPr>
            <a:r>
              <a:rPr lang="en-US" sz="1300">
                <a:latin typeface="Times New Roman" panose="02020603050405020304" pitchFamily="18" charset="0"/>
                <a:cs typeface="Times New Roman" panose="02020603050405020304" pitchFamily="18" charset="0"/>
              </a:rPr>
              <a:t>This module supports organization only; it does not prescribe a care plan.</a:t>
            </a:r>
            <a:endParaRPr lang="en-US" sz="1300"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E2D81376-F16B-C4DF-1751-D216E0E8E339}"/>
              </a:ext>
            </a:extLst>
          </p:cNvPr>
          <p:cNvSpPr/>
          <p:nvPr/>
        </p:nvSpPr>
        <p:spPr>
          <a:xfrm>
            <a:off x="1498600" y="2451100"/>
            <a:ext cx="6286500" cy="2260600"/>
          </a:xfrm>
          <a:prstGeom prst="rect">
            <a:avLst/>
          </a:prstGeom>
          <a:solidFill>
            <a:srgbClr val="F7F9FC"/>
          </a:solidFill>
          <a:ln w="12700">
            <a:solidFill>
              <a:srgbClr val="3A64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9963006C-E4BA-2390-C736-939E4855CE7F}"/>
              </a:ext>
            </a:extLst>
          </p:cNvPr>
          <p:cNvSpPr/>
          <p:nvPr/>
        </p:nvSpPr>
        <p:spPr>
          <a:xfrm>
            <a:off x="1600200" y="2552700"/>
            <a:ext cx="6083300" cy="279400"/>
          </a:xfrm>
          <a:prstGeom prst="rect">
            <a:avLst/>
          </a:prstGeom>
          <a:solidFill>
            <a:srgbClr val="174A89"/>
          </a:solidFill>
          <a:ln w="12700">
            <a:solidFill>
              <a:srgbClr val="174A8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C579622C-40A8-33CE-78B9-4D3FE56C4DC9}"/>
              </a:ext>
            </a:extLst>
          </p:cNvPr>
          <p:cNvSpPr txBox="1"/>
          <p:nvPr/>
        </p:nvSpPr>
        <p:spPr>
          <a:xfrm>
            <a:off x="1689100" y="2578100"/>
            <a:ext cx="5905500" cy="369332"/>
          </a:xfrm>
          <a:prstGeom prst="rect">
            <a:avLst/>
          </a:prstGeom>
          <a:noFill/>
        </p:spPr>
        <p:txBody>
          <a:bodyPr vert="horz" wrap="square" lIns="25400" tIns="12700" rIns="25400" bIns="12700" rtlCol="0">
            <a:noAutofit/>
          </a:bodyPr>
          <a:lstStyle/>
          <a:p>
            <a:r>
              <a:rPr lang="en-US" sz="900" b="1">
                <a:solidFill>
                  <a:srgbClr val="FFFFFF"/>
                </a:solidFill>
                <a:latin typeface="Times New Roman" panose="02020603050405020304" pitchFamily="18" charset="0"/>
              </a:rPr>
              <a:t>MaatriCare  |  Daily Care</a:t>
            </a:r>
          </a:p>
        </p:txBody>
      </p:sp>
      <p:sp>
        <p:nvSpPr>
          <p:cNvPr id="8" name="TextBox 7">
            <a:extLst>
              <a:ext uri="{FF2B5EF4-FFF2-40B4-BE49-F238E27FC236}">
                <a16:creationId xmlns:a16="http://schemas.microsoft.com/office/drawing/2014/main" id="{E17EDEE9-1E82-EDCC-E73D-44EF14C83383}"/>
              </a:ext>
            </a:extLst>
          </p:cNvPr>
          <p:cNvSpPr txBox="1"/>
          <p:nvPr/>
        </p:nvSpPr>
        <p:spPr>
          <a:xfrm>
            <a:off x="1701800" y="2946400"/>
            <a:ext cx="5880100" cy="369332"/>
          </a:xfrm>
          <a:prstGeom prst="rect">
            <a:avLst/>
          </a:prstGeom>
          <a:noFill/>
        </p:spPr>
        <p:txBody>
          <a:bodyPr vert="horz" wrap="square" lIns="25400" tIns="12700" rIns="25400" bIns="12700" rtlCol="0">
            <a:noAutofit/>
          </a:bodyPr>
          <a:lstStyle/>
          <a:p>
            <a:r>
              <a:rPr lang="en-US" sz="1100" b="1">
                <a:solidFill>
                  <a:srgbClr val="173E79"/>
                </a:solidFill>
                <a:latin typeface="Times New Roman" panose="02020603050405020304" pitchFamily="18" charset="0"/>
              </a:rPr>
              <a:t>Pregnancy journey  |  Week 32</a:t>
            </a:r>
          </a:p>
        </p:txBody>
      </p:sp>
      <p:sp>
        <p:nvSpPr>
          <p:cNvPr id="9" name="Rectangle 8">
            <a:extLst>
              <a:ext uri="{FF2B5EF4-FFF2-40B4-BE49-F238E27FC236}">
                <a16:creationId xmlns:a16="http://schemas.microsoft.com/office/drawing/2014/main" id="{8962044A-D2F9-EF2E-B178-ED2601632BF6}"/>
              </a:ext>
            </a:extLst>
          </p:cNvPr>
          <p:cNvSpPr/>
          <p:nvPr/>
        </p:nvSpPr>
        <p:spPr>
          <a:xfrm>
            <a:off x="1701800" y="3314700"/>
            <a:ext cx="5880100" cy="127000"/>
          </a:xfrm>
          <a:prstGeom prst="rect">
            <a:avLst/>
          </a:prstGeom>
          <a:solidFill>
            <a:srgbClr val="DCE6F3"/>
          </a:solidFill>
          <a:ln w="12700">
            <a:solidFill>
              <a:srgbClr val="DCE6F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9BC5901-7A79-7505-9DE7-548ABEAF6489}"/>
              </a:ext>
            </a:extLst>
          </p:cNvPr>
          <p:cNvSpPr/>
          <p:nvPr/>
        </p:nvSpPr>
        <p:spPr>
          <a:xfrm>
            <a:off x="1701800" y="3314700"/>
            <a:ext cx="4704080" cy="127000"/>
          </a:xfrm>
          <a:prstGeom prst="rect">
            <a:avLst/>
          </a:prstGeom>
          <a:solidFill>
            <a:srgbClr val="3168A8"/>
          </a:solidFill>
          <a:ln w="12700">
            <a:solidFill>
              <a:srgbClr val="3168A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C84DB424-189A-B10C-8DD4-E97337C307ED}"/>
              </a:ext>
            </a:extLst>
          </p:cNvPr>
          <p:cNvSpPr txBox="1"/>
          <p:nvPr/>
        </p:nvSpPr>
        <p:spPr>
          <a:xfrm>
            <a:off x="1701800" y="3517900"/>
            <a:ext cx="5880100" cy="369332"/>
          </a:xfrm>
          <a:prstGeom prst="rect">
            <a:avLst/>
          </a:prstGeom>
          <a:noFill/>
        </p:spPr>
        <p:txBody>
          <a:bodyPr vert="horz" wrap="square" lIns="25400" tIns="12700" rIns="25400" bIns="12700" rtlCol="0">
            <a:noAutofit/>
          </a:bodyPr>
          <a:lstStyle/>
          <a:p>
            <a:r>
              <a:rPr lang="en-US" sz="800">
                <a:solidFill>
                  <a:srgbClr val="333333"/>
                </a:solidFill>
                <a:latin typeface="Times New Roman" panose="02020603050405020304" pitchFamily="18" charset="0"/>
              </a:rPr>
              <a:t>Daily completion  |  Weekly care summary</a:t>
            </a:r>
          </a:p>
        </p:txBody>
      </p:sp>
      <p:sp>
        <p:nvSpPr>
          <p:cNvPr id="12" name="Rectangle 11">
            <a:extLst>
              <a:ext uri="{FF2B5EF4-FFF2-40B4-BE49-F238E27FC236}">
                <a16:creationId xmlns:a16="http://schemas.microsoft.com/office/drawing/2014/main" id="{E22C9660-D4BD-2507-5952-5D46E8CCA7FF}"/>
              </a:ext>
            </a:extLst>
          </p:cNvPr>
          <p:cNvSpPr/>
          <p:nvPr/>
        </p:nvSpPr>
        <p:spPr>
          <a:xfrm>
            <a:off x="1701800" y="3810000"/>
            <a:ext cx="2901950" cy="609600"/>
          </a:xfrm>
          <a:prstGeom prst="rect">
            <a:avLst/>
          </a:prstGeom>
          <a:solidFill>
            <a:srgbClr val="FFFFFF"/>
          </a:solidFill>
          <a:ln w="12700">
            <a:solidFill>
              <a:srgbClr val="CCD8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A9CE1F50-3873-CCF9-B3A1-00B83D505985}"/>
              </a:ext>
            </a:extLst>
          </p:cNvPr>
          <p:cNvSpPr txBox="1"/>
          <p:nvPr/>
        </p:nvSpPr>
        <p:spPr>
          <a:xfrm>
            <a:off x="1790700" y="3886200"/>
            <a:ext cx="2813050" cy="369332"/>
          </a:xfrm>
          <a:prstGeom prst="rect">
            <a:avLst/>
          </a:prstGeom>
          <a:noFill/>
        </p:spPr>
        <p:txBody>
          <a:bodyPr vert="horz" wrap="square" lIns="25400" tIns="12700" rIns="25400" bIns="12700" rtlCol="0">
            <a:noAutofit/>
          </a:bodyPr>
          <a:lstStyle/>
          <a:p>
            <a:r>
              <a:rPr lang="en-US" sz="800">
                <a:solidFill>
                  <a:srgbClr val="222222"/>
                </a:solidFill>
                <a:latin typeface="Times New Roman" panose="02020603050405020304" pitchFamily="18" charset="0"/>
              </a:rPr>
              <a:t>CARE TASKS</a:t>
            </a:r>
          </a:p>
          <a:p>
            <a:r>
              <a:rPr lang="en-US" sz="800">
                <a:solidFill>
                  <a:srgbClr val="222222"/>
                </a:solidFill>
                <a:latin typeface="Times New Roman" panose="02020603050405020304" pitchFamily="18" charset="0"/>
              </a:rPr>
              <a:t>Hydration</a:t>
            </a:r>
          </a:p>
          <a:p>
            <a:r>
              <a:rPr lang="en-US" sz="800">
                <a:solidFill>
                  <a:srgbClr val="222222"/>
                </a:solidFill>
                <a:latin typeface="Times New Roman" panose="02020603050405020304" pitchFamily="18" charset="0"/>
              </a:rPr>
              <a:t>Vitamins</a:t>
            </a:r>
          </a:p>
          <a:p>
            <a:r>
              <a:rPr lang="en-US" sz="800">
                <a:solidFill>
                  <a:srgbClr val="222222"/>
                </a:solidFill>
                <a:latin typeface="Times New Roman" panose="02020603050405020304" pitchFamily="18" charset="0"/>
              </a:rPr>
              <a:t>Movement</a:t>
            </a:r>
          </a:p>
          <a:p>
            <a:r>
              <a:rPr lang="en-US" sz="800">
                <a:solidFill>
                  <a:srgbClr val="222222"/>
                </a:solidFill>
                <a:latin typeface="Times New Roman" panose="02020603050405020304" pitchFamily="18" charset="0"/>
              </a:rPr>
              <a:t>Sleep</a:t>
            </a:r>
          </a:p>
        </p:txBody>
      </p:sp>
      <p:sp>
        <p:nvSpPr>
          <p:cNvPr id="14" name="Rectangle 13">
            <a:extLst>
              <a:ext uri="{FF2B5EF4-FFF2-40B4-BE49-F238E27FC236}">
                <a16:creationId xmlns:a16="http://schemas.microsoft.com/office/drawing/2014/main" id="{7FDF70DE-A516-A574-318C-95B345A343AB}"/>
              </a:ext>
            </a:extLst>
          </p:cNvPr>
          <p:cNvSpPr/>
          <p:nvPr/>
        </p:nvSpPr>
        <p:spPr>
          <a:xfrm>
            <a:off x="4679950" y="3810000"/>
            <a:ext cx="2901950" cy="609600"/>
          </a:xfrm>
          <a:prstGeom prst="rect">
            <a:avLst/>
          </a:prstGeom>
          <a:solidFill>
            <a:srgbClr val="FFFFFF"/>
          </a:solidFill>
          <a:ln w="12700">
            <a:solidFill>
              <a:srgbClr val="CCD8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F7A11F7D-20AF-B13D-5268-A4F716E79BD7}"/>
              </a:ext>
            </a:extLst>
          </p:cNvPr>
          <p:cNvSpPr txBox="1"/>
          <p:nvPr/>
        </p:nvSpPr>
        <p:spPr>
          <a:xfrm>
            <a:off x="4768850" y="3886200"/>
            <a:ext cx="2813050" cy="369332"/>
          </a:xfrm>
          <a:prstGeom prst="rect">
            <a:avLst/>
          </a:prstGeom>
          <a:noFill/>
        </p:spPr>
        <p:txBody>
          <a:bodyPr vert="horz" wrap="square" lIns="25400" tIns="12700" rIns="25400" bIns="12700" rtlCol="0">
            <a:noAutofit/>
          </a:bodyPr>
          <a:lstStyle/>
          <a:p>
            <a:r>
              <a:rPr lang="en-US" sz="800">
                <a:solidFill>
                  <a:srgbClr val="222222"/>
                </a:solidFill>
                <a:latin typeface="Times New Roman" panose="02020603050405020304" pitchFamily="18" charset="0"/>
              </a:rPr>
              <a:t>TODAY</a:t>
            </a:r>
          </a:p>
          <a:p>
            <a:r>
              <a:rPr lang="en-US" sz="800">
                <a:solidFill>
                  <a:srgbClr val="222222"/>
                </a:solidFill>
                <a:latin typeface="Times New Roman" panose="02020603050405020304" pitchFamily="18" charset="0"/>
              </a:rPr>
              <a:t>5 / 8 glasses</a:t>
            </a:r>
          </a:p>
          <a:p>
            <a:r>
              <a:rPr lang="en-US" sz="800">
                <a:solidFill>
                  <a:srgbClr val="222222"/>
                </a:solidFill>
                <a:latin typeface="Times New Roman" panose="02020603050405020304" pitchFamily="18" charset="0"/>
              </a:rPr>
              <a:t>Vitamin recorded</a:t>
            </a:r>
          </a:p>
          <a:p>
            <a:r>
              <a:rPr lang="en-US" sz="800">
                <a:solidFill>
                  <a:srgbClr val="222222"/>
                </a:solidFill>
                <a:latin typeface="Times New Roman" panose="02020603050405020304" pitchFamily="18" charset="0"/>
              </a:rPr>
              <a:t>15 min activity</a:t>
            </a:r>
          </a:p>
        </p:txBody>
      </p:sp>
      <p:sp>
        <p:nvSpPr>
          <p:cNvPr id="16" name="TextBox 15">
            <a:extLst>
              <a:ext uri="{FF2B5EF4-FFF2-40B4-BE49-F238E27FC236}">
                <a16:creationId xmlns:a16="http://schemas.microsoft.com/office/drawing/2014/main" id="{BB2E599E-D702-6104-7D36-95685E482D1F}"/>
              </a:ext>
            </a:extLst>
          </p:cNvPr>
          <p:cNvSpPr txBox="1"/>
          <p:nvPr/>
        </p:nvSpPr>
        <p:spPr>
          <a:xfrm>
            <a:off x="1574800" y="4533900"/>
            <a:ext cx="6134100" cy="369332"/>
          </a:xfrm>
          <a:prstGeom prst="rect">
            <a:avLst/>
          </a:prstGeom>
          <a:noFill/>
        </p:spPr>
        <p:txBody>
          <a:bodyPr vert="horz" wrap="square" lIns="25400" tIns="12700" rIns="25400" bIns="12700" rtlCol="0">
            <a:noAutofit/>
          </a:bodyPr>
          <a:lstStyle/>
          <a:p>
            <a:pPr algn="ctr"/>
            <a:r>
              <a:rPr lang="en-US" sz="600">
                <a:solidFill>
                  <a:srgbClr val="555555"/>
                </a:solidFill>
                <a:latin typeface="Times New Roman" panose="02020603050405020304" pitchFamily="18" charset="0"/>
              </a:rPr>
              <a:t>Illustrative interface based on implemented modules</a:t>
            </a:r>
          </a:p>
        </p:txBody>
      </p:sp>
    </p:spTree>
    <p:extLst>
      <p:ext uri="{BB962C8B-B14F-4D97-AF65-F5344CB8AC3E}">
        <p14:creationId xmlns:p14="http://schemas.microsoft.com/office/powerpoint/2010/main" val="30838935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7FCF714-1514-45C0-9533-8E83BBABFF6C}"/>
              </a:ext>
            </a:extLst>
          </p:cNvPr>
          <p:cNvSpPr/>
          <p:nvPr/>
        </p:nvSpPr>
        <p:spPr>
          <a:xfrm>
            <a:off x="228600" y="209550"/>
            <a:ext cx="8255000" cy="457200"/>
          </a:xfrm>
          <a:prstGeom prst="rect">
            <a:avLst/>
          </a:prstGeom>
        </p:spPr>
        <p:txBody>
          <a:bodyPr wrap="square">
            <a:noAutofit/>
          </a:bodyPr>
          <a:lstStyle/>
          <a:p>
            <a:r>
              <a:rPr lang="en-US" sz="1700" b="1">
                <a:solidFill>
                  <a:srgbClr val="000099"/>
                </a:solidFill>
                <a:latin typeface="Times New Roman" panose="02020603050405020304" pitchFamily="18" charset="0"/>
                <a:ea typeface="Calibri" panose="020F0502020204030204" pitchFamily="34" charset="0"/>
                <a:cs typeface="Times New Roman" panose="02020603050405020304" pitchFamily="18" charset="0"/>
              </a:rPr>
              <a:t>Appointment and Visit Brief Module</a:t>
            </a:r>
            <a:endParaRPr lang="en-IN" sz="1700" b="1" dirty="0">
              <a:solidFill>
                <a:srgbClr val="000099"/>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Rectangle 3">
            <a:extLst>
              <a:ext uri="{FF2B5EF4-FFF2-40B4-BE49-F238E27FC236}">
                <a16:creationId xmlns:a16="http://schemas.microsoft.com/office/drawing/2014/main" id="{5C843D6B-E964-40F2-940D-79BB24D933ED}"/>
              </a:ext>
            </a:extLst>
          </p:cNvPr>
          <p:cNvSpPr/>
          <p:nvPr/>
        </p:nvSpPr>
        <p:spPr>
          <a:xfrm>
            <a:off x="228600" y="586591"/>
            <a:ext cx="8686800" cy="1945661"/>
          </a:xfrm>
          <a:prstGeom prst="rect">
            <a:avLst/>
          </a:prstGeom>
        </p:spPr>
        <p:txBody>
          <a:bodyPr wrap="square">
            <a:noAutofit/>
          </a:bodyPr>
          <a:lstStyle/>
          <a:p>
            <a:pPr>
              <a:lnSpc>
                <a:spcPct val="150000"/>
              </a:lnSpc>
            </a:pPr>
            <a:r>
              <a:rPr lang="en-US" sz="1300">
                <a:latin typeface="Times New Roman" panose="02020603050405020304" pitchFamily="18" charset="0"/>
                <a:cs typeface="Times New Roman" panose="02020603050405020304" pitchFamily="18" charset="0"/>
              </a:rPr>
              <a:t>Users can create, search, and review upcoming or past appointments, record provider details, prepare questions, export calendar events, and generate a printable visit brief. The brief includes only information the user explicitly selects.</a:t>
            </a:r>
            <a:endParaRPr lang="en-US" sz="1300"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9C84D596-7947-D8BA-C36D-0BD4E1149004}"/>
              </a:ext>
            </a:extLst>
          </p:cNvPr>
          <p:cNvSpPr/>
          <p:nvPr/>
        </p:nvSpPr>
        <p:spPr>
          <a:xfrm>
            <a:off x="1816100" y="2527300"/>
            <a:ext cx="5842000" cy="2133600"/>
          </a:xfrm>
          <a:prstGeom prst="rect">
            <a:avLst/>
          </a:prstGeom>
          <a:solidFill>
            <a:srgbClr val="F7F9FC"/>
          </a:solidFill>
          <a:ln w="12700">
            <a:solidFill>
              <a:srgbClr val="3A64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B15700DB-E034-7E6E-2612-D94409E6A145}"/>
              </a:ext>
            </a:extLst>
          </p:cNvPr>
          <p:cNvSpPr/>
          <p:nvPr/>
        </p:nvSpPr>
        <p:spPr>
          <a:xfrm>
            <a:off x="1917700" y="2628900"/>
            <a:ext cx="5638800" cy="279400"/>
          </a:xfrm>
          <a:prstGeom prst="rect">
            <a:avLst/>
          </a:prstGeom>
          <a:solidFill>
            <a:srgbClr val="174A89"/>
          </a:solidFill>
          <a:ln w="12700">
            <a:solidFill>
              <a:srgbClr val="174A8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672B2DF3-0493-FF55-6AC7-0D2239A12329}"/>
              </a:ext>
            </a:extLst>
          </p:cNvPr>
          <p:cNvSpPr txBox="1"/>
          <p:nvPr/>
        </p:nvSpPr>
        <p:spPr>
          <a:xfrm>
            <a:off x="2006600" y="2654300"/>
            <a:ext cx="5461000" cy="369332"/>
          </a:xfrm>
          <a:prstGeom prst="rect">
            <a:avLst/>
          </a:prstGeom>
          <a:noFill/>
        </p:spPr>
        <p:txBody>
          <a:bodyPr vert="horz" wrap="square" lIns="25400" tIns="12700" rIns="25400" bIns="12700" rtlCol="0">
            <a:noAutofit/>
          </a:bodyPr>
          <a:lstStyle/>
          <a:p>
            <a:r>
              <a:rPr lang="en-US" sz="900" b="1">
                <a:solidFill>
                  <a:srgbClr val="FFFFFF"/>
                </a:solidFill>
                <a:latin typeface="Times New Roman" panose="02020603050405020304" pitchFamily="18" charset="0"/>
              </a:rPr>
              <a:t>MaatriCare  |  Appointments</a:t>
            </a:r>
          </a:p>
        </p:txBody>
      </p:sp>
      <p:sp>
        <p:nvSpPr>
          <p:cNvPr id="9" name="TextBox 8">
            <a:extLst>
              <a:ext uri="{FF2B5EF4-FFF2-40B4-BE49-F238E27FC236}">
                <a16:creationId xmlns:a16="http://schemas.microsoft.com/office/drawing/2014/main" id="{30B3A62E-DCF7-3FD3-81A7-D026E04D6C82}"/>
              </a:ext>
            </a:extLst>
          </p:cNvPr>
          <p:cNvSpPr txBox="1"/>
          <p:nvPr/>
        </p:nvSpPr>
        <p:spPr>
          <a:xfrm>
            <a:off x="2019300" y="3035300"/>
            <a:ext cx="5435600" cy="369332"/>
          </a:xfrm>
          <a:prstGeom prst="rect">
            <a:avLst/>
          </a:prstGeom>
          <a:noFill/>
        </p:spPr>
        <p:txBody>
          <a:bodyPr vert="horz" wrap="square" lIns="25400" tIns="12700" rIns="25400" bIns="12700" rtlCol="0">
            <a:noAutofit/>
          </a:bodyPr>
          <a:lstStyle/>
          <a:p>
            <a:r>
              <a:rPr lang="en-US" sz="800" b="1">
                <a:solidFill>
                  <a:srgbClr val="173E79"/>
                </a:solidFill>
                <a:latin typeface="Times New Roman" panose="02020603050405020304" pitchFamily="18" charset="0"/>
              </a:rPr>
              <a:t>Upcoming  |  Past  |  All visits</a:t>
            </a:r>
          </a:p>
        </p:txBody>
      </p:sp>
      <p:sp>
        <p:nvSpPr>
          <p:cNvPr id="10" name="Rectangle 9">
            <a:extLst>
              <a:ext uri="{FF2B5EF4-FFF2-40B4-BE49-F238E27FC236}">
                <a16:creationId xmlns:a16="http://schemas.microsoft.com/office/drawing/2014/main" id="{307D3141-6C70-40BB-F8C9-68DEC02D1EE3}"/>
              </a:ext>
            </a:extLst>
          </p:cNvPr>
          <p:cNvSpPr/>
          <p:nvPr/>
        </p:nvSpPr>
        <p:spPr>
          <a:xfrm>
            <a:off x="2019300" y="3340100"/>
            <a:ext cx="5435600" cy="546100"/>
          </a:xfrm>
          <a:prstGeom prst="rect">
            <a:avLst/>
          </a:prstGeom>
          <a:solidFill>
            <a:srgbClr val="FFFFFF"/>
          </a:solidFill>
          <a:ln w="12700">
            <a:solidFill>
              <a:srgbClr val="CCD8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82E4F8BD-C729-793E-7994-6C4EE7B21E8D}"/>
              </a:ext>
            </a:extLst>
          </p:cNvPr>
          <p:cNvSpPr txBox="1"/>
          <p:nvPr/>
        </p:nvSpPr>
        <p:spPr>
          <a:xfrm>
            <a:off x="2108200" y="3390900"/>
            <a:ext cx="5257800" cy="369332"/>
          </a:xfrm>
          <a:prstGeom prst="rect">
            <a:avLst/>
          </a:prstGeom>
          <a:noFill/>
        </p:spPr>
        <p:txBody>
          <a:bodyPr vert="horz" wrap="square" lIns="25400" tIns="12700" rIns="25400" bIns="12700" rtlCol="0">
            <a:noAutofit/>
          </a:bodyPr>
          <a:lstStyle/>
          <a:p>
            <a:r>
              <a:rPr lang="en-US" sz="800">
                <a:solidFill>
                  <a:srgbClr val="222222"/>
                </a:solidFill>
                <a:latin typeface="Times New Roman" panose="02020603050405020304" pitchFamily="18" charset="0"/>
              </a:rPr>
              <a:t>Routine prenatal visit</a:t>
            </a:r>
          </a:p>
          <a:p>
            <a:r>
              <a:rPr lang="en-US" sz="800">
                <a:solidFill>
                  <a:srgbClr val="222222"/>
                </a:solidFill>
                <a:latin typeface="Times New Roman" panose="02020603050405020304" pitchFamily="18" charset="0"/>
              </a:rPr>
              <a:t>Dr. Sample  |  Community Clinic</a:t>
            </a:r>
          </a:p>
        </p:txBody>
      </p:sp>
      <p:sp>
        <p:nvSpPr>
          <p:cNvPr id="12" name="TextBox 11">
            <a:extLst>
              <a:ext uri="{FF2B5EF4-FFF2-40B4-BE49-F238E27FC236}">
                <a16:creationId xmlns:a16="http://schemas.microsoft.com/office/drawing/2014/main" id="{3549DB6D-F6F7-8C85-09FD-562896382A39}"/>
              </a:ext>
            </a:extLst>
          </p:cNvPr>
          <p:cNvSpPr txBox="1"/>
          <p:nvPr/>
        </p:nvSpPr>
        <p:spPr>
          <a:xfrm>
            <a:off x="2019300" y="4000500"/>
            <a:ext cx="5435600" cy="369332"/>
          </a:xfrm>
          <a:prstGeom prst="rect">
            <a:avLst/>
          </a:prstGeom>
          <a:noFill/>
        </p:spPr>
        <p:txBody>
          <a:bodyPr vert="horz" wrap="square" lIns="25400" tIns="12700" rIns="25400" bIns="12700" rtlCol="0">
            <a:noAutofit/>
          </a:bodyPr>
          <a:lstStyle/>
          <a:p>
            <a:r>
              <a:rPr lang="en-US" sz="800" b="1">
                <a:solidFill>
                  <a:srgbClr val="173E79"/>
                </a:solidFill>
                <a:latin typeface="Times New Roman" panose="02020603050405020304" pitchFamily="18" charset="0"/>
              </a:rPr>
              <a:t>Prepare questions  |  Visit brief  |  Calendar export</a:t>
            </a:r>
          </a:p>
        </p:txBody>
      </p:sp>
      <p:sp>
        <p:nvSpPr>
          <p:cNvPr id="13" name="TextBox 12">
            <a:extLst>
              <a:ext uri="{FF2B5EF4-FFF2-40B4-BE49-F238E27FC236}">
                <a16:creationId xmlns:a16="http://schemas.microsoft.com/office/drawing/2014/main" id="{8BFCA23F-75F5-54E3-FAD7-CB1F1D621061}"/>
              </a:ext>
            </a:extLst>
          </p:cNvPr>
          <p:cNvSpPr txBox="1"/>
          <p:nvPr/>
        </p:nvSpPr>
        <p:spPr>
          <a:xfrm>
            <a:off x="1892300" y="4483100"/>
            <a:ext cx="5689600" cy="369332"/>
          </a:xfrm>
          <a:prstGeom prst="rect">
            <a:avLst/>
          </a:prstGeom>
          <a:noFill/>
        </p:spPr>
        <p:txBody>
          <a:bodyPr vert="horz" wrap="square" lIns="25400" tIns="12700" rIns="25400" bIns="12700" rtlCol="0">
            <a:noAutofit/>
          </a:bodyPr>
          <a:lstStyle/>
          <a:p>
            <a:pPr algn="ctr"/>
            <a:r>
              <a:rPr lang="en-US" sz="600">
                <a:solidFill>
                  <a:srgbClr val="555555"/>
                </a:solidFill>
                <a:latin typeface="Times New Roman" panose="02020603050405020304" pitchFamily="18" charset="0"/>
              </a:rPr>
              <a:t>Illustrative interface based on implemented modules</a:t>
            </a:r>
          </a:p>
        </p:txBody>
      </p:sp>
    </p:spTree>
    <p:extLst>
      <p:ext uri="{BB962C8B-B14F-4D97-AF65-F5344CB8AC3E}">
        <p14:creationId xmlns:p14="http://schemas.microsoft.com/office/powerpoint/2010/main" val="33920421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04D8DF-8AFF-4DF8-A713-B306155F90CF}"/>
              </a:ext>
            </a:extLst>
          </p:cNvPr>
          <p:cNvSpPr/>
          <p:nvPr/>
        </p:nvSpPr>
        <p:spPr>
          <a:xfrm>
            <a:off x="304799" y="209550"/>
            <a:ext cx="8255000" cy="457200"/>
          </a:xfrm>
          <a:prstGeom prst="rect">
            <a:avLst/>
          </a:prstGeom>
        </p:spPr>
        <p:txBody>
          <a:bodyPr wrap="square">
            <a:noAutofit/>
          </a:bodyPr>
          <a:lstStyle/>
          <a:p>
            <a:pPr marL="342900" indent="-342900">
              <a:tabLst>
                <a:tab pos="457200" algn="l"/>
              </a:tabLst>
            </a:pPr>
            <a:r>
              <a:rPr lang="en-US" sz="1600" b="1">
                <a:solidFill>
                  <a:srgbClr val="000099"/>
                </a:solidFill>
                <a:latin typeface="Times New Roman" panose="02020603050405020304" pitchFamily="18" charset="0"/>
                <a:ea typeface="Calibri" panose="020F0502020204030204" pitchFamily="34" charset="0"/>
                <a:cs typeface="Times New Roman" panose="02020603050405020304" pitchFamily="18" charset="0"/>
              </a:rPr>
              <a:t>Private Journal and Learning Modules</a:t>
            </a:r>
            <a:endParaRPr lang="en-IN" sz="1600" b="1" dirty="0">
              <a:solidFill>
                <a:srgbClr val="000099"/>
              </a:solidFill>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AC28FB4B-F666-4731-B895-9C2851D11E37}"/>
              </a:ext>
            </a:extLst>
          </p:cNvPr>
          <p:cNvSpPr>
            <a:spLocks noChangeArrowheads="1"/>
          </p:cNvSpPr>
          <p:nvPr/>
        </p:nvSpPr>
        <p:spPr bwMode="auto">
          <a:xfrm>
            <a:off x="0" y="700892"/>
            <a:ext cx="8839200" cy="152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noAutofit/>
          </a:bodyPr>
          <a:lstStyle/>
          <a:p>
            <a:pPr eaLnBrk="0" fontAlgn="base" hangingPunct="0">
              <a:spcBef>
                <a:spcPct val="0"/>
              </a:spcBef>
              <a:spcAft>
                <a:spcPct val="0"/>
              </a:spcAft>
            </a:pPr>
            <a:r>
              <a:rPr kumimoji="0" lang="en-US" altLang="en-US" sz="11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Journal: record symptoms, severity, dates, and private notes; search and filter your entries.</a:t>
            </a:r>
          </a:p>
          <a:p>
            <a:pPr eaLnBrk="0" fontAlgn="base" hangingPunct="0">
              <a:spcBef>
                <a:spcPct val="0"/>
              </a:spcBef>
              <a:spcAft>
                <a:spcPct val="0"/>
              </a:spcAft>
            </a:pPr>
            <a:endParaRPr kumimoji="0" lang="en-US" altLang="en-US" sz="11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spcBef>
                <a:spcPct val="0"/>
              </a:spcBef>
              <a:spcAft>
                <a:spcPct val="0"/>
              </a:spcAft>
            </a:pPr>
            <a:r>
              <a:rPr kumimoji="0" lang="en-US" altLang="en-US" sz="11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Guides: review general, week-based information and searchable educational resources. Discuss personal questions with a healthcare professional.</a:t>
            </a:r>
            <a:endParaRPr kumimoji="0" lang="en-US" altLang="en-US" sz="11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FC4DEDE5-37AD-77E4-116D-7234E5963507}"/>
              </a:ext>
            </a:extLst>
          </p:cNvPr>
          <p:cNvSpPr/>
          <p:nvPr/>
        </p:nvSpPr>
        <p:spPr>
          <a:xfrm>
            <a:off x="1968500" y="2578100"/>
            <a:ext cx="5651500" cy="1968500"/>
          </a:xfrm>
          <a:prstGeom prst="rect">
            <a:avLst/>
          </a:prstGeom>
          <a:solidFill>
            <a:srgbClr val="F7F9FC"/>
          </a:solidFill>
          <a:ln w="12700">
            <a:solidFill>
              <a:srgbClr val="3A64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F0B845E-0F2A-293F-2A73-96A84D6626F9}"/>
              </a:ext>
            </a:extLst>
          </p:cNvPr>
          <p:cNvSpPr/>
          <p:nvPr/>
        </p:nvSpPr>
        <p:spPr>
          <a:xfrm>
            <a:off x="2070100" y="2679700"/>
            <a:ext cx="5448300" cy="279400"/>
          </a:xfrm>
          <a:prstGeom prst="rect">
            <a:avLst/>
          </a:prstGeom>
          <a:solidFill>
            <a:srgbClr val="174A89"/>
          </a:solidFill>
          <a:ln w="12700">
            <a:solidFill>
              <a:srgbClr val="174A8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04BD108-8FC9-BD9E-EC24-A4DB62CFF368}"/>
              </a:ext>
            </a:extLst>
          </p:cNvPr>
          <p:cNvSpPr txBox="1"/>
          <p:nvPr/>
        </p:nvSpPr>
        <p:spPr>
          <a:xfrm>
            <a:off x="2159000" y="2705100"/>
            <a:ext cx="5270500" cy="369332"/>
          </a:xfrm>
          <a:prstGeom prst="rect">
            <a:avLst/>
          </a:prstGeom>
          <a:noFill/>
        </p:spPr>
        <p:txBody>
          <a:bodyPr vert="horz" wrap="square" lIns="25400" tIns="12700" rIns="25400" bIns="12700" rtlCol="0">
            <a:noAutofit/>
          </a:bodyPr>
          <a:lstStyle/>
          <a:p>
            <a:r>
              <a:rPr lang="en-US" sz="900" b="1">
                <a:solidFill>
                  <a:srgbClr val="FFFFFF"/>
                </a:solidFill>
                <a:latin typeface="Times New Roman" panose="02020603050405020304" pitchFamily="18" charset="0"/>
              </a:rPr>
              <a:t>MaatriCare  |  Journal and Guides</a:t>
            </a:r>
          </a:p>
        </p:txBody>
      </p:sp>
      <p:sp>
        <p:nvSpPr>
          <p:cNvPr id="7" name="TextBox 6">
            <a:extLst>
              <a:ext uri="{FF2B5EF4-FFF2-40B4-BE49-F238E27FC236}">
                <a16:creationId xmlns:a16="http://schemas.microsoft.com/office/drawing/2014/main" id="{DB71B021-22F3-81BC-D3B1-09C9EF229562}"/>
              </a:ext>
            </a:extLst>
          </p:cNvPr>
          <p:cNvSpPr txBox="1"/>
          <p:nvPr/>
        </p:nvSpPr>
        <p:spPr>
          <a:xfrm>
            <a:off x="2171700" y="3086100"/>
            <a:ext cx="5245100" cy="369332"/>
          </a:xfrm>
          <a:prstGeom prst="rect">
            <a:avLst/>
          </a:prstGeom>
          <a:noFill/>
        </p:spPr>
        <p:txBody>
          <a:bodyPr vert="horz" wrap="square" lIns="25400" tIns="12700" rIns="25400" bIns="12700" rtlCol="0">
            <a:noAutofit/>
          </a:bodyPr>
          <a:lstStyle/>
          <a:p>
            <a:r>
              <a:rPr lang="en-US" sz="1000" b="1">
                <a:solidFill>
                  <a:srgbClr val="173E79"/>
                </a:solidFill>
                <a:latin typeface="Times New Roman" panose="02020603050405020304" pitchFamily="18" charset="0"/>
              </a:rPr>
              <a:t>Private symptom journal</a:t>
            </a:r>
          </a:p>
        </p:txBody>
      </p:sp>
      <p:sp>
        <p:nvSpPr>
          <p:cNvPr id="8" name="TextBox 7">
            <a:extLst>
              <a:ext uri="{FF2B5EF4-FFF2-40B4-BE49-F238E27FC236}">
                <a16:creationId xmlns:a16="http://schemas.microsoft.com/office/drawing/2014/main" id="{C2376030-F8A3-DAA3-5E43-6D756FD5D818}"/>
              </a:ext>
            </a:extLst>
          </p:cNvPr>
          <p:cNvSpPr txBox="1"/>
          <p:nvPr/>
        </p:nvSpPr>
        <p:spPr>
          <a:xfrm>
            <a:off x="2171700" y="3378200"/>
            <a:ext cx="5245100" cy="369332"/>
          </a:xfrm>
          <a:prstGeom prst="rect">
            <a:avLst/>
          </a:prstGeom>
          <a:noFill/>
        </p:spPr>
        <p:txBody>
          <a:bodyPr vert="horz" wrap="square" lIns="25400" tIns="12700" rIns="25400" bIns="12700" rtlCol="0">
            <a:noAutofit/>
          </a:bodyPr>
          <a:lstStyle/>
          <a:p>
            <a:r>
              <a:rPr lang="en-US" sz="800">
                <a:solidFill>
                  <a:srgbClr val="333333"/>
                </a:solidFill>
                <a:latin typeface="Times New Roman" panose="02020603050405020304" pitchFamily="18" charset="0"/>
              </a:rPr>
              <a:t>Search  |  Date range  |  Severity</a:t>
            </a:r>
          </a:p>
        </p:txBody>
      </p:sp>
      <p:sp>
        <p:nvSpPr>
          <p:cNvPr id="9" name="Rectangle 8">
            <a:extLst>
              <a:ext uri="{FF2B5EF4-FFF2-40B4-BE49-F238E27FC236}">
                <a16:creationId xmlns:a16="http://schemas.microsoft.com/office/drawing/2014/main" id="{221A77CE-5F29-3511-D217-9ECB182F97A2}"/>
              </a:ext>
            </a:extLst>
          </p:cNvPr>
          <p:cNvSpPr/>
          <p:nvPr/>
        </p:nvSpPr>
        <p:spPr>
          <a:xfrm>
            <a:off x="2171700" y="3695700"/>
            <a:ext cx="5245100" cy="533400"/>
          </a:xfrm>
          <a:prstGeom prst="rect">
            <a:avLst/>
          </a:prstGeom>
          <a:solidFill>
            <a:srgbClr val="FFFFFF"/>
          </a:solidFill>
          <a:ln w="12700">
            <a:solidFill>
              <a:srgbClr val="CCD8E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2E57F00E-2AA7-AEFF-B9BE-5DC96AB2AAEF}"/>
              </a:ext>
            </a:extLst>
          </p:cNvPr>
          <p:cNvSpPr txBox="1"/>
          <p:nvPr/>
        </p:nvSpPr>
        <p:spPr>
          <a:xfrm>
            <a:off x="2247900" y="3759200"/>
            <a:ext cx="5092700" cy="369332"/>
          </a:xfrm>
          <a:prstGeom prst="rect">
            <a:avLst/>
          </a:prstGeom>
          <a:noFill/>
        </p:spPr>
        <p:txBody>
          <a:bodyPr vert="horz" wrap="square" lIns="25400" tIns="12700" rIns="25400" bIns="12700" rtlCol="0">
            <a:noAutofit/>
          </a:bodyPr>
          <a:lstStyle/>
          <a:p>
            <a:r>
              <a:rPr lang="en-US" sz="800">
                <a:solidFill>
                  <a:srgbClr val="222222"/>
                </a:solidFill>
                <a:latin typeface="Times New Roman" panose="02020603050405020304" pitchFamily="18" charset="0"/>
              </a:rPr>
              <a:t>Tired  |  Mild</a:t>
            </a:r>
          </a:p>
          <a:p>
            <a:r>
              <a:rPr lang="en-US" sz="800">
                <a:solidFill>
                  <a:srgbClr val="222222"/>
                </a:solidFill>
                <a:latin typeface="Times New Roman" panose="02020603050405020304" pitchFamily="18" charset="0"/>
              </a:rPr>
              <a:t>Recorded note for clinician discussion</a:t>
            </a:r>
          </a:p>
        </p:txBody>
      </p:sp>
      <p:sp>
        <p:nvSpPr>
          <p:cNvPr id="11" name="TextBox 10">
            <a:extLst>
              <a:ext uri="{FF2B5EF4-FFF2-40B4-BE49-F238E27FC236}">
                <a16:creationId xmlns:a16="http://schemas.microsoft.com/office/drawing/2014/main" id="{3C00C0DC-6A87-7E18-0BE3-D969EC368939}"/>
              </a:ext>
            </a:extLst>
          </p:cNvPr>
          <p:cNvSpPr txBox="1"/>
          <p:nvPr/>
        </p:nvSpPr>
        <p:spPr>
          <a:xfrm>
            <a:off x="2044700" y="4368800"/>
            <a:ext cx="5499100" cy="369332"/>
          </a:xfrm>
          <a:prstGeom prst="rect">
            <a:avLst/>
          </a:prstGeom>
          <a:noFill/>
        </p:spPr>
        <p:txBody>
          <a:bodyPr vert="horz" wrap="square" lIns="25400" tIns="12700" rIns="25400" bIns="12700" rtlCol="0">
            <a:noAutofit/>
          </a:bodyPr>
          <a:lstStyle/>
          <a:p>
            <a:pPr algn="ctr"/>
            <a:r>
              <a:rPr lang="en-US" sz="600">
                <a:solidFill>
                  <a:srgbClr val="555555"/>
                </a:solidFill>
                <a:latin typeface="Times New Roman" panose="02020603050405020304" pitchFamily="18" charset="0"/>
              </a:rPr>
              <a:t>Illustrative interface based on implemented modules</a:t>
            </a:r>
          </a:p>
        </p:txBody>
      </p:sp>
    </p:spTree>
    <p:extLst>
      <p:ext uri="{BB962C8B-B14F-4D97-AF65-F5344CB8AC3E}">
        <p14:creationId xmlns:p14="http://schemas.microsoft.com/office/powerpoint/2010/main" val="22224061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E4E1ED7-3FF5-4F08-907E-F603606C8015}"/>
              </a:ext>
            </a:extLst>
          </p:cNvPr>
          <p:cNvSpPr/>
          <p:nvPr/>
        </p:nvSpPr>
        <p:spPr>
          <a:xfrm>
            <a:off x="304799" y="209550"/>
            <a:ext cx="7874000" cy="457200"/>
          </a:xfrm>
          <a:prstGeom prst="rect">
            <a:avLst/>
          </a:prstGeom>
        </p:spPr>
        <p:txBody>
          <a:bodyPr wrap="square">
            <a:noAutofit/>
          </a:bodyPr>
          <a:lstStyle/>
          <a:p>
            <a:pPr marL="342900" indent="-342900">
              <a:tabLst>
                <a:tab pos="457200" algn="l"/>
              </a:tabLst>
            </a:pPr>
            <a:r>
              <a:rPr lang="en-IN" b="1">
                <a:solidFill>
                  <a:srgbClr val="000099"/>
                </a:solidFill>
                <a:latin typeface="Times New Roman" panose="02020603050405020304" pitchFamily="18" charset="0"/>
                <a:ea typeface="Calibri" panose="020F0502020204030204" pitchFamily="34" charset="0"/>
                <a:cs typeface="Times New Roman" panose="02020603050405020304" pitchFamily="18" charset="0"/>
              </a:rPr>
              <a:t>Sample Input and Output</a:t>
            </a:r>
            <a:endParaRPr lang="en-IN" b="1" dirty="0">
              <a:solidFill>
                <a:srgbClr val="000099"/>
              </a:solidFill>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992FEFB5-67B4-4EED-ACAE-BF872D854EB4}"/>
              </a:ext>
            </a:extLst>
          </p:cNvPr>
          <p:cNvSpPr/>
          <p:nvPr/>
        </p:nvSpPr>
        <p:spPr>
          <a:xfrm>
            <a:off x="431800" y="952500"/>
            <a:ext cx="4000500" cy="3302000"/>
          </a:xfrm>
          <a:prstGeom prst="rect">
            <a:avLst/>
          </a:prstGeom>
          <a:solidFill>
            <a:srgbClr val="FFFFFF"/>
          </a:solidFill>
          <a:ln w="12700">
            <a:solidFill>
              <a:srgbClr val="5476A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6C5AF8C-9C17-9E01-CC0B-38D2CC1673CC}"/>
              </a:ext>
            </a:extLst>
          </p:cNvPr>
          <p:cNvSpPr/>
          <p:nvPr/>
        </p:nvSpPr>
        <p:spPr>
          <a:xfrm>
            <a:off x="4699000" y="952500"/>
            <a:ext cx="4000500" cy="3302000"/>
          </a:xfrm>
          <a:prstGeom prst="rect">
            <a:avLst/>
          </a:prstGeom>
          <a:solidFill>
            <a:srgbClr val="FFFFFF"/>
          </a:solidFill>
          <a:ln w="12700">
            <a:solidFill>
              <a:srgbClr val="5476A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0181466-5133-18CD-DB6E-1EDAE8C74D0C}"/>
              </a:ext>
            </a:extLst>
          </p:cNvPr>
          <p:cNvSpPr txBox="1"/>
          <p:nvPr/>
        </p:nvSpPr>
        <p:spPr>
          <a:xfrm>
            <a:off x="635000" y="1155700"/>
            <a:ext cx="3594100" cy="369332"/>
          </a:xfrm>
          <a:prstGeom prst="rect">
            <a:avLst/>
          </a:prstGeom>
          <a:noFill/>
        </p:spPr>
        <p:txBody>
          <a:bodyPr vert="horz" wrap="square" lIns="25400" tIns="12700" rIns="25400" bIns="12700" rtlCol="0">
            <a:noAutofit/>
          </a:bodyPr>
          <a:lstStyle/>
          <a:p>
            <a:pPr algn="ctr"/>
            <a:r>
              <a:rPr lang="en-US" sz="1200" b="1">
                <a:solidFill>
                  <a:srgbClr val="173E79"/>
                </a:solidFill>
                <a:latin typeface="Times New Roman" panose="02020603050405020304" pitchFamily="18" charset="0"/>
              </a:rPr>
              <a:t>SAMPLE INPUT</a:t>
            </a:r>
          </a:p>
        </p:txBody>
      </p:sp>
      <p:sp>
        <p:nvSpPr>
          <p:cNvPr id="7" name="TextBox 6">
            <a:extLst>
              <a:ext uri="{FF2B5EF4-FFF2-40B4-BE49-F238E27FC236}">
                <a16:creationId xmlns:a16="http://schemas.microsoft.com/office/drawing/2014/main" id="{B206704B-1A1F-619E-99D4-AEC442AEAAAE}"/>
              </a:ext>
            </a:extLst>
          </p:cNvPr>
          <p:cNvSpPr txBox="1"/>
          <p:nvPr/>
        </p:nvSpPr>
        <p:spPr>
          <a:xfrm>
            <a:off x="635000" y="1562100"/>
            <a:ext cx="3594100" cy="369332"/>
          </a:xfrm>
          <a:prstGeom prst="rect">
            <a:avLst/>
          </a:prstGeom>
          <a:noFill/>
        </p:spPr>
        <p:txBody>
          <a:bodyPr vert="horz" wrap="square" lIns="25400" tIns="12700" rIns="25400" bIns="12700" rtlCol="0">
            <a:noAutofit/>
          </a:bodyPr>
          <a:lstStyle/>
          <a:p>
            <a:r>
              <a:rPr lang="en-US" sz="1200">
                <a:solidFill>
                  <a:srgbClr val="222222"/>
                </a:solidFill>
                <a:latin typeface="Times New Roman" panose="02020603050405020304" pitchFamily="18" charset="0"/>
              </a:rPr>
              <a:t>Appointment: Routine prenatal visit</a:t>
            </a:r>
          </a:p>
          <a:p>
            <a:r>
              <a:rPr lang="en-US" sz="1200">
                <a:solidFill>
                  <a:srgbClr val="222222"/>
                </a:solidFill>
                <a:latin typeface="Times New Roman" panose="02020603050405020304" pitchFamily="18" charset="0"/>
              </a:rPr>
              <a:t>Start: 23 Oct 2026, 10:00 IST</a:t>
            </a:r>
          </a:p>
          <a:p>
            <a:r>
              <a:rPr lang="en-US" sz="1200">
                <a:solidFill>
                  <a:srgbClr val="222222"/>
                </a:solidFill>
                <a:latin typeface="Times New Roman" panose="02020603050405020304" pitchFamily="18" charset="0"/>
              </a:rPr>
              <a:t>Reminder: 1 day before</a:t>
            </a:r>
          </a:p>
          <a:p>
            <a:r>
              <a:rPr lang="en-US" sz="1200">
                <a:solidFill>
                  <a:srgbClr val="222222"/>
                </a:solidFill>
                <a:latin typeface="Times New Roman" panose="02020603050405020304" pitchFamily="18" charset="0"/>
              </a:rPr>
              <a:t>Timezone: Asia/Kolkata</a:t>
            </a:r>
          </a:p>
          <a:p>
            <a:endParaRPr lang="en-US" sz="1200">
              <a:solidFill>
                <a:srgbClr val="222222"/>
              </a:solidFill>
              <a:latin typeface="Times New Roman" panose="02020603050405020304" pitchFamily="18" charset="0"/>
            </a:endParaRPr>
          </a:p>
          <a:p>
            <a:r>
              <a:rPr lang="en-US" sz="1200">
                <a:solidFill>
                  <a:srgbClr val="222222"/>
                </a:solidFill>
                <a:latin typeface="Times New Roman" panose="02020603050405020304" pitchFamily="18" charset="0"/>
              </a:rPr>
              <a:t>Data is synthetic.</a:t>
            </a:r>
          </a:p>
        </p:txBody>
      </p:sp>
      <p:sp>
        <p:nvSpPr>
          <p:cNvPr id="8" name="TextBox 7">
            <a:extLst>
              <a:ext uri="{FF2B5EF4-FFF2-40B4-BE49-F238E27FC236}">
                <a16:creationId xmlns:a16="http://schemas.microsoft.com/office/drawing/2014/main" id="{BBE481C3-49AE-D2A9-0EF6-ACD847495F74}"/>
              </a:ext>
            </a:extLst>
          </p:cNvPr>
          <p:cNvSpPr txBox="1"/>
          <p:nvPr/>
        </p:nvSpPr>
        <p:spPr>
          <a:xfrm>
            <a:off x="4902200" y="1155700"/>
            <a:ext cx="3594100" cy="369332"/>
          </a:xfrm>
          <a:prstGeom prst="rect">
            <a:avLst/>
          </a:prstGeom>
          <a:noFill/>
        </p:spPr>
        <p:txBody>
          <a:bodyPr vert="horz" wrap="square" lIns="25400" tIns="12700" rIns="25400" bIns="12700" rtlCol="0">
            <a:noAutofit/>
          </a:bodyPr>
          <a:lstStyle/>
          <a:p>
            <a:pPr algn="ctr"/>
            <a:r>
              <a:rPr lang="en-US" sz="1200" b="1">
                <a:solidFill>
                  <a:srgbClr val="173E79"/>
                </a:solidFill>
                <a:latin typeface="Times New Roman" panose="02020603050405020304" pitchFamily="18" charset="0"/>
              </a:rPr>
              <a:t>SAMPLE OUTPUT</a:t>
            </a:r>
          </a:p>
        </p:txBody>
      </p:sp>
      <p:sp>
        <p:nvSpPr>
          <p:cNvPr id="9" name="TextBox 8">
            <a:extLst>
              <a:ext uri="{FF2B5EF4-FFF2-40B4-BE49-F238E27FC236}">
                <a16:creationId xmlns:a16="http://schemas.microsoft.com/office/drawing/2014/main" id="{625ACDE0-27FC-3F7B-BB0A-E4072BBA8413}"/>
              </a:ext>
            </a:extLst>
          </p:cNvPr>
          <p:cNvSpPr txBox="1"/>
          <p:nvPr/>
        </p:nvSpPr>
        <p:spPr>
          <a:xfrm>
            <a:off x="4902200" y="1562100"/>
            <a:ext cx="3594100" cy="369332"/>
          </a:xfrm>
          <a:prstGeom prst="rect">
            <a:avLst/>
          </a:prstGeom>
          <a:noFill/>
        </p:spPr>
        <p:txBody>
          <a:bodyPr vert="horz" wrap="square" lIns="25400" tIns="12700" rIns="25400" bIns="12700" rtlCol="0">
            <a:noAutofit/>
          </a:bodyPr>
          <a:lstStyle/>
          <a:p>
            <a:r>
              <a:rPr lang="en-US" sz="1200">
                <a:solidFill>
                  <a:srgbClr val="222222"/>
                </a:solidFill>
                <a:latin typeface="Times New Roman" panose="02020603050405020304" pitchFamily="18" charset="0"/>
              </a:rPr>
              <a:t>Reminder: PENDING</a:t>
            </a:r>
          </a:p>
          <a:p>
            <a:r>
              <a:rPr lang="en-US" sz="1200">
                <a:solidFill>
                  <a:srgbClr val="222222"/>
                </a:solidFill>
                <a:latin typeface="Times New Roman" panose="02020603050405020304" pitchFamily="18" charset="0"/>
              </a:rPr>
              <a:t>Scheduled: 22 Oct 2026, 10:00 IST</a:t>
            </a:r>
          </a:p>
          <a:p>
            <a:r>
              <a:rPr lang="en-US" sz="1200">
                <a:solidFill>
                  <a:srgbClr val="222222"/>
                </a:solidFill>
                <a:latin typeface="Times New Roman" panose="02020603050405020304" pitchFamily="18" charset="0"/>
              </a:rPr>
              <a:t>Notification: generic reminder</a:t>
            </a:r>
          </a:p>
          <a:p>
            <a:r>
              <a:rPr lang="en-US" sz="1200">
                <a:solidFill>
                  <a:srgbClr val="222222"/>
                </a:solidFill>
                <a:latin typeface="Times New Roman" panose="02020603050405020304" pitchFamily="18" charset="0"/>
              </a:rPr>
              <a:t>Action: open app or snooze</a:t>
            </a:r>
          </a:p>
          <a:p>
            <a:r>
              <a:rPr lang="en-US" sz="1200">
                <a:solidFill>
                  <a:srgbClr val="222222"/>
                </a:solidFill>
                <a:latin typeface="Times New Roman" panose="02020603050405020304" pitchFamily="18" charset="0"/>
              </a:rPr>
              <a:t>Snooze: +1 hour</a:t>
            </a:r>
          </a:p>
        </p:txBody>
      </p:sp>
    </p:spTree>
    <p:extLst>
      <p:ext uri="{BB962C8B-B14F-4D97-AF65-F5344CB8AC3E}">
        <p14:creationId xmlns:p14="http://schemas.microsoft.com/office/powerpoint/2010/main" val="17292102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E4E1ED7-3FF5-4F08-907E-F603606C8015}"/>
              </a:ext>
            </a:extLst>
          </p:cNvPr>
          <p:cNvSpPr/>
          <p:nvPr/>
        </p:nvSpPr>
        <p:spPr>
          <a:xfrm>
            <a:off x="304799" y="209550"/>
            <a:ext cx="8509000" cy="457200"/>
          </a:xfrm>
          <a:prstGeom prst="rect">
            <a:avLst/>
          </a:prstGeom>
        </p:spPr>
        <p:txBody>
          <a:bodyPr wrap="square">
            <a:noAutofit/>
          </a:bodyPr>
          <a:lstStyle/>
          <a:p>
            <a:pPr marL="342900" indent="-342900">
              <a:tabLst>
                <a:tab pos="457200" algn="l"/>
              </a:tabLst>
            </a:pPr>
            <a:r>
              <a:rPr lang="en-US" sz="1400" b="1">
                <a:solidFill>
                  <a:srgbClr val="000099"/>
                </a:solidFill>
                <a:latin typeface="Times New Roman" panose="02020603050405020304" pitchFamily="18" charset="0"/>
                <a:ea typeface="Calibri" panose="020F0502020204030204" pitchFamily="34" charset="0"/>
                <a:cs typeface="Times New Roman" panose="02020603050405020304" pitchFamily="18" charset="0"/>
              </a:rPr>
              <a:t>Sample Code : UI : TypeScript : Appointment History</a:t>
            </a:r>
            <a:endParaRPr lang="en-IN" sz="1400" b="1" dirty="0">
              <a:solidFill>
                <a:srgbClr val="000099"/>
              </a:solidFill>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6A03F3B5-3EBE-E4D4-B21C-B6AA8E025D23}"/>
              </a:ext>
            </a:extLst>
          </p:cNvPr>
          <p:cNvSpPr/>
          <p:nvPr/>
        </p:nvSpPr>
        <p:spPr>
          <a:xfrm>
            <a:off x="368300" y="927100"/>
            <a:ext cx="8382000" cy="3835400"/>
          </a:xfrm>
          <a:prstGeom prst="rect">
            <a:avLst/>
          </a:prstGeom>
          <a:solidFill>
            <a:srgbClr val="F8FAFC"/>
          </a:solidFill>
          <a:ln w="12700">
            <a:solidFill>
              <a:srgbClr val="A9BE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1B8AB4F4-5112-894A-7212-27FCD489D112}"/>
              </a:ext>
            </a:extLst>
          </p:cNvPr>
          <p:cNvSpPr txBox="1"/>
          <p:nvPr/>
        </p:nvSpPr>
        <p:spPr>
          <a:xfrm>
            <a:off x="558800" y="1130300"/>
            <a:ext cx="8001000" cy="369332"/>
          </a:xfrm>
          <a:prstGeom prst="rect">
            <a:avLst/>
          </a:prstGeom>
          <a:noFill/>
        </p:spPr>
        <p:txBody>
          <a:bodyPr vert="horz" wrap="square" lIns="25400" tIns="12700" rIns="25400" bIns="12700" rtlCol="0">
            <a:noAutofit/>
          </a:bodyPr>
          <a:lstStyle/>
          <a:p>
            <a:r>
              <a:rPr lang="en-US" sz="1200">
                <a:solidFill>
                  <a:srgbClr val="202020"/>
                </a:solidFill>
                <a:latin typeface="Consolas" panose="020B0609020204030204" pitchFamily="49" charset="0"/>
              </a:rPr>
              <a:t>const visibleVisits = appointments</a:t>
            </a:r>
          </a:p>
          <a:p>
            <a:r>
              <a:rPr lang="en-US" sz="1200">
                <a:solidFill>
                  <a:srgbClr val="202020"/>
                </a:solidFill>
                <a:latin typeface="Consolas" panose="020B0609020204030204" pitchFamily="49" charset="0"/>
              </a:rPr>
              <a:t>  .filter((visit) =&gt; matchesView(visit, view))</a:t>
            </a:r>
          </a:p>
          <a:p>
            <a:r>
              <a:rPr lang="en-US" sz="1200">
                <a:solidFill>
                  <a:srgbClr val="202020"/>
                </a:solidFill>
                <a:latin typeface="Consolas" panose="020B0609020204030204" pitchFamily="49" charset="0"/>
              </a:rPr>
              <a:t>  .filter((visit) =&gt; matchesSearch(visit, query))</a:t>
            </a:r>
          </a:p>
          <a:p>
            <a:r>
              <a:rPr lang="en-US" sz="1200">
                <a:solidFill>
                  <a:srgbClr val="202020"/>
                </a:solidFill>
                <a:latin typeface="Consolas" panose="020B0609020204030204" pitchFamily="49" charset="0"/>
              </a:rPr>
              <a:t>  .sort(compareByDate);</a:t>
            </a:r>
          </a:p>
          <a:p>
            <a:endParaRPr lang="en-US" sz="1200">
              <a:solidFill>
                <a:srgbClr val="202020"/>
              </a:solidFill>
              <a:latin typeface="Consolas" panose="020B0609020204030204" pitchFamily="49" charset="0"/>
            </a:endParaRPr>
          </a:p>
          <a:p>
            <a:r>
              <a:rPr lang="en-US" sz="1200">
                <a:solidFill>
                  <a:srgbClr val="202020"/>
                </a:solidFill>
                <a:latin typeface="Consolas" panose="020B0609020204030204" pitchFamily="49" charset="0"/>
              </a:rPr>
              <a:t>return visibleVisits.map((visit) =&gt; (</a:t>
            </a:r>
          </a:p>
          <a:p>
            <a:r>
              <a:rPr lang="en-US" sz="1200">
                <a:solidFill>
                  <a:srgbClr val="202020"/>
                </a:solidFill>
                <a:latin typeface="Consolas" panose="020B0609020204030204" pitchFamily="49" charset="0"/>
              </a:rPr>
              <a:t>  &lt;button key={visit.id}</a:t>
            </a:r>
          </a:p>
          <a:p>
            <a:r>
              <a:rPr lang="en-US" sz="1200">
                <a:solidFill>
                  <a:srgbClr val="202020"/>
                </a:solidFill>
                <a:latin typeface="Consolas" panose="020B0609020204030204" pitchFamily="49" charset="0"/>
              </a:rPr>
              <a:t>    aria-pressed={visit.id === selectedId}</a:t>
            </a:r>
          </a:p>
          <a:p>
            <a:r>
              <a:rPr lang="en-US" sz="1200">
                <a:solidFill>
                  <a:srgbClr val="202020"/>
                </a:solidFill>
                <a:latin typeface="Consolas" panose="020B0609020204030204" pitchFamily="49" charset="0"/>
              </a:rPr>
              <a:t>    onClick={() =&gt; selectVisit(visit.id)}&gt;</a:t>
            </a:r>
          </a:p>
          <a:p>
            <a:r>
              <a:rPr lang="en-US" sz="1200">
                <a:solidFill>
                  <a:srgbClr val="202020"/>
                </a:solidFill>
                <a:latin typeface="Consolas" panose="020B0609020204030204" pitchFamily="49" charset="0"/>
              </a:rPr>
              <a:t>    &lt;strong&gt;{visit.title}&lt;/strong&gt;</a:t>
            </a:r>
          </a:p>
          <a:p>
            <a:r>
              <a:rPr lang="en-US" sz="1200">
                <a:solidFill>
                  <a:srgbClr val="202020"/>
                </a:solidFill>
                <a:latin typeface="Consolas" panose="020B0609020204030204" pitchFamily="49" charset="0"/>
              </a:rPr>
              <a:t>    &lt;time&gt;{formatVisitDate(visit.startsAt)}&lt;/time&gt;</a:t>
            </a:r>
          </a:p>
          <a:p>
            <a:r>
              <a:rPr lang="en-US" sz="1200">
                <a:solidFill>
                  <a:srgbClr val="202020"/>
                </a:solidFill>
                <a:latin typeface="Consolas" panose="020B0609020204030204" pitchFamily="49" charset="0"/>
              </a:rPr>
              <a:t>  &lt;/button&gt;</a:t>
            </a:r>
          </a:p>
          <a:p>
            <a:r>
              <a:rPr lang="en-US" sz="1200">
                <a:solidFill>
                  <a:srgbClr val="202020"/>
                </a:solidFill>
                <a:latin typeface="Consolas" panose="020B0609020204030204" pitchFamily="49" charset="0"/>
              </a:rPr>
              <a:t>));</a:t>
            </a:r>
          </a:p>
        </p:txBody>
      </p:sp>
    </p:spTree>
    <p:extLst>
      <p:ext uri="{BB962C8B-B14F-4D97-AF65-F5344CB8AC3E}">
        <p14:creationId xmlns:p14="http://schemas.microsoft.com/office/powerpoint/2010/main" val="29238344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F6E0D70-88F7-473F-B782-8DADD52C33AA}"/>
              </a:ext>
            </a:extLst>
          </p:cNvPr>
          <p:cNvSpPr/>
          <p:nvPr/>
        </p:nvSpPr>
        <p:spPr>
          <a:xfrm>
            <a:off x="304799" y="209550"/>
            <a:ext cx="8636000" cy="457200"/>
          </a:xfrm>
          <a:prstGeom prst="rect">
            <a:avLst/>
          </a:prstGeom>
        </p:spPr>
        <p:txBody>
          <a:bodyPr wrap="square">
            <a:noAutofit/>
          </a:bodyPr>
          <a:lstStyle/>
          <a:p>
            <a:pPr marL="342900" indent="-342900">
              <a:tabLst>
                <a:tab pos="457200" algn="l"/>
              </a:tabLst>
            </a:pPr>
            <a:r>
              <a:rPr lang="en-US" sz="1400" b="1">
                <a:solidFill>
                  <a:srgbClr val="000099"/>
                </a:solidFill>
                <a:latin typeface="Times New Roman" panose="02020603050405020304" pitchFamily="18" charset="0"/>
                <a:ea typeface="Calibri" panose="020F0502020204030204" pitchFamily="34" charset="0"/>
                <a:cs typeface="Times New Roman" panose="02020603050405020304" pitchFamily="18" charset="0"/>
              </a:rPr>
              <a:t>Sample Code : Backend : Spring Boot : Reminder Scheduler</a:t>
            </a:r>
            <a:endParaRPr lang="en-IN" sz="1400" b="1" dirty="0">
              <a:solidFill>
                <a:srgbClr val="000099"/>
              </a:solidFill>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4F3218E5-6B43-FF8C-3905-321FF01C976D}"/>
              </a:ext>
            </a:extLst>
          </p:cNvPr>
          <p:cNvSpPr/>
          <p:nvPr/>
        </p:nvSpPr>
        <p:spPr>
          <a:xfrm>
            <a:off x="292100" y="889000"/>
            <a:ext cx="8445500" cy="3937000"/>
          </a:xfrm>
          <a:prstGeom prst="rect">
            <a:avLst/>
          </a:prstGeom>
          <a:solidFill>
            <a:srgbClr val="F8FAFC"/>
          </a:solidFill>
          <a:ln w="12700">
            <a:solidFill>
              <a:srgbClr val="A9BE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84934A64-455B-7081-70F7-0227C57EB5DD}"/>
              </a:ext>
            </a:extLst>
          </p:cNvPr>
          <p:cNvSpPr txBox="1"/>
          <p:nvPr/>
        </p:nvSpPr>
        <p:spPr>
          <a:xfrm>
            <a:off x="520700" y="1079500"/>
            <a:ext cx="8064500" cy="369332"/>
          </a:xfrm>
          <a:prstGeom prst="rect">
            <a:avLst/>
          </a:prstGeom>
          <a:noFill/>
        </p:spPr>
        <p:txBody>
          <a:bodyPr vert="horz" wrap="square" lIns="25400" tIns="12700" rIns="25400" bIns="12700" rtlCol="0">
            <a:noAutofit/>
          </a:bodyPr>
          <a:lstStyle/>
          <a:p>
            <a:r>
              <a:rPr lang="en-US" sz="1200">
                <a:solidFill>
                  <a:srgbClr val="202020"/>
                </a:solidFill>
                <a:latin typeface="Consolas" panose="020B0609020204030204" pitchFamily="49" charset="0"/>
              </a:rPr>
              <a:t>@Scheduled(fixedDelayString = "${notifications.scheduler.interval-ms:30000}")</a:t>
            </a:r>
          </a:p>
          <a:p>
            <a:r>
              <a:rPr lang="en-US" sz="1200">
                <a:solidFill>
                  <a:srgbClr val="202020"/>
                </a:solidFill>
                <a:latin typeface="Consolas" panose="020B0609020204030204" pitchFamily="49" charset="0"/>
              </a:rPr>
              <a:t>public void dispatchDueReminders() {</a:t>
            </a:r>
          </a:p>
          <a:p>
            <a:r>
              <a:rPr lang="en-US" sz="1200">
                <a:solidFill>
                  <a:srgbClr val="202020"/>
                </a:solidFill>
                <a:latin typeface="Consolas" panose="020B0609020204030204" pitchFamily="49" charset="0"/>
              </a:rPr>
              <a:t>    if (!pushService.isConfigured()) return;</a:t>
            </a:r>
          </a:p>
          <a:p>
            <a:r>
              <a:rPr lang="en-US" sz="1200">
                <a:solidFill>
                  <a:srgbClr val="202020"/>
                </a:solidFill>
                <a:latin typeface="Consolas" panose="020B0609020204030204" pitchFamily="49" charset="0"/>
              </a:rPr>
              <a:t>    for (UUID id : scheduler.synchronizeAndFindDue()) {</a:t>
            </a:r>
          </a:p>
          <a:p>
            <a:r>
              <a:rPr lang="en-US" sz="1200">
                <a:solidFill>
                  <a:srgbClr val="202020"/>
                </a:solidFill>
                <a:latin typeface="Consolas" panose="020B0609020204030204" pitchFamily="49" charset="0"/>
              </a:rPr>
              <a:t>        Delivery d = scheduler.claim(id);</a:t>
            </a:r>
          </a:p>
          <a:p>
            <a:r>
              <a:rPr lang="en-US" sz="1200">
                <a:solidFill>
                  <a:srgbClr val="202020"/>
                </a:solidFill>
                <a:latin typeface="Consolas" panose="020B0609020204030204" pitchFamily="49" charset="0"/>
              </a:rPr>
              <a:t>        if (d == null) continue;</a:t>
            </a:r>
          </a:p>
          <a:p>
            <a:r>
              <a:rPr lang="en-US" sz="1200">
                <a:solidFill>
                  <a:srgbClr val="202020"/>
                </a:solidFill>
                <a:latin typeface="Consolas" panose="020B0609020204030204" pitchFamily="49" charset="0"/>
              </a:rPr>
              <a:t>        boolean sent = push.sendToUser(</a:t>
            </a:r>
          </a:p>
          <a:p>
            <a:r>
              <a:rPr lang="en-US" sz="1200">
                <a:solidFill>
                  <a:srgbClr val="202020"/>
                </a:solidFill>
                <a:latin typeface="Consolas" panose="020B0609020204030204" pitchFamily="49" charset="0"/>
              </a:rPr>
              <a:t>            d.userId(), d.key(), d.title(), d.body(), d.snoozeToken());</a:t>
            </a:r>
          </a:p>
          <a:p>
            <a:r>
              <a:rPr lang="en-US" sz="1200">
                <a:solidFill>
                  <a:srgbClr val="202020"/>
                </a:solidFill>
                <a:latin typeface="Consolas" panose="020B0609020204030204" pitchFamily="49" charset="0"/>
              </a:rPr>
              <a:t>        scheduler.finish(id, sent);</a:t>
            </a:r>
          </a:p>
          <a:p>
            <a:r>
              <a:rPr lang="en-US" sz="1200">
                <a:solidFill>
                  <a:srgbClr val="202020"/>
                </a:solidFill>
                <a:latin typeface="Consolas" panose="020B0609020204030204" pitchFamily="49" charset="0"/>
              </a:rPr>
              <a:t>    }</a:t>
            </a:r>
          </a:p>
          <a:p>
            <a:r>
              <a:rPr lang="en-US" sz="1200">
                <a:solidFill>
                  <a:srgbClr val="202020"/>
                </a:solidFill>
                <a:latin typeface="Consolas" panose="020B0609020204030204" pitchFamily="49" charset="0"/>
              </a:rPr>
              <a:t>}</a:t>
            </a:r>
          </a:p>
        </p:txBody>
      </p:sp>
    </p:spTree>
    <p:extLst>
      <p:ext uri="{BB962C8B-B14F-4D97-AF65-F5344CB8AC3E}">
        <p14:creationId xmlns:p14="http://schemas.microsoft.com/office/powerpoint/2010/main" val="17692583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AC81962-5F4E-442D-A8CA-20CECF48EEB2}"/>
              </a:ext>
            </a:extLst>
          </p:cNvPr>
          <p:cNvSpPr/>
          <p:nvPr/>
        </p:nvSpPr>
        <p:spPr>
          <a:xfrm>
            <a:off x="304800" y="209550"/>
            <a:ext cx="7366000" cy="457200"/>
          </a:xfrm>
          <a:prstGeom prst="rect">
            <a:avLst/>
          </a:prstGeom>
        </p:spPr>
        <p:txBody>
          <a:bodyPr wrap="square">
            <a:noAutofit/>
          </a:bodyPr>
          <a:lstStyle/>
          <a:p>
            <a:pPr marL="342900" indent="-342900">
              <a:tabLst>
                <a:tab pos="457200" algn="l"/>
              </a:tabLst>
            </a:pPr>
            <a:r>
              <a:rPr lang="en-IN" sz="1600" b="1">
                <a:solidFill>
                  <a:srgbClr val="000099"/>
                </a:solidFill>
                <a:latin typeface="Times New Roman" panose="02020603050405020304" pitchFamily="18" charset="0"/>
                <a:ea typeface="Calibri" panose="020F0502020204030204" pitchFamily="34" charset="0"/>
                <a:cs typeface="Times New Roman" panose="02020603050405020304" pitchFamily="18" charset="0"/>
              </a:rPr>
              <a:t>Sample Data Set : MySQL / PostgreSQL</a:t>
            </a:r>
            <a:endParaRPr lang="en-IN" sz="1600" b="1" dirty="0">
              <a:solidFill>
                <a:srgbClr val="000099"/>
              </a:solidFill>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CE7BD3FC-8980-7FF1-A630-316F1AA22801}"/>
              </a:ext>
            </a:extLst>
          </p:cNvPr>
          <p:cNvSpPr/>
          <p:nvPr/>
        </p:nvSpPr>
        <p:spPr>
          <a:xfrm>
            <a:off x="279400" y="876300"/>
            <a:ext cx="2032000" cy="381000"/>
          </a:xfrm>
          <a:prstGeom prst="rect">
            <a:avLst/>
          </a:prstGeom>
          <a:solidFill>
            <a:srgbClr val="DDE8F5"/>
          </a:solidFill>
          <a:ln w="12700">
            <a:solidFill>
              <a:srgbClr val="5277A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F7F8B5C-C851-A745-6B1A-626650A10505}"/>
              </a:ext>
            </a:extLst>
          </p:cNvPr>
          <p:cNvSpPr txBox="1"/>
          <p:nvPr/>
        </p:nvSpPr>
        <p:spPr>
          <a:xfrm>
            <a:off x="368300" y="952500"/>
            <a:ext cx="1854200" cy="369332"/>
          </a:xfrm>
          <a:prstGeom prst="rect">
            <a:avLst/>
          </a:prstGeom>
          <a:noFill/>
        </p:spPr>
        <p:txBody>
          <a:bodyPr vert="horz" wrap="square" lIns="25400" tIns="12700" rIns="25400" bIns="12700" rtlCol="0">
            <a:noAutofit/>
          </a:bodyPr>
          <a:lstStyle/>
          <a:p>
            <a:r>
              <a:rPr lang="en-US" sz="1000" b="1">
                <a:solidFill>
                  <a:srgbClr val="1A3761"/>
                </a:solidFill>
                <a:latin typeface="Times New Roman" panose="02020603050405020304" pitchFamily="18" charset="0"/>
              </a:rPr>
              <a:t>TABLE</a:t>
            </a:r>
          </a:p>
        </p:txBody>
      </p:sp>
      <p:sp>
        <p:nvSpPr>
          <p:cNvPr id="6" name="Rectangle 5">
            <a:extLst>
              <a:ext uri="{FF2B5EF4-FFF2-40B4-BE49-F238E27FC236}">
                <a16:creationId xmlns:a16="http://schemas.microsoft.com/office/drawing/2014/main" id="{8EED5BDA-60FB-62CC-FB3D-8C5C691E21FC}"/>
              </a:ext>
            </a:extLst>
          </p:cNvPr>
          <p:cNvSpPr/>
          <p:nvPr/>
        </p:nvSpPr>
        <p:spPr>
          <a:xfrm>
            <a:off x="2438400" y="876300"/>
            <a:ext cx="3873500" cy="381000"/>
          </a:xfrm>
          <a:prstGeom prst="rect">
            <a:avLst/>
          </a:prstGeom>
          <a:solidFill>
            <a:srgbClr val="DDE8F5"/>
          </a:solidFill>
          <a:ln w="12700">
            <a:solidFill>
              <a:srgbClr val="5277A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D0AF1F08-4740-BAE8-F098-A50F830AFCC6}"/>
              </a:ext>
            </a:extLst>
          </p:cNvPr>
          <p:cNvSpPr txBox="1"/>
          <p:nvPr/>
        </p:nvSpPr>
        <p:spPr>
          <a:xfrm>
            <a:off x="2527300" y="952500"/>
            <a:ext cx="3695700" cy="369332"/>
          </a:xfrm>
          <a:prstGeom prst="rect">
            <a:avLst/>
          </a:prstGeom>
          <a:noFill/>
        </p:spPr>
        <p:txBody>
          <a:bodyPr vert="horz" wrap="square" lIns="25400" tIns="12700" rIns="25400" bIns="12700" rtlCol="0">
            <a:noAutofit/>
          </a:bodyPr>
          <a:lstStyle/>
          <a:p>
            <a:r>
              <a:rPr lang="en-US" sz="1000" b="1">
                <a:solidFill>
                  <a:srgbClr val="1A3761"/>
                </a:solidFill>
                <a:latin typeface="Times New Roman" panose="02020603050405020304" pitchFamily="18" charset="0"/>
              </a:rPr>
              <a:t>SAMPLE FIELDS</a:t>
            </a:r>
          </a:p>
        </p:txBody>
      </p:sp>
      <p:sp>
        <p:nvSpPr>
          <p:cNvPr id="8" name="Rectangle 7">
            <a:extLst>
              <a:ext uri="{FF2B5EF4-FFF2-40B4-BE49-F238E27FC236}">
                <a16:creationId xmlns:a16="http://schemas.microsoft.com/office/drawing/2014/main" id="{F2F2B66D-1AD4-A8E3-F309-82C03B839C1C}"/>
              </a:ext>
            </a:extLst>
          </p:cNvPr>
          <p:cNvSpPr/>
          <p:nvPr/>
        </p:nvSpPr>
        <p:spPr>
          <a:xfrm>
            <a:off x="6413500" y="876300"/>
            <a:ext cx="2413000" cy="381000"/>
          </a:xfrm>
          <a:prstGeom prst="rect">
            <a:avLst/>
          </a:prstGeom>
          <a:solidFill>
            <a:srgbClr val="DDE8F5"/>
          </a:solidFill>
          <a:ln w="12700">
            <a:solidFill>
              <a:srgbClr val="5277A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4DDFE0A-137A-1733-C7E9-90E7BC7E5836}"/>
              </a:ext>
            </a:extLst>
          </p:cNvPr>
          <p:cNvSpPr txBox="1"/>
          <p:nvPr/>
        </p:nvSpPr>
        <p:spPr>
          <a:xfrm>
            <a:off x="6502400" y="952500"/>
            <a:ext cx="2235200" cy="369332"/>
          </a:xfrm>
          <a:prstGeom prst="rect">
            <a:avLst/>
          </a:prstGeom>
          <a:noFill/>
        </p:spPr>
        <p:txBody>
          <a:bodyPr vert="horz" wrap="square" lIns="25400" tIns="12700" rIns="25400" bIns="12700" rtlCol="0">
            <a:noAutofit/>
          </a:bodyPr>
          <a:lstStyle/>
          <a:p>
            <a:r>
              <a:rPr lang="en-US" sz="1000" b="1">
                <a:solidFill>
                  <a:srgbClr val="1A3761"/>
                </a:solidFill>
                <a:latin typeface="Times New Roman" panose="02020603050405020304" pitchFamily="18" charset="0"/>
              </a:rPr>
              <a:t>PURPOSE</a:t>
            </a:r>
          </a:p>
        </p:txBody>
      </p:sp>
      <p:sp>
        <p:nvSpPr>
          <p:cNvPr id="10" name="Rectangle 9">
            <a:extLst>
              <a:ext uri="{FF2B5EF4-FFF2-40B4-BE49-F238E27FC236}">
                <a16:creationId xmlns:a16="http://schemas.microsoft.com/office/drawing/2014/main" id="{1B08B1D7-1C8D-7DA9-6B50-0C2D62F857FE}"/>
              </a:ext>
            </a:extLst>
          </p:cNvPr>
          <p:cNvSpPr/>
          <p:nvPr/>
        </p:nvSpPr>
        <p:spPr>
          <a:xfrm>
            <a:off x="279400" y="1270000"/>
            <a:ext cx="2032000" cy="508000"/>
          </a:xfrm>
          <a:prstGeom prst="rect">
            <a:avLst/>
          </a:prstGeom>
          <a:solidFill>
            <a:srgbClr val="FFFFFF"/>
          </a:solidFill>
          <a:ln w="12700">
            <a:solidFill>
              <a:srgbClr val="C8D3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13627E3E-EC45-DAC2-F841-D12B3B34AAFA}"/>
              </a:ext>
            </a:extLst>
          </p:cNvPr>
          <p:cNvSpPr txBox="1"/>
          <p:nvPr/>
        </p:nvSpPr>
        <p:spPr>
          <a:xfrm>
            <a:off x="368300" y="1371600"/>
            <a:ext cx="1854200" cy="369332"/>
          </a:xfrm>
          <a:prstGeom prst="rect">
            <a:avLst/>
          </a:prstGeom>
          <a:noFill/>
        </p:spPr>
        <p:txBody>
          <a:bodyPr vert="horz" wrap="square" lIns="25400" tIns="12700" rIns="25400" bIns="12700" rtlCol="0">
            <a:noAutofit/>
          </a:bodyPr>
          <a:lstStyle/>
          <a:p>
            <a:r>
              <a:rPr lang="en-US" sz="900" b="1">
                <a:solidFill>
                  <a:srgbClr val="222222"/>
                </a:solidFill>
                <a:latin typeface="Times New Roman" panose="02020603050405020304" pitchFamily="18" charset="0"/>
              </a:rPr>
              <a:t>users</a:t>
            </a:r>
          </a:p>
        </p:txBody>
      </p:sp>
      <p:sp>
        <p:nvSpPr>
          <p:cNvPr id="12" name="Rectangle 11">
            <a:extLst>
              <a:ext uri="{FF2B5EF4-FFF2-40B4-BE49-F238E27FC236}">
                <a16:creationId xmlns:a16="http://schemas.microsoft.com/office/drawing/2014/main" id="{9A7B16C0-17D0-B318-3A93-1AD2310A42E9}"/>
              </a:ext>
            </a:extLst>
          </p:cNvPr>
          <p:cNvSpPr/>
          <p:nvPr/>
        </p:nvSpPr>
        <p:spPr>
          <a:xfrm>
            <a:off x="2438400" y="1270000"/>
            <a:ext cx="3873500" cy="508000"/>
          </a:xfrm>
          <a:prstGeom prst="rect">
            <a:avLst/>
          </a:prstGeom>
          <a:solidFill>
            <a:srgbClr val="FFFFFF"/>
          </a:solidFill>
          <a:ln w="12700">
            <a:solidFill>
              <a:srgbClr val="C8D3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7CD7FEB5-B1F5-45CE-B60E-FBD50DC5ED14}"/>
              </a:ext>
            </a:extLst>
          </p:cNvPr>
          <p:cNvSpPr txBox="1"/>
          <p:nvPr/>
        </p:nvSpPr>
        <p:spPr>
          <a:xfrm>
            <a:off x="2527300" y="1371600"/>
            <a:ext cx="3695700" cy="369332"/>
          </a:xfrm>
          <a:prstGeom prst="rect">
            <a:avLst/>
          </a:prstGeom>
          <a:noFill/>
        </p:spPr>
        <p:txBody>
          <a:bodyPr vert="horz" wrap="square" lIns="25400" tIns="12700" rIns="25400" bIns="12700" rtlCol="0">
            <a:noAutofit/>
          </a:bodyPr>
          <a:lstStyle/>
          <a:p>
            <a:r>
              <a:rPr lang="en-US" sz="900">
                <a:solidFill>
                  <a:srgbClr val="222222"/>
                </a:solidFill>
                <a:latin typeface="Times New Roman" panose="02020603050405020304" pitchFamily="18" charset="0"/>
              </a:rPr>
              <a:t>id, email, timezone_id</a:t>
            </a:r>
          </a:p>
        </p:txBody>
      </p:sp>
      <p:sp>
        <p:nvSpPr>
          <p:cNvPr id="14" name="Rectangle 13">
            <a:extLst>
              <a:ext uri="{FF2B5EF4-FFF2-40B4-BE49-F238E27FC236}">
                <a16:creationId xmlns:a16="http://schemas.microsoft.com/office/drawing/2014/main" id="{397A1722-721B-7B18-C577-5041F1B85E94}"/>
              </a:ext>
            </a:extLst>
          </p:cNvPr>
          <p:cNvSpPr/>
          <p:nvPr/>
        </p:nvSpPr>
        <p:spPr>
          <a:xfrm>
            <a:off x="6413500" y="1270000"/>
            <a:ext cx="2413000" cy="508000"/>
          </a:xfrm>
          <a:prstGeom prst="rect">
            <a:avLst/>
          </a:prstGeom>
          <a:solidFill>
            <a:srgbClr val="FFFFFF"/>
          </a:solidFill>
          <a:ln w="12700">
            <a:solidFill>
              <a:srgbClr val="C8D3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229728AE-EFC3-E006-91CE-452D5B3C9488}"/>
              </a:ext>
            </a:extLst>
          </p:cNvPr>
          <p:cNvSpPr txBox="1"/>
          <p:nvPr/>
        </p:nvSpPr>
        <p:spPr>
          <a:xfrm>
            <a:off x="6502400" y="1371600"/>
            <a:ext cx="2235200" cy="369332"/>
          </a:xfrm>
          <a:prstGeom prst="rect">
            <a:avLst/>
          </a:prstGeom>
          <a:noFill/>
        </p:spPr>
        <p:txBody>
          <a:bodyPr vert="horz" wrap="square" lIns="25400" tIns="12700" rIns="25400" bIns="12700" rtlCol="0">
            <a:noAutofit/>
          </a:bodyPr>
          <a:lstStyle/>
          <a:p>
            <a:r>
              <a:rPr lang="en-US" sz="900">
                <a:solidFill>
                  <a:srgbClr val="222222"/>
                </a:solidFill>
                <a:latin typeface="Times New Roman" panose="02020603050405020304" pitchFamily="18" charset="0"/>
              </a:rPr>
              <a:t>account</a:t>
            </a:r>
          </a:p>
        </p:txBody>
      </p:sp>
      <p:sp>
        <p:nvSpPr>
          <p:cNvPr id="16" name="Rectangle 15">
            <a:extLst>
              <a:ext uri="{FF2B5EF4-FFF2-40B4-BE49-F238E27FC236}">
                <a16:creationId xmlns:a16="http://schemas.microsoft.com/office/drawing/2014/main" id="{86C3186A-BB40-8821-8606-8DFAE847D86B}"/>
              </a:ext>
            </a:extLst>
          </p:cNvPr>
          <p:cNvSpPr/>
          <p:nvPr/>
        </p:nvSpPr>
        <p:spPr>
          <a:xfrm>
            <a:off x="279400" y="1816100"/>
            <a:ext cx="2032000" cy="508000"/>
          </a:xfrm>
          <a:prstGeom prst="rect">
            <a:avLst/>
          </a:prstGeom>
          <a:solidFill>
            <a:srgbClr val="FFFFFF"/>
          </a:solidFill>
          <a:ln w="12700">
            <a:solidFill>
              <a:srgbClr val="C8D3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5A04823A-D7A4-F8A1-B0F9-A4F17A1EE10C}"/>
              </a:ext>
            </a:extLst>
          </p:cNvPr>
          <p:cNvSpPr txBox="1"/>
          <p:nvPr/>
        </p:nvSpPr>
        <p:spPr>
          <a:xfrm>
            <a:off x="368300" y="1917700"/>
            <a:ext cx="1854200" cy="369332"/>
          </a:xfrm>
          <a:prstGeom prst="rect">
            <a:avLst/>
          </a:prstGeom>
          <a:noFill/>
        </p:spPr>
        <p:txBody>
          <a:bodyPr vert="horz" wrap="square" lIns="25400" tIns="12700" rIns="25400" bIns="12700" rtlCol="0">
            <a:noAutofit/>
          </a:bodyPr>
          <a:lstStyle/>
          <a:p>
            <a:r>
              <a:rPr lang="en-US" sz="900" b="1">
                <a:solidFill>
                  <a:srgbClr val="222222"/>
                </a:solidFill>
                <a:latin typeface="Times New Roman" panose="02020603050405020304" pitchFamily="18" charset="0"/>
              </a:rPr>
              <a:t>appointments</a:t>
            </a:r>
          </a:p>
        </p:txBody>
      </p:sp>
      <p:sp>
        <p:nvSpPr>
          <p:cNvPr id="18" name="Rectangle 17">
            <a:extLst>
              <a:ext uri="{FF2B5EF4-FFF2-40B4-BE49-F238E27FC236}">
                <a16:creationId xmlns:a16="http://schemas.microsoft.com/office/drawing/2014/main" id="{EE90B43A-E93D-2286-0C3C-402C2B3E7C41}"/>
              </a:ext>
            </a:extLst>
          </p:cNvPr>
          <p:cNvSpPr/>
          <p:nvPr/>
        </p:nvSpPr>
        <p:spPr>
          <a:xfrm>
            <a:off x="2438400" y="1816100"/>
            <a:ext cx="3873500" cy="508000"/>
          </a:xfrm>
          <a:prstGeom prst="rect">
            <a:avLst/>
          </a:prstGeom>
          <a:solidFill>
            <a:srgbClr val="FFFFFF"/>
          </a:solidFill>
          <a:ln w="12700">
            <a:solidFill>
              <a:srgbClr val="C8D3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296F1F18-E6E7-BFFC-BC16-F55E1DCDE036}"/>
              </a:ext>
            </a:extLst>
          </p:cNvPr>
          <p:cNvSpPr txBox="1"/>
          <p:nvPr/>
        </p:nvSpPr>
        <p:spPr>
          <a:xfrm>
            <a:off x="2527300" y="1917700"/>
            <a:ext cx="3695700" cy="369332"/>
          </a:xfrm>
          <a:prstGeom prst="rect">
            <a:avLst/>
          </a:prstGeom>
          <a:noFill/>
        </p:spPr>
        <p:txBody>
          <a:bodyPr vert="horz" wrap="square" lIns="25400" tIns="12700" rIns="25400" bIns="12700" rtlCol="0">
            <a:noAutofit/>
          </a:bodyPr>
          <a:lstStyle/>
          <a:p>
            <a:r>
              <a:rPr lang="en-US" sz="900">
                <a:solidFill>
                  <a:srgbClr val="222222"/>
                </a:solidFill>
                <a:latin typeface="Times New Roman" panose="02020603050405020304" pitchFamily="18" charset="0"/>
              </a:rPr>
              <a:t>user_id, starts_at, reminder_minutes_before</a:t>
            </a:r>
          </a:p>
        </p:txBody>
      </p:sp>
      <p:sp>
        <p:nvSpPr>
          <p:cNvPr id="20" name="Rectangle 19">
            <a:extLst>
              <a:ext uri="{FF2B5EF4-FFF2-40B4-BE49-F238E27FC236}">
                <a16:creationId xmlns:a16="http://schemas.microsoft.com/office/drawing/2014/main" id="{31A003DF-F247-F80C-3A84-EDA797CD4D99}"/>
              </a:ext>
            </a:extLst>
          </p:cNvPr>
          <p:cNvSpPr/>
          <p:nvPr/>
        </p:nvSpPr>
        <p:spPr>
          <a:xfrm>
            <a:off x="6413500" y="1816100"/>
            <a:ext cx="2413000" cy="508000"/>
          </a:xfrm>
          <a:prstGeom prst="rect">
            <a:avLst/>
          </a:prstGeom>
          <a:solidFill>
            <a:srgbClr val="FFFFFF"/>
          </a:solidFill>
          <a:ln w="12700">
            <a:solidFill>
              <a:srgbClr val="C8D3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9AD8F3C3-542C-9592-D8BF-0BC9E958EFA2}"/>
              </a:ext>
            </a:extLst>
          </p:cNvPr>
          <p:cNvSpPr txBox="1"/>
          <p:nvPr/>
        </p:nvSpPr>
        <p:spPr>
          <a:xfrm>
            <a:off x="6502400" y="1917700"/>
            <a:ext cx="2235200" cy="369332"/>
          </a:xfrm>
          <a:prstGeom prst="rect">
            <a:avLst/>
          </a:prstGeom>
          <a:noFill/>
        </p:spPr>
        <p:txBody>
          <a:bodyPr vert="horz" wrap="square" lIns="25400" tIns="12700" rIns="25400" bIns="12700" rtlCol="0">
            <a:noAutofit/>
          </a:bodyPr>
          <a:lstStyle/>
          <a:p>
            <a:r>
              <a:rPr lang="en-US" sz="900">
                <a:solidFill>
                  <a:srgbClr val="222222"/>
                </a:solidFill>
                <a:latin typeface="Times New Roman" panose="02020603050405020304" pitchFamily="18" charset="0"/>
              </a:rPr>
              <a:t>visit schedule</a:t>
            </a:r>
          </a:p>
        </p:txBody>
      </p:sp>
      <p:sp>
        <p:nvSpPr>
          <p:cNvPr id="22" name="Rectangle 21">
            <a:extLst>
              <a:ext uri="{FF2B5EF4-FFF2-40B4-BE49-F238E27FC236}">
                <a16:creationId xmlns:a16="http://schemas.microsoft.com/office/drawing/2014/main" id="{A272CFA7-DC17-DF47-7838-B6914F9E52AB}"/>
              </a:ext>
            </a:extLst>
          </p:cNvPr>
          <p:cNvSpPr/>
          <p:nvPr/>
        </p:nvSpPr>
        <p:spPr>
          <a:xfrm>
            <a:off x="279400" y="2362200"/>
            <a:ext cx="2032000" cy="508000"/>
          </a:xfrm>
          <a:prstGeom prst="rect">
            <a:avLst/>
          </a:prstGeom>
          <a:solidFill>
            <a:srgbClr val="FFFFFF"/>
          </a:solidFill>
          <a:ln w="12700">
            <a:solidFill>
              <a:srgbClr val="C8D3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8CC0EA83-4C89-6568-434B-EF35B2764F82}"/>
              </a:ext>
            </a:extLst>
          </p:cNvPr>
          <p:cNvSpPr txBox="1"/>
          <p:nvPr/>
        </p:nvSpPr>
        <p:spPr>
          <a:xfrm>
            <a:off x="368300" y="2463800"/>
            <a:ext cx="1854200" cy="369332"/>
          </a:xfrm>
          <a:prstGeom prst="rect">
            <a:avLst/>
          </a:prstGeom>
          <a:noFill/>
        </p:spPr>
        <p:txBody>
          <a:bodyPr vert="horz" wrap="square" lIns="25400" tIns="12700" rIns="25400" bIns="12700" rtlCol="0">
            <a:noAutofit/>
          </a:bodyPr>
          <a:lstStyle/>
          <a:p>
            <a:r>
              <a:rPr lang="en-US" sz="900" b="1">
                <a:solidFill>
                  <a:srgbClr val="222222"/>
                </a:solidFill>
                <a:latin typeface="Times New Roman" panose="02020603050405020304" pitchFamily="18" charset="0"/>
              </a:rPr>
              <a:t>care_tasks</a:t>
            </a:r>
          </a:p>
        </p:txBody>
      </p:sp>
      <p:sp>
        <p:nvSpPr>
          <p:cNvPr id="24" name="Rectangle 23">
            <a:extLst>
              <a:ext uri="{FF2B5EF4-FFF2-40B4-BE49-F238E27FC236}">
                <a16:creationId xmlns:a16="http://schemas.microsoft.com/office/drawing/2014/main" id="{C9288468-F2C7-F678-3AA8-42B6128E1E03}"/>
              </a:ext>
            </a:extLst>
          </p:cNvPr>
          <p:cNvSpPr/>
          <p:nvPr/>
        </p:nvSpPr>
        <p:spPr>
          <a:xfrm>
            <a:off x="2438400" y="2362200"/>
            <a:ext cx="3873500" cy="508000"/>
          </a:xfrm>
          <a:prstGeom prst="rect">
            <a:avLst/>
          </a:prstGeom>
          <a:solidFill>
            <a:srgbClr val="FFFFFF"/>
          </a:solidFill>
          <a:ln w="12700">
            <a:solidFill>
              <a:srgbClr val="C8D3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504E14D1-8683-9CE9-FB72-845DA4A56F76}"/>
              </a:ext>
            </a:extLst>
          </p:cNvPr>
          <p:cNvSpPr txBox="1"/>
          <p:nvPr/>
        </p:nvSpPr>
        <p:spPr>
          <a:xfrm>
            <a:off x="2527300" y="2463800"/>
            <a:ext cx="3695700" cy="369332"/>
          </a:xfrm>
          <a:prstGeom prst="rect">
            <a:avLst/>
          </a:prstGeom>
          <a:noFill/>
        </p:spPr>
        <p:txBody>
          <a:bodyPr vert="horz" wrap="square" lIns="25400" tIns="12700" rIns="25400" bIns="12700" rtlCol="0">
            <a:noAutofit/>
          </a:bodyPr>
          <a:lstStyle/>
          <a:p>
            <a:r>
              <a:rPr lang="en-US" sz="900">
                <a:solidFill>
                  <a:srgbClr val="222222"/>
                </a:solidFill>
                <a:latin typeface="Times New Roman" panose="02020603050405020304" pitchFamily="18" charset="0"/>
              </a:rPr>
              <a:t>user_id, task_date, completed</a:t>
            </a:r>
          </a:p>
        </p:txBody>
      </p:sp>
      <p:sp>
        <p:nvSpPr>
          <p:cNvPr id="26" name="Rectangle 25">
            <a:extLst>
              <a:ext uri="{FF2B5EF4-FFF2-40B4-BE49-F238E27FC236}">
                <a16:creationId xmlns:a16="http://schemas.microsoft.com/office/drawing/2014/main" id="{D728C9AF-910C-F2F9-D47B-54BFC61D9412}"/>
              </a:ext>
            </a:extLst>
          </p:cNvPr>
          <p:cNvSpPr/>
          <p:nvPr/>
        </p:nvSpPr>
        <p:spPr>
          <a:xfrm>
            <a:off x="6413500" y="2362200"/>
            <a:ext cx="2413000" cy="508000"/>
          </a:xfrm>
          <a:prstGeom prst="rect">
            <a:avLst/>
          </a:prstGeom>
          <a:solidFill>
            <a:srgbClr val="FFFFFF"/>
          </a:solidFill>
          <a:ln w="12700">
            <a:solidFill>
              <a:srgbClr val="C8D3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ED2BA9E3-FB58-8A01-0D28-570CA7B199D6}"/>
              </a:ext>
            </a:extLst>
          </p:cNvPr>
          <p:cNvSpPr txBox="1"/>
          <p:nvPr/>
        </p:nvSpPr>
        <p:spPr>
          <a:xfrm>
            <a:off x="6502400" y="2463800"/>
            <a:ext cx="2235200" cy="369332"/>
          </a:xfrm>
          <a:prstGeom prst="rect">
            <a:avLst/>
          </a:prstGeom>
          <a:noFill/>
        </p:spPr>
        <p:txBody>
          <a:bodyPr vert="horz" wrap="square" lIns="25400" tIns="12700" rIns="25400" bIns="12700" rtlCol="0">
            <a:noAutofit/>
          </a:bodyPr>
          <a:lstStyle/>
          <a:p>
            <a:r>
              <a:rPr lang="en-US" sz="900">
                <a:solidFill>
                  <a:srgbClr val="222222"/>
                </a:solidFill>
                <a:latin typeface="Times New Roman" panose="02020603050405020304" pitchFamily="18" charset="0"/>
              </a:rPr>
              <a:t>daily tasks</a:t>
            </a:r>
          </a:p>
        </p:txBody>
      </p:sp>
      <p:sp>
        <p:nvSpPr>
          <p:cNvPr id="28" name="Rectangle 27">
            <a:extLst>
              <a:ext uri="{FF2B5EF4-FFF2-40B4-BE49-F238E27FC236}">
                <a16:creationId xmlns:a16="http://schemas.microsoft.com/office/drawing/2014/main" id="{B92EB50D-5966-F0A3-61C5-2022EEB66375}"/>
              </a:ext>
            </a:extLst>
          </p:cNvPr>
          <p:cNvSpPr/>
          <p:nvPr/>
        </p:nvSpPr>
        <p:spPr>
          <a:xfrm>
            <a:off x="279400" y="2908300"/>
            <a:ext cx="2032000" cy="508000"/>
          </a:xfrm>
          <a:prstGeom prst="rect">
            <a:avLst/>
          </a:prstGeom>
          <a:solidFill>
            <a:srgbClr val="FFFFFF"/>
          </a:solidFill>
          <a:ln w="12700">
            <a:solidFill>
              <a:srgbClr val="C8D3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ED3C0C59-6DA9-930D-CEFB-77064C5C31DB}"/>
              </a:ext>
            </a:extLst>
          </p:cNvPr>
          <p:cNvSpPr txBox="1"/>
          <p:nvPr/>
        </p:nvSpPr>
        <p:spPr>
          <a:xfrm>
            <a:off x="368300" y="3009900"/>
            <a:ext cx="1854200" cy="369332"/>
          </a:xfrm>
          <a:prstGeom prst="rect">
            <a:avLst/>
          </a:prstGeom>
          <a:noFill/>
        </p:spPr>
        <p:txBody>
          <a:bodyPr vert="horz" wrap="square" lIns="25400" tIns="12700" rIns="25400" bIns="12700" rtlCol="0">
            <a:noAutofit/>
          </a:bodyPr>
          <a:lstStyle/>
          <a:p>
            <a:r>
              <a:rPr lang="en-US" sz="900" b="1">
                <a:solidFill>
                  <a:srgbClr val="222222"/>
                </a:solidFill>
                <a:latin typeface="Times New Roman" panose="02020603050405020304" pitchFamily="18" charset="0"/>
              </a:rPr>
              <a:t>symptom_entries</a:t>
            </a:r>
          </a:p>
        </p:txBody>
      </p:sp>
      <p:sp>
        <p:nvSpPr>
          <p:cNvPr id="30" name="Rectangle 29">
            <a:extLst>
              <a:ext uri="{FF2B5EF4-FFF2-40B4-BE49-F238E27FC236}">
                <a16:creationId xmlns:a16="http://schemas.microsoft.com/office/drawing/2014/main" id="{339AC8D1-8667-FAEB-0539-1C4FA81C5327}"/>
              </a:ext>
            </a:extLst>
          </p:cNvPr>
          <p:cNvSpPr/>
          <p:nvPr/>
        </p:nvSpPr>
        <p:spPr>
          <a:xfrm>
            <a:off x="2438400" y="2908300"/>
            <a:ext cx="3873500" cy="508000"/>
          </a:xfrm>
          <a:prstGeom prst="rect">
            <a:avLst/>
          </a:prstGeom>
          <a:solidFill>
            <a:srgbClr val="FFFFFF"/>
          </a:solidFill>
          <a:ln w="12700">
            <a:solidFill>
              <a:srgbClr val="C8D3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04585B98-844C-AE43-6A3F-668ED8966F99}"/>
              </a:ext>
            </a:extLst>
          </p:cNvPr>
          <p:cNvSpPr txBox="1"/>
          <p:nvPr/>
        </p:nvSpPr>
        <p:spPr>
          <a:xfrm>
            <a:off x="2527300" y="3009900"/>
            <a:ext cx="3695700" cy="369332"/>
          </a:xfrm>
          <a:prstGeom prst="rect">
            <a:avLst/>
          </a:prstGeom>
          <a:noFill/>
        </p:spPr>
        <p:txBody>
          <a:bodyPr vert="horz" wrap="square" lIns="25400" tIns="12700" rIns="25400" bIns="12700" rtlCol="0">
            <a:noAutofit/>
          </a:bodyPr>
          <a:lstStyle/>
          <a:p>
            <a:r>
              <a:rPr lang="en-US" sz="900">
                <a:solidFill>
                  <a:srgbClr val="222222"/>
                </a:solidFill>
                <a:latin typeface="Times New Roman" panose="02020603050405020304" pitchFamily="18" charset="0"/>
              </a:rPr>
              <a:t>user_id, symptom, severity</a:t>
            </a:r>
          </a:p>
        </p:txBody>
      </p:sp>
      <p:sp>
        <p:nvSpPr>
          <p:cNvPr id="32" name="Rectangle 31">
            <a:extLst>
              <a:ext uri="{FF2B5EF4-FFF2-40B4-BE49-F238E27FC236}">
                <a16:creationId xmlns:a16="http://schemas.microsoft.com/office/drawing/2014/main" id="{183B8575-B51E-0930-59F5-957CDA5863F5}"/>
              </a:ext>
            </a:extLst>
          </p:cNvPr>
          <p:cNvSpPr/>
          <p:nvPr/>
        </p:nvSpPr>
        <p:spPr>
          <a:xfrm>
            <a:off x="6413500" y="2908300"/>
            <a:ext cx="2413000" cy="508000"/>
          </a:xfrm>
          <a:prstGeom prst="rect">
            <a:avLst/>
          </a:prstGeom>
          <a:solidFill>
            <a:srgbClr val="FFFFFF"/>
          </a:solidFill>
          <a:ln w="12700">
            <a:solidFill>
              <a:srgbClr val="C8D3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9EB9C018-BE2F-4470-4C62-FB1AC72E6E2C}"/>
              </a:ext>
            </a:extLst>
          </p:cNvPr>
          <p:cNvSpPr txBox="1"/>
          <p:nvPr/>
        </p:nvSpPr>
        <p:spPr>
          <a:xfrm>
            <a:off x="6502400" y="3009900"/>
            <a:ext cx="2235200" cy="369332"/>
          </a:xfrm>
          <a:prstGeom prst="rect">
            <a:avLst/>
          </a:prstGeom>
          <a:noFill/>
        </p:spPr>
        <p:txBody>
          <a:bodyPr vert="horz" wrap="square" lIns="25400" tIns="12700" rIns="25400" bIns="12700" rtlCol="0">
            <a:noAutofit/>
          </a:bodyPr>
          <a:lstStyle/>
          <a:p>
            <a:r>
              <a:rPr lang="en-US" sz="900">
                <a:solidFill>
                  <a:srgbClr val="222222"/>
                </a:solidFill>
                <a:latin typeface="Times New Roman" panose="02020603050405020304" pitchFamily="18" charset="0"/>
              </a:rPr>
              <a:t>private journal</a:t>
            </a:r>
          </a:p>
        </p:txBody>
      </p:sp>
      <p:sp>
        <p:nvSpPr>
          <p:cNvPr id="34" name="Rectangle 33">
            <a:extLst>
              <a:ext uri="{FF2B5EF4-FFF2-40B4-BE49-F238E27FC236}">
                <a16:creationId xmlns:a16="http://schemas.microsoft.com/office/drawing/2014/main" id="{66F07F0E-8646-853B-3CDD-D94013CEAB93}"/>
              </a:ext>
            </a:extLst>
          </p:cNvPr>
          <p:cNvSpPr/>
          <p:nvPr/>
        </p:nvSpPr>
        <p:spPr>
          <a:xfrm>
            <a:off x="279400" y="3454400"/>
            <a:ext cx="2032000" cy="508000"/>
          </a:xfrm>
          <a:prstGeom prst="rect">
            <a:avLst/>
          </a:prstGeom>
          <a:solidFill>
            <a:srgbClr val="FFFFFF"/>
          </a:solidFill>
          <a:ln w="12700">
            <a:solidFill>
              <a:srgbClr val="C8D3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577DDB59-802E-08B7-D660-1F429170CF56}"/>
              </a:ext>
            </a:extLst>
          </p:cNvPr>
          <p:cNvSpPr txBox="1"/>
          <p:nvPr/>
        </p:nvSpPr>
        <p:spPr>
          <a:xfrm>
            <a:off x="368300" y="3556000"/>
            <a:ext cx="1854200" cy="369332"/>
          </a:xfrm>
          <a:prstGeom prst="rect">
            <a:avLst/>
          </a:prstGeom>
          <a:noFill/>
        </p:spPr>
        <p:txBody>
          <a:bodyPr vert="horz" wrap="square" lIns="25400" tIns="12700" rIns="25400" bIns="12700" rtlCol="0">
            <a:noAutofit/>
          </a:bodyPr>
          <a:lstStyle/>
          <a:p>
            <a:r>
              <a:rPr lang="en-US" sz="900" b="1">
                <a:solidFill>
                  <a:srgbClr val="222222"/>
                </a:solidFill>
                <a:latin typeface="Times New Roman" panose="02020603050405020304" pitchFamily="18" charset="0"/>
              </a:rPr>
              <a:t>push_reminders</a:t>
            </a:r>
          </a:p>
        </p:txBody>
      </p:sp>
      <p:sp>
        <p:nvSpPr>
          <p:cNvPr id="36" name="Rectangle 35">
            <a:extLst>
              <a:ext uri="{FF2B5EF4-FFF2-40B4-BE49-F238E27FC236}">
                <a16:creationId xmlns:a16="http://schemas.microsoft.com/office/drawing/2014/main" id="{8A87DA1D-E99C-7E6E-735F-240A4E773673}"/>
              </a:ext>
            </a:extLst>
          </p:cNvPr>
          <p:cNvSpPr/>
          <p:nvPr/>
        </p:nvSpPr>
        <p:spPr>
          <a:xfrm>
            <a:off x="2438400" y="3454400"/>
            <a:ext cx="3873500" cy="508000"/>
          </a:xfrm>
          <a:prstGeom prst="rect">
            <a:avLst/>
          </a:prstGeom>
          <a:solidFill>
            <a:srgbClr val="FFFFFF"/>
          </a:solidFill>
          <a:ln w="12700">
            <a:solidFill>
              <a:srgbClr val="C8D3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39F2BE53-8F95-5D32-333E-1D874F767D5C}"/>
              </a:ext>
            </a:extLst>
          </p:cNvPr>
          <p:cNvSpPr txBox="1"/>
          <p:nvPr/>
        </p:nvSpPr>
        <p:spPr>
          <a:xfrm>
            <a:off x="2527300" y="3556000"/>
            <a:ext cx="3695700" cy="369332"/>
          </a:xfrm>
          <a:prstGeom prst="rect">
            <a:avLst/>
          </a:prstGeom>
          <a:noFill/>
        </p:spPr>
        <p:txBody>
          <a:bodyPr vert="horz" wrap="square" lIns="25400" tIns="12700" rIns="25400" bIns="12700" rtlCol="0">
            <a:noAutofit/>
          </a:bodyPr>
          <a:lstStyle/>
          <a:p>
            <a:r>
              <a:rPr lang="en-US" sz="900">
                <a:solidFill>
                  <a:srgbClr val="222222"/>
                </a:solidFill>
                <a:latin typeface="Times New Roman" panose="02020603050405020304" pitchFamily="18" charset="0"/>
              </a:rPr>
              <a:t>user_id, key, scheduled_at, status</a:t>
            </a:r>
          </a:p>
        </p:txBody>
      </p:sp>
      <p:sp>
        <p:nvSpPr>
          <p:cNvPr id="38" name="Rectangle 37">
            <a:extLst>
              <a:ext uri="{FF2B5EF4-FFF2-40B4-BE49-F238E27FC236}">
                <a16:creationId xmlns:a16="http://schemas.microsoft.com/office/drawing/2014/main" id="{1425824F-8355-6EFE-8315-D54EFBD8FFD5}"/>
              </a:ext>
            </a:extLst>
          </p:cNvPr>
          <p:cNvSpPr/>
          <p:nvPr/>
        </p:nvSpPr>
        <p:spPr>
          <a:xfrm>
            <a:off x="6413500" y="3454400"/>
            <a:ext cx="2413000" cy="508000"/>
          </a:xfrm>
          <a:prstGeom prst="rect">
            <a:avLst/>
          </a:prstGeom>
          <a:solidFill>
            <a:srgbClr val="FFFFFF"/>
          </a:solidFill>
          <a:ln w="12700">
            <a:solidFill>
              <a:srgbClr val="C8D3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BCF6DB5A-FA83-365F-61D5-E85E7B5E16C0}"/>
              </a:ext>
            </a:extLst>
          </p:cNvPr>
          <p:cNvSpPr txBox="1"/>
          <p:nvPr/>
        </p:nvSpPr>
        <p:spPr>
          <a:xfrm>
            <a:off x="6502400" y="3556000"/>
            <a:ext cx="2235200" cy="369332"/>
          </a:xfrm>
          <a:prstGeom prst="rect">
            <a:avLst/>
          </a:prstGeom>
          <a:noFill/>
        </p:spPr>
        <p:txBody>
          <a:bodyPr vert="horz" wrap="square" lIns="25400" tIns="12700" rIns="25400" bIns="12700" rtlCol="0">
            <a:noAutofit/>
          </a:bodyPr>
          <a:lstStyle/>
          <a:p>
            <a:r>
              <a:rPr lang="en-US" sz="900">
                <a:solidFill>
                  <a:srgbClr val="222222"/>
                </a:solidFill>
                <a:latin typeface="Times New Roman" panose="02020603050405020304" pitchFamily="18" charset="0"/>
              </a:rPr>
              <a:t>scheduled delivery</a:t>
            </a:r>
          </a:p>
        </p:txBody>
      </p:sp>
      <p:sp>
        <p:nvSpPr>
          <p:cNvPr id="40" name="Rectangle 39">
            <a:extLst>
              <a:ext uri="{FF2B5EF4-FFF2-40B4-BE49-F238E27FC236}">
                <a16:creationId xmlns:a16="http://schemas.microsoft.com/office/drawing/2014/main" id="{30C2A456-7F8D-6ECF-7720-FFECAE0CB7BC}"/>
              </a:ext>
            </a:extLst>
          </p:cNvPr>
          <p:cNvSpPr/>
          <p:nvPr/>
        </p:nvSpPr>
        <p:spPr>
          <a:xfrm>
            <a:off x="279400" y="4000500"/>
            <a:ext cx="2032000" cy="508000"/>
          </a:xfrm>
          <a:prstGeom prst="rect">
            <a:avLst/>
          </a:prstGeom>
          <a:solidFill>
            <a:srgbClr val="FFFFFF"/>
          </a:solidFill>
          <a:ln w="12700">
            <a:solidFill>
              <a:srgbClr val="C8D3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30CA1776-1906-BD0E-7E06-E7D31B080E40}"/>
              </a:ext>
            </a:extLst>
          </p:cNvPr>
          <p:cNvSpPr txBox="1"/>
          <p:nvPr/>
        </p:nvSpPr>
        <p:spPr>
          <a:xfrm>
            <a:off x="368300" y="4102100"/>
            <a:ext cx="1854200" cy="369332"/>
          </a:xfrm>
          <a:prstGeom prst="rect">
            <a:avLst/>
          </a:prstGeom>
          <a:noFill/>
        </p:spPr>
        <p:txBody>
          <a:bodyPr vert="horz" wrap="square" lIns="25400" tIns="12700" rIns="25400" bIns="12700" rtlCol="0">
            <a:noAutofit/>
          </a:bodyPr>
          <a:lstStyle/>
          <a:p>
            <a:r>
              <a:rPr lang="en-US" sz="900" b="1">
                <a:solidFill>
                  <a:srgbClr val="222222"/>
                </a:solidFill>
                <a:latin typeface="Times New Roman" panose="02020603050405020304" pitchFamily="18" charset="0"/>
              </a:rPr>
              <a:t>push_subscriptions</a:t>
            </a:r>
          </a:p>
        </p:txBody>
      </p:sp>
      <p:sp>
        <p:nvSpPr>
          <p:cNvPr id="42" name="Rectangle 41">
            <a:extLst>
              <a:ext uri="{FF2B5EF4-FFF2-40B4-BE49-F238E27FC236}">
                <a16:creationId xmlns:a16="http://schemas.microsoft.com/office/drawing/2014/main" id="{1DA7E78A-1B79-E291-DEBF-5AA5A54F6B42}"/>
              </a:ext>
            </a:extLst>
          </p:cNvPr>
          <p:cNvSpPr/>
          <p:nvPr/>
        </p:nvSpPr>
        <p:spPr>
          <a:xfrm>
            <a:off x="2438400" y="4000500"/>
            <a:ext cx="3873500" cy="508000"/>
          </a:xfrm>
          <a:prstGeom prst="rect">
            <a:avLst/>
          </a:prstGeom>
          <a:solidFill>
            <a:srgbClr val="FFFFFF"/>
          </a:solidFill>
          <a:ln w="12700">
            <a:solidFill>
              <a:srgbClr val="C8D3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36C8F88E-8465-EDF5-CC58-D2F597CCB9A0}"/>
              </a:ext>
            </a:extLst>
          </p:cNvPr>
          <p:cNvSpPr txBox="1"/>
          <p:nvPr/>
        </p:nvSpPr>
        <p:spPr>
          <a:xfrm>
            <a:off x="2527300" y="4102100"/>
            <a:ext cx="3695700" cy="369332"/>
          </a:xfrm>
          <a:prstGeom prst="rect">
            <a:avLst/>
          </a:prstGeom>
          <a:noFill/>
        </p:spPr>
        <p:txBody>
          <a:bodyPr vert="horz" wrap="square" lIns="25400" tIns="12700" rIns="25400" bIns="12700" rtlCol="0">
            <a:noAutofit/>
          </a:bodyPr>
          <a:lstStyle/>
          <a:p>
            <a:r>
              <a:rPr lang="en-US" sz="900">
                <a:solidFill>
                  <a:srgbClr val="222222"/>
                </a:solidFill>
                <a:latin typeface="Times New Roman" panose="02020603050405020304" pitchFamily="18" charset="0"/>
              </a:rPr>
              <a:t>user_id, endpoint_hash</a:t>
            </a:r>
          </a:p>
        </p:txBody>
      </p:sp>
      <p:sp>
        <p:nvSpPr>
          <p:cNvPr id="44" name="Rectangle 43">
            <a:extLst>
              <a:ext uri="{FF2B5EF4-FFF2-40B4-BE49-F238E27FC236}">
                <a16:creationId xmlns:a16="http://schemas.microsoft.com/office/drawing/2014/main" id="{F8A64386-6D2A-C145-369B-C1F91BE74AF8}"/>
              </a:ext>
            </a:extLst>
          </p:cNvPr>
          <p:cNvSpPr/>
          <p:nvPr/>
        </p:nvSpPr>
        <p:spPr>
          <a:xfrm>
            <a:off x="6413500" y="4000500"/>
            <a:ext cx="2413000" cy="508000"/>
          </a:xfrm>
          <a:prstGeom prst="rect">
            <a:avLst/>
          </a:prstGeom>
          <a:solidFill>
            <a:srgbClr val="FFFFFF"/>
          </a:solidFill>
          <a:ln w="12700">
            <a:solidFill>
              <a:srgbClr val="C8D3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B32F0D01-8E15-38E9-9B18-382F426FFA8D}"/>
              </a:ext>
            </a:extLst>
          </p:cNvPr>
          <p:cNvSpPr txBox="1"/>
          <p:nvPr/>
        </p:nvSpPr>
        <p:spPr>
          <a:xfrm>
            <a:off x="6502400" y="4102100"/>
            <a:ext cx="2235200" cy="369332"/>
          </a:xfrm>
          <a:prstGeom prst="rect">
            <a:avLst/>
          </a:prstGeom>
          <a:noFill/>
        </p:spPr>
        <p:txBody>
          <a:bodyPr vert="horz" wrap="square" lIns="25400" tIns="12700" rIns="25400" bIns="12700" rtlCol="0">
            <a:noAutofit/>
          </a:bodyPr>
          <a:lstStyle/>
          <a:p>
            <a:r>
              <a:rPr lang="en-US" sz="900">
                <a:solidFill>
                  <a:srgbClr val="222222"/>
                </a:solidFill>
                <a:latin typeface="Times New Roman" panose="02020603050405020304" pitchFamily="18" charset="0"/>
              </a:rPr>
              <a:t>opt-in device</a:t>
            </a:r>
          </a:p>
        </p:txBody>
      </p:sp>
      <p:sp>
        <p:nvSpPr>
          <p:cNvPr id="46" name="TextBox 45">
            <a:extLst>
              <a:ext uri="{FF2B5EF4-FFF2-40B4-BE49-F238E27FC236}">
                <a16:creationId xmlns:a16="http://schemas.microsoft.com/office/drawing/2014/main" id="{4282BDDC-8C44-3089-FDEA-D49AE0F21DC6}"/>
              </a:ext>
            </a:extLst>
          </p:cNvPr>
          <p:cNvSpPr txBox="1"/>
          <p:nvPr/>
        </p:nvSpPr>
        <p:spPr>
          <a:xfrm>
            <a:off x="381000" y="4660900"/>
            <a:ext cx="8382000" cy="369332"/>
          </a:xfrm>
          <a:prstGeom prst="rect">
            <a:avLst/>
          </a:prstGeom>
          <a:noFill/>
        </p:spPr>
        <p:txBody>
          <a:bodyPr vert="horz" wrap="square" lIns="25400" tIns="12700" rIns="25400" bIns="12700" rtlCol="0">
            <a:noAutofit/>
          </a:bodyPr>
          <a:lstStyle/>
          <a:p>
            <a:pPr algn="ctr"/>
            <a:r>
              <a:rPr lang="en-US" sz="900">
                <a:solidFill>
                  <a:srgbClr val="555555"/>
                </a:solidFill>
                <a:latin typeface="Times New Roman" panose="02020603050405020304" pitchFamily="18" charset="0"/>
              </a:rPr>
              <a:t>All example records are synthetic and contain no real health information.</a:t>
            </a:r>
          </a:p>
        </p:txBody>
      </p:sp>
    </p:spTree>
    <p:extLst>
      <p:ext uri="{BB962C8B-B14F-4D97-AF65-F5344CB8AC3E}">
        <p14:creationId xmlns:p14="http://schemas.microsoft.com/office/powerpoint/2010/main" val="40292532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AC81962-5F4E-442D-A8CA-20CECF48EEB2}"/>
              </a:ext>
            </a:extLst>
          </p:cNvPr>
          <p:cNvSpPr/>
          <p:nvPr/>
        </p:nvSpPr>
        <p:spPr>
          <a:xfrm>
            <a:off x="304800" y="209550"/>
            <a:ext cx="7747000" cy="457200"/>
          </a:xfrm>
          <a:prstGeom prst="rect">
            <a:avLst/>
          </a:prstGeom>
        </p:spPr>
        <p:txBody>
          <a:bodyPr wrap="square">
            <a:noAutofit/>
          </a:bodyPr>
          <a:lstStyle/>
          <a:p>
            <a:pPr marL="342900" indent="-342900">
              <a:tabLst>
                <a:tab pos="457200" algn="l"/>
              </a:tabLst>
            </a:pPr>
            <a:r>
              <a:rPr lang="en-IN" b="1">
                <a:solidFill>
                  <a:srgbClr val="000099"/>
                </a:solidFill>
                <a:latin typeface="Times New Roman" panose="02020603050405020304" pitchFamily="18" charset="0"/>
                <a:ea typeface="Calibri" panose="020F0502020204030204" pitchFamily="34" charset="0"/>
                <a:cs typeface="Times New Roman" panose="02020603050405020304" pitchFamily="18" charset="0"/>
              </a:rPr>
              <a:t>Testing Methods and Results</a:t>
            </a:r>
            <a:endParaRPr lang="en-IN" b="1" dirty="0">
              <a:solidFill>
                <a:srgbClr val="000099"/>
              </a:solidFill>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8C2D9A24-C44F-40D0-82CE-2459343036BD}"/>
              </a:ext>
            </a:extLst>
          </p:cNvPr>
          <p:cNvSpPr/>
          <p:nvPr/>
        </p:nvSpPr>
        <p:spPr>
          <a:xfrm>
            <a:off x="647700" y="971550"/>
            <a:ext cx="7848600" cy="3323987"/>
          </a:xfrm>
          <a:prstGeom prst="rect">
            <a:avLst/>
          </a:prstGeom>
        </p:spPr>
        <p:txBody>
          <a:bodyPr wrap="square">
            <a:noAutofit/>
          </a:bodyPr>
          <a:lstStyle/>
          <a:p>
            <a:pPr marL="342900" indent="-342900">
              <a:buFont typeface="Wingdings" panose="05000000000000000000" pitchFamily="2" charset="2"/>
              <a:buChar char="v"/>
            </a:pPr>
            <a:r>
              <a:rPr lang="en-US" sz="1300">
                <a:latin typeface="Times New Roman" panose="02020603050405020304" pitchFamily="18" charset="0"/>
              </a:rPr>
              <a:t>Backend: Spring Boot Test, MockMvc, JUnit, and H2 PostgreSQL mode. Four focused reminder tests passed.</a:t>
            </a:r>
          </a:p>
          <a:p>
            <a:pPr marL="342900" indent="-342900">
              <a:buFont typeface="Wingdings" panose="05000000000000000000" pitchFamily="2" charset="2"/>
              <a:buChar char="v"/>
            </a:pPr>
            <a:endParaRPr lang="en-US" sz="1300">
              <a:latin typeface="Times New Roman" panose="02020603050405020304" pitchFamily="18" charset="0"/>
            </a:endParaRPr>
          </a:p>
          <a:p>
            <a:pPr marL="342900" indent="-342900">
              <a:buFont typeface="Wingdings" panose="05000000000000000000" pitchFamily="2" charset="2"/>
              <a:buChar char="v"/>
            </a:pPr>
            <a:r>
              <a:rPr lang="en-US" sz="1300">
                <a:latin typeface="Times New Roman" panose="02020603050405020304" pitchFamily="18" charset="0"/>
              </a:rPr>
              <a:t>Coverage: timezone default and validation; schedule preferences; deduplication; one-time expiring snooze; 90-day retention.</a:t>
            </a:r>
          </a:p>
          <a:p>
            <a:pPr marL="342900" indent="-342900">
              <a:buFont typeface="Wingdings" panose="05000000000000000000" pitchFamily="2" charset="2"/>
              <a:buChar char="v"/>
            </a:pPr>
            <a:endParaRPr lang="en-US" sz="1300">
              <a:latin typeface="Times New Roman" panose="02020603050405020304" pitchFamily="18" charset="0"/>
            </a:endParaRPr>
          </a:p>
          <a:p>
            <a:pPr marL="342900" indent="-342900">
              <a:buFont typeface="Wingdings" panose="05000000000000000000" pitchFamily="2" charset="2"/>
              <a:buChar char="v"/>
            </a:pPr>
            <a:r>
              <a:rPr lang="en-US" sz="1300">
                <a:latin typeface="Times New Roman" panose="02020603050405020304" pitchFamily="18" charset="0"/>
              </a:rPr>
              <a:t>Frontend: TypeScript/Vite production build passed.</a:t>
            </a:r>
          </a:p>
          <a:p>
            <a:pPr marL="342900" indent="-342900">
              <a:buFont typeface="Wingdings" panose="05000000000000000000" pitchFamily="2" charset="2"/>
              <a:buChar char="v"/>
            </a:pPr>
            <a:endParaRPr lang="en-US" sz="1300">
              <a:latin typeface="Times New Roman" panose="02020603050405020304" pitchFamily="18" charset="0"/>
            </a:endParaRPr>
          </a:p>
          <a:p>
            <a:pPr marL="342900" indent="-342900">
              <a:buFont typeface="Wingdings" panose="05000000000000000000" pitchFamily="2" charset="2"/>
              <a:buChar char="v"/>
            </a:pPr>
            <a:r>
              <a:rPr lang="en-US" sz="1300">
                <a:latin typeface="Times New Roman" panose="02020603050405020304" pitchFamily="18" charset="0"/>
              </a:rPr>
              <a:t>Privacy checks: JWT authentication, ownership checks, selective report sharing, generic push text.</a:t>
            </a:r>
          </a:p>
          <a:p>
            <a:pPr marL="342900" indent="-342900">
              <a:buFont typeface="Wingdings" panose="05000000000000000000" pitchFamily="2" charset="2"/>
              <a:buChar char="v"/>
            </a:pPr>
            <a:endParaRPr lang="en-US" sz="1300">
              <a:latin typeface="Times New Roman" panose="02020603050405020304" pitchFamily="18" charset="0"/>
            </a:endParaRPr>
          </a:p>
          <a:p>
            <a:pPr marL="342900" indent="-342900">
              <a:buFont typeface="Wingdings" panose="05000000000000000000" pitchFamily="2" charset="2"/>
              <a:buChar char="v"/>
            </a:pPr>
            <a:r>
              <a:rPr lang="en-US" sz="1300">
                <a:latin typeface="Times New Roman" panose="02020603050405020304" pitchFamily="18" charset="0"/>
              </a:rPr>
              <a:t>Limitations: no live push delivery without VAPID keys and HTTPS; broader UI, accessibility, and MySQL integration tests remain future work.</a:t>
            </a:r>
            <a:endParaRPr lang="en-US" sz="1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86465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274D3FD-3F5A-4F68-95EF-1E13919DDE63}"/>
              </a:ext>
            </a:extLst>
          </p:cNvPr>
          <p:cNvSpPr/>
          <p:nvPr/>
        </p:nvSpPr>
        <p:spPr>
          <a:xfrm>
            <a:off x="304799" y="209550"/>
            <a:ext cx="7874000" cy="457200"/>
          </a:xfrm>
          <a:prstGeom prst="rect">
            <a:avLst/>
          </a:prstGeom>
        </p:spPr>
        <p:txBody>
          <a:bodyPr wrap="square">
            <a:noAutofit/>
          </a:bodyPr>
          <a:lstStyle/>
          <a:p>
            <a:pPr marL="342900" lvl="0" indent="-342900">
              <a:tabLst>
                <a:tab pos="457200" algn="l"/>
              </a:tabLst>
            </a:pPr>
            <a:r>
              <a:rPr lang="en-IN" b="1">
                <a:solidFill>
                  <a:srgbClr val="000099"/>
                </a:solidFill>
                <a:latin typeface="Times New Roman" panose="02020603050405020304" pitchFamily="18" charset="0"/>
                <a:ea typeface="Times New Roman" panose="02020603050405020304" pitchFamily="18" charset="0"/>
              </a:rPr>
              <a:t>Conclusion and Future Work</a:t>
            </a:r>
            <a:endParaRPr lang="en-IN" b="1" dirty="0">
              <a:solidFill>
                <a:srgbClr val="000099"/>
              </a:solidFill>
              <a:latin typeface="Times New Roman" panose="02020603050405020304" pitchFamily="18" charset="0"/>
              <a:ea typeface="Times New Roman" panose="02020603050405020304" pitchFamily="18" charset="0"/>
            </a:endParaRPr>
          </a:p>
        </p:txBody>
      </p:sp>
      <p:sp>
        <p:nvSpPr>
          <p:cNvPr id="3" name="Rectangle 2">
            <a:extLst>
              <a:ext uri="{FF2B5EF4-FFF2-40B4-BE49-F238E27FC236}">
                <a16:creationId xmlns:a16="http://schemas.microsoft.com/office/drawing/2014/main" id="{50063B2B-1D59-418D-A2B6-5F4901044C83}"/>
              </a:ext>
            </a:extLst>
          </p:cNvPr>
          <p:cNvSpPr/>
          <p:nvPr/>
        </p:nvSpPr>
        <p:spPr>
          <a:xfrm>
            <a:off x="334617" y="590550"/>
            <a:ext cx="8305800" cy="458074"/>
          </a:xfrm>
          <a:prstGeom prst="rect">
            <a:avLst/>
          </a:prstGeom>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	 </a:t>
            </a:r>
          </a:p>
        </p:txBody>
      </p:sp>
      <p:sp>
        <p:nvSpPr>
          <p:cNvPr id="4" name="Rectangle 3">
            <a:extLst>
              <a:ext uri="{FF2B5EF4-FFF2-40B4-BE49-F238E27FC236}">
                <a16:creationId xmlns:a16="http://schemas.microsoft.com/office/drawing/2014/main" id="{814A9FBE-6227-4D01-8F92-1A3234B49896}"/>
              </a:ext>
            </a:extLst>
          </p:cNvPr>
          <p:cNvSpPr/>
          <p:nvPr/>
        </p:nvSpPr>
        <p:spPr>
          <a:xfrm>
            <a:off x="609600" y="742949"/>
            <a:ext cx="7696200" cy="3784600"/>
          </a:xfrm>
          <a:prstGeom prst="rect">
            <a:avLst/>
          </a:prstGeom>
        </p:spPr>
        <p:txBody>
          <a:bodyPr wrap="square">
            <a:noAutofit/>
          </a:bodyPr>
          <a:lstStyle/>
          <a:p>
            <a:pPr>
              <a:lnSpc>
                <a:spcPct val="150000"/>
              </a:lnSpc>
            </a:pPr>
            <a:r>
              <a:rPr lang="en-US" sz="1300">
                <a:latin typeface="Times New Roman" panose="02020603050405020304" pitchFamily="18" charset="0"/>
                <a:cs typeface="Times New Roman" panose="02020603050405020304" pitchFamily="18" charset="0"/>
              </a:rPr>
              <a:t>MaatriCare provides an authenticated workspace for pregnancy records, appointments, daily care, private journaling, educational resources, user-controlled reports, and reminders. The system focuses on organization and communication support.</a:t>
            </a:r>
          </a:p>
          <a:p>
            <a:pPr>
              <a:lnSpc>
                <a:spcPct val="150000"/>
              </a:lnSpc>
            </a:pPr>
            <a:endParaRPr lang="en-US" sz="1300">
              <a:latin typeface="Times New Roman" panose="02020603050405020304" pitchFamily="18" charset="0"/>
              <a:cs typeface="Times New Roman" panose="02020603050405020304" pitchFamily="18" charset="0"/>
            </a:endParaRPr>
          </a:p>
          <a:p>
            <a:pPr>
              <a:lnSpc>
                <a:spcPct val="150000"/>
              </a:lnSpc>
            </a:pPr>
            <a:r>
              <a:rPr lang="en-US" sz="1300">
                <a:latin typeface="Times New Roman" panose="02020603050405020304" pitchFamily="18" charset="0"/>
                <a:cs typeface="Times New Roman" panose="02020603050405020304" pitchFamily="18" charset="0"/>
              </a:rPr>
              <a:t>Future work</a:t>
            </a:r>
          </a:p>
          <a:p>
            <a:pPr>
              <a:lnSpc>
                <a:spcPct val="150000"/>
              </a:lnSpc>
            </a:pPr>
            <a:r>
              <a:rPr lang="en-US" sz="1300">
                <a:latin typeface="Times New Roman" panose="02020603050405020304" pitchFamily="18" charset="0"/>
                <a:cs typeface="Times New Roman" panose="02020603050405020304" pitchFamily="18" charset="0"/>
              </a:rPr>
              <a:t>- Configure VAPID and HTTPS, then test push on real devices</a:t>
            </a:r>
          </a:p>
          <a:p>
            <a:pPr>
              <a:lnSpc>
                <a:spcPct val="150000"/>
              </a:lnSpc>
            </a:pPr>
            <a:r>
              <a:rPr lang="en-US" sz="1300">
                <a:latin typeface="Times New Roman" panose="02020603050405020304" pitchFamily="18" charset="0"/>
                <a:cs typeface="Times New Roman" panose="02020603050405020304" pitchFamily="18" charset="0"/>
              </a:rPr>
              <a:t>- Replace illustrative interface panels with live screenshots</a:t>
            </a:r>
          </a:p>
          <a:p>
            <a:pPr>
              <a:lnSpc>
                <a:spcPct val="150000"/>
              </a:lnSpc>
            </a:pPr>
            <a:r>
              <a:rPr lang="en-US" sz="1300">
                <a:latin typeface="Times New Roman" panose="02020603050405020304" pitchFamily="18" charset="0"/>
                <a:cs typeface="Times New Roman" panose="02020603050405020304" pitchFamily="18" charset="0"/>
              </a:rPr>
              <a:t>- Extend frontend, database, migration, and accessibility tests</a:t>
            </a:r>
          </a:p>
          <a:p>
            <a:pPr>
              <a:lnSpc>
                <a:spcPct val="150000"/>
              </a:lnSpc>
            </a:pPr>
            <a:r>
              <a:rPr lang="en-US" sz="1300">
                <a:latin typeface="Times New Roman" panose="02020603050405020304" pitchFamily="18" charset="0"/>
                <a:cs typeface="Times New Roman" panose="02020603050405020304" pitchFamily="18" charset="0"/>
              </a:rPr>
              <a:t>- Complete privacy/security review and production deployment</a:t>
            </a:r>
          </a:p>
          <a:p>
            <a:pPr>
              <a:lnSpc>
                <a:spcPct val="150000"/>
              </a:lnSpc>
            </a:pPr>
            <a:r>
              <a:rPr lang="en-US" sz="1300">
                <a:latin typeface="Times New Roman" panose="02020603050405020304" pitchFamily="18" charset="0"/>
                <a:cs typeface="Times New Roman" panose="02020603050405020304" pitchFamily="18" charset="0"/>
              </a:rPr>
              <a:t>- Prepare the final report in the official institutional format</a:t>
            </a:r>
            <a:endParaRPr lang="en-IN" sz="1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989171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599D439-EBA7-449F-8506-42CC095409CC}"/>
              </a:ext>
            </a:extLst>
          </p:cNvPr>
          <p:cNvSpPr/>
          <p:nvPr/>
        </p:nvSpPr>
        <p:spPr>
          <a:xfrm>
            <a:off x="76200" y="133350"/>
            <a:ext cx="7620000" cy="457200"/>
          </a:xfrm>
          <a:prstGeom prst="rect">
            <a:avLst/>
          </a:prstGeom>
        </p:spPr>
        <p:txBody>
          <a:bodyPr wrap="square">
            <a:noAutofit/>
          </a:bodyPr>
          <a:lstStyle/>
          <a:p>
            <a:r>
              <a:rPr lang="en-US" b="1">
                <a:solidFill>
                  <a:srgbClr val="000099"/>
                </a:solidFill>
                <a:latin typeface="Times New Roman" panose="02020603050405020304" pitchFamily="18" charset="0"/>
                <a:ea typeface="Calibri" panose="020F0502020204030204" pitchFamily="34" charset="0"/>
                <a:cs typeface="Times New Roman" panose="02020603050405020304" pitchFamily="18" charset="0"/>
              </a:rPr>
              <a:t>Reference Books and Websites</a:t>
            </a:r>
            <a:endParaRPr lang="en-US" b="1"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6F1F7F1A-FAAF-47A7-96F1-758A058B23EC}"/>
              </a:ext>
            </a:extLst>
          </p:cNvPr>
          <p:cNvSpPr>
            <a:spLocks noChangeArrowheads="1"/>
          </p:cNvSpPr>
          <p:nvPr/>
        </p:nvSpPr>
        <p:spPr bwMode="auto">
          <a:xfrm>
            <a:off x="0" y="876073"/>
            <a:ext cx="9149749" cy="33720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noAutofit/>
          </a:bodyPr>
          <a:lstStyle/>
          <a:p>
            <a:pPr marL="285750" marR="0" lvl="0" indent="-285750"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3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React Documentation. React.dev.</a:t>
            </a:r>
          </a:p>
          <a:p>
            <a:pPr marL="285750" marR="0" lvl="0" indent="-285750"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3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Spring Boot Reference Documentation. Spring.io.</a:t>
            </a:r>
          </a:p>
          <a:p>
            <a:pPr marL="285750" marR="0" lvl="0" indent="-285750"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3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Spring Security Reference Documentation. Spring.io.</a:t>
            </a:r>
          </a:p>
          <a:p>
            <a:pPr marL="285750" marR="0" lvl="0" indent="-285750"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3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PostgreSQL Documentation. PostgreSQL.org.</a:t>
            </a:r>
          </a:p>
          <a:p>
            <a:pPr marL="285750" marR="0" lvl="0" indent="-285750"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3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MySQL 8.0 Reference Manual. Oracle.</a:t>
            </a:r>
          </a:p>
          <a:p>
            <a:pPr marL="285750" marR="0" lvl="0" indent="-285750"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3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MDN Web Docs: Service Worker API and Push API.</a:t>
            </a:r>
          </a:p>
          <a:p>
            <a:pPr marL="285750" marR="0" lvl="0" indent="-285750"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3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Pressman and Maxim. Software Engineering: A Practitionerâ€™s Approach, 9th ed.</a:t>
            </a:r>
          </a:p>
          <a:p>
            <a:pPr marL="285750" marR="0" lvl="0" indent="-285750"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3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Sommerville. Software Engineering, 10th ed.</a:t>
            </a:r>
          </a:p>
          <a:p>
            <a:pPr marL="285750" marR="0" lvl="0" indent="-285750"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30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Verify publication details and retain only sources actually consulted.</a:t>
            </a:r>
            <a:endParaRPr kumimoji="0" lang="en-US" altLang="en-US" sz="13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275898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9DBF420-0454-4DB5-82CD-499836C49A43}"/>
              </a:ext>
            </a:extLst>
          </p:cNvPr>
          <p:cNvSpPr/>
          <p:nvPr/>
        </p:nvSpPr>
        <p:spPr>
          <a:xfrm>
            <a:off x="698500" y="1333500"/>
            <a:ext cx="7696200" cy="812800"/>
          </a:xfrm>
          <a:prstGeom prst="rect">
            <a:avLst/>
          </a:prstGeom>
        </p:spPr>
        <p:txBody>
          <a:bodyPr wrap="square">
            <a:noAutofit/>
          </a:bodyPr>
          <a:lstStyle/>
          <a:p>
            <a:pPr algn="ctr">
              <a:lnSpc>
                <a:spcPct val="150000"/>
              </a:lnSpc>
            </a:pPr>
            <a:r>
              <a:rPr lang="en-US" sz="1700" b="1">
                <a:solidFill>
                  <a:srgbClr val="00B050"/>
                </a:solidFill>
                <a:latin typeface="Times New Roman" panose="02020603050405020304" pitchFamily="18" charset="0"/>
                <a:cs typeface="Times New Roman" panose="02020603050405020304" pitchFamily="18" charset="0"/>
              </a:rPr>
              <a:t>I sincerely thank my project guide: Mr. M. GOVINDARAJ Sir.</a:t>
            </a:r>
            <a:endParaRPr lang="en-US" sz="1700" b="1" dirty="0">
              <a:solidFill>
                <a:srgbClr val="00B050"/>
              </a:solidFill>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0E76DE56-3B45-4211-AFF9-FF50C014FFEC}"/>
              </a:ext>
            </a:extLst>
          </p:cNvPr>
          <p:cNvSpPr/>
          <p:nvPr/>
        </p:nvSpPr>
        <p:spPr>
          <a:xfrm>
            <a:off x="1905000" y="2921000"/>
            <a:ext cx="5334000" cy="825500"/>
          </a:xfrm>
          <a:prstGeom prst="rect">
            <a:avLst/>
          </a:prstGeom>
        </p:spPr>
        <p:txBody>
          <a:bodyPr wrap="square">
            <a:noAutofit/>
          </a:bodyPr>
          <a:lstStyle/>
          <a:p>
            <a:pPr algn="ctr"/>
            <a:r>
              <a:rPr lang="en-IN" sz="2800" b="1">
                <a:latin typeface="Arial" panose="020B0604020202020204" pitchFamily="34" charset="0"/>
              </a:rPr>
              <a:t>Thank You</a:t>
            </a:r>
            <a:endParaRPr lang="en-IN" sz="2800" b="1" dirty="0">
              <a:solidFill>
                <a:srgbClr val="00B050"/>
              </a:solidFill>
              <a:latin typeface="Arial" panose="020B0604020202020204" pitchFamily="34" charset="0"/>
            </a:endParaRPr>
          </a:p>
        </p:txBody>
      </p:sp>
      <p:sp>
        <p:nvSpPr>
          <p:cNvPr id="3" name="TextBox 2">
            <a:extLst>
              <a:ext uri="{FF2B5EF4-FFF2-40B4-BE49-F238E27FC236}">
                <a16:creationId xmlns:a16="http://schemas.microsoft.com/office/drawing/2014/main" id="{EBCCD07C-97C5-01D1-7148-E952BF2867C5}"/>
              </a:ext>
            </a:extLst>
          </p:cNvPr>
          <p:cNvSpPr txBox="1"/>
          <p:nvPr/>
        </p:nvSpPr>
        <p:spPr>
          <a:xfrm>
            <a:off x="889000" y="4000500"/>
            <a:ext cx="7366000" cy="369332"/>
          </a:xfrm>
          <a:prstGeom prst="rect">
            <a:avLst/>
          </a:prstGeom>
          <a:noFill/>
        </p:spPr>
        <p:txBody>
          <a:bodyPr vert="horz" wrap="square" lIns="25400" tIns="12700" rIns="25400" bIns="12700" rtlCol="0">
            <a:noAutofit/>
          </a:bodyPr>
          <a:lstStyle/>
          <a:p>
            <a:pPr algn="ctr"/>
            <a:r>
              <a:rPr lang="en-US" sz="1500" b="1">
                <a:solidFill>
                  <a:srgbClr val="138A4B"/>
                </a:solidFill>
                <a:latin typeface="Times New Roman" panose="02020603050405020304" pitchFamily="18" charset="0"/>
              </a:rPr>
              <a:t>The CDOE and Review Committee</a:t>
            </a:r>
          </a:p>
        </p:txBody>
      </p:sp>
    </p:spTree>
    <p:extLst>
      <p:ext uri="{BB962C8B-B14F-4D97-AF65-F5344CB8AC3E}">
        <p14:creationId xmlns:p14="http://schemas.microsoft.com/office/powerpoint/2010/main" val="369768804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8.0&quot;&gt;&lt;object type=&quot;1&quot; unique_id=&quot;10001&quot;&gt;&lt;object type=&quot;8&quot; unique_id=&quot;74339&quot;&gt;&lt;/object&gt;&lt;object type=&quot;2&quot; unique_id=&quot;74340&quot;&gt;&lt;object type=&quot;3&quot; unique_id=&quot;74341&quot;&gt;&lt;property id=&quot;20148&quot; value=&quot;5&quot;/&gt;&lt;property id=&quot;20300&quot; value=&quot;Slide 1&quot;/&gt;&lt;property id=&quot;20307&quot; value=&quot;256&quot;/&gt;&lt;/object&gt;&lt;object type=&quot;3&quot; unique_id=&quot;74407&quot;&gt;&lt;property id=&quot;20148&quot; value=&quot;5&quot;/&gt;&lt;property id=&quot;20300&quot; value=&quot;Slide 2&quot;/&gt;&lt;property id=&quot;20307&quot; value=&quot;262&quot;/&gt;&lt;/object&gt;&lt;object type=&quot;3&quot; unique_id=&quot;74608&quot;&gt;&lt;property id=&quot;20148&quot; value=&quot;5&quot;/&gt;&lt;property id=&quot;20300&quot; value=&quot;Slide 5&quot;/&gt;&lt;property id=&quot;20307&quot; value=&quot;266&quot;/&gt;&lt;/object&gt;&lt;object type=&quot;3&quot; unique_id=&quot;74659&quot;&gt;&lt;property id=&quot;20148&quot; value=&quot;5&quot;/&gt;&lt;property id=&quot;20300&quot; value=&quot;Slide 9&quot;/&gt;&lt;property id=&quot;20307&quot; value=&quot;269&quot;/&gt;&lt;/object&gt;&lt;object type=&quot;3&quot; unique_id=&quot;74741&quot;&gt;&lt;property id=&quot;20148&quot; value=&quot;5&quot;/&gt;&lt;property id=&quot;20300&quot; value=&quot;Slide 3&quot;/&gt;&lt;property id=&quot;20307&quot; value=&quot;273&quot;/&gt;&lt;/object&gt;&lt;object type=&quot;3&quot; unique_id=&quot;74742&quot;&gt;&lt;property id=&quot;20148&quot; value=&quot;5&quot;/&gt;&lt;property id=&quot;20300&quot; value=&quot;Slide 6&quot;/&gt;&lt;property id=&quot;20307&quot; value=&quot;270&quot;/&gt;&lt;/object&gt;&lt;object type=&quot;3&quot; unique_id=&quot;74743&quot;&gt;&lt;property id=&quot;20148&quot; value=&quot;5&quot;/&gt;&lt;property id=&quot;20300&quot; value=&quot;Slide 7&quot;/&gt;&lt;property id=&quot;20307&quot; value=&quot;271&quot;/&gt;&lt;/object&gt;&lt;object type=&quot;3&quot; unique_id=&quot;74744&quot;&gt;&lt;property id=&quot;20148&quot; value=&quot;5&quot;/&gt;&lt;property id=&quot;20300&quot; value=&quot;Slide 8&quot;/&gt;&lt;property id=&quot;20307&quot; value=&quot;272&quot;/&gt;&lt;/object&gt;&lt;object type=&quot;3&quot; unique_id=&quot;74818&quot;&gt;&lt;property id=&quot;20148&quot; value=&quot;5&quot;/&gt;&lt;property id=&quot;20300&quot; value=&quot;Slide 4&quot;/&gt;&lt;property id=&quot;20307&quot; value=&quot;274&quot;/&gt;&lt;/object&gt;&lt;/object&gt;&lt;/object&gt;&lt;/database&gt;"/>
  <p:tag name="SECTOMILLISECCONVERTED" val="1"/>
  <p:tag name="ARTICULATE_DESIGN_ID_OFFICE THEME" val="hHk7KfzR"/>
  <p:tag name="ARTICULATE_SLIDE_COUNT" val="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ea60d57e-af5b-4752-ac57-3e4f28ca11dc}" enabled="1" method="Standard" siteId="{36da45f1-dd2c-4d1f-af13-5abe46b99921}" contentBits="0" removed="0"/>
</clbl:labelList>
</file>

<file path=docProps/app.xml><?xml version="1.0" encoding="utf-8"?>
<Properties xmlns="http://schemas.openxmlformats.org/officeDocument/2006/extended-properties" xmlns:vt="http://schemas.openxmlformats.org/officeDocument/2006/docPropsVTypes">
  <TotalTime>11429</TotalTime>
  <Words>1801</Words>
  <Application>Microsoft Office PowerPoint</Application>
  <PresentationFormat>On-screen Show (16:9)</PresentationFormat>
  <Paragraphs>248</Paragraphs>
  <Slides>20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Consolas</vt:lpstr>
      <vt:lpstr>Times New Roman</vt:lpstr>
      <vt:lpstr>Wingdings</vt:lpstr>
      <vt:lpstr>Office Theme</vt:lpstr>
      <vt:lpstr>Jan -2024</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Shailesh</dc:creator>
  <cp:lastModifiedBy>Kumar, Deepak</cp:lastModifiedBy>
  <cp:revision>989</cp:revision>
  <dcterms:created xsi:type="dcterms:W3CDTF">2016-07-22T06:37:47Z</dcterms:created>
  <dcterms:modified xsi:type="dcterms:W3CDTF">2026-10-19T15:36:02Z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FC4549A7-CFF4-4A36-89BC-19E85BFABD1B</vt:lpwstr>
  </property>
  <property fmtid="{D5CDD505-2E9C-101B-9397-08002B2CF9AE}" pid="3" name="ArticulatePath">
    <vt:lpwstr>Management Template (1) (1)</vt:lpwstr>
  </property>
</Properties>
</file>