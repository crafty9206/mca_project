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368" r:id="rId2"/>
    <p:sldId id="369" r:id="rId3"/>
    <p:sldId id="382" r:id="rId4"/>
    <p:sldId id="390" r:id="rId5"/>
    <p:sldId id="400" r:id="rId6"/>
    <p:sldId id="371" r:id="rId7"/>
    <p:sldId id="385" r:id="rId8"/>
    <p:sldId id="376" r:id="rId9"/>
    <p:sldId id="395" r:id="rId10"/>
    <p:sldId id="396" r:id="rId11"/>
    <p:sldId id="404" r:id="rId12"/>
    <p:sldId id="405" r:id="rId13"/>
    <p:sldId id="386" r:id="rId14"/>
    <p:sldId id="391" r:id="rId15"/>
    <p:sldId id="407" r:id="rId16"/>
    <p:sldId id="408" r:id="rId17"/>
    <p:sldId id="392" r:id="rId18"/>
    <p:sldId id="409" r:id="rId19"/>
    <p:sldId id="410" r:id="rId20"/>
    <p:sldId id="411" r:id="rId21"/>
    <p:sldId id="388" r:id="rId22"/>
    <p:sldId id="401" r:id="rId23"/>
    <p:sldId id="389" r:id="rId24"/>
    <p:sldId id="412" r:id="rId25"/>
    <p:sldId id="402" r:id="rId26"/>
  </p:sldIdLst>
  <p:sldSz cx="9144000" cy="5143500" type="screen16x9"/>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rish bhagavathula" initials="h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E41"/>
    <a:srgbClr val="000099"/>
    <a:srgbClr val="012142"/>
    <a:srgbClr val="17375E"/>
    <a:srgbClr val="718587"/>
    <a:srgbClr val="C00000"/>
    <a:srgbClr val="ED1B24"/>
    <a:srgbClr val="75BE39"/>
    <a:srgbClr val="0067AC"/>
    <a:srgbClr val="0055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71" autoAdjust="0"/>
  </p:normalViewPr>
  <p:slideViewPr>
    <p:cSldViewPr>
      <p:cViewPr varScale="1">
        <p:scale>
          <a:sx n="88" d="100"/>
          <a:sy n="88" d="100"/>
        </p:scale>
        <p:origin x="568" y="60"/>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5550"/>
    </p:cViewPr>
  </p:sorterViewPr>
  <p:notesViewPr>
    <p:cSldViewPr>
      <p:cViewPr varScale="1">
        <p:scale>
          <a:sx n="53" d="100"/>
          <a:sy n="53" d="100"/>
        </p:scale>
        <p:origin x="-285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2D72081-C824-4086-8F2F-2E1515CCAD09}" type="datetimeFigureOut">
              <a:rPr lang="en-US" smtClean="0"/>
              <a:pPr/>
              <a:t>2/3/2026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24658-0728-4F51-80F4-3C91ECA2A4FC}" type="slidenum">
              <a:rPr lang="en-US" smtClean="0"/>
              <a:pPr/>
              <a:t>‹#›</a:t>
            </a:fld>
            <a:endParaRPr lang="en-US" dirty="0"/>
          </a:p>
        </p:txBody>
      </p:sp>
    </p:spTree>
    <p:extLst>
      <p:ext uri="{BB962C8B-B14F-4D97-AF65-F5344CB8AC3E}">
        <p14:creationId xmlns:p14="http://schemas.microsoft.com/office/powerpoint/2010/main" val="2171052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5D0174-27A0-4699-9B7D-1DF316D5B691}" type="datetimeFigureOut">
              <a:rPr lang="en-IN" smtClean="0"/>
              <a:pPr/>
              <a:t>03-02-2026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7294E0-43BA-4050-978A-B5F4E62A110E}" type="slidenum">
              <a:rPr lang="en-IN" smtClean="0"/>
              <a:pPr/>
              <a:t>‹#›</a:t>
            </a:fld>
            <a:endParaRPr lang="en-IN" dirty="0"/>
          </a:p>
        </p:txBody>
      </p:sp>
    </p:spTree>
    <p:extLst>
      <p:ext uri="{BB962C8B-B14F-4D97-AF65-F5344CB8AC3E}">
        <p14:creationId xmlns:p14="http://schemas.microsoft.com/office/powerpoint/2010/main" val="25325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582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pos="5376" userDrawn="1">
          <p15:clr>
            <a:srgbClr val="FBAE40"/>
          </p15:clr>
        </p15:guide>
        <p15:guide id="4" orient="horz" pos="30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0C3BC438-8BA7-2CBA-46E9-939F92AFEE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4" y="0"/>
            <a:ext cx="9143111" cy="5143500"/>
          </a:xfrm>
          <a:prstGeom prst="rect">
            <a:avLst/>
          </a:prstGeom>
        </p:spPr>
      </p:pic>
    </p:spTree>
    <p:custDataLst>
      <p:tags r:id="rId1"/>
    </p:custData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pos="5376" userDrawn="1">
          <p15:clr>
            <a:srgbClr val="FBAE40"/>
          </p15:clr>
        </p15:guide>
        <p15:guide id="4" orient="horz" pos="30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3060" userDrawn="1">
          <p15:clr>
            <a:srgbClr val="FBAE40"/>
          </p15:clr>
        </p15:guide>
        <p15:guide id="2" pos="336" userDrawn="1">
          <p15:clr>
            <a:srgbClr val="FBAE40"/>
          </p15:clr>
        </p15:guide>
        <p15:guide id="3" pos="5376" userDrawn="1">
          <p15:clr>
            <a:srgbClr val="FBAE40"/>
          </p15:clr>
        </p15:guide>
        <p15:guide id="4" orient="horz" pos="75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7390690"/>
      </p:ext>
    </p:ext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orient="horz" pos="3060" userDrawn="1">
          <p15:clr>
            <a:srgbClr val="FBAE40"/>
          </p15:clr>
        </p15:guide>
        <p15:guide id="4" pos="537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1_Title Slide">
    <p:spTree>
      <p:nvGrpSpPr>
        <p:cNvPr id="1" name="Shape 18"/>
        <p:cNvGrpSpPr/>
        <p:nvPr/>
      </p:nvGrpSpPr>
      <p:grpSpPr>
        <a:xfrm>
          <a:off x="0" y="0"/>
          <a:ext cx="0" cy="0"/>
          <a:chOff x="0" y="0"/>
          <a:chExt cx="0" cy="0"/>
        </a:xfrm>
      </p:grpSpPr>
      <p:sp>
        <p:nvSpPr>
          <p:cNvPr id="19" name="Google Shape;19;p115"/>
          <p:cNvSpPr/>
          <p:nvPr/>
        </p:nvSpPr>
        <p:spPr>
          <a:xfrm>
            <a:off x="-12320" y="2655588"/>
            <a:ext cx="9153940" cy="2145012"/>
          </a:xfrm>
          <a:prstGeom prst="rect">
            <a:avLst/>
          </a:prstGeom>
          <a:solidFill>
            <a:srgbClr val="0070C0"/>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0" name="Google Shape;20;p115"/>
          <p:cNvSpPr/>
          <p:nvPr/>
        </p:nvSpPr>
        <p:spPr>
          <a:xfrm>
            <a:off x="2382" y="4800600"/>
            <a:ext cx="9141619" cy="342900"/>
          </a:xfrm>
          <a:prstGeom prst="rect">
            <a:avLst/>
          </a:prstGeom>
          <a:solidFill>
            <a:srgbClr val="0070C0"/>
          </a:solidFill>
          <a:ln>
            <a:noFill/>
          </a:ln>
        </p:spPr>
        <p:txBody>
          <a:bodyPr spcFirstLastPara="1" wrap="square" lIns="68569" tIns="34275" rIns="68569" bIns="34275" anchor="t" anchorCtr="0">
            <a:noAutofit/>
          </a:bodyPr>
          <a:lstStyle/>
          <a:p>
            <a:pPr marL="0" marR="0" lvl="0" indent="0" algn="l" rtl="0">
              <a:spcBef>
                <a:spcPts val="0"/>
              </a:spcBef>
              <a:spcAft>
                <a:spcPts val="0"/>
              </a:spcAft>
              <a:buNone/>
            </a:pPr>
            <a:endParaRPr sz="1350">
              <a:solidFill>
                <a:schemeClr val="lt1"/>
              </a:solidFill>
              <a:latin typeface="Calibri"/>
              <a:ea typeface="Calibri"/>
              <a:cs typeface="Calibri"/>
              <a:sym typeface="Calibri"/>
            </a:endParaRPr>
          </a:p>
        </p:txBody>
      </p:sp>
      <p:sp>
        <p:nvSpPr>
          <p:cNvPr id="21" name="Google Shape;21;p115"/>
          <p:cNvSpPr txBox="1">
            <a:spLocks noGrp="1"/>
          </p:cNvSpPr>
          <p:nvPr>
            <p:ph type="ctrTitle"/>
          </p:nvPr>
        </p:nvSpPr>
        <p:spPr>
          <a:xfrm>
            <a:off x="171528" y="3225959"/>
            <a:ext cx="5424601" cy="1096982"/>
          </a:xfrm>
          <a:prstGeom prst="rect">
            <a:avLst/>
          </a:prstGeom>
          <a:noFill/>
          <a:ln>
            <a:noFill/>
          </a:ln>
        </p:spPr>
        <p:txBody>
          <a:bodyPr spcFirstLastPara="1" wrap="square" lIns="91425" tIns="45700" rIns="91425" bIns="45700" anchor="t" anchorCtr="0">
            <a:noAutofit/>
          </a:bodyPr>
          <a:lstStyle>
            <a:lvl1pPr lvl="0" algn="r">
              <a:lnSpc>
                <a:spcPct val="90000"/>
              </a:lnSpc>
              <a:spcBef>
                <a:spcPts val="0"/>
              </a:spcBef>
              <a:spcAft>
                <a:spcPts val="0"/>
              </a:spcAft>
              <a:buClr>
                <a:schemeClr val="lt1"/>
              </a:buClr>
              <a:buSzPts val="48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15"/>
          <p:cNvSpPr txBox="1">
            <a:spLocks noGrp="1"/>
          </p:cNvSpPr>
          <p:nvPr>
            <p:ph type="subTitle" idx="1"/>
          </p:nvPr>
        </p:nvSpPr>
        <p:spPr>
          <a:xfrm>
            <a:off x="6055822" y="3299469"/>
            <a:ext cx="2420663" cy="99803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900"/>
              </a:spcBef>
              <a:spcAft>
                <a:spcPts val="0"/>
              </a:spcAft>
              <a:buSzPts val="2400"/>
              <a:buNone/>
              <a:defRPr sz="1800" cap="none">
                <a:solidFill>
                  <a:srgbClr val="B0B0F3"/>
                </a:solidFill>
                <a:latin typeface="Calibri"/>
                <a:ea typeface="Calibri"/>
                <a:cs typeface="Calibri"/>
                <a:sym typeface="Calibri"/>
              </a:defRPr>
            </a:lvl1pPr>
            <a:lvl2pPr lvl="1" algn="ctr">
              <a:lnSpc>
                <a:spcPct val="100000"/>
              </a:lnSpc>
              <a:spcBef>
                <a:spcPts val="150"/>
              </a:spcBef>
              <a:spcAft>
                <a:spcPts val="0"/>
              </a:spcAft>
              <a:buClr>
                <a:srgbClr val="3F3F3F"/>
              </a:buClr>
              <a:buSzPts val="2400"/>
              <a:buNone/>
              <a:defRPr sz="1800"/>
            </a:lvl2pPr>
            <a:lvl3pPr lvl="2" algn="ctr">
              <a:lnSpc>
                <a:spcPct val="100000"/>
              </a:lnSpc>
              <a:spcBef>
                <a:spcPts val="300"/>
              </a:spcBef>
              <a:spcAft>
                <a:spcPts val="0"/>
              </a:spcAft>
              <a:buClr>
                <a:srgbClr val="3F3F3F"/>
              </a:buClr>
              <a:buSzPts val="2400"/>
              <a:buNone/>
              <a:defRPr sz="1800"/>
            </a:lvl3pPr>
            <a:lvl4pPr lvl="3" algn="ctr">
              <a:lnSpc>
                <a:spcPct val="100000"/>
              </a:lnSpc>
              <a:spcBef>
                <a:spcPts val="300"/>
              </a:spcBef>
              <a:spcAft>
                <a:spcPts val="0"/>
              </a:spcAft>
              <a:buClr>
                <a:srgbClr val="3F3F3F"/>
              </a:buClr>
              <a:buSzPts val="2000"/>
              <a:buNone/>
              <a:defRPr sz="1500"/>
            </a:lvl4pPr>
            <a:lvl5pPr lvl="4" algn="ctr">
              <a:lnSpc>
                <a:spcPct val="100000"/>
              </a:lnSpc>
              <a:spcBef>
                <a:spcPts val="300"/>
              </a:spcBef>
              <a:spcAft>
                <a:spcPts val="0"/>
              </a:spcAft>
              <a:buClr>
                <a:srgbClr val="3F3F3F"/>
              </a:buClr>
              <a:buSzPts val="2000"/>
              <a:buNone/>
              <a:defRPr sz="1500"/>
            </a:lvl5pPr>
            <a:lvl6pPr lvl="5" algn="ctr">
              <a:lnSpc>
                <a:spcPct val="90000"/>
              </a:lnSpc>
              <a:spcBef>
                <a:spcPts val="300"/>
              </a:spcBef>
              <a:spcAft>
                <a:spcPts val="0"/>
              </a:spcAft>
              <a:buSzPts val="2000"/>
              <a:buNone/>
              <a:defRPr sz="1500"/>
            </a:lvl6pPr>
            <a:lvl7pPr lvl="6" algn="ctr">
              <a:lnSpc>
                <a:spcPct val="90000"/>
              </a:lnSpc>
              <a:spcBef>
                <a:spcPts val="300"/>
              </a:spcBef>
              <a:spcAft>
                <a:spcPts val="0"/>
              </a:spcAft>
              <a:buSzPts val="2000"/>
              <a:buNone/>
              <a:defRPr sz="1500"/>
            </a:lvl7pPr>
            <a:lvl8pPr lvl="7" algn="ctr">
              <a:lnSpc>
                <a:spcPct val="90000"/>
              </a:lnSpc>
              <a:spcBef>
                <a:spcPts val="300"/>
              </a:spcBef>
              <a:spcAft>
                <a:spcPts val="0"/>
              </a:spcAft>
              <a:buSzPts val="2000"/>
              <a:buNone/>
              <a:defRPr sz="1500"/>
            </a:lvl8pPr>
            <a:lvl9pPr lvl="8" algn="ctr">
              <a:lnSpc>
                <a:spcPct val="90000"/>
              </a:lnSpc>
              <a:spcBef>
                <a:spcPts val="300"/>
              </a:spcBef>
              <a:spcAft>
                <a:spcPts val="300"/>
              </a:spcAft>
              <a:buSzPts val="2000"/>
              <a:buNone/>
              <a:defRPr sz="1500"/>
            </a:lvl9pPr>
          </a:lstStyle>
          <a:p>
            <a:endParaRPr/>
          </a:p>
        </p:txBody>
      </p:sp>
      <p:pic>
        <p:nvPicPr>
          <p:cNvPr id="23" name="Google Shape;23;p115" descr="KGC-2019"/>
          <p:cNvPicPr preferRelativeResize="0"/>
          <p:nvPr/>
        </p:nvPicPr>
        <p:blipFill rotWithShape="1">
          <a:blip r:embed="rId2">
            <a:alphaModFix/>
          </a:blip>
          <a:srcRect/>
          <a:stretch/>
        </p:blipFill>
        <p:spPr>
          <a:xfrm>
            <a:off x="1903214" y="1222240"/>
            <a:ext cx="5327633" cy="930254"/>
          </a:xfrm>
          <a:prstGeom prst="rect">
            <a:avLst/>
          </a:prstGeom>
          <a:noFill/>
          <a:ln>
            <a:noFill/>
          </a:ln>
        </p:spPr>
      </p:pic>
      <p:sp>
        <p:nvSpPr>
          <p:cNvPr id="24" name="Google Shape;24;p115"/>
          <p:cNvSpPr txBox="1"/>
          <p:nvPr/>
        </p:nvSpPr>
        <p:spPr>
          <a:xfrm>
            <a:off x="-9939" y="4902476"/>
            <a:ext cx="2305879" cy="190471"/>
          </a:xfrm>
          <a:prstGeom prst="rect">
            <a:avLst/>
          </a:prstGeom>
          <a:noFill/>
          <a:ln>
            <a:noFill/>
          </a:ln>
        </p:spPr>
        <p:txBody>
          <a:bodyPr spcFirstLastPara="1" wrap="square" lIns="68569" tIns="34275" rIns="68569" bIns="34275" anchor="t" anchorCtr="0">
            <a:spAutoFit/>
          </a:bodyPr>
          <a:lstStyle/>
          <a:p>
            <a:pPr marL="0" marR="0" lvl="0" indent="0" algn="l" rtl="0">
              <a:spcBef>
                <a:spcPts val="0"/>
              </a:spcBef>
              <a:spcAft>
                <a:spcPts val="0"/>
              </a:spcAft>
              <a:buNone/>
            </a:pPr>
            <a:r>
              <a:rPr lang="en-US" sz="788">
                <a:solidFill>
                  <a:schemeClr val="lt1"/>
                </a:solidFill>
                <a:latin typeface="Calibri"/>
                <a:ea typeface="Calibri"/>
                <a:cs typeface="Calibri"/>
                <a:sym typeface="Calibri"/>
              </a:rPr>
              <a:t>© Kalasalingam academy of research and education</a:t>
            </a:r>
            <a:endParaRPr sz="1350"/>
          </a:p>
        </p:txBody>
      </p:sp>
      <p:cxnSp>
        <p:nvCxnSpPr>
          <p:cNvPr id="25" name="Google Shape;25;p115"/>
          <p:cNvCxnSpPr/>
          <p:nvPr/>
        </p:nvCxnSpPr>
        <p:spPr>
          <a:xfrm>
            <a:off x="5774436" y="2972335"/>
            <a:ext cx="0" cy="1713581"/>
          </a:xfrm>
          <a:prstGeom prst="straightConnector1">
            <a:avLst/>
          </a:prstGeom>
          <a:noFill/>
          <a:ln w="57150" cap="flat" cmpd="sng">
            <a:solidFill>
              <a:srgbClr val="00B0F0"/>
            </a:solidFill>
            <a:prstDash val="solid"/>
            <a:round/>
            <a:headEnd type="none" w="sm" len="sm"/>
            <a:tailEnd type="none" w="sm" len="sm"/>
          </a:ln>
        </p:spPr>
      </p:cxnSp>
    </p:spTree>
    <p:extLst>
      <p:ext uri="{BB962C8B-B14F-4D97-AF65-F5344CB8AC3E}">
        <p14:creationId xmlns:p14="http://schemas.microsoft.com/office/powerpoint/2010/main" val="4241504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Graphical user interface&#10;&#10;Description automatically generated with low confidence">
            <a:extLst>
              <a:ext uri="{FF2B5EF4-FFF2-40B4-BE49-F238E27FC236}">
                <a16:creationId xmlns:a16="http://schemas.microsoft.com/office/drawing/2014/main" id="{F9E877FF-2708-28CB-27F6-6195A99B4E58}"/>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60" r:id="rId4"/>
    <p:sldLayoutId id="2147483661"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6" userDrawn="1">
          <p15:clr>
            <a:srgbClr val="F26B43"/>
          </p15:clr>
        </p15:guide>
        <p15:guide id="2" pos="336" userDrawn="1">
          <p15:clr>
            <a:srgbClr val="F26B43"/>
          </p15:clr>
        </p15:guide>
        <p15:guide id="3" pos="5376" userDrawn="1">
          <p15:clr>
            <a:srgbClr val="F26B43"/>
          </p15:clr>
        </p15:guide>
        <p15:guide id="4" orient="horz" pos="30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txBox="1">
            <a:spLocks noGrp="1"/>
          </p:cNvSpPr>
          <p:nvPr>
            <p:ph type="ctrTitle"/>
          </p:nvPr>
        </p:nvSpPr>
        <p:spPr>
          <a:xfrm>
            <a:off x="171528" y="3225959"/>
            <a:ext cx="5424601" cy="1096982"/>
          </a:xfrm>
          <a:prstGeom prst="rect">
            <a:avLst/>
          </a:prstGeom>
          <a:noFill/>
          <a:ln>
            <a:noFill/>
          </a:ln>
        </p:spPr>
        <p:txBody>
          <a:bodyPr spcFirstLastPara="1" wrap="square" lIns="68569" tIns="34275" rIns="68569" bIns="34275" anchor="t" anchorCtr="0">
            <a:noAutofit/>
          </a:bodyPr>
          <a:lstStyle/>
          <a:p>
            <a:r>
              <a:rPr lang="en-IN" b="1" dirty="0"/>
              <a:t>Jan -2024	</a:t>
            </a:r>
          </a:p>
        </p:txBody>
      </p:sp>
      <p:sp>
        <p:nvSpPr>
          <p:cNvPr id="134" name="Google Shape;134;p1"/>
          <p:cNvSpPr txBox="1">
            <a:spLocks noGrp="1"/>
          </p:cNvSpPr>
          <p:nvPr>
            <p:ph type="subTitle" idx="1"/>
          </p:nvPr>
        </p:nvSpPr>
        <p:spPr>
          <a:xfrm>
            <a:off x="5791200" y="3224542"/>
            <a:ext cx="3352800" cy="1176007"/>
          </a:xfrm>
          <a:prstGeom prst="rect">
            <a:avLst/>
          </a:prstGeom>
          <a:noFill/>
          <a:ln>
            <a:noFill/>
          </a:ln>
        </p:spPr>
        <p:txBody>
          <a:bodyPr spcFirstLastPara="1" wrap="square" lIns="68569" tIns="34275" rIns="68569" bIns="34275" anchor="t" anchorCtr="0">
            <a:noAutofit/>
          </a:bodyPr>
          <a:lstStyle/>
          <a:p>
            <a:r>
              <a:rPr lang="en-US" sz="3200" b="1" dirty="0">
                <a:solidFill>
                  <a:schemeClr val="bg1"/>
                </a:solidFill>
                <a:latin typeface="Times New Roman" panose="02020603050405020304" pitchFamily="18" charset="0"/>
                <a:cs typeface="Times New Roman" panose="02020603050405020304" pitchFamily="18" charset="0"/>
              </a:rPr>
              <a:t>IV Semester</a:t>
            </a:r>
          </a:p>
          <a:p>
            <a:r>
              <a:rPr lang="en-US" sz="3200" b="1" dirty="0">
                <a:solidFill>
                  <a:schemeClr val="bg1"/>
                </a:solidFill>
                <a:latin typeface="Times New Roman" panose="02020603050405020304" pitchFamily="18" charset="0"/>
                <a:cs typeface="Times New Roman" panose="02020603050405020304" pitchFamily="18" charset="0"/>
              </a:rPr>
              <a:t>MCA </a:t>
            </a:r>
          </a:p>
        </p:txBody>
      </p:sp>
      <p:pic>
        <p:nvPicPr>
          <p:cNvPr id="4" name="Picture 3">
            <a:extLst>
              <a:ext uri="{FF2B5EF4-FFF2-40B4-BE49-F238E27FC236}">
                <a16:creationId xmlns:a16="http://schemas.microsoft.com/office/drawing/2014/main" id="{F0D4B5BF-7DB1-477F-8BB5-FEB8B6ED369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05000" y="759460"/>
            <a:ext cx="5731510" cy="1431290"/>
          </a:xfrm>
          <a:prstGeom prst="rect">
            <a:avLst/>
          </a:prstGeom>
          <a:noFill/>
          <a:ln>
            <a:noFill/>
          </a:ln>
        </p:spPr>
      </p:pic>
      <p:sp>
        <p:nvSpPr>
          <p:cNvPr id="2" name="TextBox 1">
            <a:extLst>
              <a:ext uri="{FF2B5EF4-FFF2-40B4-BE49-F238E27FC236}">
                <a16:creationId xmlns:a16="http://schemas.microsoft.com/office/drawing/2014/main" id="{2DAEC255-C425-48D6-AD52-BAF53A1AC15C}"/>
              </a:ext>
            </a:extLst>
          </p:cNvPr>
          <p:cNvSpPr txBox="1"/>
          <p:nvPr/>
        </p:nvSpPr>
        <p:spPr>
          <a:xfrm>
            <a:off x="2789555" y="1930501"/>
            <a:ext cx="3962400" cy="461665"/>
          </a:xfrm>
          <a:prstGeom prst="rect">
            <a:avLst/>
          </a:prstGeom>
          <a:noFill/>
        </p:spPr>
        <p:txBody>
          <a:bodyPr wrap="square" rtlCol="0">
            <a:spAutoFit/>
          </a:bodyPr>
          <a:lstStyle/>
          <a:p>
            <a:r>
              <a:rPr lang="en-US" sz="2400" b="1" dirty="0">
                <a:solidFill>
                  <a:srgbClr val="000099"/>
                </a:solidFill>
                <a:latin typeface="Times New Roman" panose="02020603050405020304" pitchFamily="18" charset="0"/>
                <a:cs typeface="Times New Roman" panose="02020603050405020304" pitchFamily="18" charset="0"/>
              </a:rPr>
              <a:t>Project Work Review - 2</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AFE9BD6-2AEF-4F5D-99F0-79900C97BE19}"/>
              </a:ext>
            </a:extLst>
          </p:cNvPr>
          <p:cNvSpPr/>
          <p:nvPr/>
        </p:nvSpPr>
        <p:spPr>
          <a:xfrm>
            <a:off x="2403136" y="2276704"/>
            <a:ext cx="4337727" cy="374077"/>
          </a:xfrm>
          <a:prstGeom prst="rect">
            <a:avLst/>
          </a:prstGeom>
        </p:spPr>
        <p:txBody>
          <a:bodyPr wrap="none">
            <a:spAutoFit/>
          </a:bodyPr>
          <a:lstStyle/>
          <a:p>
            <a:pPr algn="ctr">
              <a:lnSpc>
                <a:spcPct val="107000"/>
              </a:lnSpc>
              <a:spcAft>
                <a:spcPts val="800"/>
              </a:spcAft>
            </a:pPr>
            <a:r>
              <a:rPr lang="en-IN" b="1" dirty="0">
                <a:latin typeface="Times New Roman" panose="02020603050405020304" pitchFamily="18" charset="0"/>
                <a:ea typeface="Times New Roman" panose="02020603050405020304" pitchFamily="18" charset="0"/>
                <a:cs typeface="Times New Roman" panose="02020603050405020304" pitchFamily="18" charset="0"/>
              </a:rPr>
              <a:t>Centre for Distance and Online Education</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7475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17A28E-1572-4B2F-AB46-2B90825978F5}"/>
              </a:ext>
            </a:extLst>
          </p:cNvPr>
          <p:cNvSpPr/>
          <p:nvPr/>
        </p:nvSpPr>
        <p:spPr>
          <a:xfrm>
            <a:off x="304800" y="514350"/>
            <a:ext cx="8763000" cy="4418967"/>
          </a:xfrm>
          <a:prstGeom prst="rect">
            <a:avLst/>
          </a:prstGeom>
        </p:spPr>
        <p:txBody>
          <a:bodyPr wrap="square">
            <a:spAutoFit/>
          </a:bodyPr>
          <a:lstStyle/>
          <a:p>
            <a:pPr>
              <a:lnSpc>
                <a:spcPct val="200000"/>
              </a:lnSpc>
              <a:spcAft>
                <a:spcPts val="0"/>
              </a:spcAft>
            </a:pP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Name of the Learner	: Ramakumar Kasireddy	</a:t>
            </a:r>
          </a:p>
          <a:p>
            <a:pPr>
              <a:lnSpc>
                <a:spcPct val="200000"/>
              </a:lnSpc>
              <a:spcAft>
                <a:spcPts val="0"/>
              </a:spcAft>
            </a:pP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Register number	: </a:t>
            </a:r>
            <a:r>
              <a:rPr lang="en-IN" sz="2400" b="1" dirty="0">
                <a:latin typeface="Times New Roman" panose="02020603050405020304" pitchFamily="18" charset="0"/>
                <a:cs typeface="Times New Roman" panose="02020603050405020304" pitchFamily="18" charset="0"/>
              </a:rPr>
              <a:t>91241160033</a:t>
            </a:r>
          </a:p>
          <a:p>
            <a:pPr>
              <a:lnSpc>
                <a:spcPct val="200000"/>
              </a:lnSpc>
              <a:spcAft>
                <a:spcPts val="0"/>
              </a:spcAft>
            </a:pP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Name of the Course 	: Project Work  </a:t>
            </a:r>
          </a:p>
          <a:p>
            <a:pPr>
              <a:lnSpc>
                <a:spcPct val="200000"/>
              </a:lnSpc>
            </a:pP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Course Code		: </a:t>
            </a:r>
            <a:r>
              <a:rPr lang="en-IN"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223MCA4201		</a:t>
            </a:r>
          </a:p>
          <a:p>
            <a:pPr>
              <a:lnSpc>
                <a:spcPct val="200000"/>
              </a:lnSpc>
              <a:spcAft>
                <a:spcPts val="0"/>
              </a:spcAft>
            </a:pPr>
            <a:r>
              <a:rPr lang="en-IN"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Regulation 		: 2022</a:t>
            </a:r>
          </a:p>
          <a:p>
            <a:pPr>
              <a:lnSpc>
                <a:spcPct val="200000"/>
              </a:lnSpc>
              <a:spcAft>
                <a:spcPts val="0"/>
              </a:spcAft>
            </a:pPr>
            <a:r>
              <a:rPr lang="en-IN" sz="24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Faculty Advisor 	: </a:t>
            </a:r>
            <a:r>
              <a:rPr lang="en-IN" sz="2400" b="1" dirty="0">
                <a:solidFill>
                  <a:srgbClr val="000000"/>
                </a:solidFill>
                <a:latin typeface="Times New Roman" panose="02020603050405020304" pitchFamily="18" charset="0"/>
                <a:cs typeface="Times New Roman" panose="02020603050405020304" pitchFamily="18" charset="0"/>
              </a:rPr>
              <a:t>Mr. M. GOVINDARAJ</a:t>
            </a:r>
          </a:p>
        </p:txBody>
      </p:sp>
      <p:sp>
        <p:nvSpPr>
          <p:cNvPr id="4" name="Rectangle 3">
            <a:extLst>
              <a:ext uri="{FF2B5EF4-FFF2-40B4-BE49-F238E27FC236}">
                <a16:creationId xmlns:a16="http://schemas.microsoft.com/office/drawing/2014/main" id="{306ADDB6-EC90-4C9E-B247-954741439B5B}"/>
              </a:ext>
            </a:extLst>
          </p:cNvPr>
          <p:cNvSpPr/>
          <p:nvPr/>
        </p:nvSpPr>
        <p:spPr>
          <a:xfrm>
            <a:off x="218661" y="86783"/>
            <a:ext cx="8839200" cy="579967"/>
          </a:xfrm>
          <a:prstGeom prst="rect">
            <a:avLst/>
          </a:prstGeom>
        </p:spPr>
        <p:txBody>
          <a:bodyPr wrap="square">
            <a:spAutoFit/>
          </a:bodyPr>
          <a:lstStyle/>
          <a:p>
            <a:pPr>
              <a:lnSpc>
                <a:spcPct val="150000"/>
              </a:lnSpc>
              <a:spcAft>
                <a:spcPts val="0"/>
              </a:spcAft>
            </a:pPr>
            <a:r>
              <a:rPr lang="en-IN" sz="2400" b="1" dirty="0">
                <a:solidFill>
                  <a:srgbClr val="000099"/>
                </a:solidFill>
                <a:latin typeface="Times New Roman" panose="02020603050405020304" pitchFamily="18" charset="0"/>
                <a:ea typeface="Times New Roman" panose="02020603050405020304" pitchFamily="18" charset="0"/>
              </a:rPr>
              <a:t>Project Title	: </a:t>
            </a:r>
            <a:r>
              <a:rPr lang="en-IN" sz="2400" b="1" dirty="0">
                <a:solidFill>
                  <a:srgbClr val="000099"/>
                </a:solidFill>
                <a:latin typeface="Times New Roman" panose="02020603050405020304" pitchFamily="18" charset="0"/>
              </a:rPr>
              <a:t>Online Ayurveda Medicine Order App </a:t>
            </a:r>
          </a:p>
        </p:txBody>
      </p:sp>
    </p:spTree>
    <p:extLst>
      <p:ext uri="{BB962C8B-B14F-4D97-AF65-F5344CB8AC3E}">
        <p14:creationId xmlns:p14="http://schemas.microsoft.com/office/powerpoint/2010/main" val="3717675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36BD41-AA31-446B-AF03-E04A9D35F390}"/>
              </a:ext>
            </a:extLst>
          </p:cNvPr>
          <p:cNvSpPr/>
          <p:nvPr/>
        </p:nvSpPr>
        <p:spPr>
          <a:xfrm>
            <a:off x="304800" y="209550"/>
            <a:ext cx="1863011" cy="461665"/>
          </a:xfrm>
          <a:prstGeom prst="rect">
            <a:avLst/>
          </a:prstGeom>
        </p:spPr>
        <p:txBody>
          <a:bodyPr wrap="none">
            <a:spAutoFit/>
          </a:bodyPr>
          <a:lstStyle/>
          <a:p>
            <a:r>
              <a:rPr lang="en-US" sz="2400" b="1" dirty="0">
                <a:solidFill>
                  <a:srgbClr val="000099"/>
                </a:solidFill>
                <a:latin typeface="Times New Roman" panose="02020603050405020304" pitchFamily="18" charset="0"/>
                <a:cs typeface="Times New Roman" panose="02020603050405020304" pitchFamily="18" charset="0"/>
              </a:rPr>
              <a:t>ABSTRACT</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1899A73-A892-4AA1-B496-D9261B159AC8}"/>
              </a:ext>
            </a:extLst>
          </p:cNvPr>
          <p:cNvSpPr/>
          <p:nvPr/>
        </p:nvSpPr>
        <p:spPr>
          <a:xfrm>
            <a:off x="304800" y="678669"/>
            <a:ext cx="8229600" cy="4480073"/>
          </a:xfrm>
          <a:prstGeom prst="rect">
            <a:avLst/>
          </a:prstGeom>
        </p:spPr>
        <p:txBody>
          <a:bodyPr wrap="square">
            <a:spAutoFit/>
          </a:bodyPr>
          <a:lstStyle/>
          <a:p>
            <a:pPr>
              <a:lnSpc>
                <a:spcPct val="150000"/>
              </a:lnSpc>
            </a:pPr>
            <a:r>
              <a:rPr lang="en-IN" sz="1600" dirty="0">
                <a:latin typeface="Times New Roman" panose="02020603050405020304" pitchFamily="18" charset="0"/>
                <a:cs typeface="Times New Roman" panose="02020603050405020304" pitchFamily="18" charset="0"/>
              </a:rPr>
              <a:t>	</a:t>
            </a:r>
          </a:p>
          <a:p>
            <a:pPr algn="just">
              <a:lnSpc>
                <a:spcPct val="150000"/>
              </a:lnSpc>
            </a:pPr>
            <a:r>
              <a:rPr lang="en-IN" sz="1600" dirty="0">
                <a:latin typeface="Times New Roman" panose="02020603050405020304" pitchFamily="18" charset="0"/>
                <a:cs typeface="Times New Roman" panose="02020603050405020304" pitchFamily="18" charset="0"/>
              </a:rPr>
              <a:t>	The</a:t>
            </a:r>
            <a:r>
              <a:rPr lang="en-IN" sz="1600" b="1" dirty="0">
                <a:latin typeface="Times New Roman" panose="02020603050405020304" pitchFamily="18" charset="0"/>
                <a:cs typeface="Times New Roman" panose="02020603050405020304" pitchFamily="18" charset="0"/>
              </a:rPr>
              <a:t> Online Ayurveda Medicine Order App </a:t>
            </a:r>
            <a:r>
              <a:rPr lang="en-IN" sz="1600" dirty="0">
                <a:latin typeface="Times New Roman" panose="02020603050405020304" pitchFamily="18" charset="0"/>
                <a:cs typeface="Times New Roman" panose="02020603050405020304" pitchFamily="18" charset="0"/>
              </a:rPr>
              <a:t>is a web-based application designed to</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simplify the procurement and management of Ayurvedic medicines through a digital platform. The system aims to make traditional healthcare more accessible by enabling users to search, select, and purchase medicines online. The application also includes a secure login module to ensure authenticated access. The application is built using a modern full-stack architecture.  An Admin interface is incorporated to manage medicine inventory, categories, customers, and orders.</a:t>
            </a:r>
          </a:p>
          <a:p>
            <a:pPr algn="just">
              <a:lnSpc>
                <a:spcPct val="150000"/>
              </a:lnSpc>
            </a:pPr>
            <a:r>
              <a:rPr lang="en-IN" sz="1600" dirty="0">
                <a:latin typeface="Times New Roman" panose="02020603050405020304" pitchFamily="18" charset="0"/>
                <a:cs typeface="Times New Roman" panose="02020603050405020304" pitchFamily="18" charset="0"/>
              </a:rPr>
              <a:t>	Administrators can update medicine details, monitor stock levels, and oversee customer orders. The cart and order modules streamline the purchasing and checkout process. In Ayurvedic medicine Modules Included, </a:t>
            </a:r>
            <a:r>
              <a:rPr lang="en-IN" sz="1600" b="1" dirty="0">
                <a:latin typeface="Times New Roman" panose="02020603050405020304" pitchFamily="18" charset="0"/>
                <a:cs typeface="Times New Roman" panose="02020603050405020304" pitchFamily="18" charset="0"/>
              </a:rPr>
              <a:t>Login Module , Medicine &amp; Category Modules , Customer Module , Cart &amp; Order Modules.</a:t>
            </a:r>
            <a:endParaRPr lang="en-IN" sz="1600" dirty="0">
              <a:latin typeface="Times New Roman" panose="02020603050405020304" pitchFamily="18" charset="0"/>
              <a:cs typeface="Times New Roman" panose="02020603050405020304" pitchFamily="18" charset="0"/>
            </a:endParaRPr>
          </a:p>
          <a:p>
            <a:pPr indent="457200" algn="just">
              <a:lnSpc>
                <a:spcPct val="150000"/>
              </a:lnSpc>
              <a:spcAft>
                <a:spcPts val="0"/>
              </a:spcAft>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22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CAB1EF9-DC87-4E4A-BF3E-65E325AE2895}"/>
              </a:ext>
            </a:extLst>
          </p:cNvPr>
          <p:cNvSpPr>
            <a:spLocks noChangeArrowheads="1"/>
          </p:cNvSpPr>
          <p:nvPr/>
        </p:nvSpPr>
        <p:spPr bwMode="auto">
          <a:xfrm>
            <a:off x="38100" y="1004069"/>
            <a:ext cx="9067800"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Background of the Project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Ayurveda is a traditional system of medicine widely used in India, but access to medicines </a:t>
            </a:r>
          </a:p>
          <a:p>
            <a:pPr marL="0" marR="0" lvl="0" indent="0" algn="l" defTabSz="914400" rtl="0" eaLnBrk="0" fontAlgn="base" latinLnBrk="0" hangingPunct="0">
              <a:lnSpc>
                <a:spcPct val="15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still largely dependent on offline stores.</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Digital Transformation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the growth of e-commerce and digital healthcare, there is a need to bring</a:t>
            </a:r>
          </a:p>
          <a:p>
            <a:pPr marL="0" marR="0" lvl="0" indent="0" algn="l" defTabSz="914400" rtl="0" eaLnBrk="0" fontAlgn="base" latinLnBrk="0" hangingPunct="0">
              <a:lnSpc>
                <a:spcPct val="15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Ayurvedic medicine procurement to an  online platform.</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Overview</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project focuses on developing a web-based application for ordering and </a:t>
            </a:r>
          </a:p>
          <a:p>
            <a:pPr marL="0" marR="0" lvl="0" indent="0" algn="l" defTabSz="914400" rtl="0" eaLnBrk="0" fontAlgn="base" latinLnBrk="0" hangingPunct="0">
              <a:lnSpc>
                <a:spcPct val="15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managing Ayurvedic medicines efficiently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6" name="Rectangle 5">
            <a:extLst>
              <a:ext uri="{FF2B5EF4-FFF2-40B4-BE49-F238E27FC236}">
                <a16:creationId xmlns:a16="http://schemas.microsoft.com/office/drawing/2014/main" id="{606FF737-0BA0-41F4-BC58-449A66B0CED8}"/>
              </a:ext>
            </a:extLst>
          </p:cNvPr>
          <p:cNvSpPr/>
          <p:nvPr/>
        </p:nvSpPr>
        <p:spPr>
          <a:xfrm>
            <a:off x="228600" y="133350"/>
            <a:ext cx="2133600" cy="461665"/>
          </a:xfrm>
          <a:prstGeom prst="rect">
            <a:avLst/>
          </a:prstGeom>
        </p:spPr>
        <p:txBody>
          <a:bodyPr wrap="square">
            <a:spAutoFit/>
          </a:bodyPr>
          <a:lstStyle/>
          <a:p>
            <a:r>
              <a:rPr lang="en-IN" sz="2400" b="1" dirty="0">
                <a:solidFill>
                  <a:srgbClr val="000099"/>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122104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CAB1EF9-DC87-4E4A-BF3E-65E325AE2895}"/>
              </a:ext>
            </a:extLst>
          </p:cNvPr>
          <p:cNvSpPr>
            <a:spLocks noChangeArrowheads="1"/>
          </p:cNvSpPr>
          <p:nvPr/>
        </p:nvSpPr>
        <p:spPr bwMode="auto">
          <a:xfrm>
            <a:off x="0" y="982964"/>
            <a:ext cx="9067800"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 of the Project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supports customers for browsing and purchasing medicines and administrators </a:t>
            </a:r>
          </a:p>
          <a:p>
            <a:pPr marL="0" marR="0" lvl="0" indent="0" algn="l" defTabSz="914400" rtl="0" eaLnBrk="0" fontAlgn="base" latinLnBrk="0" hangingPunct="0">
              <a:lnSpc>
                <a:spcPct val="15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managing inventory,  categories, and orders.</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 of the Project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main purpose is to simplify the medicine ordering process, improve accessibility,</a:t>
            </a:r>
          </a:p>
          <a:p>
            <a:pPr marL="0" marR="0" lvl="0" indent="0" algn="l" defTabSz="914400" rtl="0" eaLnBrk="0" fontAlgn="base" latinLnBrk="0" hangingPunct="0">
              <a:lnSpc>
                <a:spcPct val="15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ensure better management  </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 Ayurvedic products.</a:t>
            </a:r>
          </a:p>
          <a:p>
            <a:pPr lvl="0" eaLnBrk="0" fontAlgn="base" hangingPunct="0">
              <a:lnSpc>
                <a:spcPct val="150000"/>
              </a:lnSpc>
              <a:spcBef>
                <a:spcPct val="0"/>
              </a:spcBef>
              <a:spcAft>
                <a:spcPct val="0"/>
              </a:spcAft>
            </a:pPr>
            <a:r>
              <a:rPr lang="en-US" b="1" dirty="0">
                <a:latin typeface="Times New Roman" panose="02020603050405020304" pitchFamily="18" charset="0"/>
                <a:cs typeface="Times New Roman" panose="02020603050405020304" pitchFamily="18" charset="0"/>
              </a:rPr>
              <a:t>6. Expected Impact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The application aims to enhance user convenience, reduce manual effort, and provide </a:t>
            </a:r>
          </a:p>
          <a:p>
            <a:pPr lvl="0" eaLnBrk="0" fontAlgn="base" hangingPunct="0">
              <a:lnSpc>
                <a:spcPct val="150000"/>
              </a:lnSpc>
              <a:spcBef>
                <a:spcPct val="0"/>
              </a:spcBef>
              <a:spcAft>
                <a:spcPct val="0"/>
              </a:spcAft>
            </a:pPr>
            <a:r>
              <a:rPr lang="en-US" dirty="0">
                <a:latin typeface="Times New Roman" panose="02020603050405020304" pitchFamily="18" charset="0"/>
                <a:cs typeface="Times New Roman" panose="02020603050405020304" pitchFamily="18" charset="0"/>
              </a:rPr>
              <a:t>    a reliable digital solution for traditional healthcare.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606FF737-0BA0-41F4-BC58-449A66B0CED8}"/>
              </a:ext>
            </a:extLst>
          </p:cNvPr>
          <p:cNvSpPr/>
          <p:nvPr/>
        </p:nvSpPr>
        <p:spPr>
          <a:xfrm>
            <a:off x="228600" y="133350"/>
            <a:ext cx="2133600" cy="461665"/>
          </a:xfrm>
          <a:prstGeom prst="rect">
            <a:avLst/>
          </a:prstGeom>
        </p:spPr>
        <p:txBody>
          <a:bodyPr wrap="square">
            <a:spAutoFit/>
          </a:bodyPr>
          <a:lstStyle/>
          <a:p>
            <a:r>
              <a:rPr lang="en-IN" sz="2400" b="1" dirty="0">
                <a:solidFill>
                  <a:srgbClr val="000099"/>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88377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133350"/>
            <a:ext cx="4690708" cy="461665"/>
          </a:xfrm>
          <a:prstGeom prst="rect">
            <a:avLst/>
          </a:prstGeom>
        </p:spPr>
        <p:txBody>
          <a:bodyPr wrap="none">
            <a:spAutoFit/>
          </a:bodyPr>
          <a:lstStyle/>
          <a:p>
            <a:r>
              <a:rPr lang="en-US" sz="2400" b="1" dirty="0">
                <a:solidFill>
                  <a:srgbClr val="000099"/>
                </a:solidFill>
                <a:latin typeface="Times New Roman" panose="02020603050405020304" pitchFamily="18" charset="0"/>
                <a:cs typeface="Times New Roman" panose="02020603050405020304" pitchFamily="18" charset="0"/>
              </a:rPr>
              <a:t>ER (Entity Relationship) Diagram</a:t>
            </a:r>
            <a:endParaRPr lang="en-IN" sz="2400" b="1" dirty="0">
              <a:solidFill>
                <a:srgbClr val="000099"/>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1E49CC-9C72-4E2B-8F49-A074C6EB4B62}"/>
              </a:ext>
            </a:extLst>
          </p:cNvPr>
          <p:cNvPicPr/>
          <p:nvPr/>
        </p:nvPicPr>
        <p:blipFill>
          <a:blip r:embed="rId2"/>
          <a:stretch>
            <a:fillRect/>
          </a:stretch>
        </p:blipFill>
        <p:spPr>
          <a:xfrm>
            <a:off x="152400" y="713105"/>
            <a:ext cx="8229600" cy="4297045"/>
          </a:xfrm>
          <a:prstGeom prst="rect">
            <a:avLst/>
          </a:prstGeom>
        </p:spPr>
      </p:pic>
    </p:spTree>
    <p:extLst>
      <p:ext uri="{BB962C8B-B14F-4D97-AF65-F5344CB8AC3E}">
        <p14:creationId xmlns:p14="http://schemas.microsoft.com/office/powerpoint/2010/main" val="1981563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5257800" cy="461665"/>
          </a:xfrm>
          <a:prstGeom prst="rect">
            <a:avLst/>
          </a:prstGeom>
        </p:spPr>
        <p:txBody>
          <a:bodyPr wrap="square">
            <a:spAutoFit/>
          </a:bodyPr>
          <a:lstStyle/>
          <a:p>
            <a:r>
              <a:rPr lang="en-US" b="1" dirty="0"/>
              <a:t> </a:t>
            </a:r>
            <a:r>
              <a:rPr lang="en-US" sz="2400" b="1" dirty="0">
                <a:solidFill>
                  <a:srgbClr val="000099"/>
                </a:solidFill>
                <a:latin typeface="Times New Roman" panose="02020603050405020304" pitchFamily="18" charset="0"/>
                <a:cs typeface="Times New Roman" panose="02020603050405020304" pitchFamily="18" charset="0"/>
                <a:sym typeface="Verdana"/>
              </a:rPr>
              <a:t>Use-Case Diagram</a:t>
            </a:r>
            <a:endParaRPr lang="en-IN" sz="2400" b="1" dirty="0">
              <a:solidFill>
                <a:srgbClr val="000099"/>
              </a:solidFill>
              <a:latin typeface="Times New Roman" panose="02020603050405020304" pitchFamily="18" charset="0"/>
              <a:cs typeface="Times New Roman" panose="02020603050405020304" pitchFamily="18" charset="0"/>
            </a:endParaRPr>
          </a:p>
        </p:txBody>
      </p:sp>
      <p:pic>
        <p:nvPicPr>
          <p:cNvPr id="5" name="Google Shape;155;p10" descr="Diagram&#10;&#10;Description automatically generated">
            <a:extLst>
              <a:ext uri="{FF2B5EF4-FFF2-40B4-BE49-F238E27FC236}">
                <a16:creationId xmlns:a16="http://schemas.microsoft.com/office/drawing/2014/main" id="{1168C8D2-21EE-4A50-B6C9-34FC01356ACE}"/>
              </a:ext>
            </a:extLst>
          </p:cNvPr>
          <p:cNvPicPr preferRelativeResize="0"/>
          <p:nvPr/>
        </p:nvPicPr>
        <p:blipFill rotWithShape="1">
          <a:blip r:embed="rId2">
            <a:alphaModFix/>
          </a:blip>
          <a:srcRect/>
          <a:stretch/>
        </p:blipFill>
        <p:spPr>
          <a:xfrm>
            <a:off x="1066800" y="774791"/>
            <a:ext cx="5715000" cy="4368709"/>
          </a:xfrm>
          <a:prstGeom prst="rect">
            <a:avLst/>
          </a:prstGeom>
          <a:noFill/>
          <a:ln>
            <a:noFill/>
          </a:ln>
        </p:spPr>
      </p:pic>
    </p:spTree>
    <p:extLst>
      <p:ext uri="{BB962C8B-B14F-4D97-AF65-F5344CB8AC3E}">
        <p14:creationId xmlns:p14="http://schemas.microsoft.com/office/powerpoint/2010/main" val="3854976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C078B2-2193-4225-B51A-BF4658177DC5}"/>
              </a:ext>
            </a:extLst>
          </p:cNvPr>
          <p:cNvSpPr/>
          <p:nvPr/>
        </p:nvSpPr>
        <p:spPr>
          <a:xfrm>
            <a:off x="304800" y="209550"/>
            <a:ext cx="5271892"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Hardware and Software Requirements</a:t>
            </a:r>
            <a:endParaRPr lang="en-IN" sz="2400"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74FF4FF-CC6A-45CF-9635-81F4BB07693B}"/>
              </a:ext>
            </a:extLst>
          </p:cNvPr>
          <p:cNvSpPr/>
          <p:nvPr/>
        </p:nvSpPr>
        <p:spPr>
          <a:xfrm>
            <a:off x="533400" y="590550"/>
            <a:ext cx="6889054" cy="2951064"/>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HARDWARE REQUIREMENTS</a:t>
            </a:r>
          </a:p>
          <a:p>
            <a:pPr lvl="2">
              <a:lnSpc>
                <a:spcPct val="150000"/>
              </a:lnSpc>
            </a:pPr>
            <a:r>
              <a:rPr lang="en-US" dirty="0">
                <a:latin typeface="Times New Roman" panose="02020603050405020304" pitchFamily="18" charset="0"/>
                <a:cs typeface="Times New Roman" panose="02020603050405020304" pitchFamily="18" charset="0"/>
              </a:rPr>
              <a:t>PROCESSOR             : Above i3    @2.3 GHz</a:t>
            </a:r>
          </a:p>
          <a:p>
            <a:pPr lvl="2">
              <a:lnSpc>
                <a:spcPct val="150000"/>
              </a:lnSpc>
            </a:pPr>
            <a:r>
              <a:rPr lang="en-US" dirty="0">
                <a:latin typeface="Times New Roman" panose="02020603050405020304" pitchFamily="18" charset="0"/>
                <a:cs typeface="Times New Roman" panose="02020603050405020304" pitchFamily="18" charset="0"/>
              </a:rPr>
              <a:t>RAM                           : 16 GB min</a:t>
            </a:r>
          </a:p>
          <a:p>
            <a:pPr lvl="2">
              <a:lnSpc>
                <a:spcPct val="150000"/>
              </a:lnSpc>
            </a:pPr>
            <a:r>
              <a:rPr lang="en-US" dirty="0">
                <a:latin typeface="Times New Roman" panose="02020603050405020304" pitchFamily="18" charset="0"/>
                <a:cs typeface="Times New Roman" panose="02020603050405020304" pitchFamily="18" charset="0"/>
              </a:rPr>
              <a:t>LAN                            : On Board 10/100 Mbps SIS LAN</a:t>
            </a:r>
          </a:p>
          <a:p>
            <a:pPr lvl="2">
              <a:lnSpc>
                <a:spcPct val="150000"/>
              </a:lnSpc>
            </a:pPr>
            <a:r>
              <a:rPr lang="en-US" dirty="0">
                <a:latin typeface="Times New Roman" panose="02020603050405020304" pitchFamily="18" charset="0"/>
                <a:cs typeface="Times New Roman" panose="02020603050405020304" pitchFamily="18" charset="0"/>
              </a:rPr>
              <a:t>HARD DISK              : 100 GB min</a:t>
            </a:r>
          </a:p>
          <a:p>
            <a:pPr lvl="2">
              <a:lnSpc>
                <a:spcPct val="150000"/>
              </a:lnSpc>
            </a:pPr>
            <a:r>
              <a:rPr lang="en-US" dirty="0">
                <a:latin typeface="Times New Roman" panose="02020603050405020304" pitchFamily="18" charset="0"/>
                <a:cs typeface="Times New Roman" panose="02020603050405020304" pitchFamily="18" charset="0"/>
              </a:rPr>
              <a:t>DISPLAY	    : 1024 x 768 VGA</a:t>
            </a:r>
          </a:p>
          <a:p>
            <a:pPr lvl="2">
              <a:lnSpc>
                <a:spcPct val="150000"/>
              </a:lnSpc>
            </a:pPr>
            <a:r>
              <a:rPr lang="en-US" dirty="0">
                <a:latin typeface="Times New Roman" panose="02020603050405020304" pitchFamily="18" charset="0"/>
                <a:cs typeface="Times New Roman" panose="02020603050405020304" pitchFamily="18" charset="0"/>
              </a:rPr>
              <a:t>KEYBOARD              : At  extended  104  Keyboard</a:t>
            </a:r>
          </a:p>
        </p:txBody>
      </p:sp>
      <p:sp>
        <p:nvSpPr>
          <p:cNvPr id="5" name="Rectangle 4">
            <a:extLst>
              <a:ext uri="{FF2B5EF4-FFF2-40B4-BE49-F238E27FC236}">
                <a16:creationId xmlns:a16="http://schemas.microsoft.com/office/drawing/2014/main" id="{7D9198E9-4EE1-4EF1-803D-681FDEAC73A6}"/>
              </a:ext>
            </a:extLst>
          </p:cNvPr>
          <p:cNvSpPr/>
          <p:nvPr/>
        </p:nvSpPr>
        <p:spPr>
          <a:xfrm>
            <a:off x="546652" y="3486150"/>
            <a:ext cx="7162800" cy="1571584"/>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SOFTWARE REQUIREMENTS</a:t>
            </a:r>
          </a:p>
          <a:p>
            <a:pPr lvl="2" algn="just">
              <a:lnSpc>
                <a:spcPct val="150000"/>
              </a:lnSpc>
            </a:pPr>
            <a:r>
              <a:rPr lang="en-US" sz="1600" dirty="0">
                <a:latin typeface="Times New Roman" panose="02020603050405020304" pitchFamily="18" charset="0"/>
                <a:cs typeface="Times New Roman" panose="02020603050405020304" pitchFamily="18" charset="0"/>
              </a:rPr>
              <a:t>OPERATING  SYSTEM  : WINDOWS 10/11  </a:t>
            </a:r>
          </a:p>
          <a:p>
            <a:pPr lvl="2" algn="just">
              <a:lnSpc>
                <a:spcPct val="150000"/>
              </a:lnSpc>
            </a:pPr>
            <a:r>
              <a:rPr lang="en-US" sz="1600" dirty="0">
                <a:latin typeface="Times New Roman" panose="02020603050405020304" pitchFamily="18" charset="0"/>
                <a:cs typeface="Times New Roman" panose="02020603050405020304" pitchFamily="18" charset="0"/>
              </a:rPr>
              <a:t>FRONT END                    : JavaScript, ReactJS</a:t>
            </a:r>
            <a:endParaRPr lang="en-IN" sz="1600" dirty="0">
              <a:latin typeface="Times New Roman" panose="02020603050405020304" pitchFamily="18" charset="0"/>
              <a:ea typeface="Times New Roman" panose="02020603050405020304" pitchFamily="18" charset="0"/>
            </a:endParaRPr>
          </a:p>
          <a:p>
            <a:pPr lvl="2" algn="just">
              <a:lnSpc>
                <a:spcPct val="150000"/>
              </a:lnSpc>
            </a:pPr>
            <a:r>
              <a:rPr lang="en-US" sz="1600" dirty="0">
                <a:latin typeface="Times New Roman" panose="02020603050405020304" pitchFamily="18" charset="0"/>
                <a:cs typeface="Times New Roman" panose="02020603050405020304" pitchFamily="18" charset="0"/>
              </a:rPr>
              <a:t>BACK END	      : NodeJS , MySQL, MongoDB</a:t>
            </a:r>
          </a:p>
        </p:txBody>
      </p:sp>
    </p:spTree>
    <p:extLst>
      <p:ext uri="{BB962C8B-B14F-4D97-AF65-F5344CB8AC3E}">
        <p14:creationId xmlns:p14="http://schemas.microsoft.com/office/powerpoint/2010/main" val="3858393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72B7ED-C78F-40F9-946B-24B47A43DB26}"/>
              </a:ext>
            </a:extLst>
          </p:cNvPr>
          <p:cNvSpPr/>
          <p:nvPr/>
        </p:nvSpPr>
        <p:spPr>
          <a:xfrm>
            <a:off x="304800" y="209550"/>
            <a:ext cx="2039341"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Module Name</a:t>
            </a:r>
            <a:endParaRPr lang="en-IN" sz="2400" dirty="0">
              <a:solidFill>
                <a:srgbClr val="000099"/>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B50DC80-934D-41AD-9AD4-1E3649CE8552}"/>
              </a:ext>
            </a:extLst>
          </p:cNvPr>
          <p:cNvSpPr/>
          <p:nvPr/>
        </p:nvSpPr>
        <p:spPr>
          <a:xfrm>
            <a:off x="457200" y="971550"/>
            <a:ext cx="5410200" cy="2535566"/>
          </a:xfrm>
          <a:prstGeom prst="rect">
            <a:avLst/>
          </a:prstGeom>
        </p:spPr>
        <p:txBody>
          <a:bodyPr wrap="square">
            <a:spAutoFit/>
          </a:bodyPr>
          <a:lstStyle/>
          <a:p>
            <a:pPr indent="457200" algn="just">
              <a:lnSpc>
                <a:spcPct val="150000"/>
              </a:lnSpc>
              <a:spcAft>
                <a:spcPts val="0"/>
              </a:spcAft>
            </a:pPr>
            <a:r>
              <a:rPr lang="en-IN" dirty="0">
                <a:latin typeface="Times New Roman" panose="02020603050405020304" pitchFamily="18" charset="0"/>
                <a:ea typeface="Times New Roman" panose="02020603050405020304" pitchFamily="18" charset="0"/>
              </a:rPr>
              <a:t>This is system include five  modules, </a:t>
            </a:r>
          </a:p>
          <a:p>
            <a:pPr marL="1714500" lvl="3" indent="-342900" algn="just">
              <a:lnSpc>
                <a:spcPct val="150000"/>
              </a:lnSpc>
              <a:buFont typeface="+mj-lt"/>
              <a:buAutoNum type="arabicParenR"/>
            </a:pPr>
            <a:r>
              <a:rPr lang="en-IN" b="1" dirty="0">
                <a:latin typeface="Times New Roman" panose="02020603050405020304" pitchFamily="18" charset="0"/>
                <a:ea typeface="Times New Roman" panose="02020603050405020304" pitchFamily="18" charset="0"/>
              </a:rPr>
              <a:t>Login Module </a:t>
            </a:r>
          </a:p>
          <a:p>
            <a:pPr marL="1714500" lvl="3" indent="-342900" algn="just">
              <a:lnSpc>
                <a:spcPct val="150000"/>
              </a:lnSpc>
              <a:buFont typeface="+mj-lt"/>
              <a:buAutoNum type="arabicParenR"/>
            </a:pPr>
            <a:r>
              <a:rPr lang="en-IN" b="1" dirty="0">
                <a:latin typeface="Times New Roman" panose="02020603050405020304" pitchFamily="18" charset="0"/>
                <a:ea typeface="Times New Roman" panose="02020603050405020304" pitchFamily="18" charset="0"/>
              </a:rPr>
              <a:t>Medicine &amp; Category  Module </a:t>
            </a:r>
          </a:p>
          <a:p>
            <a:pPr marL="1714500" lvl="3" indent="-342900" algn="just">
              <a:lnSpc>
                <a:spcPct val="150000"/>
              </a:lnSpc>
              <a:buFont typeface="+mj-lt"/>
              <a:buAutoNum type="arabicParenR"/>
            </a:pPr>
            <a:r>
              <a:rPr lang="en-IN" b="1" dirty="0">
                <a:latin typeface="Times New Roman" panose="02020603050405020304" pitchFamily="18" charset="0"/>
                <a:ea typeface="Times New Roman" panose="02020603050405020304" pitchFamily="18" charset="0"/>
              </a:rPr>
              <a:t>Customer Module </a:t>
            </a:r>
          </a:p>
          <a:p>
            <a:pPr marL="1714500" lvl="3" indent="-342900" algn="just">
              <a:lnSpc>
                <a:spcPct val="150000"/>
              </a:lnSpc>
              <a:buFont typeface="+mj-lt"/>
              <a:buAutoNum type="arabicParenR"/>
            </a:pPr>
            <a:r>
              <a:rPr lang="en-IN" b="1" dirty="0">
                <a:latin typeface="Times New Roman" panose="02020603050405020304" pitchFamily="18" charset="0"/>
                <a:ea typeface="Times New Roman" panose="02020603050405020304" pitchFamily="18" charset="0"/>
              </a:rPr>
              <a:t>Cart &amp; Order Module</a:t>
            </a:r>
          </a:p>
          <a:p>
            <a:pPr marL="1714500" lvl="3" indent="-342900" algn="just">
              <a:lnSpc>
                <a:spcPct val="150000"/>
              </a:lnSpc>
              <a:buFont typeface="+mj-lt"/>
              <a:buAutoNum type="arabicParenR"/>
            </a:pPr>
            <a:r>
              <a:rPr lang="en-IN" b="1" dirty="0">
                <a:latin typeface="Times New Roman" panose="02020603050405020304" pitchFamily="18" charset="0"/>
                <a:ea typeface="Times New Roman" panose="02020603050405020304" pitchFamily="18" charset="0"/>
              </a:rPr>
              <a:t>Admin Module</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83566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2F6DF4-26B5-40DF-A90E-FA2136BD1555}"/>
              </a:ext>
            </a:extLst>
          </p:cNvPr>
          <p:cNvSpPr/>
          <p:nvPr/>
        </p:nvSpPr>
        <p:spPr>
          <a:xfrm>
            <a:off x="304800" y="209550"/>
            <a:ext cx="2039341"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Login Module</a:t>
            </a:r>
          </a:p>
        </p:txBody>
      </p:sp>
      <p:sp>
        <p:nvSpPr>
          <p:cNvPr id="7" name="TextBox 6">
            <a:extLst>
              <a:ext uri="{FF2B5EF4-FFF2-40B4-BE49-F238E27FC236}">
                <a16:creationId xmlns:a16="http://schemas.microsoft.com/office/drawing/2014/main" id="{608EE021-2ACA-4584-B165-B9649AE5E798}"/>
              </a:ext>
            </a:extLst>
          </p:cNvPr>
          <p:cNvSpPr txBox="1"/>
          <p:nvPr/>
        </p:nvSpPr>
        <p:spPr>
          <a:xfrm>
            <a:off x="381000" y="590550"/>
            <a:ext cx="7543800" cy="1800493"/>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Login Module</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Login Module</a:t>
            </a:r>
            <a:r>
              <a:rPr lang="en-US" dirty="0">
                <a:latin typeface="Times New Roman" panose="02020603050405020304" pitchFamily="18" charset="0"/>
                <a:cs typeface="Times New Roman" panose="02020603050405020304" pitchFamily="18" charset="0"/>
              </a:rPr>
              <a:t> provides secure authentication for both users and administrators by validating login credentials such as username and password. It ensures role-based access control by differentiating between admin and customer privileges. This module prevents unauthorized access and maintains the overall security of the system.</a:t>
            </a:r>
          </a:p>
        </p:txBody>
      </p:sp>
      <p:pic>
        <p:nvPicPr>
          <p:cNvPr id="2" name="Picture 1">
            <a:extLst>
              <a:ext uri="{FF2B5EF4-FFF2-40B4-BE49-F238E27FC236}">
                <a16:creationId xmlns:a16="http://schemas.microsoft.com/office/drawing/2014/main" id="{3C540CDE-D93B-48ED-8696-33FC23938A8B}"/>
              </a:ext>
            </a:extLst>
          </p:cNvPr>
          <p:cNvPicPr>
            <a:picLocks noChangeAspect="1"/>
          </p:cNvPicPr>
          <p:nvPr/>
        </p:nvPicPr>
        <p:blipFill>
          <a:blip r:embed="rId2"/>
          <a:stretch>
            <a:fillRect/>
          </a:stretch>
        </p:blipFill>
        <p:spPr>
          <a:xfrm>
            <a:off x="1186542" y="2343150"/>
            <a:ext cx="5671457" cy="2547966"/>
          </a:xfrm>
          <a:prstGeom prst="rect">
            <a:avLst/>
          </a:prstGeom>
        </p:spPr>
      </p:pic>
    </p:spTree>
    <p:extLst>
      <p:ext uri="{BB962C8B-B14F-4D97-AF65-F5344CB8AC3E}">
        <p14:creationId xmlns:p14="http://schemas.microsoft.com/office/powerpoint/2010/main" val="3083893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5257800" cy="461665"/>
          </a:xfrm>
          <a:prstGeom prst="rect">
            <a:avLst/>
          </a:prstGeom>
        </p:spPr>
        <p:txBody>
          <a:bodyPr wrap="square">
            <a:spAutoFit/>
          </a:bodyPr>
          <a:lstStyle/>
          <a:p>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Admin Modules</a:t>
            </a:r>
          </a:p>
        </p:txBody>
      </p:sp>
      <p:sp>
        <p:nvSpPr>
          <p:cNvPr id="3" name="Rectangle 2">
            <a:extLst>
              <a:ext uri="{FF2B5EF4-FFF2-40B4-BE49-F238E27FC236}">
                <a16:creationId xmlns:a16="http://schemas.microsoft.com/office/drawing/2014/main" id="{B1C65BEE-1A4E-4094-A8B3-8426AF96130D}"/>
              </a:ext>
            </a:extLst>
          </p:cNvPr>
          <p:cNvSpPr/>
          <p:nvPr/>
        </p:nvSpPr>
        <p:spPr>
          <a:xfrm>
            <a:off x="381000" y="799564"/>
            <a:ext cx="6477000" cy="276999"/>
          </a:xfrm>
          <a:prstGeom prst="rect">
            <a:avLst/>
          </a:prstGeom>
        </p:spPr>
        <p:txBody>
          <a:bodyPr wrap="square">
            <a:spAutoFit/>
          </a:bodyPr>
          <a:lstStyle/>
          <a:p>
            <a:r>
              <a:rPr lang="en-IN" sz="1200" dirty="0"/>
              <a:t>.</a:t>
            </a:r>
          </a:p>
        </p:txBody>
      </p:sp>
      <p:sp>
        <p:nvSpPr>
          <p:cNvPr id="4" name="Rectangle 3">
            <a:extLst>
              <a:ext uri="{FF2B5EF4-FFF2-40B4-BE49-F238E27FC236}">
                <a16:creationId xmlns:a16="http://schemas.microsoft.com/office/drawing/2014/main" id="{5C843D6B-E964-40F2-940D-79BB24D933ED}"/>
              </a:ext>
            </a:extLst>
          </p:cNvPr>
          <p:cNvSpPr/>
          <p:nvPr/>
        </p:nvSpPr>
        <p:spPr>
          <a:xfrm>
            <a:off x="228600" y="586591"/>
            <a:ext cx="8686800" cy="1945661"/>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Admin Module</a:t>
            </a:r>
          </a:p>
          <a:p>
            <a:pPr>
              <a:lnSpc>
                <a:spcPct val="150000"/>
              </a:lnSpc>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Admin Module </a:t>
            </a:r>
            <a:r>
              <a:rPr lang="en-US" sz="1600" dirty="0">
                <a:latin typeface="Times New Roman" panose="02020603050405020304" pitchFamily="18" charset="0"/>
                <a:cs typeface="Times New Roman" panose="02020603050405020304" pitchFamily="18" charset="0"/>
              </a:rPr>
              <a:t>provides centralized control over the entire system, allowing efficient management of medicines, categories, customers, and orders. It continuously monitors inventory and stock levels to avoid shortages and overstocking. The module also generates reports and ensures smooth and reliable system </a:t>
            </a:r>
            <a:r>
              <a:rPr lang="en-US" sz="1600" dirty="0"/>
              <a:t>operation.</a:t>
            </a:r>
            <a:endParaRPr lang="en-US" sz="16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1FD97AF-C610-407D-B342-8FBF2158B367}"/>
              </a:ext>
            </a:extLst>
          </p:cNvPr>
          <p:cNvPicPr>
            <a:picLocks noChangeAspect="1"/>
          </p:cNvPicPr>
          <p:nvPr/>
        </p:nvPicPr>
        <p:blipFill>
          <a:blip r:embed="rId2"/>
          <a:stretch>
            <a:fillRect/>
          </a:stretch>
        </p:blipFill>
        <p:spPr>
          <a:xfrm>
            <a:off x="2133600" y="2116191"/>
            <a:ext cx="6934200" cy="3027309"/>
          </a:xfrm>
          <a:prstGeom prst="rect">
            <a:avLst/>
          </a:prstGeom>
        </p:spPr>
      </p:pic>
    </p:spTree>
    <p:extLst>
      <p:ext uri="{BB962C8B-B14F-4D97-AF65-F5344CB8AC3E}">
        <p14:creationId xmlns:p14="http://schemas.microsoft.com/office/powerpoint/2010/main" val="3392042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5257800" cy="461665"/>
          </a:xfrm>
          <a:prstGeom prst="rect">
            <a:avLst/>
          </a:prstGeom>
        </p:spPr>
        <p:txBody>
          <a:bodyPr wrap="square">
            <a:spAutoFit/>
          </a:bodyPr>
          <a:lstStyle/>
          <a:p>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Categories  </a:t>
            </a:r>
          </a:p>
        </p:txBody>
      </p:sp>
      <p:sp>
        <p:nvSpPr>
          <p:cNvPr id="3" name="Rectangle 2">
            <a:extLst>
              <a:ext uri="{FF2B5EF4-FFF2-40B4-BE49-F238E27FC236}">
                <a16:creationId xmlns:a16="http://schemas.microsoft.com/office/drawing/2014/main" id="{B1C65BEE-1A4E-4094-A8B3-8426AF96130D}"/>
              </a:ext>
            </a:extLst>
          </p:cNvPr>
          <p:cNvSpPr/>
          <p:nvPr/>
        </p:nvSpPr>
        <p:spPr>
          <a:xfrm>
            <a:off x="381000" y="799564"/>
            <a:ext cx="6477000" cy="276999"/>
          </a:xfrm>
          <a:prstGeom prst="rect">
            <a:avLst/>
          </a:prstGeom>
        </p:spPr>
        <p:txBody>
          <a:bodyPr wrap="square">
            <a:spAutoFit/>
          </a:bodyPr>
          <a:lstStyle/>
          <a:p>
            <a:r>
              <a:rPr lang="en-IN" sz="1200" dirty="0"/>
              <a:t>.</a:t>
            </a:r>
          </a:p>
        </p:txBody>
      </p:sp>
      <p:pic>
        <p:nvPicPr>
          <p:cNvPr id="5" name="Picture 4">
            <a:extLst>
              <a:ext uri="{FF2B5EF4-FFF2-40B4-BE49-F238E27FC236}">
                <a16:creationId xmlns:a16="http://schemas.microsoft.com/office/drawing/2014/main" id="{386E3AF5-2476-45BE-8822-208C4C815055}"/>
              </a:ext>
            </a:extLst>
          </p:cNvPr>
          <p:cNvPicPr>
            <a:picLocks noChangeAspect="1"/>
          </p:cNvPicPr>
          <p:nvPr/>
        </p:nvPicPr>
        <p:blipFill>
          <a:blip r:embed="rId2"/>
          <a:stretch>
            <a:fillRect/>
          </a:stretch>
        </p:blipFill>
        <p:spPr>
          <a:xfrm>
            <a:off x="1752600" y="1885950"/>
            <a:ext cx="7299672" cy="3200400"/>
          </a:xfrm>
          <a:prstGeom prst="rect">
            <a:avLst/>
          </a:prstGeom>
        </p:spPr>
      </p:pic>
      <p:sp>
        <p:nvSpPr>
          <p:cNvPr id="9" name="Rectangle 8">
            <a:extLst>
              <a:ext uri="{FF2B5EF4-FFF2-40B4-BE49-F238E27FC236}">
                <a16:creationId xmlns:a16="http://schemas.microsoft.com/office/drawing/2014/main" id="{D53345A3-3830-4B35-910B-38123D041550}"/>
              </a:ext>
            </a:extLst>
          </p:cNvPr>
          <p:cNvSpPr/>
          <p:nvPr/>
        </p:nvSpPr>
        <p:spPr>
          <a:xfrm>
            <a:off x="381000" y="666750"/>
            <a:ext cx="8001000" cy="1477328"/>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Herbal Medicines: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a:t>
            </a:r>
            <a:r>
              <a:rPr lang="en-US" b="1" dirty="0">
                <a:latin typeface="Times New Roman" panose="02020603050405020304" pitchFamily="18" charset="0"/>
                <a:cs typeface="Times New Roman" panose="02020603050405020304" pitchFamily="18" charset="0"/>
              </a:rPr>
              <a:t>Category</a:t>
            </a:r>
            <a:r>
              <a:rPr lang="en-US" dirty="0">
                <a:latin typeface="Times New Roman" panose="02020603050405020304" pitchFamily="18" charset="0"/>
                <a:cs typeface="Times New Roman" panose="02020603050405020304" pitchFamily="18" charset="0"/>
              </a:rPr>
              <a:t> includes Ayurvedic tablets, powders, syrups, and capsules prepared from natural herbs. These medicines are formulated using traditional practices to treat common and chronic ailments. They focus on natural healing with minimal</a:t>
            </a:r>
          </a:p>
          <a:p>
            <a:r>
              <a:rPr lang="en-US" dirty="0">
                <a:latin typeface="Times New Roman" panose="02020603050405020304" pitchFamily="18" charset="0"/>
                <a:cs typeface="Times New Roman" panose="02020603050405020304" pitchFamily="18" charset="0"/>
              </a:rPr>
              <a:t> side effects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0840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04D8DF-8AFF-4DF8-A713-B306155F90CF}"/>
              </a:ext>
            </a:extLst>
          </p:cNvPr>
          <p:cNvSpPr/>
          <p:nvPr/>
        </p:nvSpPr>
        <p:spPr>
          <a:xfrm>
            <a:off x="304800" y="209550"/>
            <a:ext cx="2347117"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Module Name…</a:t>
            </a:r>
            <a:endParaRPr lang="en-IN" sz="2400" dirty="0">
              <a:solidFill>
                <a:srgbClr val="000099"/>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C28FB4B-F666-4731-B895-9C2851D11E37}"/>
              </a:ext>
            </a:extLst>
          </p:cNvPr>
          <p:cNvSpPr>
            <a:spLocks noChangeArrowheads="1"/>
          </p:cNvSpPr>
          <p:nvPr/>
        </p:nvSpPr>
        <p:spPr bwMode="auto">
          <a:xfrm>
            <a:off x="0" y="700892"/>
            <a:ext cx="88392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works </a:t>
            </a: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Login Module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Verifies user credentials and grants secure access to the system.</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Medicine &amp; Category Module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medicines organized by categories for easy search and selection.</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Module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customer registration, profile details, and order history.</a:t>
            </a:r>
          </a:p>
          <a:p>
            <a:pPr lvl="1" eaLnBrk="0" fontAlgn="base" hangingPunct="0">
              <a:spcBef>
                <a:spcPct val="0"/>
              </a:spcBef>
              <a:spcAft>
                <a:spcPct val="0"/>
              </a:spcAft>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Cart &amp; Order Module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1"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Adds selected medicines to cart and processes order placement.</a:t>
            </a:r>
          </a:p>
          <a:p>
            <a:pPr lvl="1" eaLnBrk="0" fontAlgn="base" hangingPunct="0">
              <a:spcBef>
                <a:spcPct val="0"/>
              </a:spcBef>
              <a:spcAft>
                <a:spcPct val="0"/>
              </a:spcAft>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Admin Module </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Controls medicines, categories, users, inventory, and orders from a central dashboard.</a:t>
            </a:r>
          </a:p>
        </p:txBody>
      </p:sp>
    </p:spTree>
    <p:extLst>
      <p:ext uri="{BB962C8B-B14F-4D97-AF65-F5344CB8AC3E}">
        <p14:creationId xmlns:p14="http://schemas.microsoft.com/office/powerpoint/2010/main" val="2222406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800" y="209550"/>
            <a:ext cx="5760551"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UI :  ReactJS : </a:t>
            </a:r>
            <a:r>
              <a:rPr lang="en-IN" sz="2400" b="1" dirty="0" err="1">
                <a:solidFill>
                  <a:srgbClr val="000099"/>
                </a:solidFill>
                <a:latin typeface="Times New Roman" panose="02020603050405020304" pitchFamily="18" charset="0"/>
                <a:ea typeface="Calibri" panose="020F0502020204030204" pitchFamily="34" charset="0"/>
                <a:cs typeface="Times New Roman" panose="02020603050405020304" pitchFamily="18" charset="0"/>
              </a:rPr>
              <a:t>AdminLogin</a:t>
            </a:r>
            <a:endParaRPr lang="en-IN" sz="2400" dirty="0">
              <a:solidFill>
                <a:srgbClr val="000099"/>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47A12FA-48FA-4617-AB80-8806B430C12C}"/>
              </a:ext>
            </a:extLst>
          </p:cNvPr>
          <p:cNvPicPr>
            <a:picLocks noChangeAspect="1"/>
          </p:cNvPicPr>
          <p:nvPr/>
        </p:nvPicPr>
        <p:blipFill>
          <a:blip r:embed="rId2"/>
          <a:stretch>
            <a:fillRect/>
          </a:stretch>
        </p:blipFill>
        <p:spPr>
          <a:xfrm>
            <a:off x="209724" y="729898"/>
            <a:ext cx="8934275" cy="4413601"/>
          </a:xfrm>
          <a:prstGeom prst="rect">
            <a:avLst/>
          </a:prstGeom>
        </p:spPr>
      </p:pic>
    </p:spTree>
    <p:extLst>
      <p:ext uri="{BB962C8B-B14F-4D97-AF65-F5344CB8AC3E}">
        <p14:creationId xmlns:p14="http://schemas.microsoft.com/office/powerpoint/2010/main" val="1729210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800" y="209550"/>
            <a:ext cx="5578771"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UI :  ReactJS : Categories </a:t>
            </a:r>
            <a:endParaRPr lang="en-IN" sz="2400" dirty="0">
              <a:solidFill>
                <a:srgbClr val="000099"/>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61B7AE6-8C10-41F4-975C-4E69F7ACB639}"/>
              </a:ext>
            </a:extLst>
          </p:cNvPr>
          <p:cNvPicPr>
            <a:picLocks noChangeAspect="1"/>
          </p:cNvPicPr>
          <p:nvPr/>
        </p:nvPicPr>
        <p:blipFill>
          <a:blip r:embed="rId2"/>
          <a:stretch>
            <a:fillRect/>
          </a:stretch>
        </p:blipFill>
        <p:spPr>
          <a:xfrm>
            <a:off x="0" y="671214"/>
            <a:ext cx="8998608" cy="4472285"/>
          </a:xfrm>
          <a:prstGeom prst="rect">
            <a:avLst/>
          </a:prstGeom>
        </p:spPr>
      </p:pic>
    </p:spTree>
    <p:extLst>
      <p:ext uri="{BB962C8B-B14F-4D97-AF65-F5344CB8AC3E}">
        <p14:creationId xmlns:p14="http://schemas.microsoft.com/office/powerpoint/2010/main" val="4040059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800" y="209550"/>
            <a:ext cx="8158067"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Backend  :  Spring Boot : CustomerController </a:t>
            </a:r>
            <a:endParaRPr lang="en-IN" sz="2400" dirty="0">
              <a:solidFill>
                <a:srgbClr val="000099"/>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3C511CD-056D-4FA6-90FF-E42B10DAFDD4}"/>
              </a:ext>
            </a:extLst>
          </p:cNvPr>
          <p:cNvPicPr>
            <a:picLocks noChangeAspect="1"/>
          </p:cNvPicPr>
          <p:nvPr/>
        </p:nvPicPr>
        <p:blipFill>
          <a:blip r:embed="rId2"/>
          <a:stretch>
            <a:fillRect/>
          </a:stretch>
        </p:blipFill>
        <p:spPr>
          <a:xfrm>
            <a:off x="0" y="702026"/>
            <a:ext cx="7924800" cy="4419346"/>
          </a:xfrm>
          <a:prstGeom prst="rect">
            <a:avLst/>
          </a:prstGeom>
        </p:spPr>
      </p:pic>
    </p:spTree>
    <p:extLst>
      <p:ext uri="{BB962C8B-B14F-4D97-AF65-F5344CB8AC3E}">
        <p14:creationId xmlns:p14="http://schemas.microsoft.com/office/powerpoint/2010/main" val="2923834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6E0D70-88F7-473F-B782-8DADD52C33AA}"/>
              </a:ext>
            </a:extLst>
          </p:cNvPr>
          <p:cNvSpPr/>
          <p:nvPr/>
        </p:nvSpPr>
        <p:spPr>
          <a:xfrm>
            <a:off x="304800" y="209550"/>
            <a:ext cx="3630161"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data set : MySQL </a:t>
            </a:r>
            <a:endParaRPr lang="en-IN" sz="2400" dirty="0">
              <a:solidFill>
                <a:srgbClr val="000099"/>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42AFCE5-79D4-48EC-A587-4576A153509A}"/>
              </a:ext>
            </a:extLst>
          </p:cNvPr>
          <p:cNvPicPr>
            <a:picLocks noChangeAspect="1"/>
          </p:cNvPicPr>
          <p:nvPr/>
        </p:nvPicPr>
        <p:blipFill>
          <a:blip r:embed="rId2"/>
          <a:stretch>
            <a:fillRect/>
          </a:stretch>
        </p:blipFill>
        <p:spPr>
          <a:xfrm>
            <a:off x="0" y="702965"/>
            <a:ext cx="3200400" cy="2543175"/>
          </a:xfrm>
          <a:prstGeom prst="rect">
            <a:avLst/>
          </a:prstGeom>
        </p:spPr>
      </p:pic>
      <p:pic>
        <p:nvPicPr>
          <p:cNvPr id="5" name="Picture 4">
            <a:extLst>
              <a:ext uri="{FF2B5EF4-FFF2-40B4-BE49-F238E27FC236}">
                <a16:creationId xmlns:a16="http://schemas.microsoft.com/office/drawing/2014/main" id="{5AC06E56-94EB-42BA-A6ED-5349AAC1C944}"/>
              </a:ext>
            </a:extLst>
          </p:cNvPr>
          <p:cNvPicPr/>
          <p:nvPr/>
        </p:nvPicPr>
        <p:blipFill>
          <a:blip r:embed="rId3"/>
          <a:stretch>
            <a:fillRect/>
          </a:stretch>
        </p:blipFill>
        <p:spPr>
          <a:xfrm>
            <a:off x="3276600" y="712944"/>
            <a:ext cx="4782185" cy="2543175"/>
          </a:xfrm>
          <a:prstGeom prst="rect">
            <a:avLst/>
          </a:prstGeom>
        </p:spPr>
      </p:pic>
      <p:pic>
        <p:nvPicPr>
          <p:cNvPr id="6" name="Picture 5">
            <a:extLst>
              <a:ext uri="{FF2B5EF4-FFF2-40B4-BE49-F238E27FC236}">
                <a16:creationId xmlns:a16="http://schemas.microsoft.com/office/drawing/2014/main" id="{2BC88A98-88AD-4582-9FED-D02BBF357EC3}"/>
              </a:ext>
            </a:extLst>
          </p:cNvPr>
          <p:cNvPicPr>
            <a:picLocks noChangeAspect="1"/>
          </p:cNvPicPr>
          <p:nvPr/>
        </p:nvPicPr>
        <p:blipFill>
          <a:blip r:embed="rId4"/>
          <a:stretch>
            <a:fillRect/>
          </a:stretch>
        </p:blipFill>
        <p:spPr>
          <a:xfrm>
            <a:off x="0" y="3297848"/>
            <a:ext cx="9144000" cy="1713310"/>
          </a:xfrm>
          <a:prstGeom prst="rect">
            <a:avLst/>
          </a:prstGeom>
        </p:spPr>
      </p:pic>
    </p:spTree>
    <p:extLst>
      <p:ext uri="{BB962C8B-B14F-4D97-AF65-F5344CB8AC3E}">
        <p14:creationId xmlns:p14="http://schemas.microsoft.com/office/powerpoint/2010/main" val="1769258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6510500"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Testing Methods  : Backend Testing Spring Boot</a:t>
            </a:r>
            <a:endParaRPr lang="en-IN" sz="2400"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C2D9A24-C44F-40D0-82CE-2459343036BD}"/>
              </a:ext>
            </a:extLst>
          </p:cNvPr>
          <p:cNvSpPr/>
          <p:nvPr/>
        </p:nvSpPr>
        <p:spPr>
          <a:xfrm>
            <a:off x="647700" y="666750"/>
            <a:ext cx="7848600" cy="4336059"/>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  Backend Testing (Spring Boot)</a:t>
            </a:r>
          </a:p>
          <a:p>
            <a:endParaRPr lang="en-IN"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JUnit</a:t>
            </a:r>
            <a:r>
              <a:rPr lang="en-IN" dirty="0">
                <a:latin typeface="Times New Roman" panose="02020603050405020304" pitchFamily="18" charset="0"/>
                <a:cs typeface="Times New Roman" panose="02020603050405020304" pitchFamily="18" charset="0"/>
              </a:rPr>
              <a:t> → Used for unit testing service and controller methods.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Mockito</a:t>
            </a:r>
            <a:r>
              <a:rPr lang="en-IN" dirty="0">
                <a:latin typeface="Times New Roman" panose="02020603050405020304" pitchFamily="18" charset="0"/>
                <a:cs typeface="Times New Roman" panose="02020603050405020304" pitchFamily="18" charset="0"/>
              </a:rPr>
              <a:t> → Used to mock repositories and dependent services.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Spring Boot Test</a:t>
            </a:r>
            <a:r>
              <a:rPr lang="en-IN" dirty="0">
                <a:latin typeface="Times New Roman" panose="02020603050405020304" pitchFamily="18" charset="0"/>
                <a:cs typeface="Times New Roman" panose="02020603050405020304" pitchFamily="18" charset="0"/>
              </a:rPr>
              <a:t> → Tests integration between controller, service, and repository layers.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API Testing</a:t>
            </a:r>
            <a:r>
              <a:rPr lang="en-IN" dirty="0">
                <a:latin typeface="Times New Roman" panose="02020603050405020304" pitchFamily="18" charset="0"/>
                <a:cs typeface="Times New Roman" panose="02020603050405020304" pitchFamily="18" charset="0"/>
              </a:rPr>
              <a:t> → Validates REST APIs using request and response verification.</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Exception Handling Testing</a:t>
            </a:r>
            <a:r>
              <a:rPr lang="en-IN" dirty="0">
                <a:latin typeface="Times New Roman" panose="02020603050405020304" pitchFamily="18" charset="0"/>
                <a:cs typeface="Times New Roman" panose="02020603050405020304" pitchFamily="18" charset="0"/>
              </a:rPr>
              <a:t> → Ensures proper error messages and status codes.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Advantage: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Ensures backend logic is reliable, secure, and error-free.</a:t>
            </a:r>
          </a:p>
        </p:txBody>
      </p:sp>
    </p:spTree>
    <p:extLst>
      <p:ext uri="{BB962C8B-B14F-4D97-AF65-F5344CB8AC3E}">
        <p14:creationId xmlns:p14="http://schemas.microsoft.com/office/powerpoint/2010/main" val="4029253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6341416"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Testing Methods  : Frontend Testing- ReactJS  </a:t>
            </a:r>
            <a:endParaRPr lang="en-IN" sz="2400"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C2D9A24-C44F-40D0-82CE-2459343036BD}"/>
              </a:ext>
            </a:extLst>
          </p:cNvPr>
          <p:cNvSpPr/>
          <p:nvPr/>
        </p:nvSpPr>
        <p:spPr>
          <a:xfrm>
            <a:off x="647700" y="666750"/>
            <a:ext cx="7848600" cy="3920560"/>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Frontend  Testing (ReactJS)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Karma</a:t>
            </a:r>
            <a:r>
              <a:rPr lang="en-IN" dirty="0">
                <a:latin typeface="Times New Roman" panose="02020603050405020304" pitchFamily="18" charset="0"/>
                <a:cs typeface="Times New Roman" panose="02020603050405020304" pitchFamily="18" charset="0"/>
              </a:rPr>
              <a:t> → Test runner used to execute frontend test cases.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Jasmine </a:t>
            </a:r>
            <a:r>
              <a:rPr lang="en-IN" dirty="0">
                <a:latin typeface="Times New Roman" panose="02020603050405020304" pitchFamily="18" charset="0"/>
                <a:cs typeface="Times New Roman" panose="02020603050405020304" pitchFamily="18" charset="0"/>
              </a:rPr>
              <a:t>→ Framework used for writing unit test cases.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Component Testing </a:t>
            </a:r>
            <a:r>
              <a:rPr lang="en-IN" dirty="0">
                <a:latin typeface="Times New Roman" panose="02020603050405020304" pitchFamily="18" charset="0"/>
                <a:cs typeface="Times New Roman" panose="02020603050405020304" pitchFamily="18" charset="0"/>
              </a:rPr>
              <a:t>→ Tests React components independently.</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UI Behaviour Testing </a:t>
            </a:r>
            <a:r>
              <a:rPr lang="en-IN" dirty="0">
                <a:latin typeface="Times New Roman" panose="02020603050405020304" pitchFamily="18" charset="0"/>
                <a:cs typeface="Times New Roman" panose="02020603050405020304" pitchFamily="18" charset="0"/>
              </a:rPr>
              <a:t>→ Validates button clicks, form inputs, and validations.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Integration Testing </a:t>
            </a:r>
            <a:r>
              <a:rPr lang="en-IN" dirty="0">
                <a:latin typeface="Times New Roman" panose="02020603050405020304" pitchFamily="18" charset="0"/>
                <a:cs typeface="Times New Roman" panose="02020603050405020304" pitchFamily="18" charset="0"/>
              </a:rPr>
              <a:t>→ Ensures frontend works correctly with backend APIs.</a:t>
            </a:r>
          </a:p>
          <a:p>
            <a:pPr marL="28575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Advantage: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Improves UI reliability and ensures a smooth user experience.</a:t>
            </a: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424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2354106"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Testing Methods</a:t>
            </a:r>
            <a:endParaRPr lang="en-IN" sz="2400"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C2D9A24-C44F-40D0-82CE-2459343036BD}"/>
              </a:ext>
            </a:extLst>
          </p:cNvPr>
          <p:cNvSpPr/>
          <p:nvPr/>
        </p:nvSpPr>
        <p:spPr>
          <a:xfrm>
            <a:off x="647700" y="971550"/>
            <a:ext cx="7848600" cy="3323987"/>
          </a:xfrm>
          <a:prstGeom prst="rect">
            <a:avLst/>
          </a:prstGeom>
        </p:spPr>
        <p:txBody>
          <a:bodyPr wrap="square">
            <a:spAutoFit/>
          </a:bodyPr>
          <a:lstStyle/>
          <a:p>
            <a:pPr marL="342900" indent="-342900">
              <a:buFont typeface="Wingdings" panose="05000000000000000000" pitchFamily="2" charset="2"/>
              <a:buChar char="v"/>
            </a:pPr>
            <a:r>
              <a:rPr lang="en-US" b="1" dirty="0"/>
              <a:t> </a:t>
            </a:r>
            <a:r>
              <a:rPr lang="en-US" sz="1600" b="1" dirty="0">
                <a:latin typeface="Times New Roman" panose="02020603050405020304" pitchFamily="18" charset="0"/>
                <a:cs typeface="Times New Roman" panose="02020603050405020304" pitchFamily="18" charset="0"/>
              </a:rPr>
              <a:t>Black Box Testing (Functional Testing)</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Focuses on the </a:t>
            </a:r>
            <a:r>
              <a:rPr lang="en-US" sz="1600" b="1" dirty="0">
                <a:latin typeface="Times New Roman" panose="02020603050405020304" pitchFamily="18" charset="0"/>
                <a:cs typeface="Times New Roman" panose="02020603050405020304" pitchFamily="18" charset="0"/>
              </a:rPr>
              <a:t>functionality</a:t>
            </a:r>
            <a:r>
              <a:rPr lang="en-US" sz="1600" dirty="0">
                <a:latin typeface="Times New Roman" panose="02020603050405020304" pitchFamily="18" charset="0"/>
                <a:cs typeface="Times New Roman" panose="02020603050405020304" pitchFamily="18" charset="0"/>
              </a:rPr>
              <a:t> of the software.</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Testers do </a:t>
            </a:r>
            <a:r>
              <a:rPr lang="en-US" sz="1600" b="1" dirty="0">
                <a:latin typeface="Times New Roman" panose="02020603050405020304" pitchFamily="18" charset="0"/>
                <a:cs typeface="Times New Roman" panose="02020603050405020304" pitchFamily="18" charset="0"/>
              </a:rPr>
              <a:t>not</a:t>
            </a:r>
            <a:r>
              <a:rPr lang="en-US" sz="1600" dirty="0">
                <a:latin typeface="Times New Roman" panose="02020603050405020304" pitchFamily="18" charset="0"/>
                <a:cs typeface="Times New Roman" panose="02020603050405020304" pitchFamily="18" charset="0"/>
              </a:rPr>
              <a:t> need knowledge of internal code.</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Based on </a:t>
            </a:r>
            <a:r>
              <a:rPr lang="en-US" sz="1600" b="1" dirty="0">
                <a:latin typeface="Times New Roman" panose="02020603050405020304" pitchFamily="18" charset="0"/>
                <a:cs typeface="Times New Roman" panose="02020603050405020304" pitchFamily="18" charset="0"/>
              </a:rPr>
              <a:t>inputs and outputs</a:t>
            </a:r>
            <a:r>
              <a:rPr lang="en-US" sz="16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Examples:</a:t>
            </a:r>
            <a:endParaRPr lang="en-US" sz="1600" dirty="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Functional Testing</a:t>
            </a:r>
          </a:p>
          <a:p>
            <a:pPr marL="1257300" lvl="2"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Boundary Value Analysis</a:t>
            </a:r>
          </a:p>
          <a:p>
            <a:pPr marL="1257300" lvl="2"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Equivalence Partitioning</a:t>
            </a:r>
          </a:p>
          <a:p>
            <a:pPr marL="1257300" lvl="2"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Regression Testing</a:t>
            </a:r>
          </a:p>
          <a:p>
            <a:pPr marL="1257300" lvl="2" indent="-34290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System Testing</a:t>
            </a:r>
          </a:p>
          <a:p>
            <a:pPr marL="1257300" lvl="2" indent="-342900">
              <a:buFont typeface="Courier New" panose="02070309020205020404" pitchFamily="49" charset="0"/>
              <a:buChar char="o"/>
            </a:pPr>
            <a:r>
              <a:rPr lang="en-US" sz="1600" b="1" dirty="0">
                <a:latin typeface="Times New Roman" panose="02020603050405020304" pitchFamily="18" charset="0"/>
                <a:cs typeface="Times New Roman" panose="02020603050405020304" pitchFamily="18" charset="0"/>
              </a:rPr>
              <a:t>Advantages:</a:t>
            </a:r>
            <a:endParaRPr lang="en-US" sz="1600" dirty="0">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Tester does not need programming knowledge.</a:t>
            </a:r>
          </a:p>
          <a:p>
            <a:pPr marL="1657350" lvl="3"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Useful for validating business requirements.</a:t>
            </a:r>
          </a:p>
        </p:txBody>
      </p:sp>
    </p:spTree>
    <p:extLst>
      <p:ext uri="{BB962C8B-B14F-4D97-AF65-F5344CB8AC3E}">
        <p14:creationId xmlns:p14="http://schemas.microsoft.com/office/powerpoint/2010/main" val="2728646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5648E9-9585-404A-9E9E-B309809C6137}"/>
              </a:ext>
            </a:extLst>
          </p:cNvPr>
          <p:cNvSpPr/>
          <p:nvPr/>
        </p:nvSpPr>
        <p:spPr>
          <a:xfrm>
            <a:off x="685800" y="666750"/>
            <a:ext cx="7924800" cy="2777940"/>
          </a:xfrm>
          <a:prstGeom prst="rect">
            <a:avLst/>
          </a:prstGeom>
        </p:spPr>
        <p:txBody>
          <a:bodyPr wrap="square">
            <a:spAutoFit/>
          </a:bodyPr>
          <a:lstStyle/>
          <a:p>
            <a:pPr>
              <a:lnSpc>
                <a:spcPct val="200000"/>
              </a:lnSpc>
            </a:pPr>
            <a:r>
              <a:rPr lang="en-US" b="1" dirty="0">
                <a:latin typeface="Times New Roman" panose="02020603050405020304" pitchFamily="18" charset="0"/>
                <a:cs typeface="Times New Roman" panose="02020603050405020304" pitchFamily="18" charset="0"/>
              </a:rPr>
              <a:t>Other Testing Methods</a:t>
            </a:r>
          </a:p>
          <a:p>
            <a:pPr>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Manual Testing</a:t>
            </a:r>
            <a:r>
              <a:rPr lang="en-US" dirty="0">
                <a:latin typeface="Times New Roman" panose="02020603050405020304" pitchFamily="18" charset="0"/>
                <a:cs typeface="Times New Roman" panose="02020603050405020304" pitchFamily="18" charset="0"/>
              </a:rPr>
              <a:t> → Human testers execute test cases without automation.</a:t>
            </a:r>
          </a:p>
          <a:p>
            <a:pPr>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Automation Testing</a:t>
            </a:r>
            <a:r>
              <a:rPr lang="en-US" dirty="0">
                <a:latin typeface="Times New Roman" panose="02020603050405020304" pitchFamily="18" charset="0"/>
                <a:cs typeface="Times New Roman" panose="02020603050405020304" pitchFamily="18" charset="0"/>
              </a:rPr>
              <a:t> → Tools/scripts (e.g., Selenium, JUnit) execute test cases.</a:t>
            </a:r>
          </a:p>
          <a:p>
            <a:pPr>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Static Testing</a:t>
            </a:r>
            <a:r>
              <a:rPr lang="en-US" dirty="0">
                <a:latin typeface="Times New Roman" panose="02020603050405020304" pitchFamily="18" charset="0"/>
                <a:cs typeface="Times New Roman" panose="02020603050405020304" pitchFamily="18" charset="0"/>
              </a:rPr>
              <a:t> → Reviews, walkthroughs, inspections without running the code.</a:t>
            </a:r>
          </a:p>
          <a:p>
            <a:pPr>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Dynamic Testing</a:t>
            </a:r>
            <a:r>
              <a:rPr lang="en-US" dirty="0">
                <a:latin typeface="Times New Roman" panose="02020603050405020304" pitchFamily="18" charset="0"/>
                <a:cs typeface="Times New Roman" panose="02020603050405020304" pitchFamily="18" charset="0"/>
              </a:rPr>
              <a:t> → Executing the code and validating output.</a:t>
            </a:r>
          </a:p>
        </p:txBody>
      </p:sp>
      <p:sp>
        <p:nvSpPr>
          <p:cNvPr id="3" name="Rectangle 2">
            <a:extLst>
              <a:ext uri="{FF2B5EF4-FFF2-40B4-BE49-F238E27FC236}">
                <a16:creationId xmlns:a16="http://schemas.microsoft.com/office/drawing/2014/main" id="{D04CC090-C0A8-495C-B14E-715A85FE58CB}"/>
              </a:ext>
            </a:extLst>
          </p:cNvPr>
          <p:cNvSpPr/>
          <p:nvPr/>
        </p:nvSpPr>
        <p:spPr>
          <a:xfrm>
            <a:off x="304800" y="209550"/>
            <a:ext cx="2354106" cy="461665"/>
          </a:xfrm>
          <a:prstGeom prst="rect">
            <a:avLst/>
          </a:prstGeom>
        </p:spPr>
        <p:txBody>
          <a:bodyPr wrap="none">
            <a:spAutoFit/>
          </a:bodyPr>
          <a:lstStyle/>
          <a:p>
            <a:pPr marL="342900" indent="-342900">
              <a:tabLst>
                <a:tab pos="457200" algn="l"/>
              </a:tabLst>
            </a:pP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Testing Methods</a:t>
            </a:r>
            <a:endParaRPr lang="en-IN" sz="2400" dirty="0">
              <a:solidFill>
                <a:srgbClr val="00009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73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74D3FD-3F5A-4F68-95EF-1E13919DDE63}"/>
              </a:ext>
            </a:extLst>
          </p:cNvPr>
          <p:cNvSpPr/>
          <p:nvPr/>
        </p:nvSpPr>
        <p:spPr>
          <a:xfrm>
            <a:off x="304800" y="209550"/>
            <a:ext cx="1656223" cy="461665"/>
          </a:xfrm>
          <a:prstGeom prst="rect">
            <a:avLst/>
          </a:prstGeom>
        </p:spPr>
        <p:txBody>
          <a:bodyPr wrap="none">
            <a:spAutoFit/>
          </a:bodyPr>
          <a:lstStyle/>
          <a:p>
            <a:pPr marL="342900" lvl="0" indent="-342900">
              <a:tabLst>
                <a:tab pos="457200" algn="l"/>
              </a:tabLst>
            </a:pPr>
            <a:r>
              <a:rPr lang="en-IN" sz="2400" b="1" dirty="0">
                <a:solidFill>
                  <a:srgbClr val="000099"/>
                </a:solidFill>
                <a:latin typeface="Times New Roman" panose="02020603050405020304" pitchFamily="18" charset="0"/>
                <a:ea typeface="Times New Roman" panose="02020603050405020304" pitchFamily="18" charset="0"/>
              </a:rPr>
              <a:t>Conclusion</a:t>
            </a:r>
            <a:endParaRPr lang="en-IN" sz="2400" dirty="0">
              <a:solidFill>
                <a:srgbClr val="000099"/>
              </a:solidFill>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50063B2B-1D59-418D-A2B6-5F4901044C83}"/>
              </a:ext>
            </a:extLst>
          </p:cNvPr>
          <p:cNvSpPr/>
          <p:nvPr/>
        </p:nvSpPr>
        <p:spPr>
          <a:xfrm>
            <a:off x="334617" y="590550"/>
            <a:ext cx="8305800" cy="45807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a:t>
            </a:r>
          </a:p>
        </p:txBody>
      </p:sp>
      <p:sp>
        <p:nvSpPr>
          <p:cNvPr id="4" name="Rectangle 3">
            <a:extLst>
              <a:ext uri="{FF2B5EF4-FFF2-40B4-BE49-F238E27FC236}">
                <a16:creationId xmlns:a16="http://schemas.microsoft.com/office/drawing/2014/main" id="{814A9FBE-6227-4D01-8F92-1A3234B49896}"/>
              </a:ext>
            </a:extLst>
          </p:cNvPr>
          <p:cNvSpPr/>
          <p:nvPr/>
        </p:nvSpPr>
        <p:spPr>
          <a:xfrm>
            <a:off x="609600" y="742950"/>
            <a:ext cx="7696200"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Online Ayurveda Medicine Order App </a:t>
            </a:r>
            <a:r>
              <a:rPr lang="en-US" dirty="0">
                <a:latin typeface="Times New Roman" panose="02020603050405020304" pitchFamily="18" charset="0"/>
                <a:cs typeface="Times New Roman" panose="02020603050405020304" pitchFamily="18" charset="0"/>
              </a:rPr>
              <a:t>provides an efficient and user-friendly digital platform for purchasing and managing Ayurvedic medicines. The system improves accessibility for customers, simplifies the ordering process, and enables </a:t>
            </a:r>
            <a:r>
              <a:rPr lang="en-US" b="1" dirty="0">
                <a:latin typeface="Times New Roman" panose="02020603050405020304" pitchFamily="18" charset="0"/>
                <a:cs typeface="Times New Roman" panose="02020603050405020304" pitchFamily="18" charset="0"/>
              </a:rPr>
              <a:t>administrators to manage inventory and orders effectively</a:t>
            </a:r>
            <a:r>
              <a:rPr lang="en-US" dirty="0">
                <a:latin typeface="Times New Roman" panose="02020603050405020304" pitchFamily="18" charset="0"/>
                <a:cs typeface="Times New Roman" panose="02020603050405020304" pitchFamily="18" charset="0"/>
              </a:rPr>
              <a:t>. By reducing manual work and errors, the application enhances overall operational efficiency. </a:t>
            </a:r>
          </a:p>
          <a:p>
            <a:pPr algn="just">
              <a:lnSpc>
                <a:spcPct val="150000"/>
              </a:lnSpc>
            </a:pPr>
            <a:r>
              <a:rPr lang="en-US" dirty="0">
                <a:latin typeface="Times New Roman" panose="02020603050405020304" pitchFamily="18" charset="0"/>
                <a:cs typeface="Times New Roman" panose="02020603050405020304" pitchFamily="18" charset="0"/>
              </a:rPr>
              <a:t>	In the future, the system can be extended with features such as </a:t>
            </a:r>
            <a:r>
              <a:rPr lang="en-US" b="1" dirty="0">
                <a:latin typeface="Times New Roman" panose="02020603050405020304" pitchFamily="18" charset="0"/>
                <a:cs typeface="Times New Roman" panose="02020603050405020304" pitchFamily="18" charset="0"/>
              </a:rPr>
              <a:t>online payment integration, mobile application support</a:t>
            </a:r>
            <a:r>
              <a:rPr lang="en-US" dirty="0">
                <a:latin typeface="Times New Roman" panose="02020603050405020304" pitchFamily="18" charset="0"/>
                <a:cs typeface="Times New Roman" panose="02020603050405020304" pitchFamily="18" charset="0"/>
              </a:rPr>
              <a:t>, prescription uploads, and advanced analytics to further improve functionality and user experience.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917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99D439-EBA7-449F-8506-42CC095409CC}"/>
              </a:ext>
            </a:extLst>
          </p:cNvPr>
          <p:cNvSpPr/>
          <p:nvPr/>
        </p:nvSpPr>
        <p:spPr>
          <a:xfrm>
            <a:off x="381000" y="209550"/>
            <a:ext cx="3292120" cy="830997"/>
          </a:xfrm>
          <a:prstGeom prst="rect">
            <a:avLst/>
          </a:prstGeom>
        </p:spPr>
        <p:txBody>
          <a:bodyPr wrap="none">
            <a:spAutoFit/>
          </a:bodyPr>
          <a:lstStyle/>
          <a:p>
            <a:r>
              <a:rPr lang="en-US"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Future Enhancements </a:t>
            </a:r>
            <a:endParaRPr lang="en-IN" sz="2400" dirty="0">
              <a:solidFill>
                <a:srgbClr val="000099"/>
              </a:solidFill>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E487DAF-4F94-4224-B971-08CDD61DB190}"/>
              </a:ext>
            </a:extLst>
          </p:cNvPr>
          <p:cNvSpPr>
            <a:spLocks noChangeArrowheads="1"/>
          </p:cNvSpPr>
          <p:nvPr/>
        </p:nvSpPr>
        <p:spPr bwMode="auto">
          <a:xfrm>
            <a:off x="0" y="590550"/>
            <a:ext cx="7952883" cy="2223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eaLnBrk="0" fontAlgn="base" hangingPunct="0">
              <a:lnSpc>
                <a:spcPct val="2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Integration of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online payment gateways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digital transactions.</a:t>
            </a:r>
          </a:p>
          <a:p>
            <a:pPr lvl="1" eaLnBrk="0" fontAlgn="base" hangingPunct="0">
              <a:lnSpc>
                <a:spcPct val="2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Development of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application (Android/iOS)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better accessibility.</a:t>
            </a:r>
          </a:p>
          <a:p>
            <a:pPr lvl="1" eaLnBrk="0" fontAlgn="base" hangingPunct="0">
              <a:lnSpc>
                <a:spcPct val="200000"/>
              </a:lnSpc>
              <a:spcBef>
                <a:spcPct val="0"/>
              </a:spcBef>
              <a:spcAft>
                <a:spcPct val="0"/>
              </a:spcAft>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AI-based medicine recommendations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user history and symptoms.</a:t>
            </a:r>
          </a:p>
          <a:p>
            <a:pPr lvl="1" eaLnBrk="0" fontAlgn="base" hangingPunct="0">
              <a:lnSpc>
                <a:spcPct val="2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Integration with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services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scalability and high availability.</a:t>
            </a:r>
          </a:p>
        </p:txBody>
      </p:sp>
    </p:spTree>
    <p:extLst>
      <p:ext uri="{BB962C8B-B14F-4D97-AF65-F5344CB8AC3E}">
        <p14:creationId xmlns:p14="http://schemas.microsoft.com/office/powerpoint/2010/main" val="3270383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99D439-EBA7-449F-8506-42CC095409CC}"/>
              </a:ext>
            </a:extLst>
          </p:cNvPr>
          <p:cNvSpPr/>
          <p:nvPr/>
        </p:nvSpPr>
        <p:spPr>
          <a:xfrm>
            <a:off x="76200" y="133350"/>
            <a:ext cx="4648200" cy="1200329"/>
          </a:xfrm>
          <a:prstGeom prst="rect">
            <a:avLst/>
          </a:prstGeom>
        </p:spPr>
        <p:txBody>
          <a:bodyPr wrap="square">
            <a:spAutoFit/>
          </a:bodyPr>
          <a:lstStyle/>
          <a:p>
            <a:r>
              <a:rPr lang="en-US"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 </a:t>
            </a:r>
            <a:r>
              <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rPr>
              <a:t>Reference Books and Websites </a:t>
            </a:r>
          </a:p>
          <a:p>
            <a:endParaRPr lang="en-IN" sz="24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F1F7F1A-FAAF-47A7-96F1-758A058B23EC}"/>
              </a:ext>
            </a:extLst>
          </p:cNvPr>
          <p:cNvSpPr>
            <a:spLocks noChangeArrowheads="1"/>
          </p:cNvSpPr>
          <p:nvPr/>
        </p:nvSpPr>
        <p:spPr bwMode="auto">
          <a:xfrm>
            <a:off x="0" y="876073"/>
            <a:ext cx="9149749" cy="337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Craig Walls (2021),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 Boot in Action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2nd Edition, Manning Publications, USA.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Josh Long (2020),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Native Java: Designing Resilient Systems with Spring Boot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O’Reilly Media.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Cory House &amp;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Azat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Mardan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(2022),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 and Modern JavaScript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Publishing.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Jasmine Team (2021),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Jasmine JavaScript Testing Framework Documentation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 Source Community.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John Ferguson Smart (2020),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JUnit in Action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2nd Edition, Manning Publications.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Giuseppe Di Natale and Filippo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Ricca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(2019),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Mockito Essentials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Publishing.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S. Sharma (2018),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to Ayurveda and Traditional Medicine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5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Indian Council of Medical Research, New Delhi.</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Documentation Team (2023),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8.0 Reference Manual</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Oracle Corporation.</a:t>
            </a:r>
          </a:p>
        </p:txBody>
      </p:sp>
    </p:spTree>
    <p:extLst>
      <p:ext uri="{BB962C8B-B14F-4D97-AF65-F5344CB8AC3E}">
        <p14:creationId xmlns:p14="http://schemas.microsoft.com/office/powerpoint/2010/main" val="3227589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DBF420-0454-4DB5-82CD-499836C49A43}"/>
              </a:ext>
            </a:extLst>
          </p:cNvPr>
          <p:cNvSpPr/>
          <p:nvPr/>
        </p:nvSpPr>
        <p:spPr>
          <a:xfrm>
            <a:off x="533400" y="1047750"/>
            <a:ext cx="7696200" cy="2762744"/>
          </a:xfrm>
          <a:prstGeom prst="rect">
            <a:avLst/>
          </a:prstGeom>
        </p:spPr>
        <p:txBody>
          <a:bodyPr wrap="square">
            <a:spAutoFit/>
          </a:bodyPr>
          <a:lstStyle/>
          <a:p>
            <a:pPr algn="ctr">
              <a:lnSpc>
                <a:spcPct val="150000"/>
              </a:lnSpc>
            </a:pPr>
            <a:r>
              <a:rPr lang="en-US" sz="3600" dirty="0">
                <a:solidFill>
                  <a:srgbClr val="00B050"/>
                </a:solidFill>
                <a:latin typeface="Times New Roman" panose="02020603050405020304" pitchFamily="18" charset="0"/>
                <a:cs typeface="Times New Roman" panose="02020603050405020304" pitchFamily="18" charset="0"/>
              </a:rPr>
              <a:t>I sincerely thank my project guide :</a:t>
            </a:r>
          </a:p>
          <a:p>
            <a:pPr algn="ctr">
              <a:lnSpc>
                <a:spcPct val="150000"/>
              </a:lnSpc>
            </a:pPr>
            <a:r>
              <a:rPr lang="en-IN" sz="2400" b="1" dirty="0">
                <a:solidFill>
                  <a:srgbClr val="0070C0"/>
                </a:solidFill>
                <a:latin typeface="Times New Roman" panose="02020603050405020304" pitchFamily="18" charset="0"/>
                <a:cs typeface="Times New Roman" panose="02020603050405020304" pitchFamily="18" charset="0"/>
              </a:rPr>
              <a:t>      Mr. M. GOVINDARAJ Sir</a:t>
            </a:r>
          </a:p>
          <a:p>
            <a:pPr algn="ctr">
              <a:lnSpc>
                <a:spcPct val="150000"/>
              </a:lnSpc>
            </a:pPr>
            <a:endParaRPr lang="en-US" sz="2400" dirty="0">
              <a:solidFill>
                <a:srgbClr val="0070C0"/>
              </a:solidFill>
              <a:latin typeface="Times New Roman" panose="02020603050405020304" pitchFamily="18" charset="0"/>
              <a:cs typeface="Times New Roman" panose="02020603050405020304" pitchFamily="18" charset="0"/>
            </a:endParaRPr>
          </a:p>
          <a:p>
            <a:pPr>
              <a:lnSpc>
                <a:spcPct val="150000"/>
              </a:lnSpc>
            </a:pPr>
            <a:r>
              <a:rPr lang="en-US" sz="3600" dirty="0">
                <a:solidFill>
                  <a:srgbClr val="00B050"/>
                </a:solidFill>
                <a:latin typeface="Times New Roman" panose="02020603050405020304" pitchFamily="18" charset="0"/>
                <a:cs typeface="Times New Roman" panose="02020603050405020304" pitchFamily="18" charset="0"/>
              </a:rPr>
              <a:t>                     </a:t>
            </a:r>
          </a:p>
        </p:txBody>
      </p:sp>
      <p:sp>
        <p:nvSpPr>
          <p:cNvPr id="4" name="Rectangle 3">
            <a:extLst>
              <a:ext uri="{FF2B5EF4-FFF2-40B4-BE49-F238E27FC236}">
                <a16:creationId xmlns:a16="http://schemas.microsoft.com/office/drawing/2014/main" id="{0E76DE56-3B45-4211-AFF9-FF50C014FFEC}"/>
              </a:ext>
            </a:extLst>
          </p:cNvPr>
          <p:cNvSpPr/>
          <p:nvPr/>
        </p:nvSpPr>
        <p:spPr>
          <a:xfrm>
            <a:off x="1828800" y="2419350"/>
            <a:ext cx="5334000" cy="1938992"/>
          </a:xfrm>
          <a:prstGeom prst="rect">
            <a:avLst/>
          </a:prstGeom>
        </p:spPr>
        <p:txBody>
          <a:bodyPr wrap="square">
            <a:spAutoFit/>
          </a:bodyPr>
          <a:lstStyle/>
          <a:p>
            <a:endParaRPr lang="en-IN" sz="6000" b="1" dirty="0"/>
          </a:p>
          <a:p>
            <a:r>
              <a:rPr lang="en-IN" sz="6000" b="1" dirty="0">
                <a:solidFill>
                  <a:srgbClr val="00B050"/>
                </a:solidFill>
              </a:rPr>
              <a:t>      Thank You</a:t>
            </a:r>
          </a:p>
        </p:txBody>
      </p:sp>
    </p:spTree>
    <p:extLst>
      <p:ext uri="{BB962C8B-B14F-4D97-AF65-F5344CB8AC3E}">
        <p14:creationId xmlns:p14="http://schemas.microsoft.com/office/powerpoint/2010/main" val="36976880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8&quot; unique_id=&quot;74339&quot;&gt;&lt;/object&gt;&lt;object type=&quot;2&quot; unique_id=&quot;74340&quot;&gt;&lt;object type=&quot;3&quot; unique_id=&quot;74341&quot;&gt;&lt;property id=&quot;20148&quot; value=&quot;5&quot;/&gt;&lt;property id=&quot;20300&quot; value=&quot;Slide 1&quot;/&gt;&lt;property id=&quot;20307&quot; value=&quot;256&quot;/&gt;&lt;/object&gt;&lt;object type=&quot;3&quot; unique_id=&quot;74407&quot;&gt;&lt;property id=&quot;20148&quot; value=&quot;5&quot;/&gt;&lt;property id=&quot;20300&quot; value=&quot;Slide 2&quot;/&gt;&lt;property id=&quot;20307&quot; value=&quot;262&quot;/&gt;&lt;/object&gt;&lt;object type=&quot;3&quot; unique_id=&quot;74608&quot;&gt;&lt;property id=&quot;20148&quot; value=&quot;5&quot;/&gt;&lt;property id=&quot;20300&quot; value=&quot;Slide 5&quot;/&gt;&lt;property id=&quot;20307&quot; value=&quot;266&quot;/&gt;&lt;/object&gt;&lt;object type=&quot;3&quot; unique_id=&quot;74659&quot;&gt;&lt;property id=&quot;20148&quot; value=&quot;5&quot;/&gt;&lt;property id=&quot;20300&quot; value=&quot;Slide 9&quot;/&gt;&lt;property id=&quot;20307&quot; value=&quot;269&quot;/&gt;&lt;/object&gt;&lt;object type=&quot;3&quot; unique_id=&quot;74741&quot;&gt;&lt;property id=&quot;20148&quot; value=&quot;5&quot;/&gt;&lt;property id=&quot;20300&quot; value=&quot;Slide 3&quot;/&gt;&lt;property id=&quot;20307&quot; value=&quot;273&quot;/&gt;&lt;/object&gt;&lt;object type=&quot;3&quot; unique_id=&quot;74742&quot;&gt;&lt;property id=&quot;20148&quot; value=&quot;5&quot;/&gt;&lt;property id=&quot;20300&quot; value=&quot;Slide 6&quot;/&gt;&lt;property id=&quot;20307&quot; value=&quot;270&quot;/&gt;&lt;/object&gt;&lt;object type=&quot;3&quot; unique_id=&quot;74743&quot;&gt;&lt;property id=&quot;20148&quot; value=&quot;5&quot;/&gt;&lt;property id=&quot;20300&quot; value=&quot;Slide 7&quot;/&gt;&lt;property id=&quot;20307&quot; value=&quot;271&quot;/&gt;&lt;/object&gt;&lt;object type=&quot;3&quot; unique_id=&quot;74744&quot;&gt;&lt;property id=&quot;20148&quot; value=&quot;5&quot;/&gt;&lt;property id=&quot;20300&quot; value=&quot;Slide 8&quot;/&gt;&lt;property id=&quot;20307&quot; value=&quot;272&quot;/&gt;&lt;/object&gt;&lt;object type=&quot;3&quot; unique_id=&quot;74818&quot;&gt;&lt;property id=&quot;20148&quot; value=&quot;5&quot;/&gt;&lt;property id=&quot;20300&quot; value=&quot;Slide 4&quot;/&gt;&lt;property id=&quot;20307&quot; value=&quot;274&quot;/&gt;&lt;/object&gt;&lt;/object&gt;&lt;/object&gt;&lt;/database&gt;"/>
  <p:tag name="SECTOMILLISECCONVERTED" val="1"/>
  <p:tag name="ARTICULATE_DESIGN_ID_OFFICE THEME" val="hHk7KfzR"/>
  <p:tag name="ARTICULATE_SLIDE_COUNT" val="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11429</TotalTime>
  <Words>815</Words>
  <Application>Microsoft Office PowerPoint</Application>
  <PresentationFormat>On-screen Show (16:9)</PresentationFormat>
  <Paragraphs>146</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Courier New</vt:lpstr>
      <vt:lpstr>Times New Roman</vt:lpstr>
      <vt:lpstr>Wingdings</vt:lpstr>
      <vt:lpstr>Office Theme</vt:lpstr>
      <vt:lpstr>Jan -2024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Shailesh</dc:creator>
  <cp:lastModifiedBy>Ramkumar k</cp:lastModifiedBy>
  <cp:revision>988</cp:revision>
  <dcterms:created xsi:type="dcterms:W3CDTF">2016-07-22T06:37:47Z</dcterms:created>
  <dcterms:modified xsi:type="dcterms:W3CDTF">2026-02-03T07:00:17Z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FC4549A7-CFF4-4A36-89BC-19E85BFABD1B</vt:lpwstr>
  </property>
  <property fmtid="{D5CDD505-2E9C-101B-9397-08002B2CF9AE}" pid="3" name="ArticulatePath">
    <vt:lpwstr>Management Template (1) (1)</vt:lpwstr>
  </property>
</Properties>
</file>